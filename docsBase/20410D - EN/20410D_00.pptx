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9" r:id="rId2"/>
    <p:sldId id="263" r:id="rId3"/>
    <p:sldId id="266" r:id="rId4"/>
    <p:sldId id="289" r:id="rId5"/>
    <p:sldId id="262" r:id="rId6"/>
    <p:sldId id="287" r:id="rId7"/>
    <p:sldId id="282" r:id="rId8"/>
    <p:sldId id="268" r:id="rId9"/>
    <p:sldId id="292" r:id="rId10"/>
    <p:sldId id="271" r:id="rId11"/>
    <p:sldId id="272" r:id="rId12"/>
    <p:sldId id="260" r:id="rId13"/>
    <p:sldId id="290" r:id="rId14"/>
    <p:sldId id="275" r:id="rId15"/>
    <p:sldId id="274" r:id="rId16"/>
    <p:sldId id="277" r:id="rId17"/>
    <p:sldId id="291" r:id="rId18"/>
    <p:sldId id="285" r:id="rId19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lia Stasio" initials="JS" lastIdx="2" clrIdx="0"/>
  <p:cmAuthor id="1" name="Matthys" initials="M" lastIdx="14" clrIdx="1"/>
  <p:cmAuthor id="2" name="Colleen Walsh" initials="CW" lastIdx="53" clrIdx="2"/>
  <p:cmAuthor id="3" name="Eamonn Kelly" initials="EK" lastIdx="8" clrIdx="3">
    <p:extLst/>
  </p:cmAuthor>
  <p:cmAuthor id="4" name=" " initials=" " lastIdx="3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965" autoAdjust="0"/>
    <p:restoredTop sz="95360" autoAdjust="0"/>
  </p:normalViewPr>
  <p:slideViewPr>
    <p:cSldViewPr>
      <p:cViewPr varScale="1">
        <p:scale>
          <a:sx n="85" d="100"/>
          <a:sy n="85" d="100"/>
        </p:scale>
        <p:origin x="446" y="53"/>
      </p:cViewPr>
      <p:guideLst>
        <p:guide orient="horz"/>
        <p:guide pos="5472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1565" y="43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65CA2D4-094E-48F7-9E06-42143F59D099}" type="datetimeFigureOut">
              <a:rPr lang="en-US" smtClean="0"/>
              <a:t>3/10/2014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51E7E98C-E50F-40A2-A561-002C91555A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6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E467C250-A218-43FB-AD95-3331D2A81DF1}" type="datetimeFigureOut">
              <a:rPr lang="en-US" smtClean="0"/>
              <a:t>3/10/2014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2FF7759-803D-4F76-9AEC-98B2D9A07B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learning/companionmoc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learnin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294510"/>
            <a:ext cx="5618480" cy="4752528"/>
          </a:xfrm>
        </p:spPr>
        <p:txBody>
          <a:bodyPr/>
          <a:lstStyle/>
          <a:p>
            <a:r>
              <a:rPr lang="en-US" dirty="0"/>
              <a:t>This introduction module provides students with an overview of the course content materials and logistics for Course </a:t>
            </a:r>
            <a:r>
              <a:rPr lang="en-US" dirty="0" smtClean="0"/>
              <a:t>20410D, </a:t>
            </a:r>
            <a:r>
              <a:rPr lang="en-CA" i="1" dirty="0"/>
              <a:t>Installing and Configuring Windows Server</a:t>
            </a:r>
            <a:r>
              <a:rPr lang="en-CA" i="1" baseline="30000" dirty="0" smtClean="0"/>
              <a:t>®</a:t>
            </a:r>
            <a:r>
              <a:rPr lang="en-CA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CA" i="1" dirty="0" smtClean="0"/>
              <a:t>2012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Required </a:t>
            </a:r>
            <a:r>
              <a:rPr lang="en-US" b="1" dirty="0" smtClean="0"/>
              <a:t>Materials</a:t>
            </a:r>
            <a:endParaRPr lang="en-US" b="1" dirty="0"/>
          </a:p>
          <a:p>
            <a:r>
              <a:rPr lang="en-US" dirty="0"/>
              <a:t>To teach this course, you need the following materials:</a:t>
            </a:r>
          </a:p>
          <a:p>
            <a:pPr>
              <a:buFontTx/>
              <a:buChar char="•"/>
            </a:pPr>
            <a:r>
              <a:rPr lang="en-US" dirty="0"/>
              <a:t> Course Handbook</a:t>
            </a:r>
          </a:p>
          <a:p>
            <a:pPr>
              <a:buFontTx/>
              <a:buChar char="•"/>
            </a:pPr>
            <a:r>
              <a:rPr lang="en-US" dirty="0"/>
              <a:t> Course Companion Content</a:t>
            </a:r>
            <a:endParaRPr lang="en-US" dirty="0">
              <a:solidFill>
                <a:srgbClr val="FF3300"/>
              </a:solidFill>
            </a:endParaRPr>
          </a:p>
          <a:p>
            <a:pPr>
              <a:buFontTx/>
              <a:buChar char="•"/>
            </a:pPr>
            <a:r>
              <a:rPr lang="en-US" dirty="0"/>
              <a:t> Trainer materials including:</a:t>
            </a:r>
          </a:p>
          <a:p>
            <a:pPr marL="400050" lvl="1" indent="-171450"/>
            <a:r>
              <a:rPr lang="en-US" dirty="0"/>
              <a:t>Trainer Preparation Guide</a:t>
            </a:r>
          </a:p>
          <a:p>
            <a:pPr marL="400050" lvl="1" indent="-171450"/>
            <a:r>
              <a:rPr lang="en-US" dirty="0"/>
              <a:t>Microsoft</a:t>
            </a:r>
            <a:r>
              <a:rPr lang="en-US" baseline="30000" dirty="0"/>
              <a:t>®</a:t>
            </a:r>
            <a:r>
              <a:rPr lang="en-US" dirty="0"/>
              <a:t> Office PowerPoint</a:t>
            </a:r>
            <a:r>
              <a:rPr lang="en-US" baseline="30000" dirty="0"/>
              <a:t>®</a:t>
            </a:r>
            <a:r>
              <a:rPr lang="en-US" dirty="0"/>
              <a:t> files for this course</a:t>
            </a:r>
            <a:endParaRPr lang="en-US" dirty="0">
              <a:solidFill>
                <a:srgbClr val="7030A0"/>
              </a:solidFill>
            </a:endParaRPr>
          </a:p>
          <a:p>
            <a:pPr marL="400050" lvl="1" indent="-171450"/>
            <a:r>
              <a:rPr lang="en-US" dirty="0"/>
              <a:t>Microsoft </a:t>
            </a:r>
            <a:r>
              <a:rPr lang="en-US" dirty="0" smtClean="0"/>
              <a:t>Hyper</a:t>
            </a:r>
            <a:r>
              <a:rPr lang="en-CA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</a:t>
            </a:r>
            <a:r>
              <a:rPr lang="en-US" dirty="0" smtClean="0"/>
              <a:t>V</a:t>
            </a:r>
            <a:r>
              <a:rPr lang="en-US" baseline="30000" dirty="0" smtClean="0"/>
              <a:t>®</a:t>
            </a:r>
            <a:r>
              <a:rPr lang="en-US" dirty="0" smtClean="0"/>
              <a:t> Classroom </a:t>
            </a:r>
            <a:r>
              <a:rPr lang="en-US" dirty="0"/>
              <a:t>Setup Guide</a:t>
            </a:r>
          </a:p>
          <a:p>
            <a:pPr marL="400050" lvl="1" indent="-171450"/>
            <a:r>
              <a:rPr lang="en-US" dirty="0"/>
              <a:t>Virtual machines for the course</a:t>
            </a:r>
          </a:p>
          <a:p>
            <a:pPr marL="400050" lvl="1" indent="-171450"/>
            <a:r>
              <a:rPr lang="en-US" dirty="0"/>
              <a:t>Latest error logs for the course (if any</a:t>
            </a:r>
            <a:r>
              <a:rPr lang="en-US" dirty="0" smtClean="0"/>
              <a:t>) </a:t>
            </a:r>
            <a:endParaRPr lang="en-US" dirty="0">
              <a:solidFill>
                <a:srgbClr val="FF3300"/>
              </a:solidFill>
            </a:endParaRPr>
          </a:p>
          <a:p>
            <a:pPr marL="228600" lvl="1" indent="0">
              <a:buNone/>
            </a:pPr>
            <a:endParaRPr lang="en-US" dirty="0"/>
          </a:p>
          <a:p>
            <a:r>
              <a:rPr lang="en-US" b="1" dirty="0"/>
              <a:t>Important: </a:t>
            </a:r>
            <a:r>
              <a:rPr lang="en-US" dirty="0" smtClean="0"/>
              <a:t>We recommend that </a:t>
            </a:r>
            <a:r>
              <a:rPr lang="en-US" dirty="0"/>
              <a:t>you use </a:t>
            </a:r>
            <a:r>
              <a:rPr lang="en-US" dirty="0" smtClean="0"/>
              <a:t>PowerPoint</a:t>
            </a:r>
            <a:r>
              <a:rPr lang="en-CA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dirty="0" smtClean="0"/>
              <a:t>2007 </a:t>
            </a:r>
            <a:r>
              <a:rPr lang="en-US" dirty="0"/>
              <a:t>or a </a:t>
            </a:r>
            <a:r>
              <a:rPr lang="en-US" dirty="0" smtClean="0"/>
              <a:t>newer version </a:t>
            </a:r>
            <a:r>
              <a:rPr lang="en-US" dirty="0"/>
              <a:t>to display the slides for this course. If you use PowerPoint Viewer or an </a:t>
            </a:r>
            <a:r>
              <a:rPr lang="en-US" dirty="0" smtClean="0"/>
              <a:t>older version </a:t>
            </a:r>
            <a:r>
              <a:rPr lang="en-US" dirty="0"/>
              <a:t>of </a:t>
            </a:r>
            <a:r>
              <a:rPr lang="en-US" dirty="0" smtClean="0"/>
              <a:t>Office</a:t>
            </a:r>
            <a:r>
              <a:rPr lang="en-CA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dirty="0" smtClean="0"/>
              <a:t>PowerPoint</a:t>
            </a:r>
            <a:r>
              <a:rPr lang="en-US" dirty="0"/>
              <a:t>, all </a:t>
            </a:r>
            <a:r>
              <a:rPr lang="en-US" dirty="0" smtClean="0"/>
              <a:t>of the </a:t>
            </a:r>
            <a:r>
              <a:rPr lang="en-US" dirty="0"/>
              <a:t>features of the slides might not </a:t>
            </a:r>
            <a:r>
              <a:rPr lang="en-US" dirty="0" smtClean="0"/>
              <a:t>display </a:t>
            </a:r>
            <a:r>
              <a:rPr lang="en-US" dirty="0"/>
              <a:t>correctly.</a:t>
            </a:r>
          </a:p>
          <a:p>
            <a:endParaRPr lang="en-US" dirty="0"/>
          </a:p>
          <a:p>
            <a:r>
              <a:rPr lang="en-US" b="1" dirty="0"/>
              <a:t>Preparation </a:t>
            </a:r>
            <a:r>
              <a:rPr lang="en-US" b="1" dirty="0" smtClean="0"/>
              <a:t>Tasks</a:t>
            </a:r>
            <a:endParaRPr lang="en-US" b="1" dirty="0"/>
          </a:p>
          <a:p>
            <a:r>
              <a:rPr lang="en-US" dirty="0"/>
              <a:t>To prepare for this course, you must follow and complete the tasks </a:t>
            </a:r>
            <a:r>
              <a:rPr lang="en-US" dirty="0" smtClean="0"/>
              <a:t>that the Trainer Preparation Guide outlines.</a:t>
            </a:r>
          </a:p>
          <a:p>
            <a:endParaRPr lang="en-US" dirty="0"/>
          </a:p>
          <a:p>
            <a:r>
              <a:rPr lang="en-US" b="1" dirty="0" smtClean="0"/>
              <a:t>Presentation: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30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sz="1400" b="1" dirty="0" smtClean="0">
                <a:latin typeface="+mj-lt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sz="1400" b="1" dirty="0">
                <a:solidFill>
                  <a:srgbClr val="336699"/>
                </a:solidFill>
                <a:latin typeface="+mj-lt"/>
                <a:cs typeface="Arial" pitchFamily="34" charset="0"/>
              </a:rPr>
              <a:t>Module</a:t>
            </a:r>
            <a:r>
              <a:rPr lang="en-US" sz="1400" b="1" dirty="0">
                <a:latin typeface="+mj-lt"/>
                <a:cs typeface="Arial" pitchFamily="34" charset="0"/>
              </a:rPr>
              <a:t> </a:t>
            </a:r>
            <a:r>
              <a:rPr lang="en-US" sz="1400" b="1" dirty="0">
                <a:solidFill>
                  <a:srgbClr val="336699"/>
                </a:solidFill>
                <a:latin typeface="+mj-lt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60133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86800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Welcome students to the course and introduce yourself. Provide a brief overview of your background to establish credibility.</a:t>
            </a:r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83569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Ask students to introduce themselves and provide their backgrounds, product experience, and expectations </a:t>
            </a:r>
            <a:r>
              <a:rPr lang="en-CA" dirty="0" smtClean="0"/>
              <a:t>for the </a:t>
            </a:r>
            <a:r>
              <a:rPr lang="en-CA" dirty="0"/>
              <a:t>course.</a:t>
            </a:r>
          </a:p>
          <a:p>
            <a:endParaRPr lang="en-CA" dirty="0"/>
          </a:p>
          <a:p>
            <a:r>
              <a:rPr lang="en-CA" dirty="0"/>
              <a:t>Record student expectations on a whiteboard or flip chart that you can reference during class.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874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Explain the: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Class hours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Extended building hours for labs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Parking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Restroom location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Meals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Phones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Message posting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dirty="0" smtClean="0"/>
              <a:t>Where smoking is or is not allowed</a:t>
            </a:r>
          </a:p>
          <a:p>
            <a:endParaRPr lang="en-CA" dirty="0" smtClean="0"/>
          </a:p>
          <a:p>
            <a:r>
              <a:rPr lang="en-CA" dirty="0" smtClean="0"/>
              <a:t>Let students know if your facility has Internet access that is available for them to use during class breaks.</a:t>
            </a:r>
          </a:p>
          <a:p>
            <a:endParaRPr lang="en-CA" dirty="0" smtClean="0"/>
          </a:p>
          <a:p>
            <a:r>
              <a:rPr lang="en-CA" dirty="0" smtClean="0"/>
              <a:t>Make sure that the students are aware of the recycling program, if one is available.</a:t>
            </a:r>
          </a:p>
          <a:p>
            <a:endParaRPr lang="en-CA" dirty="0" smtClean="0"/>
          </a:p>
          <a:p>
            <a:r>
              <a:rPr lang="en-CA" dirty="0" smtClean="0"/>
              <a:t>Finally, inform students about any emergency </a:t>
            </a:r>
            <a:r>
              <a:rPr lang="en-US" dirty="0" smtClean="0"/>
              <a:t>procedures (for example, emergency exits) </a:t>
            </a:r>
            <a:r>
              <a:rPr lang="en-CA" baseline="0" dirty="0" smtClean="0"/>
              <a:t>and plans in the event of fire or other such emergency.</a:t>
            </a:r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2343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438526"/>
            <a:ext cx="5618480" cy="4189095"/>
          </a:xfrm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 smtClean="0"/>
              <a:t>Describe the audience for this course. This is an opportunity for you to identify students who may not have the appropriate background or experience to attend this course.</a:t>
            </a:r>
          </a:p>
          <a:p>
            <a:endParaRPr lang="en-CA" dirty="0" smtClean="0"/>
          </a:p>
          <a:p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  <p:pic>
        <p:nvPicPr>
          <p:cNvPr id="1026" name="Picture 2" descr="https://mail.google.com/mail/images/cleardo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16002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https://mail.google.com/mail/images/cleardo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16002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mail.google.com/mail/images/cleardo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16002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https://mail.google.com/mail/images/cleardo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16002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51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438526"/>
            <a:ext cx="5618480" cy="4189095"/>
          </a:xfrm>
        </p:spPr>
        <p:txBody>
          <a:bodyPr/>
          <a:lstStyle/>
          <a:p>
            <a:r>
              <a:rPr lang="en-CA" dirty="0" smtClean="0"/>
              <a:t>Describe the course prerequisites.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6329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&lt;&lt;&lt; Use this </a:t>
            </a:r>
            <a:r>
              <a:rPr lang="en-US" dirty="0"/>
              <a:t>slide for printed courseware and the next slide for digital courseware. </a:t>
            </a:r>
            <a:r>
              <a:rPr lang="en-US" dirty="0" smtClean="0"/>
              <a:t>&gt;&gt;&gt;</a:t>
            </a:r>
            <a:endParaRPr lang="en-US" dirty="0"/>
          </a:p>
          <a:p>
            <a:r>
              <a:rPr lang="en-IE" dirty="0" smtClean="0"/>
              <a:t>&lt;&lt;&lt; Delete </a:t>
            </a:r>
            <a:r>
              <a:rPr lang="en-IE" dirty="0"/>
              <a:t>the slide that you are not using</a:t>
            </a:r>
            <a:r>
              <a:rPr lang="en-IE" dirty="0" smtClean="0"/>
              <a:t>.&gt;&gt;&gt;</a:t>
            </a:r>
            <a:endParaRPr lang="en-IE" dirty="0"/>
          </a:p>
          <a:p>
            <a:endParaRPr lang="en-US" b="0" dirty="0" smtClean="0"/>
          </a:p>
          <a:p>
            <a:r>
              <a:rPr lang="en-US" b="0" dirty="0" smtClean="0"/>
              <a:t>Introduce the</a:t>
            </a:r>
            <a:r>
              <a:rPr lang="en-US" b="0" baseline="0" dirty="0" smtClean="0"/>
              <a:t> students to their course materials.</a:t>
            </a:r>
          </a:p>
          <a:p>
            <a:r>
              <a:rPr lang="en-US" b="0" dirty="0" smtClean="0"/>
              <a:t>Explain how you intend for students to use the Course Handbook in the class and the Digital Companion Content outside the class:</a:t>
            </a:r>
            <a:endParaRPr lang="en-US" b="0" dirty="0" smtClean="0">
              <a:solidFill>
                <a:srgbClr val="FF0000"/>
              </a:solidFill>
            </a:endParaRPr>
          </a:p>
          <a:p>
            <a:pPr marL="463550" lvl="1" indent="-231775">
              <a:buFont typeface="Arial" pitchFamily="34" charset="0"/>
              <a:buChar char="•"/>
            </a:pPr>
            <a:r>
              <a:rPr lang="en-US" b="0" dirty="0" smtClean="0"/>
              <a:t>Explain that during the lecture, the students can refer to the Course Handbook, </a:t>
            </a:r>
            <a:r>
              <a:rPr lang="en-US" dirty="0" smtClean="0"/>
              <a:t>because </a:t>
            </a:r>
            <a:r>
              <a:rPr lang="en-US" b="0" dirty="0" smtClean="0"/>
              <a:t>it contains all of the critical technical information that they need in a crisp, tightly-focused format, which is just right for effective in-class learning experience. </a:t>
            </a:r>
          </a:p>
          <a:p>
            <a:pPr marL="463550" lvl="1" indent="-231775">
              <a:buFont typeface="Arial" pitchFamily="34" charset="0"/>
              <a:buChar char="•"/>
            </a:pPr>
            <a:r>
              <a:rPr lang="en-US" b="0" dirty="0" smtClean="0"/>
              <a:t>Mention that the Digital Companion Content on the </a:t>
            </a:r>
            <a:r>
              <a:rPr lang="en-US" u="sng" dirty="0" smtClean="0">
                <a:hlinkClick r:id="rId3"/>
              </a:rPr>
              <a:t>http://www.microsoft.com/learning/companionmoc</a:t>
            </a:r>
            <a:r>
              <a:rPr lang="en-US" u="none" dirty="0" smtClean="0"/>
              <a:t> </a:t>
            </a:r>
            <a:r>
              <a:rPr lang="en-US" dirty="0" smtClean="0"/>
              <a:t>web</a:t>
            </a:r>
            <a:r>
              <a:rPr lang="en-US" b="0" dirty="0" smtClean="0"/>
              <a:t>site supplements the Course Handbook, and provides an opportunity for extended self-oriented learning beyond the classroom. </a:t>
            </a:r>
          </a:p>
          <a:p>
            <a:pPr marL="463550" lvl="1" indent="-231775">
              <a:buFont typeface="Arial" pitchFamily="34" charset="0"/>
              <a:buChar char="•"/>
            </a:pPr>
            <a:endParaRPr lang="en-US" b="0" dirty="0" smtClean="0"/>
          </a:p>
          <a:p>
            <a:pPr marL="463550" lvl="1" indent="-231775">
              <a:buFont typeface="Arial" pitchFamily="34" charset="0"/>
              <a:buChar char="•"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42058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&lt;&lt;Use </a:t>
            </a:r>
            <a:r>
              <a:rPr lang="en-US" dirty="0"/>
              <a:t>this slide for digital </a:t>
            </a:r>
            <a:r>
              <a:rPr lang="en-US" dirty="0" smtClean="0"/>
              <a:t>courseware </a:t>
            </a:r>
            <a:r>
              <a:rPr lang="en-US" dirty="0"/>
              <a:t>and the </a:t>
            </a:r>
            <a:r>
              <a:rPr lang="en-US" dirty="0" smtClean="0"/>
              <a:t>previous slide </a:t>
            </a:r>
            <a:r>
              <a:rPr lang="en-US" dirty="0"/>
              <a:t>for printed </a:t>
            </a:r>
            <a:r>
              <a:rPr lang="en-US" dirty="0" smtClean="0"/>
              <a:t>courseware.&gt;&gt;</a:t>
            </a:r>
            <a:endParaRPr lang="en-US" dirty="0"/>
          </a:p>
          <a:p>
            <a:r>
              <a:rPr lang="en-IE" dirty="0"/>
              <a:t>&lt;&lt;&lt; Delete the slide that you are not using.&gt;&gt;&gt;</a:t>
            </a:r>
          </a:p>
          <a:p>
            <a:endParaRPr lang="en-US" dirty="0"/>
          </a:p>
          <a:p>
            <a:r>
              <a:rPr lang="en-US" dirty="0"/>
              <a:t>Introduce the students to their course materials</a:t>
            </a:r>
            <a:r>
              <a:rPr lang="en-US" dirty="0" smtClean="0"/>
              <a:t>.</a:t>
            </a:r>
            <a:endParaRPr lang="en-IE" dirty="0"/>
          </a:p>
          <a:p>
            <a:endParaRPr lang="en-IE" dirty="0" smtClean="0"/>
          </a:p>
          <a:p>
            <a:r>
              <a:rPr lang="en-IE" dirty="0" smtClean="0"/>
              <a:t>You</a:t>
            </a:r>
            <a:r>
              <a:rPr lang="en-IE" baseline="0" dirty="0" smtClean="0"/>
              <a:t> should take the opportunity to make sure that all students can log in and access their content, and also demonstrate some of the features and functionality. </a:t>
            </a:r>
          </a:p>
          <a:p>
            <a:endParaRPr lang="en-IE" baseline="0" dirty="0" smtClean="0"/>
          </a:p>
          <a:p>
            <a:r>
              <a:rPr lang="en-IE" baseline="0" dirty="0" smtClean="0"/>
              <a:t>You can also mention that the courseware is updated over time. Their content will also be updated so they always have the latest, most technically up-to-date content, and they will not lose any comments, notes, or highlights they have made.</a:t>
            </a:r>
          </a:p>
          <a:p>
            <a:endParaRPr lang="en-IE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0418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The objectives associated with these modules are, after completing this course, students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Deploy and Manage Windows Server 2012.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Describe Active Directory</a:t>
            </a:r>
            <a:r>
              <a:rPr lang="en-US" baseline="30000" dirty="0" smtClean="0"/>
              <a:t>®</a:t>
            </a:r>
            <a:r>
              <a:rPr lang="en-US" dirty="0" smtClean="0">
                <a:effectLst/>
              </a:rPr>
              <a:t> Domain Services (AD 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Manage Active Directory objects.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Automate AD DS Administration.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IPv4.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Dynamic Host Configuration Protocol (DHCP).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10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objectives associated with these modules </a:t>
            </a:r>
            <a:r>
              <a:rPr lang="en-US" dirty="0" smtClean="0"/>
              <a:t>include that, after</a:t>
            </a:r>
            <a:r>
              <a:rPr lang="en-US" baseline="0" dirty="0" smtClean="0"/>
              <a:t> completing this course, students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Domain Name System (DNS).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IPv6.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local storage.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file and print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Group Policy.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Secure Windows servers by using Group Policy Objects (GPOs).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Implement Server Virtualization with Hyper-V.</a:t>
            </a: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5380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1086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Inform students about the Microsoft Certified Professional (MCP) program, any certification exams that are related to this course, and the various certification options that are available to them.</a:t>
            </a:r>
          </a:p>
          <a:p>
            <a:pPr eaLnBrk="0" hangingPunct="0"/>
            <a:endParaRPr lang="en-US" sz="1200" b="0" dirty="0" smtClean="0"/>
          </a:p>
          <a:p>
            <a:pPr eaLnBrk="0" hangingPunct="0"/>
            <a:r>
              <a:rPr lang="en-US" sz="1200" b="0" dirty="0" smtClean="0"/>
              <a:t>Explain the Microsoft Learning program, and present the list of additional recommended courses.</a:t>
            </a:r>
          </a:p>
          <a:p>
            <a:pPr eaLnBrk="0" hangingPunct="0"/>
            <a:endParaRPr lang="en-US" dirty="0" smtClean="0"/>
          </a:p>
          <a:p>
            <a:pPr eaLnBrk="0" hangingPunct="0"/>
            <a:r>
              <a:rPr lang="en-US" dirty="0" smtClean="0"/>
              <a:t>For </a:t>
            </a:r>
            <a:r>
              <a:rPr lang="en-US" dirty="0"/>
              <a:t>information about curriculum </a:t>
            </a:r>
            <a:r>
              <a:rPr lang="en-US" dirty="0" smtClean="0"/>
              <a:t>paths, refer </a:t>
            </a:r>
            <a:r>
              <a:rPr lang="en-US" sz="1200" b="0" dirty="0" smtClean="0"/>
              <a:t>students to the Microsoft Learning webpage at </a:t>
            </a:r>
            <a:r>
              <a:rPr lang="en-US" sz="1200" b="0" dirty="0" smtClean="0">
                <a:hlinkClick r:id="rId3"/>
              </a:rPr>
              <a:t>http://www.microsoft.com/learning/</a:t>
            </a:r>
            <a:r>
              <a:rPr lang="en-US" sz="1200" b="0" dirty="0" smtClean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87762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438526"/>
            <a:ext cx="5618480" cy="4189095"/>
          </a:xfrm>
        </p:spPr>
        <p:txBody>
          <a:bodyPr/>
          <a:lstStyle/>
          <a:p>
            <a:r>
              <a:rPr lang="en-US" dirty="0" smtClean="0"/>
              <a:t>Tell </a:t>
            </a:r>
            <a:r>
              <a:rPr lang="en-US" dirty="0"/>
              <a:t>students whether the course labs will be run as on</a:t>
            </a:r>
            <a:r>
              <a:rPr lang="en-CA" dirty="0"/>
              <a:t>‑</a:t>
            </a:r>
            <a:r>
              <a:rPr lang="en-US" dirty="0"/>
              <a:t>premises (local) labs, or as Microsoft Labs Online (MLO) hosted labs. </a:t>
            </a:r>
            <a:endParaRPr lang="en-CA" dirty="0"/>
          </a:p>
          <a:p>
            <a:endParaRPr lang="en-US" dirty="0" smtClean="0"/>
          </a:p>
          <a:p>
            <a:r>
              <a:rPr lang="en-US" dirty="0" smtClean="0"/>
              <a:t>On</a:t>
            </a:r>
            <a:r>
              <a:rPr lang="en-CA" dirty="0"/>
              <a:t>‑</a:t>
            </a:r>
            <a:r>
              <a:rPr lang="en-US" dirty="0"/>
              <a:t>premises labs are run on the local host machines in Hyper</a:t>
            </a:r>
            <a:r>
              <a:rPr lang="en-CA" dirty="0"/>
              <a:t>‑</a:t>
            </a:r>
            <a:r>
              <a:rPr lang="en-US" dirty="0"/>
              <a:t>V.</a:t>
            </a:r>
            <a:endParaRPr lang="en-CA" dirty="0"/>
          </a:p>
          <a:p>
            <a:endParaRPr lang="en-US" dirty="0" smtClean="0"/>
          </a:p>
          <a:p>
            <a:r>
              <a:rPr lang="en-US" dirty="0" smtClean="0"/>
              <a:t>MLO </a:t>
            </a:r>
            <a:r>
              <a:rPr lang="en-US" dirty="0"/>
              <a:t>labs are accessed on the local host machines via a web browser, such as the virtual machines that are running on a hosted platform and accessed via a browser.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6870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766763"/>
            <a:ext cx="4848225" cy="3636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726558"/>
            <a:ext cx="5688632" cy="2520280"/>
          </a:xfrm>
        </p:spPr>
        <p:txBody>
          <a:bodyPr/>
          <a:lstStyle/>
          <a:p>
            <a:pPr fontAlgn="base"/>
            <a:r>
              <a:rPr lang="en-US" dirty="0" smtClean="0"/>
              <a:t>These are the virtual machines that this course will use: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200" kern="1200" dirty="0" smtClean="0">
                <a:effectLst/>
                <a:latin typeface="+mn-lt"/>
                <a:ea typeface="+mn-ea"/>
                <a:cs typeface="+mn-cs"/>
              </a:rPr>
              <a:t>20410D‑LON‑DC1</a:t>
            </a:r>
            <a:endParaRPr lang="en-GB" sz="1200" kern="1200" dirty="0" smtClean="0"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20410D‑LON‑SVR1</a:t>
            </a:r>
            <a:endParaRPr lang="en-GB" sz="1200" kern="1200" dirty="0" smtClean="0"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20410D‑LON‑SVR2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i-FI" sz="1200" kern="1200" dirty="0" smtClean="0">
                <a:effectLst/>
                <a:latin typeface="+mn-lt"/>
                <a:ea typeface="+mn-ea"/>
                <a:cs typeface="+mn-cs"/>
              </a:rPr>
              <a:t>20410D‑LON‑SVR3</a:t>
            </a:r>
            <a:endParaRPr lang="en-GB" sz="1200" kern="1200" dirty="0" smtClean="0"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</a:rPr>
              <a:t>20410D‑LON‑HOST1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20410D‑LON‑RTR</a:t>
            </a:r>
            <a:endParaRPr lang="en-GB" sz="1200" kern="1200" dirty="0" smtClean="0"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20410D‑LON‑CL1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20410D‑LON‑CL2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fontAlgn="base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16223" cy="79208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</a:t>
            </a:r>
            <a:r>
              <a:rPr lang="en-US" b="1" dirty="0" smtClean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US" b="1" dirty="0">
              <a:solidFill>
                <a:srgbClr val="336699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9361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8088" y="693738"/>
            <a:ext cx="46545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&lt;&lt;&lt; </a:t>
            </a:r>
            <a:r>
              <a:rPr lang="en-US" dirty="0"/>
              <a:t>Use this slide for </a:t>
            </a:r>
            <a:r>
              <a:rPr lang="en-US" dirty="0" smtClean="0"/>
              <a:t>MLO, </a:t>
            </a:r>
            <a:r>
              <a:rPr lang="en-US" dirty="0"/>
              <a:t>and the next slide for on-premises (local) labs. &gt;&gt;&gt;</a:t>
            </a:r>
            <a:endParaRPr lang="en-CA" dirty="0"/>
          </a:p>
          <a:p>
            <a:r>
              <a:rPr lang="en-IE" dirty="0" smtClean="0"/>
              <a:t>&lt;&lt;&lt; </a:t>
            </a:r>
            <a:r>
              <a:rPr lang="en-IE" dirty="0"/>
              <a:t>Delete the slide that you are not using.&gt;&gt;&gt;</a:t>
            </a: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aseline="0" dirty="0" smtClean="0"/>
              <a:t>You should take this opportunity to</a:t>
            </a:r>
            <a:r>
              <a:rPr lang="en-US" sz="1200" kern="1200" dirty="0" smtClean="0">
                <a:effectLst/>
                <a:latin typeface="+mn-lt"/>
                <a:ea typeface="+mn-ea"/>
                <a:cs typeface="+mn-cs"/>
              </a:rPr>
              <a:t> show students the lab environment.</a:t>
            </a:r>
            <a:r>
              <a:rPr lang="en-US" sz="1200" kern="1200" baseline="0" dirty="0" smtClean="0"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>
              <a:defRPr/>
            </a:pPr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ake a minute to log in and describe the environment to the students. Be sure to point out the online Lab Notes document,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contains details of any changes to the lab steps.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there is an optional Navigation in </a:t>
            </a:r>
            <a:r>
              <a:rPr lang="en-US" dirty="0"/>
              <a:t>Windows Server</a:t>
            </a:r>
            <a:r>
              <a:rPr lang="en-CA" dirty="0"/>
              <a:t> </a:t>
            </a:r>
            <a:r>
              <a:rPr lang="en-US" dirty="0"/>
              <a:t>2012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demonstration (last slide),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relevant </a:t>
            </a:r>
            <a:r>
              <a:rPr lang="en-US" sz="1200" kern="1200" baseline="0" dirty="0" smtClean="0">
                <a:effectLst/>
                <a:latin typeface="+mn-lt"/>
                <a:ea typeface="+mn-ea"/>
                <a:cs typeface="+mn-cs"/>
              </a:rPr>
              <a:t>if you are using 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i="1" baseline="0" dirty="0" smtClean="0">
              <a:solidFill>
                <a:srgbClr val="7030A0"/>
              </a:solidFill>
            </a:endParaRPr>
          </a:p>
          <a:p>
            <a:endParaRPr lang="en-US" i="0" baseline="0" dirty="0" smtClean="0">
              <a:solidFill>
                <a:srgbClr val="7030A0"/>
              </a:solidFill>
            </a:endParaRPr>
          </a:p>
          <a:p>
            <a:endParaRPr lang="en-US" baseline="0" dirty="0" smtClean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6870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&lt;&lt;&lt; Use this slide for on-premises (local) labs and the previous slide for </a:t>
            </a:r>
            <a:r>
              <a:rPr lang="en-US" dirty="0" smtClean="0"/>
              <a:t>MLO.&gt;&gt;&gt;</a:t>
            </a:r>
            <a:endParaRPr lang="en-CA" dirty="0"/>
          </a:p>
          <a:p>
            <a:r>
              <a:rPr lang="en-IE" dirty="0" smtClean="0"/>
              <a:t>&lt;&lt;&lt; </a:t>
            </a:r>
            <a:r>
              <a:rPr lang="en-IE" dirty="0"/>
              <a:t>Delete the slide that you are not using.&gt;&gt;&gt;</a:t>
            </a:r>
            <a:endParaRPr lang="en-CA" dirty="0"/>
          </a:p>
          <a:p>
            <a:endParaRPr lang="en-US" i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7394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5425" y="622300"/>
            <a:ext cx="3960813" cy="2970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59222" y="3646438"/>
            <a:ext cx="5760640" cy="5328592"/>
          </a:xfrm>
        </p:spPr>
        <p:txBody>
          <a:bodyPr/>
          <a:lstStyle/>
          <a:p>
            <a:r>
              <a:rPr lang="en-US" dirty="0" smtClean="0"/>
              <a:t>As </a:t>
            </a:r>
            <a:r>
              <a:rPr lang="en-US" dirty="0"/>
              <a:t>part of the classroom setup, you should </a:t>
            </a:r>
            <a:r>
              <a:rPr lang="en-US" dirty="0" smtClean="0"/>
              <a:t>configure Hyper</a:t>
            </a:r>
            <a:r>
              <a:rPr lang="en-CA" dirty="0"/>
              <a:t>‑</a:t>
            </a:r>
            <a:r>
              <a:rPr lang="en-US" dirty="0" smtClean="0"/>
              <a:t>V to pass-through </a:t>
            </a:r>
            <a:r>
              <a:rPr lang="en-US" dirty="0"/>
              <a:t>Windows key combinations. </a:t>
            </a:r>
            <a:r>
              <a:rPr lang="en-CA" dirty="0" smtClean="0"/>
              <a:t>This makes it much easier to move around the user interface in Windows Server</a:t>
            </a:r>
            <a:r>
              <a:rPr lang="en-CA" dirty="0"/>
              <a:t> </a:t>
            </a:r>
            <a:r>
              <a:rPr lang="en-CA" dirty="0" smtClean="0"/>
              <a:t>2012. </a:t>
            </a:r>
            <a:r>
              <a:rPr lang="en-US" dirty="0" smtClean="0"/>
              <a:t>Verify </a:t>
            </a:r>
            <a:r>
              <a:rPr lang="en-US" dirty="0"/>
              <a:t>that this setting is configured with students on their computers:</a:t>
            </a:r>
          </a:p>
          <a:p>
            <a:pPr marL="228943" indent="-228943">
              <a:spcBef>
                <a:spcPts val="300"/>
              </a:spcBef>
              <a:buFont typeface="+mj-lt"/>
              <a:buAutoNum type="arabicPeriod"/>
            </a:pPr>
            <a:r>
              <a:rPr lang="en-US" dirty="0"/>
              <a:t>On the host computer, open </a:t>
            </a:r>
            <a:r>
              <a:rPr lang="en-US" dirty="0" smtClean="0"/>
              <a:t>Hyper</a:t>
            </a:r>
            <a:r>
              <a:rPr lang="en-CA" dirty="0"/>
              <a:t>‑</a:t>
            </a:r>
            <a:r>
              <a:rPr lang="en-US" dirty="0" smtClean="0"/>
              <a:t>V </a:t>
            </a:r>
            <a:r>
              <a:rPr lang="en-US" dirty="0"/>
              <a:t>Manager.</a:t>
            </a:r>
          </a:p>
          <a:p>
            <a:pPr marL="228943" indent="-228943">
              <a:buFont typeface="+mj-lt"/>
              <a:buAutoNum type="arabicPeriod"/>
            </a:pPr>
            <a:r>
              <a:rPr lang="en-US" dirty="0"/>
              <a:t>Right-click the host computer in </a:t>
            </a:r>
            <a:r>
              <a:rPr lang="en-US" dirty="0" smtClean="0"/>
              <a:t>Hyper</a:t>
            </a:r>
            <a:r>
              <a:rPr lang="en-CA" dirty="0"/>
              <a:t>‑</a:t>
            </a:r>
            <a:r>
              <a:rPr lang="en-US" dirty="0" smtClean="0"/>
              <a:t>V </a:t>
            </a:r>
            <a:r>
              <a:rPr lang="en-US" dirty="0"/>
              <a:t>Manager, and then click </a:t>
            </a:r>
            <a:r>
              <a:rPr lang="en-US" b="1" dirty="0" smtClean="0"/>
              <a:t>Hyper</a:t>
            </a:r>
            <a:r>
              <a:rPr lang="en-CA" b="1" dirty="0"/>
              <a:t>‑</a:t>
            </a:r>
            <a:r>
              <a:rPr lang="en-US" b="1" dirty="0" smtClean="0"/>
              <a:t>V </a:t>
            </a:r>
            <a:r>
              <a:rPr lang="en-US" b="1" dirty="0"/>
              <a:t>Settings</a:t>
            </a:r>
            <a:r>
              <a:rPr lang="en-US" dirty="0"/>
              <a:t>.</a:t>
            </a:r>
          </a:p>
          <a:p>
            <a:pPr marL="228943" indent="-228943">
              <a:buFont typeface="+mj-lt"/>
              <a:buAutoNum type="arabicPeriod"/>
            </a:pPr>
            <a:r>
              <a:rPr lang="en-US" dirty="0"/>
              <a:t>Under </a:t>
            </a:r>
            <a:r>
              <a:rPr lang="en-US" b="1" dirty="0"/>
              <a:t>User</a:t>
            </a:r>
            <a:r>
              <a:rPr lang="en-US" dirty="0"/>
              <a:t>, click </a:t>
            </a:r>
            <a:r>
              <a:rPr lang="en-US" b="1" dirty="0"/>
              <a:t>Keyboard</a:t>
            </a:r>
            <a:r>
              <a:rPr lang="en-US" dirty="0"/>
              <a:t>, </a:t>
            </a:r>
            <a:r>
              <a:rPr lang="en-US" dirty="0" smtClean="0"/>
              <a:t>click </a:t>
            </a:r>
            <a:r>
              <a:rPr lang="en-US" b="1" dirty="0"/>
              <a:t>Use on the virtual computer</a:t>
            </a:r>
            <a:r>
              <a:rPr lang="en-US" dirty="0"/>
              <a:t>, and then click</a:t>
            </a:r>
            <a:r>
              <a:rPr lang="en-US" b="1" dirty="0"/>
              <a:t> OK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Open a virtual </a:t>
            </a:r>
            <a:r>
              <a:rPr lang="en-US" dirty="0" smtClean="0"/>
              <a:t>machine, and demonstrate </a:t>
            </a:r>
            <a:r>
              <a:rPr lang="en-US" dirty="0"/>
              <a:t>the following:</a:t>
            </a:r>
          </a:p>
          <a:p>
            <a:pPr marL="171707" indent="-171707">
              <a:buFont typeface="Arial" pitchFamily="34" charset="0"/>
              <a:buChar char="•"/>
            </a:pPr>
            <a:r>
              <a:rPr lang="en-US" dirty="0"/>
              <a:t>How to sign </a:t>
            </a:r>
            <a:r>
              <a:rPr lang="en-US" dirty="0" smtClean="0"/>
              <a:t>in. </a:t>
            </a:r>
            <a:endParaRPr lang="en-US" dirty="0"/>
          </a:p>
          <a:p>
            <a:pPr marL="171707" indent="-171707">
              <a:buFont typeface="Arial" pitchFamily="34" charset="0"/>
              <a:buChar char="•"/>
            </a:pPr>
            <a:r>
              <a:rPr lang="en-US" dirty="0"/>
              <a:t>Administrative Tools are now in the Tools menu of Server </a:t>
            </a:r>
            <a:r>
              <a:rPr lang="en-US" dirty="0" smtClean="0"/>
              <a:t>Manager. </a:t>
            </a:r>
          </a:p>
          <a:p>
            <a:pPr marL="171707" indent="-171707">
              <a:buFont typeface="Arial" pitchFamily="34" charset="0"/>
              <a:buChar char="•"/>
            </a:pPr>
            <a:r>
              <a:rPr lang="en-US" dirty="0" smtClean="0"/>
              <a:t>Get to </a:t>
            </a:r>
            <a:r>
              <a:rPr lang="en-CA" dirty="0"/>
              <a:t>the Start screen</a:t>
            </a:r>
            <a:r>
              <a:rPr lang="en-CA" dirty="0" smtClean="0"/>
              <a:t>, Settings, and Search, as follows:</a:t>
            </a:r>
            <a:endParaRPr lang="en-US" dirty="0" smtClean="0"/>
          </a:p>
          <a:p>
            <a:pPr marL="360000" lvl="1" indent="-171707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dirty="0"/>
              <a:t>To get to the Start screen, in the lower-left corner of the screen, click the </a:t>
            </a:r>
            <a:r>
              <a:rPr lang="en-CA" b="1" dirty="0"/>
              <a:t>Start</a:t>
            </a:r>
            <a:r>
              <a:rPr lang="en-CA" dirty="0"/>
              <a:t> </a:t>
            </a:r>
            <a:r>
              <a:rPr lang="en-CA" dirty="0" smtClean="0"/>
              <a:t>button. You</a:t>
            </a:r>
            <a:r>
              <a:rPr lang="en-US" dirty="0" smtClean="0"/>
              <a:t> </a:t>
            </a:r>
            <a:r>
              <a:rPr lang="en-US" dirty="0"/>
              <a:t>can start typing on this screen to start searching</a:t>
            </a:r>
            <a:r>
              <a:rPr lang="en-US" dirty="0" smtClean="0"/>
              <a:t>.</a:t>
            </a:r>
          </a:p>
          <a:p>
            <a:pPr marL="360000" lvl="1" indent="-171707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US" dirty="0"/>
              <a:t>Right-clicking the </a:t>
            </a:r>
            <a:r>
              <a:rPr lang="en-US" dirty="0" smtClean="0"/>
              <a:t>lower-left corner </a:t>
            </a:r>
            <a:r>
              <a:rPr lang="en-US" dirty="0"/>
              <a:t>also provides a context menu to help with some navigation </a:t>
            </a:r>
            <a:r>
              <a:rPr lang="en-US" dirty="0" smtClean="0"/>
              <a:t>tasks, such </a:t>
            </a:r>
            <a:r>
              <a:rPr lang="en-US" dirty="0"/>
              <a:t>as Shutdown, Restart, accessing Control </a:t>
            </a:r>
            <a:r>
              <a:rPr lang="en-US" dirty="0" smtClean="0"/>
              <a:t>Panel, and similar.</a:t>
            </a:r>
            <a:endParaRPr lang="en-US" dirty="0"/>
          </a:p>
          <a:p>
            <a:pPr marL="360000" lvl="1" indent="-171707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dirty="0"/>
              <a:t>To get to Settings, point your mouse to the lower‑right corner of the screen, and </a:t>
            </a:r>
            <a:r>
              <a:rPr lang="en-CA" dirty="0" smtClean="0"/>
              <a:t>click </a:t>
            </a:r>
            <a:r>
              <a:rPr lang="en-CA" dirty="0"/>
              <a:t>the </a:t>
            </a:r>
            <a:r>
              <a:rPr lang="en-CA" b="1" dirty="0"/>
              <a:t>Settings</a:t>
            </a:r>
            <a:r>
              <a:rPr lang="en-CA" dirty="0"/>
              <a:t> charm when it appears. </a:t>
            </a:r>
            <a:r>
              <a:rPr lang="en-US" dirty="0"/>
              <a:t>Settings include Control Panel and Power.</a:t>
            </a:r>
          </a:p>
          <a:p>
            <a:pPr marL="360000" lvl="1" indent="-171707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dirty="0"/>
              <a:t>To get to Search, point your mouse to the lower‑right corner of the screen, and </a:t>
            </a:r>
            <a:r>
              <a:rPr lang="en-CA" dirty="0" smtClean="0"/>
              <a:t>click </a:t>
            </a:r>
            <a:r>
              <a:rPr lang="en-CA" dirty="0"/>
              <a:t>the </a:t>
            </a:r>
            <a:r>
              <a:rPr lang="en-CA" b="1" dirty="0"/>
              <a:t>Search</a:t>
            </a:r>
            <a:r>
              <a:rPr lang="en-CA" dirty="0"/>
              <a:t> charm when it appears. </a:t>
            </a:r>
            <a:r>
              <a:rPr lang="en-US" dirty="0" smtClean="0"/>
              <a:t>Search </a:t>
            </a:r>
            <a:r>
              <a:rPr lang="en-US" dirty="0"/>
              <a:t>results are filtered by Apps, Settings, and Files.</a:t>
            </a:r>
          </a:p>
          <a:p>
            <a:pPr marL="171707" indent="-171707">
              <a:buFont typeface="Arial" pitchFamily="34" charset="0"/>
              <a:buChar char="•"/>
            </a:pPr>
            <a:r>
              <a:rPr lang="en-US" dirty="0" smtClean="0"/>
              <a:t>Shortcut </a:t>
            </a:r>
            <a:r>
              <a:rPr lang="en-US" dirty="0"/>
              <a:t>keys:</a:t>
            </a:r>
          </a:p>
          <a:p>
            <a:pPr marL="360000" lvl="1" indent="-171707">
              <a:buFont typeface="Courier New" panose="02070309020205020404" pitchFamily="49" charset="0"/>
              <a:buChar char="o"/>
            </a:pPr>
            <a:r>
              <a:rPr lang="en-CA" dirty="0"/>
              <a:t>Windows logo key: Opens the Start screen</a:t>
            </a:r>
            <a:r>
              <a:rPr lang="en-CA" dirty="0" smtClean="0"/>
              <a:t>.</a:t>
            </a:r>
            <a:r>
              <a:rPr lang="en-US" dirty="0" smtClean="0"/>
              <a:t> </a:t>
            </a:r>
            <a:endParaRPr lang="en-US" dirty="0"/>
          </a:p>
          <a:p>
            <a:pPr marL="360000" lvl="1" indent="-171707">
              <a:buFont typeface="Courier New" panose="02070309020205020404" pitchFamily="49" charset="0"/>
              <a:buChar char="o"/>
            </a:pPr>
            <a:r>
              <a:rPr lang="en-CA" dirty="0"/>
              <a:t>Windows logo key +I: Opens the Settings window</a:t>
            </a:r>
            <a:r>
              <a:rPr lang="en-CA" dirty="0" smtClean="0"/>
              <a:t>.</a:t>
            </a:r>
            <a:endParaRPr lang="en-US" dirty="0"/>
          </a:p>
          <a:p>
            <a:pPr marL="360000" lvl="1" indent="-171707">
              <a:buFont typeface="Courier New" panose="02070309020205020404" pitchFamily="49" charset="0"/>
              <a:buChar char="o"/>
            </a:pPr>
            <a:r>
              <a:rPr lang="en-US" dirty="0"/>
              <a:t>Windows </a:t>
            </a:r>
            <a:r>
              <a:rPr lang="en-CA" dirty="0"/>
              <a:t>logo key </a:t>
            </a:r>
            <a:r>
              <a:rPr lang="en-US" dirty="0"/>
              <a:t>+R: Opens the Run window</a:t>
            </a:r>
            <a:r>
              <a:rPr lang="en-US" dirty="0" smtClean="0"/>
              <a:t>. </a:t>
            </a:r>
          </a:p>
          <a:p>
            <a:pPr marL="360000" lvl="1" indent="-171707">
              <a:buFont typeface="Courier New" panose="02070309020205020404" pitchFamily="49" charset="0"/>
              <a:buChar char="o"/>
            </a:pPr>
            <a:r>
              <a:rPr lang="en-US" dirty="0" smtClean="0"/>
              <a:t>W</a:t>
            </a:r>
            <a:r>
              <a:rPr lang="en-CA" dirty="0" err="1" smtClean="0"/>
              <a:t>indows</a:t>
            </a:r>
            <a:r>
              <a:rPr lang="en-CA" dirty="0" smtClean="0"/>
              <a:t> </a:t>
            </a:r>
            <a:r>
              <a:rPr lang="en-CA" dirty="0"/>
              <a:t>logo key +C: Displays the selection of charms. 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687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533400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8233" y="2514600"/>
            <a:ext cx="5687423" cy="13716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400" baseline="0">
                <a:solidFill>
                  <a:schemeClr val="bg1"/>
                </a:solidFill>
                <a:latin typeface="Segoe UI Light" pitchFamily="34" charset="0"/>
              </a:defRPr>
            </a:lvl1pPr>
          </a:lstStyle>
          <a:p>
            <a:pPr lvl="0"/>
            <a:r>
              <a:rPr lang="en-US" dirty="0" smtClean="0"/>
              <a:t>&lt;Number&gt;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108233" y="3886200"/>
            <a:ext cx="5638800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Course title starts here</a:t>
            </a:r>
            <a:endParaRPr lang="en-US" dirty="0"/>
          </a:p>
        </p:txBody>
      </p:sp>
      <p:pic>
        <p:nvPicPr>
          <p:cNvPr id="3" name="Picture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758770"/>
            <a:ext cx="2590800" cy="95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namic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8233" y="2514600"/>
            <a:ext cx="5687423" cy="13716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400" baseline="0">
                <a:solidFill>
                  <a:schemeClr val="bg1"/>
                </a:solidFill>
                <a:latin typeface="Segoe UI Light" pitchFamily="34" charset="0"/>
              </a:defRPr>
            </a:lvl1pPr>
          </a:lstStyle>
          <a:p>
            <a:pPr lvl="0"/>
            <a:r>
              <a:rPr lang="en-US" dirty="0" smtClean="0"/>
              <a:t>&lt;Number&gt;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108233" y="3886200"/>
            <a:ext cx="5638800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Course title starts here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93478"/>
            <a:ext cx="4710223" cy="1016322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998843"/>
            <a:ext cx="1814119" cy="69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93914" y="-76200"/>
            <a:ext cx="9448800" cy="723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286000" y="2514600"/>
            <a:ext cx="6858000" cy="881743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590800" y="2514600"/>
            <a:ext cx="5638800" cy="88174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smtClean="0"/>
              <a:t>Module &lt;Number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90800" y="3505200"/>
            <a:ext cx="5624732" cy="14325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Module title starts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42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pt Slide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32pt Slide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51054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70C0"/>
              </a:buClr>
              <a:buFont typeface="Arial" pitchFamily="34" charset="0"/>
              <a:buChar char="•"/>
              <a:defRPr sz="28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800100" indent="-342900">
              <a:buClr>
                <a:srgbClr val="0070C0"/>
              </a:buClr>
              <a:buFont typeface="Arial" pitchFamily="34" charset="0"/>
              <a:buChar char="•"/>
              <a:defRPr sz="2400" b="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257300" indent="-342900">
              <a:buClr>
                <a:srgbClr val="0070C0"/>
              </a:buClr>
              <a:buFont typeface="Arial" pitchFamily="34" charset="0"/>
              <a:buChar char="•"/>
              <a:defRPr sz="2000" b="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181723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pt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28 </a:t>
            </a:r>
            <a:r>
              <a:rPr lang="en-US" dirty="0" err="1" smtClean="0"/>
              <a:t>pt</a:t>
            </a:r>
            <a:r>
              <a:rPr lang="en-US" dirty="0" smtClean="0"/>
              <a:t> Slide Title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DA60-3BEE-4BCE-BEDB-E433FD970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51054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70C0"/>
              </a:buClr>
              <a:buFont typeface="Arial" pitchFamily="34" charset="0"/>
              <a:buChar char="•"/>
              <a:defRPr sz="28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800100" indent="-342900">
              <a:buClr>
                <a:srgbClr val="0070C0"/>
              </a:buClr>
              <a:buFont typeface="Arial" pitchFamily="34" charset="0"/>
              <a:buChar char="•"/>
              <a:defRPr sz="2400" b="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257300" indent="-342900">
              <a:buClr>
                <a:srgbClr val="0070C0"/>
              </a:buClr>
              <a:buFont typeface="Arial" pitchFamily="34" charset="0"/>
              <a:buChar char="•"/>
              <a:defRPr sz="2000" b="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819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32pt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11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9B7DB-8367-4EA5-BD31-DC3A1C807884}" type="datetimeFigureOut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  <p:sldLayoutId id="2147483661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learning/companionmo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killpipe.courseware-marketplace.com/read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hyperlink" Target="http://www.microsoft.com/learning/companionmoc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learning/certifica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20410D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/>
              <a:t>Installing and Configuring Windows Server</a:t>
            </a:r>
            <a:r>
              <a:rPr lang="en-CA" baseline="30000" dirty="0"/>
              <a:t>®</a:t>
            </a:r>
            <a:r>
              <a:rPr lang="en-CA" dirty="0"/>
              <a:t> </a:t>
            </a:r>
            <a:r>
              <a:rPr lang="en-CA" dirty="0" smtClean="0"/>
              <a:t>2012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0732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Welcome!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066800"/>
            <a:ext cx="8229600" cy="5105400"/>
          </a:xfrm>
          <a:prstGeom prst="rect">
            <a:avLst/>
          </a:prstGeom>
        </p:spPr>
        <p:txBody>
          <a:bodyPr numCol="2" spcCol="45720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Thank you for joining us today.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We have worked together with Microsoft Learning Partners and Microsoft IT Academies to bring you a world-class learning experience, including: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Microsoft Certified Trainers + Instructors. </a:t>
            </a: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Your instructor is a premier technical and instructional expert who meets ongoing certification requirements.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Customer Satisfaction Guarantee. </a:t>
            </a: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Our Partners offer a satisfaction guarantee and we hold them accountable for it. At the end of class, please complete an evaluation of </a:t>
            </a:r>
          </a:p>
          <a:p>
            <a:pPr marL="0" indent="0">
              <a:spcBef>
                <a:spcPts val="1200"/>
              </a:spcBef>
              <a:buNone/>
            </a:pPr>
            <a:endParaRPr lang="en-US" sz="18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today’s experience. We value your feedback!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Certification Benefits. </a:t>
            </a: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After training, consider pursuing a Microsoft Certification, to help distinguish your technical expertise and experience. Ask your instructor about available exam promotions and discounts.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We wish you a great learning experience and ongoing career success!</a:t>
            </a:r>
          </a:p>
          <a:p>
            <a:pPr marL="0" indent="0">
              <a:lnSpc>
                <a:spcPct val="97000"/>
              </a:lnSpc>
              <a:buNone/>
            </a:pPr>
            <a:endParaRPr lang="en-US" sz="18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947" y="5867400"/>
            <a:ext cx="2193219" cy="8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4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Instructor: </a:t>
            </a:r>
            <a:r>
              <a:rPr lang="en-US" dirty="0" smtClean="0"/>
              <a:t>&lt;Instructor Name&gt;</a:t>
            </a:r>
          </a:p>
          <a:p>
            <a:r>
              <a:rPr lang="en-US" dirty="0" smtClean="0"/>
              <a:t>&lt;Title or other credentials, e.g. Microsoft Certified Trainer&gt;</a:t>
            </a:r>
          </a:p>
          <a:p>
            <a:r>
              <a:rPr lang="en-US" dirty="0" smtClean="0"/>
              <a:t>&lt;Affiliation/Company&gt;</a:t>
            </a:r>
          </a:p>
          <a:p>
            <a:r>
              <a:rPr lang="en-US" dirty="0" smtClean="0"/>
              <a:t>&lt;A few words about my technical and professional experience&gt; </a:t>
            </a:r>
          </a:p>
        </p:txBody>
      </p:sp>
    </p:spTree>
    <p:extLst>
      <p:ext uri="{BB962C8B-B14F-4D97-AF65-F5344CB8AC3E}">
        <p14:creationId xmlns:p14="http://schemas.microsoft.com/office/powerpoint/2010/main" val="50387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Student Introductions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6203032" cy="5105400"/>
          </a:xfrm>
        </p:spPr>
        <p:txBody>
          <a:bodyPr/>
          <a:lstStyle/>
          <a:p>
            <a:r>
              <a:rPr lang="en-US" dirty="0" smtClean="0"/>
              <a:t>Name</a:t>
            </a:r>
            <a:endParaRPr lang="en-US" dirty="0"/>
          </a:p>
          <a:p>
            <a:r>
              <a:rPr lang="en-US" dirty="0"/>
              <a:t>Company affiliation</a:t>
            </a:r>
          </a:p>
          <a:p>
            <a:r>
              <a:rPr lang="en-US" dirty="0"/>
              <a:t>Title/function</a:t>
            </a:r>
          </a:p>
          <a:p>
            <a:r>
              <a:rPr lang="en-US" dirty="0"/>
              <a:t>Job responsibility</a:t>
            </a:r>
          </a:p>
          <a:p>
            <a:r>
              <a:rPr lang="en-US" dirty="0" smtClean="0"/>
              <a:t>Windows Server experience</a:t>
            </a:r>
            <a:endParaRPr lang="en-US" dirty="0"/>
          </a:p>
          <a:p>
            <a:r>
              <a:rPr lang="en-US" dirty="0"/>
              <a:t>Your expectations for the course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27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Facilities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908720"/>
            <a:ext cx="8229600" cy="5544616"/>
          </a:xfrm>
        </p:spPr>
        <p:txBody>
          <a:bodyPr/>
          <a:lstStyle/>
          <a:p>
            <a:r>
              <a:rPr lang="en-US" dirty="0" smtClean="0"/>
              <a:t>Class hours</a:t>
            </a:r>
          </a:p>
          <a:p>
            <a:r>
              <a:rPr lang="en-US" dirty="0" smtClean="0"/>
              <a:t>Building hours</a:t>
            </a:r>
          </a:p>
          <a:p>
            <a:r>
              <a:rPr lang="en-US" dirty="0" smtClean="0"/>
              <a:t>Parking</a:t>
            </a:r>
          </a:p>
          <a:p>
            <a:r>
              <a:rPr lang="en-US" dirty="0" smtClean="0"/>
              <a:t>Restrooms</a:t>
            </a:r>
          </a:p>
          <a:p>
            <a:r>
              <a:rPr lang="en-US" dirty="0" smtClean="0"/>
              <a:t>Meals</a:t>
            </a:r>
          </a:p>
          <a:p>
            <a:r>
              <a:rPr lang="en-US" dirty="0" smtClean="0"/>
              <a:t>Phones</a:t>
            </a:r>
          </a:p>
          <a:p>
            <a:r>
              <a:rPr lang="en-US" dirty="0" smtClean="0"/>
              <a:t>Messages</a:t>
            </a:r>
          </a:p>
          <a:p>
            <a:r>
              <a:rPr lang="en-US" dirty="0" smtClean="0"/>
              <a:t>Smoking</a:t>
            </a:r>
          </a:p>
          <a:p>
            <a:r>
              <a:rPr lang="en-US" dirty="0"/>
              <a:t>Internet access </a:t>
            </a:r>
            <a:endParaRPr lang="en-US" dirty="0" smtClean="0"/>
          </a:p>
          <a:p>
            <a:r>
              <a:rPr lang="en-US" dirty="0" smtClean="0"/>
              <a:t>Recycling</a:t>
            </a:r>
          </a:p>
          <a:p>
            <a:r>
              <a:rPr lang="en-US" dirty="0" smtClean="0"/>
              <a:t>Emergency procedures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3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This Course – Audience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Candidates </a:t>
            </a:r>
            <a:r>
              <a:rPr lang="en-CA" sz="2400" dirty="0" smtClean="0"/>
              <a:t>who attend </a:t>
            </a:r>
            <a:r>
              <a:rPr lang="en-CA" sz="2400" dirty="0"/>
              <a:t>this course </a:t>
            </a:r>
            <a:r>
              <a:rPr lang="en-CA" sz="2400" dirty="0" smtClean="0"/>
              <a:t>typically are</a:t>
            </a:r>
            <a:r>
              <a:rPr lang="en-CA" sz="2400" dirty="0"/>
              <a:t>:</a:t>
            </a:r>
          </a:p>
          <a:p>
            <a:pPr lvl="0"/>
            <a:r>
              <a:rPr lang="en-CA" sz="2400" dirty="0"/>
              <a:t>Windows Server administrators who </a:t>
            </a:r>
            <a:r>
              <a:rPr lang="en-CA" sz="2400" dirty="0" smtClean="0"/>
              <a:t>are relatively </a:t>
            </a:r>
            <a:r>
              <a:rPr lang="en-US" sz="2400" dirty="0" smtClean="0"/>
              <a:t>new </a:t>
            </a:r>
            <a:r>
              <a:rPr lang="en-US" sz="2400" dirty="0"/>
              <a:t>to Windows Server administration and related </a:t>
            </a:r>
            <a:r>
              <a:rPr lang="en-US" sz="2400" dirty="0" smtClean="0"/>
              <a:t>technologies</a:t>
            </a:r>
            <a:endParaRPr lang="en-CA" sz="2400" dirty="0"/>
          </a:p>
          <a:p>
            <a:r>
              <a:rPr lang="en-CA" sz="2400" dirty="0"/>
              <a:t>IT professionals who are experienced </a:t>
            </a:r>
            <a:r>
              <a:rPr lang="en-US" sz="2400" dirty="0"/>
              <a:t>in non-Microsoft technologies</a:t>
            </a:r>
          </a:p>
          <a:p>
            <a:pPr lvl="0"/>
            <a:r>
              <a:rPr lang="en-CA" sz="2400" dirty="0" smtClean="0"/>
              <a:t>IT </a:t>
            </a:r>
            <a:r>
              <a:rPr lang="en-CA" sz="2400" dirty="0"/>
              <a:t>professionals who have some knowledge and experience working with Windows operating systems</a:t>
            </a:r>
            <a:endParaRPr lang="en-CA" sz="2400" dirty="0" smtClean="0"/>
          </a:p>
          <a:p>
            <a:pPr lvl="0"/>
            <a:r>
              <a:rPr lang="en-CA" sz="2400" dirty="0" smtClean="0"/>
              <a:t>IT </a:t>
            </a:r>
            <a:r>
              <a:rPr lang="en-CA" sz="2400" dirty="0"/>
              <a:t>professionals who </a:t>
            </a:r>
            <a:r>
              <a:rPr lang="en-CA" sz="2400" dirty="0" smtClean="0"/>
              <a:t>want </a:t>
            </a:r>
            <a:r>
              <a:rPr lang="en-US" sz="2400" dirty="0" smtClean="0"/>
              <a:t>to </a:t>
            </a:r>
            <a:r>
              <a:rPr lang="en-US" sz="2400" dirty="0"/>
              <a:t>take the relevant exams or </a:t>
            </a:r>
            <a:r>
              <a:rPr lang="en-US" sz="2400" dirty="0" smtClean="0"/>
              <a:t>certifications</a:t>
            </a:r>
            <a:endParaRPr lang="en-CA" sz="2400" dirty="0" smtClean="0"/>
          </a:p>
          <a:p>
            <a:pPr marL="0" indent="0">
              <a:buNone/>
            </a:pPr>
            <a:endParaRPr lang="en-CA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8167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This Course - Prerequisites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67544" y="1124744"/>
            <a:ext cx="8229600" cy="51054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CA" sz="2400" dirty="0" smtClean="0">
                <a:latin typeface="Calibri" pitchFamily="34" charset="0"/>
                <a:cs typeface="Calibri" pitchFamily="34" charset="0"/>
              </a:rPr>
              <a:t>Before </a:t>
            </a:r>
            <a:r>
              <a:rPr lang="en-CA" sz="2400" dirty="0">
                <a:latin typeface="Calibri" pitchFamily="34" charset="0"/>
                <a:cs typeface="Calibri" pitchFamily="34" charset="0"/>
              </a:rPr>
              <a:t>attending this course, students must have:</a:t>
            </a:r>
          </a:p>
          <a:p>
            <a:pPr marL="174625" lvl="1" indent="-174625">
              <a:buSzPct val="90000"/>
            </a:pPr>
            <a:r>
              <a:rPr lang="en-CA" dirty="0" smtClean="0">
                <a:latin typeface="Calibri" pitchFamily="34" charset="0"/>
                <a:cs typeface="Calibri" pitchFamily="34" charset="0"/>
              </a:rPr>
              <a:t>An understanding </a:t>
            </a:r>
            <a:r>
              <a:rPr lang="en-CA" dirty="0">
                <a:latin typeface="Calibri" pitchFamily="34" charset="0"/>
                <a:cs typeface="Calibri" pitchFamily="34" charset="0"/>
              </a:rPr>
              <a:t>of networking fundamentals</a:t>
            </a:r>
          </a:p>
          <a:p>
            <a:pPr marL="174625" lvl="1" indent="-174625">
              <a:buSzPct val="90000"/>
            </a:pPr>
            <a:r>
              <a:rPr lang="en-CA" dirty="0">
                <a:latin typeface="Calibri" pitchFamily="34" charset="0"/>
                <a:cs typeface="Calibri" pitchFamily="34" charset="0"/>
              </a:rPr>
              <a:t>An understanding </a:t>
            </a:r>
            <a:r>
              <a:rPr lang="en-CA" dirty="0" smtClean="0">
                <a:latin typeface="Calibri" pitchFamily="34" charset="0"/>
                <a:cs typeface="Calibri" pitchFamily="34" charset="0"/>
              </a:rPr>
              <a:t>of basic </a:t>
            </a:r>
            <a:r>
              <a:rPr lang="en-CA" dirty="0">
                <a:latin typeface="Calibri" pitchFamily="34" charset="0"/>
                <a:cs typeface="Calibri" pitchFamily="34" charset="0"/>
              </a:rPr>
              <a:t>Active </a:t>
            </a:r>
            <a:r>
              <a:rPr lang="en-CA" dirty="0" smtClean="0">
                <a:latin typeface="Calibri" pitchFamily="34" charset="0"/>
                <a:cs typeface="Calibri" pitchFamily="34" charset="0"/>
              </a:rPr>
              <a:t>Directory concepts</a:t>
            </a:r>
            <a:endParaRPr lang="en-CA" dirty="0">
              <a:latin typeface="Calibri" pitchFamily="34" charset="0"/>
              <a:cs typeface="Calibri" pitchFamily="34" charset="0"/>
            </a:endParaRPr>
          </a:p>
          <a:p>
            <a:pPr marL="174625" lvl="1" indent="-174625">
              <a:buSzPct val="90000"/>
            </a:pPr>
            <a:r>
              <a:rPr lang="en-CA" dirty="0" smtClean="0">
                <a:latin typeface="Calibri" pitchFamily="34" charset="0"/>
                <a:cs typeface="Calibri" pitchFamily="34" charset="0"/>
              </a:rPr>
              <a:t>An awareness and understanding of security best practices</a:t>
            </a:r>
          </a:p>
          <a:p>
            <a:pPr marL="174625" lvl="1" indent="-174625">
              <a:buSzPct val="90000"/>
            </a:pPr>
            <a:r>
              <a:rPr lang="en-CA" dirty="0" smtClean="0">
                <a:latin typeface="Calibri" pitchFamily="34" charset="0"/>
                <a:cs typeface="Calibri" pitchFamily="34" charset="0"/>
              </a:rPr>
              <a:t>Basic knowledge of server hardware</a:t>
            </a:r>
            <a:endParaRPr lang="en-CA" dirty="0">
              <a:latin typeface="Calibri" pitchFamily="34" charset="0"/>
              <a:cs typeface="Calibri" pitchFamily="34" charset="0"/>
            </a:endParaRPr>
          </a:p>
          <a:p>
            <a:pPr marL="174625" lvl="1" indent="-174625">
              <a:buSzPct val="90000"/>
            </a:pPr>
            <a:r>
              <a:rPr lang="en-CA" dirty="0">
                <a:latin typeface="Calibri" pitchFamily="34" charset="0"/>
                <a:cs typeface="Calibri" pitchFamily="34" charset="0"/>
              </a:rPr>
              <a:t>Experience working with, and </a:t>
            </a:r>
            <a:r>
              <a:rPr lang="en-CA" dirty="0" smtClean="0">
                <a:latin typeface="Calibri" pitchFamily="34" charset="0"/>
                <a:cs typeface="Calibri" pitchFamily="34" charset="0"/>
              </a:rPr>
              <a:t>configuring, </a:t>
            </a:r>
            <a:r>
              <a:rPr lang="en-CA" dirty="0">
                <a:latin typeface="Calibri" pitchFamily="34" charset="0"/>
                <a:cs typeface="Calibri" pitchFamily="34" charset="0"/>
              </a:rPr>
              <a:t>Windows client operating systems, such as Windows 7 or Windows 8</a:t>
            </a:r>
          </a:p>
          <a:p>
            <a:pPr marL="0" lvl="1" indent="0">
              <a:buSzPct val="90000"/>
              <a:buNone/>
            </a:pPr>
            <a:endParaRPr lang="en-CA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2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133600" y="2057399"/>
            <a:ext cx="6019800" cy="396388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</a:rPr>
              <a:t>Microsoft Official Course Handbook</a:t>
            </a:r>
          </a:p>
          <a:p>
            <a:pPr marL="560070" indent="-285750"/>
            <a:r>
              <a:rPr lang="en-US" sz="1800" dirty="0" smtClean="0"/>
              <a:t>Printed courseware book</a:t>
            </a:r>
          </a:p>
          <a:p>
            <a:pPr marL="560070" indent="-285750"/>
            <a:r>
              <a:rPr lang="en-US" sz="1800" dirty="0" smtClean="0"/>
              <a:t>Organized by Modules</a:t>
            </a:r>
          </a:p>
          <a:p>
            <a:pPr marL="560070" indent="-285750"/>
            <a:r>
              <a:rPr lang="en-US" sz="1800" dirty="0" smtClean="0"/>
              <a:t>Includes Labs + Lab Answer Keys</a:t>
            </a:r>
          </a:p>
          <a:p>
            <a:pPr marL="560070" indent="-285750">
              <a:spcBef>
                <a:spcPts val="432"/>
              </a:spcBef>
            </a:pPr>
            <a:r>
              <a:rPr lang="en-US" sz="1800" dirty="0" smtClean="0"/>
              <a:t>Module Reviews + Takeaways—great for              on-the-job reference </a:t>
            </a:r>
          </a:p>
          <a:p>
            <a:pPr marL="0" indent="0">
              <a:buNone/>
            </a:pPr>
            <a:endParaRPr lang="en-US" sz="18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</a:rPr>
              <a:t>Digital Companion Content</a:t>
            </a:r>
          </a:p>
          <a:p>
            <a:pPr marL="560070" indent="-285750"/>
            <a:r>
              <a:rPr lang="en-US" sz="1800" dirty="0" smtClean="0"/>
              <a:t>Supplemental content </a:t>
            </a:r>
            <a:r>
              <a:rPr lang="en-US" sz="1800" dirty="0"/>
              <a:t>+ </a:t>
            </a:r>
            <a:r>
              <a:rPr lang="en-US" sz="1800" dirty="0" smtClean="0"/>
              <a:t>helpful links</a:t>
            </a:r>
          </a:p>
          <a:p>
            <a:pPr marL="560070" indent="-285750"/>
            <a:r>
              <a:rPr lang="en-US" sz="1800" dirty="0" smtClean="0"/>
              <a:t>Download at: </a:t>
            </a:r>
            <a:r>
              <a:rPr lang="en-US" sz="1800" dirty="0" smtClean="0">
                <a:solidFill>
                  <a:srgbClr val="0070C0"/>
                </a:solidFill>
                <a:hlinkClick r:id="rId3"/>
              </a:rPr>
              <a:t>http://www.microsoft.com/learning/companionmoc</a:t>
            </a:r>
            <a:endParaRPr lang="en-US" sz="1800" dirty="0" smtClean="0">
              <a:solidFill>
                <a:srgbClr val="0070C0"/>
              </a:solidFill>
            </a:endParaRPr>
          </a:p>
          <a:p>
            <a:pPr indent="-182880"/>
            <a:endParaRPr lang="en-US" sz="18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909" y="0"/>
            <a:ext cx="8229600" cy="822960"/>
          </a:xfrm>
        </p:spPr>
        <p:txBody>
          <a:bodyPr/>
          <a:lstStyle/>
          <a:p>
            <a:r>
              <a:rPr lang="en-US" dirty="0" smtClean="0"/>
              <a:t>Your Course Materials (</a:t>
            </a:r>
            <a:r>
              <a:rPr lang="en-US" i="1" dirty="0" smtClean="0"/>
              <a:t>Optional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424" y="4122727"/>
            <a:ext cx="978803" cy="874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1066800"/>
            <a:ext cx="635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Designed to optimize your classroom learning experience and support you back on the job.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65" y="2133600"/>
            <a:ext cx="1322869" cy="169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8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Course </a:t>
            </a:r>
            <a:r>
              <a:rPr lang="en-US" dirty="0" smtClean="0"/>
              <a:t>Materials </a:t>
            </a:r>
            <a:r>
              <a:rPr lang="en-IE" dirty="0" smtClean="0"/>
              <a:t>(</a:t>
            </a:r>
            <a:r>
              <a:rPr lang="en-IE" i="1" dirty="0" smtClean="0"/>
              <a:t>Optional</a:t>
            </a:r>
            <a:r>
              <a:rPr lang="en-IE" dirty="0" smtClean="0"/>
              <a:t>)</a:t>
            </a:r>
            <a:endParaRPr lang="en-IE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123728" y="1196752"/>
            <a:ext cx="6198386" cy="515959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</a:rPr>
              <a:t>Microsoft Official Course Handbook</a:t>
            </a:r>
          </a:p>
          <a:p>
            <a:pPr marL="560070" indent="-285750"/>
            <a:r>
              <a:rPr lang="en-US" sz="1800" dirty="0" smtClean="0"/>
              <a:t>Accessed online using the Arvato Skillpipe reader at </a:t>
            </a:r>
            <a:r>
              <a:rPr lang="en-US" sz="1800" dirty="0" smtClean="0">
                <a:hlinkClick r:id="rId3"/>
              </a:rPr>
              <a:t>http://skillpipe.courseware-marketplace.com/reader</a:t>
            </a:r>
            <a:r>
              <a:rPr lang="en-US" sz="1800" dirty="0" smtClean="0"/>
              <a:t> </a:t>
            </a:r>
            <a:endParaRPr lang="en-US" sz="1800" dirty="0"/>
          </a:p>
          <a:p>
            <a:pPr marL="560070" indent="-285750"/>
            <a:r>
              <a:rPr lang="en-US" sz="1800" dirty="0" smtClean="0"/>
              <a:t>Register/log in and redeem your digital courseware</a:t>
            </a:r>
          </a:p>
          <a:p>
            <a:pPr marL="560070" indent="-285750"/>
            <a:r>
              <a:rPr lang="en-US" sz="1800" dirty="0" smtClean="0"/>
              <a:t>Add notes, add comments, and highlight content just as you would with printed materials</a:t>
            </a:r>
          </a:p>
          <a:p>
            <a:pPr marL="560070" indent="-285750"/>
            <a:r>
              <a:rPr lang="en-US" sz="1800" dirty="0" smtClean="0"/>
              <a:t>Organized by modules</a:t>
            </a:r>
          </a:p>
          <a:p>
            <a:pPr marL="560070" indent="-285750"/>
            <a:r>
              <a:rPr lang="en-US" sz="1800" dirty="0" smtClean="0"/>
              <a:t>Includes Labs + Lab </a:t>
            </a:r>
            <a:r>
              <a:rPr lang="en-US" sz="1800" dirty="0"/>
              <a:t>Answer </a:t>
            </a:r>
            <a:r>
              <a:rPr lang="en-US" sz="1800" dirty="0" smtClean="0"/>
              <a:t>Keys</a:t>
            </a:r>
          </a:p>
          <a:p>
            <a:pPr marL="560070" indent="-285750">
              <a:spcBef>
                <a:spcPts val="432"/>
              </a:spcBef>
            </a:pPr>
            <a:r>
              <a:rPr lang="en-US" sz="1800" dirty="0" smtClean="0"/>
              <a:t>Module Reviews + Takeaways—great for                  on-the-job reference </a:t>
            </a:r>
          </a:p>
          <a:p>
            <a:pPr marL="0" indent="0">
              <a:buNone/>
            </a:pPr>
            <a:endParaRPr lang="en-US" sz="18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</a:rPr>
              <a:t>Digital Companion Content</a:t>
            </a:r>
          </a:p>
          <a:p>
            <a:pPr marL="560070" indent="-285750"/>
            <a:r>
              <a:rPr lang="en-US" sz="1800" dirty="0" smtClean="0"/>
              <a:t>Supplemental content + helpful links</a:t>
            </a:r>
          </a:p>
          <a:p>
            <a:pPr marL="560070" indent="-285750"/>
            <a:r>
              <a:rPr lang="en-US" sz="1800" dirty="0" smtClean="0"/>
              <a:t>Download at: </a:t>
            </a:r>
            <a:r>
              <a:rPr lang="en-US" sz="1800" dirty="0" smtClean="0">
                <a:solidFill>
                  <a:srgbClr val="0070C0"/>
                </a:solidFill>
                <a:hlinkClick r:id="rId4"/>
              </a:rPr>
              <a:t>http://www.microsoft.com/learning/companionmoc</a:t>
            </a:r>
            <a:endParaRPr lang="en-US" sz="1800" dirty="0" smtClean="0">
              <a:solidFill>
                <a:srgbClr val="0070C0"/>
              </a:solidFill>
            </a:endParaRPr>
          </a:p>
          <a:p>
            <a:pPr indent="-182880"/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65" y="2133600"/>
            <a:ext cx="1322869" cy="16947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424" y="4930992"/>
            <a:ext cx="978803" cy="87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3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2025" y="949081"/>
            <a:ext cx="8340015" cy="51473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1: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Deploying and Managing Windows </a:t>
            </a:r>
            <a:endParaRPr lang="en-CA" sz="2600" dirty="0" smtClean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0">
              <a:lnSpc>
                <a:spcPct val="110000"/>
              </a:lnSpc>
              <a:spcBef>
                <a:spcPts val="600"/>
              </a:spcBef>
              <a:buClr>
                <a:srgbClr val="0070C0"/>
              </a:buClr>
              <a:buNone/>
            </a:pPr>
            <a:r>
              <a:rPr lang="en-CA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Server 2012 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2: Introduction to Active Directory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Domain 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Services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3: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Managing Active Directory </a:t>
            </a:r>
            <a:r>
              <a:rPr lang="en-CA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Domain Services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Objects </a:t>
            </a: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4: Automating Active Directory Domain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Services 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Administration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5: Implementing IPv4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6: Implementing Dynamic Host Configuration Protocol</a:t>
            </a:r>
          </a:p>
        </p:txBody>
      </p:sp>
    </p:spTree>
    <p:extLst>
      <p:ext uri="{BB962C8B-B14F-4D97-AF65-F5344CB8AC3E}">
        <p14:creationId xmlns:p14="http://schemas.microsoft.com/office/powerpoint/2010/main" val="58446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 </a:t>
            </a:r>
            <a:r>
              <a:rPr lang="en-US" i="1" dirty="0" smtClean="0"/>
              <a:t>(continued)</a:t>
            </a:r>
            <a:endParaRPr lang="en-US" i="1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1276" y="1021215"/>
            <a:ext cx="8119156" cy="51473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7: Implementing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DNS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8: Implementing IPv6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9: Implementing Local Storage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10: Implementing File and Print Services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11: Implementing Group Policy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  <a:tabLst>
                <a:tab pos="2057400" algn="l"/>
              </a:tabLst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12: Securing Windows Servers by Using Group Policy Objects</a:t>
            </a: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  <a:tabLst>
                <a:tab pos="2057400" algn="l"/>
              </a:tabLst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13: Implementing Server Virtualization with Hyper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‑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V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92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Microsoft Certification Program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19200"/>
            <a:ext cx="47244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Get trained. Get certified. </a:t>
            </a:r>
          </a:p>
          <a:p>
            <a:r>
              <a:rPr lang="en-US" sz="3800" dirty="0" smtClean="0">
                <a:solidFill>
                  <a:srgbClr val="00B0F0"/>
                </a:solidFill>
              </a:rPr>
              <a:t>Get ahead.</a:t>
            </a:r>
          </a:p>
          <a:p>
            <a:endParaRPr lang="en-US" sz="1000" dirty="0"/>
          </a:p>
          <a:p>
            <a:endParaRPr lang="en-US" dirty="0" smtClean="0"/>
          </a:p>
          <a:p>
            <a:r>
              <a:rPr lang="en-US" dirty="0" smtClean="0"/>
              <a:t>Microsoft Certifications demonstrate that you have the skills to design, deploy, and optimize the latest technology solutions. </a:t>
            </a:r>
          </a:p>
          <a:p>
            <a:endParaRPr lang="en-US" dirty="0"/>
          </a:p>
          <a:p>
            <a:r>
              <a:rPr lang="en-US" dirty="0" smtClean="0"/>
              <a:t>Ask your Microsoft Learning Partner how you can prepare for certification.</a:t>
            </a:r>
          </a:p>
          <a:p>
            <a:endParaRPr lang="en-US" dirty="0" smtClean="0"/>
          </a:p>
          <a:p>
            <a:r>
              <a:rPr lang="en-US" dirty="0" smtClean="0"/>
              <a:t>Also see:</a:t>
            </a:r>
            <a:endParaRPr lang="en-US" dirty="0"/>
          </a:p>
          <a:p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www.microsoft.com/learning/</a:t>
            </a:r>
          </a:p>
          <a:p>
            <a:r>
              <a:rPr lang="en-US" dirty="0" smtClean="0">
                <a:hlinkClick r:id="rId3"/>
              </a:rPr>
              <a:t>certification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867400"/>
            <a:ext cx="1898910" cy="6985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2" t="21260" r="18382"/>
          <a:stretch/>
        </p:blipFill>
        <p:spPr>
          <a:xfrm>
            <a:off x="5462364" y="1340768"/>
            <a:ext cx="3130872" cy="47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8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22960"/>
          </a:xfrm>
        </p:spPr>
        <p:txBody>
          <a:bodyPr/>
          <a:lstStyle/>
          <a:p>
            <a:r>
              <a:rPr lang="en-US" dirty="0" smtClean="0"/>
              <a:t>Windows Certification Paths</a:t>
            </a:r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376622" y="4869160"/>
            <a:ext cx="848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67744" y="3783729"/>
            <a:ext cx="4912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64"/>
            <a:r>
              <a:rPr lang="en-US" sz="2400" b="1" dirty="0" smtClean="0">
                <a:solidFill>
                  <a:srgbClr val="92D050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553" y="960983"/>
            <a:ext cx="330336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MCSA Windows Server 2012</a:t>
            </a:r>
            <a:endParaRPr lang="en-US" sz="2000" dirty="0">
              <a:solidFill>
                <a:schemeClr val="tx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376622" y="1271016"/>
            <a:ext cx="1256336" cy="175596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70-410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20410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Installing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and Configuring Windows Server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2012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Plus 2"/>
          <p:cNvSpPr>
            <a:spLocks/>
          </p:cNvSpPr>
          <p:nvPr/>
        </p:nvSpPr>
        <p:spPr>
          <a:xfrm>
            <a:off x="1698353" y="2015750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" name="Plus 50"/>
          <p:cNvSpPr>
            <a:spLocks/>
          </p:cNvSpPr>
          <p:nvPr/>
        </p:nvSpPr>
        <p:spPr>
          <a:xfrm>
            <a:off x="3219443" y="204341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967761" y="1273702"/>
            <a:ext cx="1236087" cy="17510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4295" rIns="0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dirty="0"/>
              <a:t>Exam 70-411</a:t>
            </a:r>
          </a:p>
          <a:p>
            <a:pPr algn="ctr"/>
            <a:r>
              <a:rPr lang="en-US" sz="1500" dirty="0"/>
              <a:t>(</a:t>
            </a:r>
            <a:r>
              <a:rPr lang="en-US" sz="1500" i="1" dirty="0"/>
              <a:t>20411</a:t>
            </a:r>
            <a:r>
              <a:rPr lang="en-US" sz="1500" dirty="0"/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Administering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Windows Server 2012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3512907" y="1279454"/>
            <a:ext cx="1211291" cy="1665859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70-412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20412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Configuring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Advanced Windows Server 2012 Services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3050411" y="3320542"/>
            <a:ext cx="1625781" cy="133259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70-417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20417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Upgrading Your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Skills to MCSA Windows Server 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7448" y="960983"/>
            <a:ext cx="3067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MCSE Server Infrastructure</a:t>
            </a:r>
            <a:endParaRPr lang="en-US" sz="2000" dirty="0">
              <a:solidFill>
                <a:schemeClr val="tx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5449392" y="1287006"/>
            <a:ext cx="1438925" cy="1493922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70-413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20413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 </a:t>
            </a:r>
            <a:endParaRPr lang="en-US" sz="1500" dirty="0" smtClean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Designing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and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a Server 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304746" y="1268760"/>
            <a:ext cx="1368153" cy="1512167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70-414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20414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 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 Advanced Server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1" name="Plus 70"/>
          <p:cNvSpPr>
            <a:spLocks/>
          </p:cNvSpPr>
          <p:nvPr/>
        </p:nvSpPr>
        <p:spPr>
          <a:xfrm>
            <a:off x="6976702" y="192363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439839" y="3010073"/>
            <a:ext cx="33086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MCSE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Desktop Infrastructure</a:t>
            </a:r>
          </a:p>
        </p:txBody>
      </p:sp>
      <p:sp>
        <p:nvSpPr>
          <p:cNvPr id="86" name="Plus 85"/>
          <p:cNvSpPr/>
          <p:nvPr/>
        </p:nvSpPr>
        <p:spPr>
          <a:xfrm>
            <a:off x="4996845" y="392509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>
            <a:spLocks/>
          </p:cNvSpPr>
          <p:nvPr/>
        </p:nvSpPr>
        <p:spPr bwMode="auto">
          <a:xfrm>
            <a:off x="5449393" y="3350092"/>
            <a:ext cx="1282900" cy="1393681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70-415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20415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 Desktop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4" name="Rectangle 93"/>
          <p:cNvSpPr>
            <a:spLocks/>
          </p:cNvSpPr>
          <p:nvPr/>
        </p:nvSpPr>
        <p:spPr bwMode="auto">
          <a:xfrm>
            <a:off x="7092279" y="3356992"/>
            <a:ext cx="1584177" cy="1351386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70-416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20416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Desktop Application Environments</a:t>
            </a:r>
          </a:p>
        </p:txBody>
      </p:sp>
      <p:sp>
        <p:nvSpPr>
          <p:cNvPr id="90" name="Plus 89"/>
          <p:cNvSpPr>
            <a:spLocks/>
          </p:cNvSpPr>
          <p:nvPr/>
        </p:nvSpPr>
        <p:spPr>
          <a:xfrm>
            <a:off x="6779762" y="3943060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>
            <a:spLocks/>
          </p:cNvSpPr>
          <p:nvPr/>
        </p:nvSpPr>
        <p:spPr bwMode="auto">
          <a:xfrm>
            <a:off x="535854" y="5292626"/>
            <a:ext cx="1336895" cy="116071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70-687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20687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Configuring Windows 8.1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/>
          <p:cNvSpPr>
            <a:spLocks/>
          </p:cNvSpPr>
          <p:nvPr/>
        </p:nvSpPr>
        <p:spPr bwMode="auto">
          <a:xfrm>
            <a:off x="2329138" y="5292626"/>
            <a:ext cx="1442547" cy="116071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70-688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20688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Supporting Windows 8.1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0058" y="4921423"/>
            <a:ext cx="26737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MCSA Windows 8</a:t>
            </a:r>
          </a:p>
        </p:txBody>
      </p:sp>
      <p:sp>
        <p:nvSpPr>
          <p:cNvPr id="46" name="Plus 45"/>
          <p:cNvSpPr/>
          <p:nvPr/>
        </p:nvSpPr>
        <p:spPr>
          <a:xfrm>
            <a:off x="1976014" y="577256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>
            <a:spLocks/>
          </p:cNvSpPr>
          <p:nvPr/>
        </p:nvSpPr>
        <p:spPr bwMode="auto">
          <a:xfrm>
            <a:off x="4617987" y="5305543"/>
            <a:ext cx="1682205" cy="114779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70-689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20689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Upgrading Your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Skills to MCSA Windows 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995936" y="5688315"/>
            <a:ext cx="4912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64"/>
            <a:r>
              <a:rPr lang="en-US" sz="2400" b="1" dirty="0" smtClean="0">
                <a:solidFill>
                  <a:srgbClr val="92D05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</a:t>
            </a:r>
          </a:p>
        </p:txBody>
      </p:sp>
      <p:sp>
        <p:nvSpPr>
          <p:cNvPr id="58" name="Right Arrow 57"/>
          <p:cNvSpPr/>
          <p:nvPr/>
        </p:nvSpPr>
        <p:spPr>
          <a:xfrm rot="2515756" flipV="1">
            <a:off x="4700782" y="3354112"/>
            <a:ext cx="718437" cy="198043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Arrow 47"/>
          <p:cNvSpPr/>
          <p:nvPr/>
        </p:nvSpPr>
        <p:spPr>
          <a:xfrm rot="18918188" flipV="1">
            <a:off x="4689731" y="2645470"/>
            <a:ext cx="720000" cy="19800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0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Preparing for the Labs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075240" cy="5105400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 smtClean="0"/>
              <a:t>Your lab activities will be centered around a fictitious company that we will call </a:t>
            </a:r>
            <a:r>
              <a:rPr lang="en-US" sz="2600" dirty="0"/>
              <a:t>A. Datum </a:t>
            </a:r>
            <a:r>
              <a:rPr lang="en-US" sz="2600" dirty="0" smtClean="0"/>
              <a:t>Corporation 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By working through the labs, you will learn how to configure </a:t>
            </a:r>
            <a:r>
              <a:rPr lang="en-CA" sz="2600" dirty="0" smtClean="0"/>
              <a:t>a </a:t>
            </a:r>
            <a:r>
              <a:rPr lang="en-CA" sz="2600" dirty="0"/>
              <a:t>Windows Server </a:t>
            </a:r>
            <a:r>
              <a:rPr lang="en-CA" sz="2600" dirty="0" smtClean="0"/>
              <a:t>2012 infrastructure that has Windows 8.1 clients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To complete the labs, you will work in a virtual machine environment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789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 Environment</a:t>
            </a:r>
            <a:endParaRPr lang="en-US" dirty="0"/>
          </a:p>
        </p:txBody>
      </p:sp>
      <p:graphicFrame>
        <p:nvGraphicFramePr>
          <p:cNvPr id="6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94534"/>
              </p:ext>
            </p:extLst>
          </p:nvPr>
        </p:nvGraphicFramePr>
        <p:xfrm>
          <a:off x="611560" y="878021"/>
          <a:ext cx="7416824" cy="572810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96144"/>
                <a:gridCol w="6120680"/>
              </a:tblGrid>
              <a:tr h="182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Virtual Machine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Use as: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18000" marR="18000" marT="0" marB="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8017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LON-DC1</a:t>
                      </a:r>
                      <a:endParaRPr lang="en-CA" sz="1800" dirty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domain controller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running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in 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the Adatum.com domain.</a:t>
                      </a:r>
                      <a:endParaRPr lang="en-CA" sz="1800" dirty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4588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LON-SVR1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member server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running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in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the Adatum.com domain.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7779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LON-SVR2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member server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running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in </a:t>
                      </a: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the Adatum.com domain. This server will be located on a second subnet.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LON-SVR3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blank virtual machine on which students will install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LON-HOST1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bootable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virtual hard disk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for running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 as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the host for Hyper‑V.</a:t>
                      </a:r>
                      <a:endParaRPr lang="en-CA" sz="1800" kern="12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egoe U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LON-CORE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stand-alone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server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running a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Server Core installation of Windows Server 2012 R2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LON-RTR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router that is used for network activities that require a separate subnet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 Also running 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</a:t>
                      </a:r>
                      <a:r>
                        <a:rPr lang="en-CA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 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LON-CL1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client computer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running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Windows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8.1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and Microsoft Office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2013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in the Adatum.com domain.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LON-CL2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 client computer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that is r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unning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Windows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8.1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and Office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2013 in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the Adatum.com domain that is located in a second subnet.</a:t>
                      </a:r>
                      <a:endParaRPr lang="en-CA" sz="180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91" y="4525045"/>
            <a:ext cx="1092297" cy="17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0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Demonstration: Using Microsoft Labs Online </a:t>
            </a:r>
            <a:r>
              <a:rPr lang="en-US" i="1" dirty="0" smtClean="0"/>
              <a:t>(Optional)</a:t>
            </a:r>
            <a:endParaRPr lang="en-US" i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95536" y="1242904"/>
            <a:ext cx="8229600" cy="5328592"/>
          </a:xfrm>
        </p:spPr>
        <p:txBody>
          <a:bodyPr/>
          <a:lstStyle/>
          <a:p>
            <a:pPr marL="0" indent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200" dirty="0" smtClean="0"/>
              <a:t>In this demonstration, you will learn how to: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200" dirty="0" smtClean="0"/>
              <a:t>Access the MLO lab environment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Switch between virtual machines</a:t>
            </a:r>
          </a:p>
          <a:p>
            <a:pPr>
              <a:spcBef>
                <a:spcPts val="400"/>
              </a:spcBef>
            </a:pPr>
            <a:endParaRPr lang="en-US" sz="22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US" sz="2200" dirty="0" smtClean="0"/>
              <a:t>Carefully </a:t>
            </a:r>
            <a:r>
              <a:rPr lang="en-US" sz="2200" dirty="0"/>
              <a:t>read the online </a:t>
            </a:r>
            <a:r>
              <a:rPr lang="en-US" sz="2200" dirty="0" smtClean="0"/>
              <a:t>Lab </a:t>
            </a:r>
            <a:r>
              <a:rPr lang="en-US" sz="2200" dirty="0"/>
              <a:t>Notes because some procedures related to on-premises versus online labs may be different and have slightly different steps. Any differences will be called out in the Lab Notes</a:t>
            </a:r>
          </a:p>
        </p:txBody>
      </p:sp>
    </p:spTree>
    <p:extLst>
      <p:ext uri="{BB962C8B-B14F-4D97-AF65-F5344CB8AC3E}">
        <p14:creationId xmlns:p14="http://schemas.microsoft.com/office/powerpoint/2010/main" val="295898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Demonstration: Using Hyper-V Manager </a:t>
            </a:r>
            <a:r>
              <a:rPr lang="en-US" i="1" dirty="0" smtClean="0"/>
              <a:t>(Optional)</a:t>
            </a:r>
            <a:endParaRPr lang="en-US" i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67544" y="836712"/>
            <a:ext cx="8229600" cy="57606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en-US" sz="2200" dirty="0" smtClean="0"/>
              <a:t>In this demonstration, you will learn how to: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Open </a:t>
            </a:r>
            <a:r>
              <a:rPr lang="en-US" sz="2200" dirty="0"/>
              <a:t>Hyper</a:t>
            </a:r>
            <a:r>
              <a:rPr lang="en-CA" sz="2400" dirty="0"/>
              <a:t>‑</a:t>
            </a:r>
            <a:r>
              <a:rPr lang="en-US" sz="2200" dirty="0"/>
              <a:t>V </a:t>
            </a:r>
            <a:r>
              <a:rPr lang="en-US" sz="2200" dirty="0" smtClean="0"/>
              <a:t>Manager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Navigate the various sections/panes within Hyper</a:t>
            </a:r>
            <a:r>
              <a:rPr lang="en-CA" sz="2400" dirty="0" smtClean="0"/>
              <a:t>‑</a:t>
            </a:r>
            <a:r>
              <a:rPr lang="en-US" sz="2200" dirty="0" smtClean="0"/>
              <a:t>V Manager:</a:t>
            </a:r>
          </a:p>
          <a:p>
            <a:pPr lvl="1">
              <a:spcBef>
                <a:spcPts val="400"/>
              </a:spcBef>
            </a:pPr>
            <a:r>
              <a:rPr lang="en-US" sz="2200" dirty="0" smtClean="0"/>
              <a:t>Virtual machines, snapshots, and actions: server-specific and virtual machines-specific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Identify the virtual machines used in the labs for this course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Take a snapshot and apply a snapshot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Connect to a </a:t>
            </a:r>
            <a:r>
              <a:rPr lang="en-US" sz="2200" dirty="0"/>
              <a:t>virtual </a:t>
            </a:r>
            <a:r>
              <a:rPr lang="en-US" sz="2200" dirty="0" smtClean="0"/>
              <a:t>machine 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Start and sign in to a </a:t>
            </a:r>
            <a:r>
              <a:rPr lang="en-US" sz="2200" dirty="0"/>
              <a:t>virtual </a:t>
            </a:r>
            <a:r>
              <a:rPr lang="en-US" sz="2200" dirty="0" smtClean="0"/>
              <a:t>machine 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Switch between full screen and window modes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Revert to the previous snapshot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Shut down a </a:t>
            </a:r>
            <a:r>
              <a:rPr lang="en-US" sz="2200" dirty="0"/>
              <a:t>virtual </a:t>
            </a:r>
            <a:r>
              <a:rPr lang="en-US" sz="2200" dirty="0" smtClean="0"/>
              <a:t>machine</a:t>
            </a:r>
          </a:p>
          <a:p>
            <a:pPr lvl="1">
              <a:spcBef>
                <a:spcPts val="400"/>
              </a:spcBef>
            </a:pPr>
            <a:r>
              <a:rPr lang="en-US" sz="2200" dirty="0" smtClean="0"/>
              <a:t>When to use shut down or turn off</a:t>
            </a:r>
          </a:p>
          <a:p>
            <a:pPr>
              <a:spcBef>
                <a:spcPts val="400"/>
              </a:spcBef>
            </a:pPr>
            <a:r>
              <a:rPr lang="en-US" sz="2200" dirty="0" smtClean="0"/>
              <a:t>Close Hyper-V Manager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14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Demonstration: Navigation in</a:t>
            </a:r>
            <a:br>
              <a:rPr lang="en-US" dirty="0"/>
            </a:br>
            <a:r>
              <a:rPr lang="en-US" dirty="0" smtClean="0"/>
              <a:t>Windows Server 2012 </a:t>
            </a:r>
            <a:r>
              <a:rPr lang="en-US" dirty="0" smtClean="0"/>
              <a:t>(</a:t>
            </a:r>
            <a:r>
              <a:rPr lang="en-US" i="1" dirty="0"/>
              <a:t>O</a:t>
            </a:r>
            <a:r>
              <a:rPr lang="en-US" i="1" dirty="0" smtClean="0"/>
              <a:t>ptional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763284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In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this demonstration, you will learn how to:</a:t>
            </a:r>
          </a:p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US" sz="2800" dirty="0">
                <a:latin typeface="Calibri" pitchFamily="34" charset="0"/>
                <a:ea typeface="Segoe UI" pitchFamily="34" charset="0"/>
                <a:cs typeface="Calibri" pitchFamily="34" charset="0"/>
              </a:rPr>
              <a:t>Configure Hyper-V to use Windows key combinations in the virtual machine</a:t>
            </a:r>
          </a:p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US" sz="2800" dirty="0">
                <a:latin typeface="Calibri" pitchFamily="34" charset="0"/>
                <a:ea typeface="Segoe UI" pitchFamily="34" charset="0"/>
                <a:cs typeface="Calibri" pitchFamily="34" charset="0"/>
              </a:rPr>
              <a:t>Sign in and sign out</a:t>
            </a:r>
          </a:p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US" sz="2800" dirty="0">
                <a:latin typeface="Calibri" pitchFamily="34" charset="0"/>
                <a:ea typeface="Segoe UI" pitchFamily="34" charset="0"/>
                <a:cs typeface="Calibri" pitchFamily="34" charset="0"/>
              </a:rPr>
              <a:t>Access applications </a:t>
            </a:r>
          </a:p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US" sz="2800" dirty="0">
                <a:latin typeface="Calibri" pitchFamily="34" charset="0"/>
                <a:ea typeface="Segoe UI" pitchFamily="34" charset="0"/>
                <a:cs typeface="Calibri" pitchFamily="34" charset="0"/>
              </a:rPr>
              <a:t>Access Control Panel</a:t>
            </a:r>
          </a:p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US" sz="2800" dirty="0">
                <a:latin typeface="Calibri" pitchFamily="34" charset="0"/>
                <a:ea typeface="Segoe UI" pitchFamily="34" charset="0"/>
                <a:cs typeface="Calibri" pitchFamily="34" charset="0"/>
              </a:rPr>
              <a:t>Use shortcut keys</a:t>
            </a:r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124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ule 0 Template fr M Aug 2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C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 0 Template fr M Aug 29</Template>
  <TotalTime>2585</TotalTime>
  <Words>2135</Words>
  <Application>Microsoft Office PowerPoint</Application>
  <PresentationFormat>On-screen Show (4:3)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Segoe UI</vt:lpstr>
      <vt:lpstr>Segoe UI Light</vt:lpstr>
      <vt:lpstr>Verdana</vt:lpstr>
      <vt:lpstr>Module 0 Template fr M Aug 29</vt:lpstr>
      <vt:lpstr>PowerPoint Presentation</vt:lpstr>
      <vt:lpstr>Welcome!</vt:lpstr>
      <vt:lpstr>Hello</vt:lpstr>
      <vt:lpstr>Student Introductions</vt:lpstr>
      <vt:lpstr>Facilities</vt:lpstr>
      <vt:lpstr>About This Course – Audience</vt:lpstr>
      <vt:lpstr>About This Course - Prerequisites</vt:lpstr>
      <vt:lpstr>Your Course Materials (Optional)</vt:lpstr>
      <vt:lpstr>Your Course Materials (Optional)</vt:lpstr>
      <vt:lpstr>Course Outline</vt:lpstr>
      <vt:lpstr>Course Outline (continued)</vt:lpstr>
      <vt:lpstr>Microsoft Certification Program</vt:lpstr>
      <vt:lpstr>Windows Certification Paths</vt:lpstr>
      <vt:lpstr>Preparing for the Labs</vt:lpstr>
      <vt:lpstr>Virtual Machine Environment</vt:lpstr>
      <vt:lpstr>Demonstration: Using Microsoft Labs Online (Optional)</vt:lpstr>
      <vt:lpstr>Demonstration: Using Hyper-V Manager (Optional)</vt:lpstr>
      <vt:lpstr>Demonstration: Navigation in Windows Server 2012 (Optional)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Colleen Walsh</dc:creator>
  <cp:lastModifiedBy>Susie Carr</cp:lastModifiedBy>
  <cp:revision>215</cp:revision>
  <cp:lastPrinted>2013-11-01T16:18:52Z</cp:lastPrinted>
  <dcterms:created xsi:type="dcterms:W3CDTF">2012-10-27T20:46:32Z</dcterms:created>
  <dcterms:modified xsi:type="dcterms:W3CDTF">2014-03-10T22:37:43Z</dcterms:modified>
</cp:coreProperties>
</file>