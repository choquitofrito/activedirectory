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0.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1.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2.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3.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14.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5.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6.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7.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theme/theme18.xml" ContentType="application/vnd.openxmlformats-officedocument.theme+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theme/theme19.xml" ContentType="application/vnd.openxmlformats-officedocument.theme+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20.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21.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22.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3.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2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25.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26.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theme/theme27.xml" ContentType="application/vnd.openxmlformats-officedocument.theme+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28.xml" ContentType="application/vnd.openxmlformats-officedocument.theme+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theme/theme29.xml" ContentType="application/vnd.openxmlformats-officedocument.theme+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theme/theme30.xml" ContentType="application/vnd.openxmlformats-officedocument.theme+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theme/theme31.xml" ContentType="application/vnd.openxmlformats-officedocument.theme+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theme/theme32.xml" ContentType="application/vnd.openxmlformats-officedocument.theme+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theme/theme33.xml" ContentType="application/vnd.openxmlformats-officedocument.theme+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theme/theme34.xml" ContentType="application/vnd.openxmlformats-officedocument.theme+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theme/theme35.xml" ContentType="application/vnd.openxmlformats-officedocument.theme+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theme/theme36.xml" ContentType="application/vnd.openxmlformats-officedocument.theme+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theme/theme37.xml" ContentType="application/vnd.openxmlformats-officedocument.theme+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theme/theme38.xml" ContentType="application/vnd.openxmlformats-officedocument.theme+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theme/theme39.xml" ContentType="application/vnd.openxmlformats-officedocument.theme+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theme/theme40.xml" ContentType="application/vnd.openxmlformats-officedocument.theme+xml"/>
  <Override PartName="/ppt/theme/theme4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 id="2147484089" r:id="rId34"/>
    <p:sldMasterId id="2147484102" r:id="rId35"/>
    <p:sldMasterId id="2147484115" r:id="rId36"/>
    <p:sldMasterId id="2147484128" r:id="rId37"/>
    <p:sldMasterId id="2147484141" r:id="rId38"/>
    <p:sldMasterId id="2147484154" r:id="rId39"/>
    <p:sldMasterId id="2147484167" r:id="rId40"/>
  </p:sldMasterIdLst>
  <p:notesMasterIdLst>
    <p:notesMasterId r:id="rId77"/>
  </p:notesMasterIdLst>
  <p:sldIdLst>
    <p:sldId id="256" r:id="rId41"/>
    <p:sldId id="257" r:id="rId42"/>
    <p:sldId id="258" r:id="rId43"/>
    <p:sldId id="259" r:id="rId44"/>
    <p:sldId id="260" r:id="rId45"/>
    <p:sldId id="296" r:id="rId46"/>
    <p:sldId id="297" r:id="rId47"/>
    <p:sldId id="263" r:id="rId48"/>
    <p:sldId id="290" r:id="rId49"/>
    <p:sldId id="264" r:id="rId50"/>
    <p:sldId id="298" r:id="rId51"/>
    <p:sldId id="299" r:id="rId52"/>
    <p:sldId id="267" r:id="rId53"/>
    <p:sldId id="268" r:id="rId54"/>
    <p:sldId id="269" r:id="rId55"/>
    <p:sldId id="270" r:id="rId56"/>
    <p:sldId id="271" r:id="rId57"/>
    <p:sldId id="272" r:id="rId58"/>
    <p:sldId id="291" r:id="rId59"/>
    <p:sldId id="273" r:id="rId60"/>
    <p:sldId id="274" r:id="rId61"/>
    <p:sldId id="300" r:id="rId62"/>
    <p:sldId id="276" r:id="rId63"/>
    <p:sldId id="277" r:id="rId64"/>
    <p:sldId id="278" r:id="rId65"/>
    <p:sldId id="279" r:id="rId66"/>
    <p:sldId id="280" r:id="rId67"/>
    <p:sldId id="281" r:id="rId68"/>
    <p:sldId id="282" r:id="rId69"/>
    <p:sldId id="283" r:id="rId70"/>
    <p:sldId id="284" r:id="rId71"/>
    <p:sldId id="285" r:id="rId72"/>
    <p:sldId id="286" r:id="rId73"/>
    <p:sldId id="288" r:id="rId74"/>
    <p:sldId id="289" r:id="rId75"/>
    <p:sldId id="294" r:id="rId76"/>
  </p:sldIdLst>
  <p:sldSz cx="9144000" cy="6858000" type="screen4x3"/>
  <p:notesSz cx="6858000" cy="9144000"/>
  <p:embeddedFontLst>
    <p:embeddedFont>
      <p:font typeface="Lucida Sans Typewriter" panose="020B0509030504030204" pitchFamily="49" charset="0"/>
      <p:regular r:id="rId78"/>
      <p:bold r:id="rId79"/>
      <p:italic r:id="rId80"/>
      <p:boldItalic r:id="rId81"/>
    </p:embeddedFont>
    <p:embeddedFont>
      <p:font typeface="Segoe UI Light" panose="020B0502040204020203" pitchFamily="34" charset="0"/>
      <p:regular r:id="rId82"/>
      <p:italic r:id="rId83"/>
    </p:embeddedFont>
    <p:embeddedFont>
      <p:font typeface="Segoe UI" panose="020B0502040204020203" pitchFamily="34" charset="0"/>
      <p:regular r:id="rId84"/>
      <p:bold r:id="rId85"/>
      <p:italic r:id="rId86"/>
      <p:boldItalic r:id="rId87"/>
    </p:embeddedFont>
    <p:embeddedFont>
      <p:font typeface="Verdana" panose="020B0604030504040204" pitchFamily="34" charset="0"/>
      <p:regular r:id="rId88"/>
      <p:bold r:id="rId89"/>
      <p:italic r:id="rId90"/>
      <p:boldItalic r:id="rId91"/>
    </p:embeddedFont>
    <p:embeddedFont>
      <p:font typeface="Segoe" panose="020B0604020202020204" charset="0"/>
      <p:regular r:id="rId92"/>
      <p:bold r:id="rId93"/>
      <p:italic r:id="rId94"/>
      <p:boldItalic r:id="rId95"/>
    </p:embeddedFont>
    <p:embeddedFont>
      <p:font typeface="Calibri" panose="020F0502020204030204" pitchFamily="34" charset="0"/>
      <p:regular r:id="rId96"/>
      <p:bold r:id="rId97"/>
      <p:italic r:id="rId98"/>
      <p:boldItalic r:id="rId99"/>
    </p:embeddedFont>
    <p:embeddedFont>
      <p:font typeface="Segoe Light" panose="020B0604020202020204" charset="0"/>
      <p:regular r:id="rId100"/>
      <p:italic r:id="rId101"/>
    </p:embeddedFont>
    <p:embeddedFont>
      <p:font typeface="Gulim" panose="020B0604020202020204" charset="-127"/>
      <p:regular r:id="rId10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535" autoAdjust="0"/>
    <p:restoredTop sz="59968" autoAdjust="0"/>
  </p:normalViewPr>
  <p:slideViewPr>
    <p:cSldViewPr snapToGrid="0">
      <p:cViewPr varScale="1">
        <p:scale>
          <a:sx n="65" d="100"/>
          <a:sy n="65" d="100"/>
        </p:scale>
        <p:origin x="2896" y="52"/>
      </p:cViewPr>
      <p:guideLst/>
    </p:cSldViewPr>
  </p:slideViewPr>
  <p:notesTextViewPr>
    <p:cViewPr>
      <p:scale>
        <a:sx n="3" d="2"/>
        <a:sy n="3" d="2"/>
      </p:scale>
      <p:origin x="0" y="0"/>
    </p:cViewPr>
  </p:notesTextViewPr>
  <p:sorterViewPr>
    <p:cViewPr>
      <p:scale>
        <a:sx n="100" d="100"/>
        <a:sy n="100" d="100"/>
      </p:scale>
      <p:origin x="0" y="-9786"/>
    </p:cViewPr>
  </p:sorterViewPr>
  <p:notesViewPr>
    <p:cSldViewPr snapToGrid="0">
      <p:cViewPr varScale="1">
        <p:scale>
          <a:sx n="86" d="100"/>
          <a:sy n="86" d="100"/>
        </p:scale>
        <p:origin x="3786"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2.xml"/><Relationship Id="rId47" Type="http://schemas.openxmlformats.org/officeDocument/2006/relationships/slide" Target="slides/slide7.xml"/><Relationship Id="rId63" Type="http://schemas.openxmlformats.org/officeDocument/2006/relationships/slide" Target="slides/slide23.xml"/><Relationship Id="rId68" Type="http://schemas.openxmlformats.org/officeDocument/2006/relationships/slide" Target="slides/slide28.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 Target="slides/slide13.xml"/><Relationship Id="rId58" Type="http://schemas.openxmlformats.org/officeDocument/2006/relationships/slide" Target="slides/slide18.xml"/><Relationship Id="rId74" Type="http://schemas.openxmlformats.org/officeDocument/2006/relationships/slide" Target="slides/slide34.xml"/><Relationship Id="rId79" Type="http://schemas.openxmlformats.org/officeDocument/2006/relationships/font" Target="fonts/font2.fntdata"/><Relationship Id="rId102" Type="http://schemas.openxmlformats.org/officeDocument/2006/relationships/font" Target="fonts/font25.fntdata"/><Relationship Id="rId5" Type="http://schemas.openxmlformats.org/officeDocument/2006/relationships/slideMaster" Target="slideMasters/slideMaster5.xml"/><Relationship Id="rId90" Type="http://schemas.openxmlformats.org/officeDocument/2006/relationships/font" Target="fonts/font13.fntdata"/><Relationship Id="rId95" Type="http://schemas.openxmlformats.org/officeDocument/2006/relationships/font" Target="fonts/font18.fntdata"/><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 Target="slides/slide3.xml"/><Relationship Id="rId48" Type="http://schemas.openxmlformats.org/officeDocument/2006/relationships/slide" Target="slides/slide8.xml"/><Relationship Id="rId64" Type="http://schemas.openxmlformats.org/officeDocument/2006/relationships/slide" Target="slides/slide24.xml"/><Relationship Id="rId69" Type="http://schemas.openxmlformats.org/officeDocument/2006/relationships/slide" Target="slides/slide29.xml"/><Relationship Id="rId80" Type="http://schemas.openxmlformats.org/officeDocument/2006/relationships/font" Target="fonts/font3.fntdata"/><Relationship Id="rId85" Type="http://schemas.openxmlformats.org/officeDocument/2006/relationships/font" Target="fonts/font8.fntdata"/><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59" Type="http://schemas.openxmlformats.org/officeDocument/2006/relationships/slide" Target="slides/slide19.xml"/><Relationship Id="rId103" Type="http://schemas.openxmlformats.org/officeDocument/2006/relationships/presProps" Target="presProps.xml"/><Relationship Id="rId20" Type="http://schemas.openxmlformats.org/officeDocument/2006/relationships/slideMaster" Target="slideMasters/slideMaster20.xml"/><Relationship Id="rId41" Type="http://schemas.openxmlformats.org/officeDocument/2006/relationships/slide" Target="slides/slide1.xml"/><Relationship Id="rId54" Type="http://schemas.openxmlformats.org/officeDocument/2006/relationships/slide" Target="slides/slide14.xml"/><Relationship Id="rId62" Type="http://schemas.openxmlformats.org/officeDocument/2006/relationships/slide" Target="slides/slide22.xml"/><Relationship Id="rId70" Type="http://schemas.openxmlformats.org/officeDocument/2006/relationships/slide" Target="slides/slide30.xml"/><Relationship Id="rId75" Type="http://schemas.openxmlformats.org/officeDocument/2006/relationships/slide" Target="slides/slide35.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font" Target="fonts/font14.fntdata"/><Relationship Id="rId96"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9.xml"/><Relationship Id="rId57" Type="http://schemas.openxmlformats.org/officeDocument/2006/relationships/slide" Target="slides/slide17.xml"/><Relationship Id="rId106" Type="http://schemas.openxmlformats.org/officeDocument/2006/relationships/tableStyles" Target="tableStyles.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4.xml"/><Relationship Id="rId52" Type="http://schemas.openxmlformats.org/officeDocument/2006/relationships/slide" Target="slides/slide12.xml"/><Relationship Id="rId60" Type="http://schemas.openxmlformats.org/officeDocument/2006/relationships/slide" Target="slides/slide20.xml"/><Relationship Id="rId65" Type="http://schemas.openxmlformats.org/officeDocument/2006/relationships/slide" Target="slides/slide25.xml"/><Relationship Id="rId73" Type="http://schemas.openxmlformats.org/officeDocument/2006/relationships/slide" Target="slides/slide33.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font" Target="fonts/font17.fntdata"/><Relationship Id="rId99" Type="http://schemas.openxmlformats.org/officeDocument/2006/relationships/font" Target="fonts/font22.fntdata"/><Relationship Id="rId101" Type="http://schemas.openxmlformats.org/officeDocument/2006/relationships/font" Target="fonts/font24.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34" Type="http://schemas.openxmlformats.org/officeDocument/2006/relationships/slideMaster" Target="slideMasters/slideMaster34.xml"/><Relationship Id="rId50" Type="http://schemas.openxmlformats.org/officeDocument/2006/relationships/slide" Target="slides/slide10.xml"/><Relationship Id="rId55" Type="http://schemas.openxmlformats.org/officeDocument/2006/relationships/slide" Target="slides/slide15.xml"/><Relationship Id="rId76" Type="http://schemas.openxmlformats.org/officeDocument/2006/relationships/slide" Target="slides/slide36.xml"/><Relationship Id="rId97" Type="http://schemas.openxmlformats.org/officeDocument/2006/relationships/font" Target="fonts/font20.fntdata"/><Relationship Id="rId104" Type="http://schemas.openxmlformats.org/officeDocument/2006/relationships/viewProps" Target="viewProps.xml"/><Relationship Id="rId7" Type="http://schemas.openxmlformats.org/officeDocument/2006/relationships/slideMaster" Target="slideMasters/slideMaster7.xml"/><Relationship Id="rId71" Type="http://schemas.openxmlformats.org/officeDocument/2006/relationships/slide" Target="slides/slide31.xml"/><Relationship Id="rId92" Type="http://schemas.openxmlformats.org/officeDocument/2006/relationships/font" Target="fonts/font15.fntdata"/><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 Target="slides/slide5.xml"/><Relationship Id="rId66" Type="http://schemas.openxmlformats.org/officeDocument/2006/relationships/slide" Target="slides/slide26.xml"/><Relationship Id="rId87" Type="http://schemas.openxmlformats.org/officeDocument/2006/relationships/font" Target="fonts/font10.fntdata"/><Relationship Id="rId61" Type="http://schemas.openxmlformats.org/officeDocument/2006/relationships/slide" Target="slides/slide21.xml"/><Relationship Id="rId82" Type="http://schemas.openxmlformats.org/officeDocument/2006/relationships/font" Target="fonts/font5.fntdata"/><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 Target="slides/slide16.xml"/><Relationship Id="rId77" Type="http://schemas.openxmlformats.org/officeDocument/2006/relationships/notesMaster" Target="notesMasters/notesMaster1.xml"/><Relationship Id="rId100" Type="http://schemas.openxmlformats.org/officeDocument/2006/relationships/font" Target="fonts/font23.fntdata"/><Relationship Id="rId105"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11.xml"/><Relationship Id="rId72" Type="http://schemas.openxmlformats.org/officeDocument/2006/relationships/slide" Target="slides/slide32.xml"/><Relationship Id="rId93" Type="http://schemas.openxmlformats.org/officeDocument/2006/relationships/font" Target="fonts/font16.fntdata"/><Relationship Id="rId98" Type="http://schemas.openxmlformats.org/officeDocument/2006/relationships/font" Target="fonts/font21.fntdata"/><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 Target="slides/slide6.xml"/><Relationship Id="rId67"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F42C83-4B5C-4EE1-B7CC-ECBD0EC01AF7}" type="datetimeFigureOut">
              <a:rPr lang="en-CA" smtClean="0"/>
              <a:t>2017-06-11</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24635-26AB-4A1B-8E76-E103976D4979}" type="slidenum">
              <a:rPr lang="en-CA" smtClean="0"/>
              <a:t>‹N°›</a:t>
            </a:fld>
            <a:endParaRPr lang="en-CA" dirty="0"/>
          </a:p>
        </p:txBody>
      </p:sp>
    </p:spTree>
    <p:extLst>
      <p:ext uri="{BB962C8B-B14F-4D97-AF65-F5344CB8AC3E}">
        <p14:creationId xmlns:p14="http://schemas.microsoft.com/office/powerpoint/2010/main" val="3752985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Presentation: 75 minutes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 60 minutes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Install the Dynamic Host Configuration Protocol (DHCP) server role.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Configure DHCP scopes.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Manage a DHCP database.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Secure and monitor the DHCP server role.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Required Materials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To teach this module, you need the Microsoft</a:t>
            </a:r>
            <a:r>
              <a:rPr lang="en-CA" sz="1000" baseline="30000" dirty="0" smtClean="0">
                <a:effectLst/>
                <a:latin typeface="Arial" panose="020B0604020202020204" pitchFamily="34" charset="0"/>
                <a:ea typeface="Calibri" panose="020F0502020204030204" pitchFamily="34" charset="0"/>
                <a:cs typeface="Times New Roman" panose="02020603050405020304" pitchFamily="18"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Office PowerPoint</a:t>
            </a:r>
            <a:r>
              <a:rPr lang="en-CA" sz="1000" baseline="30000" dirty="0" smtClean="0">
                <a:effectLst/>
                <a:latin typeface="Arial" panose="020B0604020202020204" pitchFamily="34" charset="0"/>
                <a:ea typeface="Calibri" panose="020F0502020204030204" pitchFamily="34" charset="0"/>
                <a:cs typeface="Times New Roman" panose="02020603050405020304" pitchFamily="18"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file 20410D_06.pptx.</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Important:</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We recommend that you use Office PowerPoint 2007 or a newer version to display the slides for this course. If you use PowerPoint Viewer or an earlier version of Office PowerPoint, all the features of the slides might not display correctly.</a:t>
            </a: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Preparation tasks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smtClean="0">
                <a:effectLst/>
                <a:latin typeface="Arial" panose="020B0604020202020204" pitchFamily="34" charset="0"/>
                <a:cs typeface="Times New Roman" panose="02020603050405020304" pitchFamily="18" charset="0"/>
              </a:rPr>
              <a:t>To prepare for this module: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cs typeface="Times New Roman" panose="02020603050405020304" pitchFamily="18" charset="0"/>
              </a:rPr>
              <a:t>Read all of the materials for this module.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cs typeface="Times New Roman" panose="02020603050405020304" pitchFamily="18" charset="0"/>
              </a:rPr>
              <a:t>Practice performing the demonstrations and the lab exercises.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Gulim" panose="020B0600000101010101" pitchFamily="34" charset="-127"/>
                <a:cs typeface="Times New Roman" panose="02020603050405020304" pitchFamily="18" charset="0"/>
              </a:rPr>
              <a:t>Work through the Module Review and Takeaways section, and determine how you will use this section to reinforce student learning and promote knowledge transfer to on‑the‑job performance.</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409085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eaLnBrk="0" fontAlgn="base" hangingPunct="0">
              <a:spcAft>
                <a:spcPts val="720"/>
              </a:spcAft>
            </a:pPr>
            <a:r>
              <a:rPr lang="en-CA" sz="1000" dirty="0" smtClean="0">
                <a:effectLst/>
                <a:latin typeface="Arial" panose="020B0604020202020204" pitchFamily="34" charset="0"/>
                <a:cs typeface="Segoe UI" panose="020B0502040204020203" pitchFamily="34" charset="0"/>
              </a:rPr>
              <a:t>Briefly present an overview of the module.</a:t>
            </a:r>
            <a:endParaRPr lang="en-CA" sz="1000" dirty="0" smtClean="0">
              <a:effectLst/>
              <a:latin typeface="Arial" panose="020B0604020202020204" pitchFamily="34"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Reinforce to students that it is important to understand DHCP because many companies implement it, and it is one of the basic networking components in an IT infrastructure.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564354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Briefly present the lesson content.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1368918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cs typeface="Times New Roman" panose="02020603050405020304" pitchFamily="18" charset="0"/>
              </a:rPr>
              <a:t>Define DHCP, and explain how it uses automatic IP configuration to reduce the complexity and amount of administrative work that you must perform.</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cs typeface="Times New Roman" panose="02020603050405020304" pitchFamily="18" charset="0"/>
              </a:rPr>
              <a:t>Explain the differences between manual and automatic IP configuration, and provide examples of how it reduces the amount and complexity of administrative work that you must perform.</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cs typeface="Times New Roman" panose="02020603050405020304" pitchFamily="18" charset="0"/>
              </a:rPr>
              <a:t>Instruct students that by using DHCP, they can ensure c</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orrect configuration information. However, this is true only if you configure DHCP correctly. If you misconfigure DHCP, clients do not receive the correct configuration from the DHCP server.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597071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Reinforce to students that there are two methods for obtaining a lease: request a new lease or renew an existing one.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that DHCP uses IP broadcasts to initiate communications. Therefore, this limits DHCP servers to communication within their IP subnet. This means that, in many networks, there is a DHCP server for each IP subnet. When this is not feasible, either for cost or management reasons, you can use a DHCP relay agent.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DHCP relay agents listen for client DHCP broadcast packets and send these packets as directed datagrams, or unicast packets, across a router, to a DHCP server on another IP subnet. This makes it possible to maintain a single DHCP server that services multiple IP subnets. You also can use a router that is compatible with Request for Comment (RFC) 1542 to relay DHCP packets into other subnets. Note that on most routers, you must configure this feature before the router actually passes DHCP broadcasts to other subnets. Consult your router’s documentation for details.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 later section of this module provides more details about the DHCP relay agent.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589922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otes Placeholder 10"/>
          <p:cNvSpPr>
            <a:spLocks noGrp="1"/>
          </p:cNvSpPr>
          <p:nvPr>
            <p:ph type="body" sz="quarter" idx="11"/>
          </p:nvPr>
        </p:nvSpPr>
        <p:spPr/>
        <p:txBody>
          <a:bodyPr/>
          <a:lstStyle/>
          <a:p>
            <a:r>
              <a:rPr lang="fr-BE" sz="1200" b="0" i="1" kern="1200" dirty="0" smtClean="0">
                <a:solidFill>
                  <a:schemeClr val="tx1"/>
                </a:solidFill>
                <a:effectLst/>
                <a:latin typeface="+mn-lt"/>
                <a:ea typeface="+mn-ea"/>
                <a:cs typeface="+mn-cs"/>
              </a:rPr>
              <a:t>-</a:t>
            </a:r>
            <a:r>
              <a:rPr lang="fr-BE" sz="1200" b="0" i="1" kern="1200" baseline="0" dirty="0" smtClean="0">
                <a:solidFill>
                  <a:schemeClr val="tx1"/>
                </a:solidFill>
                <a:effectLst/>
                <a:latin typeface="+mn-lt"/>
                <a:ea typeface="+mn-ea"/>
                <a:cs typeface="+mn-cs"/>
              </a:rPr>
              <a:t> </a:t>
            </a:r>
            <a:r>
              <a:rPr lang="fr-BE" sz="1200" b="0" i="1" kern="1200" dirty="0" smtClean="0">
                <a:solidFill>
                  <a:schemeClr val="tx1"/>
                </a:solidFill>
                <a:effectLst/>
                <a:latin typeface="+mn-lt"/>
                <a:ea typeface="+mn-ea"/>
                <a:cs typeface="+mn-cs"/>
              </a:rPr>
              <a:t>DHCP DISCOVER</a:t>
            </a:r>
            <a:r>
              <a:rPr lang="fr-BE" sz="1200" b="0" i="0" kern="1200" baseline="0" dirty="0" smtClean="0">
                <a:solidFill>
                  <a:schemeClr val="tx1"/>
                </a:solidFill>
                <a:effectLst/>
                <a:latin typeface="+mn-lt"/>
                <a:ea typeface="+mn-ea"/>
                <a:cs typeface="+mn-cs"/>
              </a:rPr>
              <a:t> :</a:t>
            </a:r>
            <a:r>
              <a:rPr lang="fr-BE" sz="1200" b="0" i="0" kern="1200" dirty="0" smtClean="0">
                <a:solidFill>
                  <a:schemeClr val="tx1"/>
                </a:solidFill>
                <a:effectLst/>
                <a:latin typeface="+mn-lt"/>
                <a:ea typeface="+mn-ea"/>
                <a:cs typeface="+mn-cs"/>
              </a:rPr>
              <a:t> s’adresse au</a:t>
            </a:r>
            <a:r>
              <a:rPr lang="fr-BE" sz="1200" b="0" i="0" kern="1200" baseline="0" dirty="0" smtClean="0">
                <a:solidFill>
                  <a:schemeClr val="tx1"/>
                </a:solidFill>
                <a:effectLst/>
                <a:latin typeface="+mn-lt"/>
                <a:ea typeface="+mn-ea"/>
                <a:cs typeface="+mn-cs"/>
              </a:rPr>
              <a:t> port </a:t>
            </a:r>
            <a:r>
              <a:rPr lang="fr-BE" sz="1200" b="0" i="0" kern="1200" dirty="0" smtClean="0">
                <a:solidFill>
                  <a:schemeClr val="tx1"/>
                </a:solidFill>
                <a:effectLst/>
                <a:latin typeface="+mn-lt"/>
                <a:ea typeface="+mn-ea"/>
                <a:cs typeface="+mn-cs"/>
              </a:rPr>
              <a:t>67 de n’importe quel serveur à l’écoute sur ce port. Ce datagramme comporte entre autres l’adresse physique (MAC) du client.</a:t>
            </a:r>
          </a:p>
          <a:p>
            <a:r>
              <a:rPr lang="fr-BE" sz="1200" b="0" i="1" kern="1200" dirty="0" smtClean="0">
                <a:solidFill>
                  <a:schemeClr val="tx1"/>
                </a:solidFill>
                <a:effectLst/>
                <a:latin typeface="+mn-lt"/>
                <a:ea typeface="+mn-ea"/>
                <a:cs typeface="+mn-cs"/>
              </a:rPr>
              <a:t>-</a:t>
            </a:r>
            <a:r>
              <a:rPr lang="fr-BE" sz="1200" b="0" i="1" kern="1200" baseline="0" dirty="0" smtClean="0">
                <a:solidFill>
                  <a:schemeClr val="tx1"/>
                </a:solidFill>
                <a:effectLst/>
                <a:latin typeface="+mn-lt"/>
                <a:ea typeface="+mn-ea"/>
                <a:cs typeface="+mn-cs"/>
              </a:rPr>
              <a:t> </a:t>
            </a:r>
            <a:r>
              <a:rPr lang="fr-BE" sz="1200" b="0" i="1" kern="1200" dirty="0" smtClean="0">
                <a:solidFill>
                  <a:schemeClr val="tx1"/>
                </a:solidFill>
                <a:effectLst/>
                <a:latin typeface="+mn-lt"/>
                <a:ea typeface="+mn-ea"/>
                <a:cs typeface="+mn-cs"/>
              </a:rPr>
              <a:t>DHCP OFFER</a:t>
            </a:r>
            <a:r>
              <a:rPr lang="fr-BE" sz="1200" b="0" i="0" kern="1200" baseline="0" dirty="0" smtClean="0">
                <a:solidFill>
                  <a:schemeClr val="tx1"/>
                </a:solidFill>
                <a:effectLst/>
                <a:latin typeface="+mn-lt"/>
                <a:ea typeface="+mn-ea"/>
                <a:cs typeface="+mn-cs"/>
              </a:rPr>
              <a:t> :</a:t>
            </a:r>
            <a:r>
              <a:rPr lang="fr-BE" sz="1200" b="0" i="0" kern="1200" dirty="0" smtClean="0">
                <a:solidFill>
                  <a:schemeClr val="tx1"/>
                </a:solidFill>
                <a:effectLst/>
                <a:latin typeface="+mn-lt"/>
                <a:ea typeface="+mn-ea"/>
                <a:cs typeface="+mn-cs"/>
              </a:rPr>
              <a:t> à l’attention du client (sur son port 68), identifié par son adresse physique. Cette offre comporte l’adresse IP du serveur, ainsi que l’adresse IP et le masque de sous-réseau qu’il propose au client. Il se peut que plusieurs offres soient adressées au client.</a:t>
            </a:r>
          </a:p>
          <a:p>
            <a:r>
              <a:rPr lang="fr-BE" sz="1200" b="0" i="1" kern="1200" dirty="0" smtClean="0">
                <a:solidFill>
                  <a:schemeClr val="tx1"/>
                </a:solidFill>
                <a:effectLst/>
                <a:latin typeface="+mn-lt"/>
                <a:ea typeface="+mn-ea"/>
                <a:cs typeface="+mn-cs"/>
              </a:rPr>
              <a:t>-</a:t>
            </a:r>
            <a:r>
              <a:rPr lang="fr-BE" sz="1200" b="0" i="1" kern="1200" baseline="0" dirty="0" smtClean="0">
                <a:solidFill>
                  <a:schemeClr val="tx1"/>
                </a:solidFill>
                <a:effectLst/>
                <a:latin typeface="+mn-lt"/>
                <a:ea typeface="+mn-ea"/>
                <a:cs typeface="+mn-cs"/>
              </a:rPr>
              <a:t> </a:t>
            </a:r>
            <a:r>
              <a:rPr lang="fr-BE" sz="1200" b="0" i="1" kern="1200" dirty="0" smtClean="0">
                <a:solidFill>
                  <a:schemeClr val="tx1"/>
                </a:solidFill>
                <a:effectLst/>
                <a:latin typeface="+mn-lt"/>
                <a:ea typeface="+mn-ea"/>
                <a:cs typeface="+mn-cs"/>
              </a:rPr>
              <a:t>DHCP REQUEST</a:t>
            </a:r>
            <a:r>
              <a:rPr lang="fr-BE" sz="1200" b="0" i="0" kern="1200" baseline="0" dirty="0" smtClean="0">
                <a:solidFill>
                  <a:schemeClr val="tx1"/>
                </a:solidFill>
                <a:effectLst/>
                <a:latin typeface="+mn-lt"/>
                <a:ea typeface="+mn-ea"/>
                <a:cs typeface="+mn-cs"/>
              </a:rPr>
              <a:t> : c</a:t>
            </a:r>
            <a:r>
              <a:rPr lang="fr-BE" sz="1200" b="0" i="0" kern="1200" dirty="0" smtClean="0">
                <a:solidFill>
                  <a:schemeClr val="tx1"/>
                </a:solidFill>
                <a:effectLst/>
                <a:latin typeface="+mn-lt"/>
                <a:ea typeface="+mn-ea"/>
                <a:cs typeface="+mn-cs"/>
              </a:rPr>
              <a:t>e datagramme comporte l’adresse IP du serveur et celle qui vient d’être proposée au client. Elle a pour effet de demander au serveur choisi, l’assignation de cette adresse, l’envoi éventuel des valeurs des paramètres, et d’informer les autres serveurs qui ont fait une offre qui n’a pas été retenue.</a:t>
            </a:r>
          </a:p>
          <a:p>
            <a:r>
              <a:rPr lang="fr-BE" sz="1200" b="0" i="0" kern="1200" dirty="0" smtClean="0">
                <a:solidFill>
                  <a:schemeClr val="tx1"/>
                </a:solidFill>
                <a:effectLst/>
                <a:latin typeface="+mn-lt"/>
                <a:ea typeface="+mn-ea"/>
                <a:cs typeface="+mn-cs"/>
              </a:rPr>
              <a:t>- </a:t>
            </a:r>
            <a:r>
              <a:rPr lang="fr-BE" sz="1200" b="0" i="1" kern="1200" dirty="0" smtClean="0">
                <a:solidFill>
                  <a:schemeClr val="tx1"/>
                </a:solidFill>
                <a:effectLst/>
                <a:latin typeface="+mn-lt"/>
                <a:ea typeface="+mn-ea"/>
                <a:cs typeface="+mn-cs"/>
              </a:rPr>
              <a:t>DHCP ACK</a:t>
            </a:r>
            <a:r>
              <a:rPr lang="fr-BE" sz="1200" b="0" i="0" kern="1200" dirty="0" smtClean="0">
                <a:solidFill>
                  <a:schemeClr val="tx1"/>
                </a:solidFill>
                <a:effectLst/>
                <a:latin typeface="+mn-lt"/>
                <a:ea typeface="+mn-ea"/>
                <a:cs typeface="+mn-cs"/>
              </a:rPr>
              <a:t> :</a:t>
            </a:r>
            <a:r>
              <a:rPr lang="fr-BE" sz="1200" b="0" i="0" kern="1200" baseline="0" dirty="0" smtClean="0">
                <a:solidFill>
                  <a:schemeClr val="tx1"/>
                </a:solidFill>
                <a:effectLst/>
                <a:latin typeface="+mn-lt"/>
                <a:ea typeface="+mn-ea"/>
                <a:cs typeface="+mn-cs"/>
              </a:rPr>
              <a:t> </a:t>
            </a:r>
            <a:r>
              <a:rPr lang="fr-BE" sz="1200" b="0" i="0" kern="1200" dirty="0" smtClean="0">
                <a:solidFill>
                  <a:schemeClr val="tx1"/>
                </a:solidFill>
                <a:effectLst/>
                <a:latin typeface="+mn-lt"/>
                <a:ea typeface="+mn-ea"/>
                <a:cs typeface="+mn-cs"/>
              </a:rPr>
              <a:t>assigne au client l’adresse IP et son masque de sous-réseau, la durée du bail de cette adresse (dont découlent deux valeurs T1 et T2 qui déterminent le comportement du client en fin de bail), et éventuellement d’autres paramètres :</a:t>
            </a:r>
          </a:p>
          <a:p>
            <a:pPr lvl="1"/>
            <a:r>
              <a:rPr lang="fr-BE" sz="1200" b="0" i="0" kern="1200" dirty="0" smtClean="0">
                <a:solidFill>
                  <a:schemeClr val="tx1"/>
                </a:solidFill>
                <a:effectLst/>
                <a:latin typeface="+mn-lt"/>
                <a:ea typeface="+mn-ea"/>
                <a:cs typeface="+mn-cs"/>
              </a:rPr>
              <a:t>adresse IP de la passerelle par défaut,</a:t>
            </a:r>
          </a:p>
          <a:p>
            <a:pPr lvl="1"/>
            <a:r>
              <a:rPr lang="fr-BE" sz="1200" b="0" i="0" kern="1200" dirty="0" smtClean="0">
                <a:solidFill>
                  <a:schemeClr val="tx1"/>
                </a:solidFill>
                <a:effectLst/>
                <a:latin typeface="+mn-lt"/>
                <a:ea typeface="+mn-ea"/>
                <a:cs typeface="+mn-cs"/>
              </a:rPr>
              <a:t>adresses IP des serveurs DNS,</a:t>
            </a:r>
          </a:p>
          <a:p>
            <a:pPr lvl="1"/>
            <a:r>
              <a:rPr lang="fr-BE" sz="1200" b="0" i="0" kern="1200" dirty="0" smtClean="0">
                <a:solidFill>
                  <a:schemeClr val="tx1"/>
                </a:solidFill>
                <a:effectLst/>
                <a:latin typeface="+mn-lt"/>
                <a:ea typeface="+mn-ea"/>
                <a:cs typeface="+mn-cs"/>
              </a:rPr>
              <a:t>adresses IP des serveurs NBNS (WINS).</a:t>
            </a:r>
            <a:endParaRPr lang="fr-BE" sz="1200" b="0" i="0" kern="1200" dirty="0">
              <a:solidFill>
                <a:schemeClr val="tx1"/>
              </a:solidFill>
              <a:effectLst/>
              <a:latin typeface="+mn-lt"/>
              <a:ea typeface="+mn-ea"/>
              <a:cs typeface="+mn-cs"/>
            </a:endParaRPr>
          </a:p>
        </p:txBody>
      </p:sp>
      <p:sp>
        <p:nvSpPr>
          <p:cNvPr id="12" name="Slide Image Placeholder 1"/>
          <p:cNvSpPr>
            <a:spLocks noGrp="1" noRot="1" noChangeAspect="1"/>
          </p:cNvSpPr>
          <p:nvPr>
            <p:ph type="sldImg" idx="2"/>
          </p:nvPr>
        </p:nvSpPr>
        <p:spPr>
          <a:xfrm>
            <a:off x="4325938" y="73025"/>
            <a:ext cx="2466975" cy="1851025"/>
          </a:xfrm>
        </p:spPr>
      </p:sp>
      <p:sp>
        <p:nvSpPr>
          <p:cNvPr id="14" name="Slide Number Placeholder 3"/>
          <p:cNvSpPr>
            <a:spLocks noGrp="1"/>
          </p:cNvSpPr>
          <p:nvPr>
            <p:ph type="sldNum" sz="quarter" idx="5"/>
          </p:nvPr>
        </p:nvSpPr>
        <p:spPr>
          <a:xfrm>
            <a:off x="3884613" y="8685213"/>
            <a:ext cx="2971800" cy="458787"/>
          </a:xfrm>
        </p:spPr>
        <p:txBody>
          <a:bodyPr/>
          <a:lstStyle/>
          <a:p>
            <a:fld id="{3E924635-26AB-4A1B-8E76-E103976D4979}" type="slidenum">
              <a:rPr lang="en-CA" smtClean="0"/>
              <a:t>6</a:t>
            </a:fld>
            <a:endParaRPr lang="en-CA" dirty="0"/>
          </a:p>
        </p:txBody>
      </p:sp>
      <p:sp>
        <p:nvSpPr>
          <p:cNvPr id="15" name="Rectangle 1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16" name="Rectangle 1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463819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spcAft>
                <a:spcPts val="800"/>
              </a:spcAft>
            </a:pPr>
            <a:r>
              <a:rPr lang="fr-FR" sz="1000" kern="1200" dirty="0" smtClean="0">
                <a:solidFill>
                  <a:schemeClr val="tx1"/>
                </a:solidFill>
                <a:effectLst/>
                <a:latin typeface="Arial" panose="020B0604020202020204" pitchFamily="34" charset="0"/>
                <a:cs typeface="Arial" panose="020B0604020202020204" pitchFamily="34" charset="0"/>
              </a:rPr>
              <a:t>Attention : A chaque redémarrage d’une machine, il y a un paquet </a:t>
            </a:r>
            <a:r>
              <a:rPr lang="fr-FR" sz="1000" dirty="0" smtClean="0">
                <a:solidFill>
                  <a:srgbClr val="000000"/>
                </a:solidFill>
                <a:latin typeface="Segoe UI" pitchFamily="34" charset="0"/>
                <a:ea typeface="Segoe UI" pitchFamily="34" charset="0"/>
                <a:cs typeface="Segoe UI" pitchFamily="34" charset="0"/>
              </a:rPr>
              <a:t>DHCPREQUEST qui est envoyé par le client (au cas où la machine a changé de place).</a:t>
            </a:r>
          </a:p>
          <a:p>
            <a:pPr>
              <a:spcAft>
                <a:spcPts val="800"/>
              </a:spcAft>
            </a:pPr>
            <a:endParaRPr lang="fr-FR" sz="1000" kern="1200" dirty="0" smtClean="0">
              <a:solidFill>
                <a:srgbClr val="000000"/>
              </a:solidFill>
              <a:effectLst/>
              <a:latin typeface="Segoe UI" pitchFamily="34" charset="0"/>
              <a:cs typeface="Segoe UI" pitchFamily="34" charset="0"/>
            </a:endParaRPr>
          </a:p>
          <a:p>
            <a:pPr>
              <a:spcAft>
                <a:spcPts val="800"/>
              </a:spcAft>
            </a:pPr>
            <a:r>
              <a:rPr lang="fr-BE" sz="1000" b="0" i="0" kern="1200" dirty="0" smtClean="0">
                <a:solidFill>
                  <a:schemeClr val="tx1"/>
                </a:solidFill>
                <a:effectLst/>
                <a:latin typeface="+mn-lt"/>
                <a:ea typeface="+mn-ea"/>
                <a:cs typeface="+mn-cs"/>
              </a:rPr>
              <a:t>La commande </a:t>
            </a:r>
            <a:r>
              <a:rPr lang="fr-BE" sz="1000" b="1" i="0" kern="1200" dirty="0" err="1" smtClean="0">
                <a:solidFill>
                  <a:schemeClr val="tx1"/>
                </a:solidFill>
                <a:effectLst/>
                <a:latin typeface="+mn-lt"/>
                <a:ea typeface="+mn-ea"/>
                <a:cs typeface="+mn-cs"/>
              </a:rPr>
              <a:t>ipconfig</a:t>
            </a:r>
            <a:r>
              <a:rPr lang="fr-BE" sz="1000" b="1" i="0" kern="1200" dirty="0" smtClean="0">
                <a:solidFill>
                  <a:schemeClr val="tx1"/>
                </a:solidFill>
                <a:effectLst/>
                <a:latin typeface="+mn-lt"/>
                <a:ea typeface="+mn-ea"/>
                <a:cs typeface="+mn-cs"/>
              </a:rPr>
              <a:t> /</a:t>
            </a:r>
            <a:r>
              <a:rPr lang="fr-BE" sz="1000" b="1" i="0" kern="1200" dirty="0" err="1" smtClean="0">
                <a:solidFill>
                  <a:schemeClr val="tx1"/>
                </a:solidFill>
                <a:effectLst/>
                <a:latin typeface="+mn-lt"/>
                <a:ea typeface="+mn-ea"/>
                <a:cs typeface="+mn-cs"/>
              </a:rPr>
              <a:t>renew</a:t>
            </a:r>
            <a:r>
              <a:rPr lang="fr-BE" sz="1000" b="0" i="0" kern="1200" dirty="0" smtClean="0">
                <a:solidFill>
                  <a:schemeClr val="tx1"/>
                </a:solidFill>
                <a:effectLst/>
                <a:latin typeface="+mn-lt"/>
                <a:ea typeface="+mn-ea"/>
                <a:cs typeface="+mn-cs"/>
              </a:rPr>
              <a:t> peut</a:t>
            </a:r>
            <a:r>
              <a:rPr lang="fr-BE" sz="1000" b="0" i="0" kern="1200" baseline="0" dirty="0" smtClean="0">
                <a:solidFill>
                  <a:schemeClr val="tx1"/>
                </a:solidFill>
                <a:effectLst/>
                <a:latin typeface="+mn-lt"/>
                <a:ea typeface="+mn-ea"/>
                <a:cs typeface="+mn-cs"/>
              </a:rPr>
              <a:t> être</a:t>
            </a:r>
            <a:r>
              <a:rPr lang="fr-BE" sz="1000" b="0" i="0" kern="1200" dirty="0" smtClean="0">
                <a:solidFill>
                  <a:schemeClr val="tx1"/>
                </a:solidFill>
                <a:effectLst/>
                <a:latin typeface="+mn-lt"/>
                <a:ea typeface="+mn-ea"/>
                <a:cs typeface="+mn-cs"/>
              </a:rPr>
              <a:t> utilisée pour demander</a:t>
            </a:r>
            <a:r>
              <a:rPr lang="fr-BE" sz="1000" b="0" i="0" kern="1200" baseline="0" dirty="0" smtClean="0">
                <a:solidFill>
                  <a:schemeClr val="tx1"/>
                </a:solidFill>
                <a:effectLst/>
                <a:latin typeface="+mn-lt"/>
                <a:ea typeface="+mn-ea"/>
                <a:cs typeface="+mn-cs"/>
              </a:rPr>
              <a:t> un nouveau bail.</a:t>
            </a:r>
            <a:endParaRPr lang="en-CA" sz="1000" kern="1200" dirty="0" smtClean="0">
              <a:solidFill>
                <a:schemeClr val="tx1"/>
              </a:solidFill>
              <a:effectLst/>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E2FF7759-803D-4F76-9AEC-98B2D9A07B0D}" type="slidenum">
              <a:rPr lang="en-US" smtClean="0">
                <a:solidFill>
                  <a:prstClr val="black"/>
                </a:solidFill>
              </a:rPr>
              <a:pPr/>
              <a:t>7</a:t>
            </a:fld>
            <a:endParaRPr lang="en-US" dirty="0">
              <a:solidFill>
                <a:prstClr val="black"/>
              </a:solidFill>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235225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Start the following virtual machines: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300"/>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20410D LON DC1</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300"/>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20410D-LON-RTR</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300"/>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20410D LON SVR1</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20410D-LON-SVR2</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Install the DHCP server role</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Sign in to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LON‑SVR1</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as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Adatum\Administrator</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with the password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Pa$$w0rd. </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Server Manager</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in the Manage drop-down menu,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 Roles and Features</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the Add Roles and Features Wizard,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 the</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Select installation type</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destination server</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server roles </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page, select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DHCP Server </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check box.</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Add Roles and Features Wizard,</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 Features</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features </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DHCP Server </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Confirm installation selections</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Install</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Installation progress </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page, wait until the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Installation succeeded on lon‑svr1.adatum.com” message appears</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Close</a:t>
            </a: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Repeat steps 1 through 11 on LON-SVR2.</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p14="http://schemas.microsoft.com/office/powerpoint/2010/main" val="998200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Authorize the DHCP Server</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tabLst>
                <a:tab pos="228600" algn="l"/>
                <a:tab pos="685800" algn="l"/>
                <a:tab pos="685800" algn="l"/>
              </a:tabLst>
            </a:pP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On LON‑SVR1, on the Server Manager dashboard, click </a:t>
            </a:r>
            <a:r>
              <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Tools</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and then click </a:t>
            </a:r>
            <a:r>
              <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DHCP</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mj-lt"/>
              <a:buAutoNum type="arabicPeriod"/>
              <a:tabLst>
                <a:tab pos="228600" algn="l"/>
                <a:tab pos="685800" algn="l"/>
                <a:tab pos="685800" algn="l"/>
              </a:tabLst>
            </a:pP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In the DHCP console, expand </a:t>
            </a:r>
            <a:r>
              <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lon‑svr1.adatum.com</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mj-lt"/>
              <a:buAutoNum type="arabicPeriod"/>
              <a:tabLst>
                <a:tab pos="228600" algn="l"/>
                <a:tab pos="685800" algn="l"/>
                <a:tab pos="685800" algn="l"/>
              </a:tabLst>
            </a:pP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Right‑click </a:t>
            </a:r>
            <a:r>
              <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lon‑svr1.adatum.com</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and then click </a:t>
            </a:r>
            <a:r>
              <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Authorize</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mj-lt"/>
              <a:buAutoNum type="arabicPeriod"/>
              <a:tabLst>
                <a:tab pos="228600" algn="l"/>
                <a:tab pos="685800" algn="l"/>
                <a:tab pos="685800" algn="l"/>
              </a:tabLst>
            </a:pP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In the DHCP console, right‑click </a:t>
            </a:r>
            <a:r>
              <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lon‑svr1.adatum.com</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and then click </a:t>
            </a:r>
            <a:r>
              <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Refresh</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38138" lvl="0">
              <a:lnSpc>
                <a:spcPct val="115000"/>
              </a:lnSpc>
              <a:spcAft>
                <a:spcPts val="995"/>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Notice that the icons next to IPv4 and IPv6 change color from red to green, which indicates that the DHCP server has been authorized in Active Directory</a:t>
            </a:r>
            <a:r>
              <a:rPr lang="en-US" sz="1000" baseline="30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Domain Services (AD DS).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ct val="115000"/>
              </a:lnSpc>
              <a:spcAft>
                <a:spcPts val="995"/>
              </a:spcAft>
              <a:tabLst>
                <a:tab pos="338138" algn="l"/>
              </a:tabLst>
            </a:pPr>
            <a:r>
              <a:rPr lang="en-US"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5.	Repeat </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steps 1 through 3 on LON-SVR2, replacing the FQDN in step 4 with </a:t>
            </a:r>
            <a:r>
              <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lon-svr2.adatum.com</a:t>
            </a:r>
            <a:r>
              <a:rPr lang="en-US"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Note: </a:t>
            </a: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Leave all virtual machines in their current state for the next demonstration.</a:t>
            </a:r>
            <a:endParaRPr lang="en-CA" dirty="0"/>
          </a:p>
        </p:txBody>
      </p:sp>
      <p:sp>
        <p:nvSpPr>
          <p:cNvPr id="4" name="Slide Number Placeholder 3"/>
          <p:cNvSpPr>
            <a:spLocks noGrp="1"/>
          </p:cNvSpPr>
          <p:nvPr>
            <p:ph type="sldNum" sz="quarter" idx="10"/>
          </p:nvPr>
        </p:nvSpPr>
        <p:spPr/>
        <p:txBody>
          <a:bodyPr/>
          <a:lstStyle/>
          <a:p>
            <a:fld id="{3E924635-26AB-4A1B-8E76-E103976D4979}" type="slidenum">
              <a:rPr lang="en-CA" smtClean="0"/>
              <a:t>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358097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tabLst>
                <a:tab pos="57150" algn="l"/>
              </a:tabLst>
            </a:pPr>
            <a:r>
              <a:rPr lang="fr-BE" sz="1200" b="0" i="0" kern="1200" dirty="0" smtClean="0">
                <a:solidFill>
                  <a:schemeClr val="tx1"/>
                </a:solidFill>
                <a:effectLst/>
                <a:latin typeface="+mn-lt"/>
                <a:ea typeface="+mn-ea"/>
                <a:cs typeface="+mn-cs"/>
              </a:rPr>
              <a:t>La commande </a:t>
            </a:r>
            <a:r>
              <a:rPr lang="fr-BE" sz="1200" b="1" i="0" kern="1200" dirty="0" err="1" smtClean="0">
                <a:solidFill>
                  <a:schemeClr val="tx1"/>
                </a:solidFill>
                <a:effectLst/>
                <a:latin typeface="+mn-lt"/>
                <a:ea typeface="+mn-ea"/>
                <a:cs typeface="+mn-cs"/>
              </a:rPr>
              <a:t>ipconfig</a:t>
            </a:r>
            <a:r>
              <a:rPr lang="fr-BE" sz="1200" b="1" i="0" kern="1200" dirty="0" smtClean="0">
                <a:solidFill>
                  <a:schemeClr val="tx1"/>
                </a:solidFill>
                <a:effectLst/>
                <a:latin typeface="+mn-lt"/>
                <a:ea typeface="+mn-ea"/>
                <a:cs typeface="+mn-cs"/>
              </a:rPr>
              <a:t> /</a:t>
            </a:r>
            <a:r>
              <a:rPr lang="fr-BE" sz="1200" b="1" i="0" kern="1200" dirty="0" err="1" smtClean="0">
                <a:solidFill>
                  <a:schemeClr val="tx1"/>
                </a:solidFill>
                <a:effectLst/>
                <a:latin typeface="+mn-lt"/>
                <a:ea typeface="+mn-ea"/>
                <a:cs typeface="+mn-cs"/>
              </a:rPr>
              <a:t>registerdns</a:t>
            </a:r>
            <a:r>
              <a:rPr lang="fr-BE" sz="1200" b="0" i="0" kern="1200" dirty="0" smtClean="0">
                <a:solidFill>
                  <a:schemeClr val="tx1"/>
                </a:solidFill>
                <a:effectLst/>
                <a:latin typeface="+mn-lt"/>
                <a:ea typeface="+mn-ea"/>
                <a:cs typeface="+mn-cs"/>
              </a:rPr>
              <a:t> peut</a:t>
            </a:r>
            <a:r>
              <a:rPr lang="fr-BE" sz="1200" b="0" i="0" kern="1200" baseline="0" dirty="0" smtClean="0">
                <a:solidFill>
                  <a:schemeClr val="tx1"/>
                </a:solidFill>
                <a:effectLst/>
                <a:latin typeface="+mn-lt"/>
                <a:ea typeface="+mn-ea"/>
                <a:cs typeface="+mn-cs"/>
              </a:rPr>
              <a:t> être</a:t>
            </a:r>
            <a:r>
              <a:rPr lang="fr-BE" sz="1200" b="0" i="0" kern="1200" dirty="0" smtClean="0">
                <a:solidFill>
                  <a:schemeClr val="tx1"/>
                </a:solidFill>
                <a:effectLst/>
                <a:latin typeface="+mn-lt"/>
                <a:ea typeface="+mn-ea"/>
                <a:cs typeface="+mn-cs"/>
              </a:rPr>
              <a:t> utilisée pour forcer manuellement une actualisation de l’inscription du nom de client dans DNS.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10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569573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10"/>
          </p:nvPr>
        </p:nvSpPr>
        <p:spPr/>
        <p:txBody>
          <a:bodyPr/>
          <a:lstStyle/>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Mention that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most routers and most enterprise switches (that can route) support RFC 1542.</a:t>
            </a:r>
          </a:p>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The animation requires two clicks to play:</a:t>
            </a: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Click one starts the broadcast on Subnet A and the unicast from the relay agent to the server.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Click two starts the unicast from the server to the relay agent and the broadcast on Subnet A.</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endParaRPr lang="en-CA" dirty="0"/>
          </a:p>
        </p:txBody>
      </p:sp>
      <p:sp>
        <p:nvSpPr>
          <p:cNvPr id="8" name="Slide Image Placeholder 1"/>
          <p:cNvSpPr>
            <a:spLocks noGrp="1" noRot="1" noChangeAspect="1"/>
          </p:cNvSpPr>
          <p:nvPr>
            <p:ph type="sldImg" idx="2"/>
          </p:nvPr>
        </p:nvSpPr>
        <p:spPr>
          <a:xfrm>
            <a:off x="4325938" y="73025"/>
            <a:ext cx="2466975" cy="1851025"/>
          </a:xfrm>
        </p:spPr>
      </p:sp>
      <p:sp>
        <p:nvSpPr>
          <p:cNvPr id="10" name="Slide Number Placeholder 3"/>
          <p:cNvSpPr>
            <a:spLocks noGrp="1"/>
          </p:cNvSpPr>
          <p:nvPr>
            <p:ph type="sldNum" sz="quarter" idx="5"/>
          </p:nvPr>
        </p:nvSpPr>
        <p:spPr>
          <a:xfrm>
            <a:off x="3884613" y="8685213"/>
            <a:ext cx="2971800" cy="458787"/>
          </a:xfrm>
        </p:spPr>
        <p:txBody>
          <a:bodyPr/>
          <a:lstStyle/>
          <a:p>
            <a:fld id="{3E924635-26AB-4A1B-8E76-E103976D4979}" type="slidenum">
              <a:rPr lang="en-CA" smtClean="0"/>
              <a:t>11</a:t>
            </a:fld>
            <a:endParaRPr lang="en-CA" dirty="0"/>
          </a:p>
        </p:txBody>
      </p:sp>
      <p:sp>
        <p:nvSpPr>
          <p:cNvPr id="11" name="Rectangle 10"/>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12" name="Rectangle 11"/>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4017585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CCEFC8F-1EBC-43E5-886D-F0A9AD3E9B6F}" type="slidenum">
              <a:rPr lang="en-US" smtClean="0">
                <a:solidFill>
                  <a:prstClr val="black"/>
                </a:solidFill>
              </a:rPr>
              <a:pPr>
                <a:defRPr/>
              </a:pPr>
              <a:t>12</a:t>
            </a:fld>
            <a:endParaRPr lang="en-US" dirty="0">
              <a:solidFill>
                <a:prstClr val="black"/>
              </a:solidFill>
            </a:endParaRPr>
          </a:p>
        </p:txBody>
      </p:sp>
      <p:sp>
        <p:nvSpPr>
          <p:cNvPr id="6" name="Notes Placeholder 2"/>
          <p:cNvSpPr>
            <a:spLocks noGrp="1"/>
          </p:cNvSpPr>
          <p:nvPr>
            <p:ph type="body" idx="1"/>
          </p:nvPr>
        </p:nvSpPr>
        <p:spPr>
          <a:xfrm>
            <a:off x="307975" y="2309813"/>
            <a:ext cx="6149975" cy="6570662"/>
          </a:xfrm>
        </p:spPr>
        <p:txBody>
          <a:bodyPr/>
          <a:lstStyle/>
          <a:p>
            <a:pPr>
              <a:lnSpc>
                <a:spcPct val="107000"/>
              </a:lnSpc>
              <a:spcAft>
                <a:spcPts val="800"/>
              </a:spcAft>
            </a:pPr>
            <a:r>
              <a:rPr lang="en-CA" sz="1000" dirty="0">
                <a:latin typeface="Arial" panose="020B0604020202020204" pitchFamily="34" charset="0"/>
                <a:ea typeface="Calibri" panose="020F0502020204030204" pitchFamily="34" charset="0"/>
                <a:cs typeface="Times New Roman" panose="02020603050405020304" pitchFamily="18" charset="0"/>
              </a:rPr>
              <a:t>This build slide requires 5 clicks to view all the slides.</a:t>
            </a:r>
          </a:p>
          <a:p>
            <a:pPr>
              <a:lnSpc>
                <a:spcPct val="107000"/>
              </a:lnSpc>
              <a:spcAft>
                <a:spcPts val="800"/>
              </a:spcAft>
            </a:pPr>
            <a:r>
              <a:rPr lang="en-CA" sz="1000" dirty="0">
                <a:latin typeface="Arial" panose="020B0604020202020204" pitchFamily="34" charset="0"/>
                <a:ea typeface="Calibri" panose="020F0502020204030204" pitchFamily="34" charset="0"/>
                <a:cs typeface="Times New Roman" panose="02020603050405020304" pitchFamily="18" charset="0"/>
              </a:rPr>
              <a:t>Students should understand the importance of DHCP authorization. An unauthorized DHCP server can cause problems in a network, and clients that are configured incorrectly can cause numerous issues, such as an incorrect or duplicate address, a wrong default gateway or DNS server, and a wrong DNS suffix.</a:t>
            </a:r>
          </a:p>
          <a:p>
            <a:pPr>
              <a:lnSpc>
                <a:spcPct val="107000"/>
              </a:lnSpc>
              <a:spcAft>
                <a:spcPts val="800"/>
              </a:spcAft>
            </a:pPr>
            <a:r>
              <a:rPr lang="en-CA" sz="1000" dirty="0">
                <a:latin typeface="Arial" panose="020B0604020202020204" pitchFamily="34" charset="0"/>
                <a:ea typeface="Calibri" panose="020F0502020204030204" pitchFamily="34" charset="0"/>
                <a:cs typeface="Times New Roman" panose="02020603050405020304" pitchFamily="18" charset="0"/>
              </a:rPr>
              <a:t>Explain that an Enterprise Administrator must authorize installations of a DHCP role in a domain, because several domains can exist in the same IP subnet.</a:t>
            </a:r>
          </a:p>
          <a:p>
            <a:pPr>
              <a:lnSpc>
                <a:spcPct val="107000"/>
              </a:lnSpc>
              <a:spcAft>
                <a:spcPts val="800"/>
              </a:spcAft>
            </a:pPr>
            <a:r>
              <a:rPr lang="en-CA" sz="1000" dirty="0">
                <a:latin typeface="Arial" panose="020B0604020202020204" pitchFamily="34" charset="0"/>
                <a:ea typeface="Calibri" panose="020F0502020204030204" pitchFamily="34" charset="0"/>
                <a:cs typeface="Times New Roman" panose="02020603050405020304" pitchFamily="18" charset="0"/>
              </a:rPr>
              <a:t>Although we do not recommend it, you can use a stand-alone server as a DHCP server if it is not on a subnet with any authorized DHCP servers. When a </a:t>
            </a:r>
            <a:r>
              <a:rPr lang="en-CA" sz="1000" dirty="0" smtClean="0">
                <a:latin typeface="Arial" panose="020B0604020202020204" pitchFamily="34" charset="0"/>
                <a:ea typeface="Calibri" panose="020F0502020204030204" pitchFamily="34" charset="0"/>
                <a:cs typeface="Times New Roman" panose="02020603050405020304" pitchFamily="18" charset="0"/>
              </a:rPr>
              <a:t>stand-alone </a:t>
            </a:r>
            <a:r>
              <a:rPr lang="en-CA" sz="1000" dirty="0">
                <a:latin typeface="Arial" panose="020B0604020202020204" pitchFamily="34" charset="0"/>
                <a:ea typeface="Calibri" panose="020F0502020204030204" pitchFamily="34" charset="0"/>
                <a:cs typeface="Times New Roman" panose="02020603050405020304" pitchFamily="18" charset="0"/>
              </a:rPr>
              <a:t>DHCP server detects an authorized server on the same subnet, it automatically stops leasing IP addresses to DHCP clients.</a:t>
            </a:r>
          </a:p>
          <a:p>
            <a:pPr>
              <a:lnSpc>
                <a:spcPct val="107000"/>
              </a:lnSpc>
              <a:spcAft>
                <a:spcPts val="800"/>
              </a:spcAft>
            </a:pPr>
            <a:r>
              <a:rPr lang="en-CA" sz="1000" dirty="0">
                <a:latin typeface="Arial" panose="020B0604020202020204" pitchFamily="34" charset="0"/>
                <a:ea typeface="Calibri" panose="020F0502020204030204" pitchFamily="34" charset="0"/>
                <a:cs typeface="Times New Roman" panose="02020603050405020304" pitchFamily="18" charset="0"/>
              </a:rPr>
              <a:t>It is important to note that other non-Microsoft network devices may run DHCP servers. These devices are not able to comply with AD DS authorizatio</a:t>
            </a:r>
            <a:r>
              <a:rPr lang="en-CA" sz="1000" dirty="0">
                <a:latin typeface="Arial" panose="020B0604020202020204" pitchFamily="34" charset="0"/>
                <a:ea typeface="Calibri" panose="020F0502020204030204" pitchFamily="34" charset="0"/>
                <a:cs typeface="Segoe UI" panose="020B0502040204020203" pitchFamily="34" charset="0"/>
              </a:rPr>
              <a:t>n, and might cause issues in a networked environment.</a:t>
            </a:r>
            <a:endParaRPr lang="en-CA" sz="1000" dirty="0">
              <a:latin typeface="Arial" panose="020B0604020202020204" pitchFamily="34" charset="0"/>
              <a:ea typeface="Calibri" panose="020F0502020204030204" pitchFamily="34" charset="0"/>
              <a:cs typeface="Times New Roman" panose="02020603050405020304" pitchFamily="18" charset="0"/>
            </a:endParaRPr>
          </a:p>
          <a:p>
            <a:endParaRPr lang="en-CA" sz="1000" dirty="0">
              <a:latin typeface="Arial"/>
              <a:ea typeface="Calibri"/>
              <a:cs typeface="Times New Roman"/>
            </a:endParaRPr>
          </a:p>
        </p:txBody>
      </p:sp>
      <p:sp>
        <p:nvSpPr>
          <p:cNvPr id="8" name="Slide Image Placeholder 1"/>
          <p:cNvSpPr>
            <a:spLocks noGrp="1" noRot="1" noChangeAspect="1"/>
          </p:cNvSpPr>
          <p:nvPr>
            <p:ph type="sldImg" idx="2"/>
          </p:nvPr>
        </p:nvSpPr>
        <p:spPr>
          <a:xfrm>
            <a:off x="4325938" y="73025"/>
            <a:ext cx="2466975" cy="1851025"/>
          </a:xfrm>
        </p:spPr>
      </p:sp>
      <p:sp>
        <p:nvSpPr>
          <p:cNvPr id="9" name="Rectangle 8"/>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10" name="Rectangle 9"/>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183714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Briefly introduce the lesson topics to students.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13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509674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Describe the purpose of a DHCP scope.</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Explain that administrators must create a DHCP scope before leasing IP addresses to a client.</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Instruct students that a scope may contain IP addresses that are not available for lease, and that you configure these addresses as an exclusion. A later module in this course will detail exclusions.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Scope properties contain data about the scope, such as the scope range, the lease duration, DNS update settings, Network Address Protection (NAP) configuration, and DHCP/BOOTP configuration options.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Describe IPv4 or IPv6 scope capabilities.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Explain that you can create scopes by using the New Scope Wizard or Windows PowerShell. Later sections of this module will cover both of these.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14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289253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what a DHCP reservation is.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Use the illustration to reinforce that you can configure a DHCP reservation to a file and print server in a different subnet.</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why and when you would use a DHCP reservation. For example, if you intend to have network devices, such as network printers, it often is desirable to provide them with a fixed address. This ensures that IP addresses in a predefined scope are not assigned inadvertently to another device, and that if a scope is depleted of addresses, the devices with reservations are guaranteed an IP address.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To configure a reservation, you must know the device’s media access control (MAC) or physical address. This is how the DHCP server knows that the device should have a reservation.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15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3013713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the purpose of DHCP options.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Mention the various DHCP options that you use in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Windows-based </a:t>
            </a:r>
            <a:r>
              <a:rPr lang="en-CA" sz="1000" dirty="0" smtClean="0">
                <a:effectLst/>
                <a:latin typeface="Arial" panose="020B0604020202020204" pitchFamily="34" charset="0"/>
                <a:ea typeface="Calibri" panose="020F0502020204030204" pitchFamily="34" charset="0"/>
                <a:cs typeface="Segoe UI" panose="020B0502040204020203" pitchFamily="34" charset="0"/>
              </a:rPr>
              <a:t>operating systems deployment, which utilize Preboot Execution Environment (PXE). The PXE requires a DHCP server.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16</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775719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4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how DHCP applies options to client computers when you configure multiple options at the server, scope, class, and reserved-client level. Ensure that students understand that DHCP applies options to client computers in a specific order: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400"/>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Server level</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400"/>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Scope level</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400"/>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Class level</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995"/>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Reserved-client level</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It also is important that students understand these three points: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Scope options override server options.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Class options override both scope and server options.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Reserved client options apply to devices that have a DHCP reservation.</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17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366952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need the 20410D‑LON‑DC1, 20410D‑LON‑SVR1, 20410D‑LON‑RTR, and 20410D‑LON‑SVR2 virtual machines to complete this demonstration. They should be running after the previous demonstration.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Configure scope and scope options in DHCP</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LON-SVR1, i</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n </a:t>
            </a:r>
            <a:r>
              <a:rPr lang="en-US" sz="1000" dirty="0" smtClean="0">
                <a:effectLst/>
                <a:latin typeface="Arial" panose="020B0604020202020204" pitchFamily="34" charset="0"/>
                <a:ea typeface="Times New Roman" panose="02020603050405020304" pitchFamily="18" charset="0"/>
                <a:cs typeface="Segoe" panose="020B0502040504020203" pitchFamily="34" charset="0"/>
              </a:rPr>
              <a:t>DHCP, in the navigation pane,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lon‑svr1.adatum.com</a:t>
            </a:r>
            <a:r>
              <a:rPr lang="en-US" sz="1000" dirty="0" smtClean="0">
                <a:effectLst/>
                <a:latin typeface="Arial" panose="020B0604020202020204" pitchFamily="34" charset="0"/>
                <a:ea typeface="Times New Roman" panose="02020603050405020304" pitchFamily="18" charset="0"/>
                <a:cs typeface="Segoe" panose="020B0502040504020203" pitchFamily="34" charset="0"/>
              </a:rPr>
              <a:t>, expand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IPv4</a:t>
            </a:r>
            <a:r>
              <a:rPr lang="en-US" sz="1000" dirty="0" smtClean="0">
                <a:effectLst/>
                <a:latin typeface="Arial" panose="020B0604020202020204" pitchFamily="34" charset="0"/>
                <a:ea typeface="Times New Roman" panose="02020603050405020304" pitchFamily="18" charset="0"/>
                <a:cs typeface="Segoe" panose="020B0502040504020203" pitchFamily="34" charset="0"/>
              </a:rPr>
              <a:t>, right‑click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IPv4</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a:t>
            </a:r>
            <a:r>
              <a:rPr lang="en-US" sz="1000" dirty="0" smtClean="0">
                <a:effectLst/>
                <a:latin typeface="Arial" panose="020B0604020202020204" pitchFamily="34" charset="0"/>
                <a:ea typeface="Times New Roman" panose="02020603050405020304" pitchFamily="18" charset="0"/>
                <a:cs typeface="Segoe-Bold"/>
              </a:rPr>
              <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New Scope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the</a:t>
            </a:r>
            <a:r>
              <a:rPr lang="en-US" sz="1000" dirty="0" smtClean="0">
                <a:effectLst/>
                <a:latin typeface="Arial" panose="020B0604020202020204" pitchFamily="34" charset="0"/>
                <a:ea typeface="Times New Roman" panose="02020603050405020304" pitchFamily="18" charset="0"/>
                <a:cs typeface="Segoe-Bold"/>
              </a:rPr>
              <a:t>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New</a:t>
            </a:r>
            <a:r>
              <a:rPr lang="en-US" sz="1000" dirty="0" smtClean="0">
                <a:effectLst/>
                <a:latin typeface="Arial" panose="020B0604020202020204" pitchFamily="34" charset="0"/>
                <a:ea typeface="Times New Roman" panose="02020603050405020304" pitchFamily="18" charset="0"/>
                <a:cs typeface="Segoe" panose="020B0502040504020203" pitchFamily="34" charset="0"/>
              </a:rPr>
              <a:t> Scope Wizard,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Bold"/>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Scope Name </a:t>
            </a:r>
            <a:r>
              <a:rPr lang="en-US" sz="1000" dirty="0" smtClean="0">
                <a:effectLst/>
                <a:latin typeface="Arial" panose="020B0604020202020204" pitchFamily="34" charset="0"/>
                <a:ea typeface="Times New Roman" panose="02020603050405020304" pitchFamily="18" charset="0"/>
                <a:cs typeface="Segoe-Bold"/>
              </a:rPr>
              <a:t>page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in the</a:t>
            </a:r>
            <a:r>
              <a:rPr lang="en-US" sz="1000" dirty="0" smtClean="0">
                <a:effectLst/>
                <a:latin typeface="Arial" panose="020B0604020202020204" pitchFamily="34" charset="0"/>
                <a:ea typeface="Times New Roman" panose="02020603050405020304" pitchFamily="18" charset="0"/>
                <a:cs typeface="Segoe-Bold"/>
              </a:rPr>
              <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Name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box,</a:t>
            </a:r>
            <a:r>
              <a:rPr lang="en-US" sz="1000" dirty="0" smtClean="0">
                <a:effectLst/>
                <a:latin typeface="Arial" panose="020B0604020202020204" pitchFamily="34" charset="0"/>
                <a:ea typeface="Times New Roman" panose="02020603050405020304" pitchFamily="18" charset="0"/>
                <a:cs typeface="Segoe-Bold"/>
              </a:rPr>
              <a:t>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type</a:t>
            </a:r>
            <a:r>
              <a:rPr lang="en-US" sz="1000" dirty="0" smtClean="0">
                <a:effectLst/>
                <a:latin typeface="Arial" panose="020B0604020202020204" pitchFamily="34" charset="0"/>
                <a:ea typeface="Times New Roman" panose="02020603050405020304" pitchFamily="18" charset="0"/>
                <a:cs typeface="Segoe-Bold"/>
              </a:rPr>
              <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Branch Office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On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the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IP Address Range </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page, complete the page using the following information</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742950" marR="0" lvl="1" indent="-285750" eaLnBrk="0" fontAlgn="base" hangingPunct="0">
              <a:lnSpc>
                <a:spcPct val="115000"/>
              </a:lnSpc>
              <a:spcBef>
                <a:spcPts val="0"/>
              </a:spcBef>
              <a:spcAft>
                <a:spcPts val="995"/>
              </a:spcAft>
              <a:buFont typeface="+mj-lt"/>
              <a:buAutoNum type="alphaL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Start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IP address: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172.16.0.100</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742950" marR="0" lvl="1" indent="-285750" eaLnBrk="0" fontAlgn="base" hangingPunct="0">
              <a:lnSpc>
                <a:spcPct val="115000"/>
              </a:lnSpc>
              <a:spcBef>
                <a:spcPts val="0"/>
              </a:spcBef>
              <a:spcAft>
                <a:spcPts val="995"/>
              </a:spcAft>
              <a:buFont typeface="+mj-lt"/>
              <a:buAutoNum type="alphaL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End IP address:</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172.16.0.200</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742950" marR="0" lvl="1" indent="-285750" eaLnBrk="0" fontAlgn="base" hangingPunct="0">
              <a:lnSpc>
                <a:spcPct val="115000"/>
              </a:lnSpc>
              <a:spcBef>
                <a:spcPts val="0"/>
              </a:spcBef>
              <a:spcAft>
                <a:spcPts val="995"/>
              </a:spcAft>
              <a:buFont typeface="+mj-lt"/>
              <a:buAutoNum type="alphaL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Length:</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16</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742950" marR="0" lvl="1" indent="-285750" eaLnBrk="0" fontAlgn="base" hangingPunct="0">
              <a:lnSpc>
                <a:spcPct val="115000"/>
              </a:lnSpc>
              <a:spcBef>
                <a:spcPts val="0"/>
              </a:spcBef>
              <a:spcAft>
                <a:spcPts val="995"/>
              </a:spcAft>
              <a:buFont typeface="+mj-lt"/>
              <a:buAutoNum type="alphaL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Subnet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mask: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255.255.0.0</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On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the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 Exclusions and Delay </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page, complete the page using the following information:</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742950" marR="0" lvl="1" indent="-285750">
              <a:lnSpc>
                <a:spcPct val="115000"/>
              </a:lnSpc>
              <a:spcBef>
                <a:spcPts val="0"/>
              </a:spcBef>
              <a:spcAft>
                <a:spcPts val="995"/>
              </a:spcAft>
              <a:buFont typeface="Symbol" panose="05050102010706020507" pitchFamily="18" charset="2"/>
              <a:buChar char=""/>
              <a:tabLst>
                <a:tab pos="408305" algn="l"/>
                <a:tab pos="457200" algn="l"/>
              </a:tabLst>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Start IP address: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172.16.0.190</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742950" marR="0" lvl="1" indent="-285750">
              <a:lnSpc>
                <a:spcPct val="115000"/>
              </a:lnSpc>
              <a:spcBef>
                <a:spcPts val="0"/>
              </a:spcBef>
              <a:spcAft>
                <a:spcPts val="995"/>
              </a:spcAft>
              <a:buFont typeface="Symbol" panose="05050102010706020507" pitchFamily="18" charset="2"/>
              <a:buChar char=""/>
              <a:tabLst>
                <a:tab pos="408305" algn="l"/>
                <a:tab pos="457200" algn="l"/>
              </a:tabLst>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End IP address</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172.16.0.200 </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Lease Duration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page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Configure DHCP Options </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eaLnBrk="0" fontAlgn="base" hangingPunct="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On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the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Router (Default Gateway)</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page, in the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IP address</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box, type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172.16.0.1</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Next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18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p14="http://schemas.microsoft.com/office/powerpoint/2010/main" val="1482070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eaLnBrk="0" fontAlgn="base" hangingPunct="0">
              <a:lnSpc>
                <a:spcPct val="115000"/>
              </a:lnSpc>
              <a:spcAft>
                <a:spcPts val="995"/>
              </a:spcAft>
              <a:buFont typeface="+mj-lt"/>
              <a:buAutoNum type="arabicPeriod" startAt="10"/>
            </a:pPr>
            <a:r>
              <a:rPr lang="en-US" sz="1000" dirty="0" smtClean="0">
                <a:solidFill>
                  <a:prstClr val="black"/>
                </a:solidFill>
                <a:latin typeface="Arial" panose="020B0604020202020204" pitchFamily="34" charset="0"/>
                <a:ea typeface="Times New Roman" panose="02020603050405020304" pitchFamily="18" charset="0"/>
                <a:cs typeface="Segoe UI" panose="020B0502040204020203" pitchFamily="34" charset="0"/>
              </a:rPr>
              <a:t>On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Domain Name and DNS Servers </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startAt="10"/>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WINS Servers </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startAt="10"/>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On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Activate Scope </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startAt="10"/>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On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Completing the New Scope Wizard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Finish</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eaLnBrk="0" fontAlgn="base" hangingPunct="0">
              <a:lnSpc>
                <a:spcPct val="107000"/>
              </a:lnSpc>
              <a:spcAft>
                <a:spcPts val="72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Configure scope and scope options in DHCP with Windows PowerShell</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Explain that you will use similar settings to those that you just applied to LON-SVR1, but you will alter the address range and default gateway for the 10.10.0.0 network, as appropriate.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LON-SVR2, from the desktop,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PowerShell</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icon on the taskbar.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Windows PowerShell</a:t>
            </a:r>
            <a:r>
              <a:rPr lang="en-US" sz="1000" baseline="30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type the following cmdlets, and then press Enter after each one: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Add-DhcpServerv4Scope –Name "Branch Office 2" –StartRange 10.10.0.100 –EndRange 10.10.0.200 –SubnetMask 255.255.0.0</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Add-Dhcpserverv4ExclusionRange –ScopeID 10.10.0.0 –StartRange 10.10.0.190 –EndRange 10.10.0.200</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Set-DhcpServerv4OptionValue –Router 10.10.0.1</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Set-DhcpServerv4Scope –ScopeID 10.10.0.0 –State Active</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startAt="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LON-SVR2 Server Manager,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Tools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drop-down menu, and then select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DHCP</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startAt="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DHCP Manager,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lon-svr2.adatum.com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IPv4</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eaLnBrk="0" fontAlgn="base" hangingPunct="0">
              <a:lnSpc>
                <a:spcPct val="115000"/>
              </a:lnSpc>
              <a:spcAft>
                <a:spcPts val="995"/>
              </a:spcAft>
              <a:buFont typeface="+mj-lt"/>
              <a:buAutoNum type="arabicPeriod" startAt="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Examine the scope that you just created, pointing out the various entries that the Windows PowerShell cmdlets made. Explain that, if you were creating numerous Dynamic Host Configuration Protocol (DHCP) scopes, you could write a Windows PowerShell script by using the cmdlets listed with variables as substitutes for the various IP address that could be called when run.</a:t>
            </a:r>
            <a:endParaRPr lang="en-CA" dirty="0"/>
          </a:p>
        </p:txBody>
      </p:sp>
      <p:sp>
        <p:nvSpPr>
          <p:cNvPr id="4" name="Slide Number Placeholder 3"/>
          <p:cNvSpPr>
            <a:spLocks noGrp="1"/>
          </p:cNvSpPr>
          <p:nvPr>
            <p:ph type="sldNum" sz="quarter" idx="10"/>
          </p:nvPr>
        </p:nvSpPr>
        <p:spPr/>
        <p:txBody>
          <a:bodyPr/>
          <a:lstStyle/>
          <a:p>
            <a:fld id="{3E924635-26AB-4A1B-8E76-E103976D4979}" type="slidenum">
              <a:rPr lang="en-CA" smtClean="0"/>
              <a:t>19</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472000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Briefly present the lesson content.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965609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r>
              <a:rPr lang="fr-FR" sz="1200" b="1" i="0" u="none" strike="noStrike" kern="1200" baseline="0" noProof="0" dirty="0" smtClean="0">
                <a:solidFill>
                  <a:schemeClr val="tx1"/>
                </a:solidFill>
                <a:latin typeface="+mn-lt"/>
                <a:ea typeface="+mn-ea"/>
                <a:cs typeface="+mn-cs"/>
              </a:rPr>
              <a:t>Dhcp.mdb</a:t>
            </a:r>
            <a:r>
              <a:rPr lang="fr-FR" sz="1200" b="0" i="0" u="none" strike="noStrike" kern="1200" baseline="0" noProof="0" dirty="0" smtClean="0">
                <a:solidFill>
                  <a:schemeClr val="tx1"/>
                </a:solidFill>
                <a:latin typeface="+mn-lt"/>
                <a:ea typeface="+mn-ea"/>
                <a:cs typeface="+mn-cs"/>
              </a:rPr>
              <a:t> :  Base de données.</a:t>
            </a:r>
          </a:p>
          <a:p>
            <a:r>
              <a:rPr lang="fr-FR" sz="1200" b="1" i="0" u="none" strike="noStrike" kern="1200" baseline="0" noProof="0" dirty="0" err="1" smtClean="0">
                <a:solidFill>
                  <a:schemeClr val="tx1"/>
                </a:solidFill>
                <a:latin typeface="+mn-lt"/>
                <a:ea typeface="+mn-ea"/>
                <a:cs typeface="+mn-cs"/>
              </a:rPr>
              <a:t>tmp.edb</a:t>
            </a:r>
            <a:r>
              <a:rPr lang="fr-FR" sz="1200" b="0" i="0" u="none" strike="noStrike" kern="1200" baseline="0" noProof="0" dirty="0" smtClean="0">
                <a:solidFill>
                  <a:schemeClr val="tx1"/>
                </a:solidFill>
                <a:latin typeface="+mn-lt"/>
                <a:ea typeface="+mn-ea"/>
                <a:cs typeface="+mn-cs"/>
              </a:rPr>
              <a:t> : Fichier temporaire de remplacement utilisé lors des maintenances de la base de données.</a:t>
            </a:r>
          </a:p>
          <a:p>
            <a:r>
              <a:rPr lang="fr-FR" sz="1200" b="1" i="0" u="none" strike="noStrike" kern="1200" baseline="0" noProof="0" dirty="0" smtClean="0">
                <a:solidFill>
                  <a:schemeClr val="tx1"/>
                </a:solidFill>
                <a:latin typeface="+mn-lt"/>
                <a:ea typeface="+mn-ea"/>
                <a:cs typeface="+mn-cs"/>
              </a:rPr>
              <a:t>J50.log and J50res#####.jrs </a:t>
            </a:r>
            <a:r>
              <a:rPr lang="fr-FR" sz="1200" b="0" i="0" u="none" strike="noStrike" kern="1200" baseline="0" noProof="0" dirty="0" smtClean="0">
                <a:solidFill>
                  <a:schemeClr val="tx1"/>
                </a:solidFill>
                <a:latin typeface="+mn-lt"/>
                <a:ea typeface="+mn-ea"/>
                <a:cs typeface="+mn-cs"/>
              </a:rPr>
              <a:t>: Fichiers journaux.</a:t>
            </a:r>
          </a:p>
          <a:p>
            <a:r>
              <a:rPr lang="fr-FR" sz="1200" b="1" i="0" u="none" strike="noStrike" kern="1200" baseline="0" noProof="0" dirty="0" smtClean="0">
                <a:solidFill>
                  <a:schemeClr val="tx1"/>
                </a:solidFill>
                <a:latin typeface="+mn-lt"/>
                <a:ea typeface="+mn-ea"/>
                <a:cs typeface="+mn-cs"/>
              </a:rPr>
              <a:t>J50.chk</a:t>
            </a:r>
            <a:r>
              <a:rPr lang="fr-FR" sz="1200" b="0" i="0" u="none" strike="noStrike" kern="1200" baseline="0" noProof="0" dirty="0" smtClean="0">
                <a:solidFill>
                  <a:schemeClr val="tx1"/>
                </a:solidFill>
                <a:latin typeface="+mn-lt"/>
                <a:ea typeface="+mn-ea"/>
                <a:cs typeface="+mn-cs"/>
              </a:rPr>
              <a:t> : Checkpoint.</a:t>
            </a:r>
            <a:endParaRPr lang="fr-FR" sz="10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688908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1175" y="74613"/>
            <a:ext cx="2413000" cy="1809750"/>
          </a:xfrm>
        </p:spPr>
      </p:sp>
      <p:sp>
        <p:nvSpPr>
          <p:cNvPr id="3" name="Notes Placeholder 2"/>
          <p:cNvSpPr>
            <a:spLocks noGrp="1"/>
          </p:cNvSpPr>
          <p:nvPr>
            <p:ph type="body" idx="1"/>
          </p:nvPr>
        </p:nvSpPr>
        <p:spPr>
          <a:xfrm>
            <a:off x="307492" y="1982790"/>
            <a:ext cx="6149837" cy="6897322"/>
          </a:xfrm>
        </p:spPr>
        <p:txBody>
          <a:bodyPr/>
          <a:lstStyle/>
          <a:p>
            <a:r>
              <a:rPr lang="en-US" sz="1200" b="0" i="0" u="none" strike="noStrike" kern="1200" baseline="0" dirty="0" smtClean="0">
                <a:solidFill>
                  <a:schemeClr val="tx1"/>
                </a:solidFill>
                <a:latin typeface="+mn-lt"/>
                <a:ea typeface="+mn-ea"/>
                <a:cs typeface="+mn-cs"/>
              </a:rPr>
              <a:t>To back up the DHCP data for all scopes, use the following command:</a:t>
            </a:r>
          </a:p>
          <a:p>
            <a:r>
              <a:rPr lang="fr-FR" sz="1200" b="1" i="0" u="none" strike="noStrike" kern="1200" baseline="0" dirty="0" smtClean="0">
                <a:solidFill>
                  <a:schemeClr val="tx1"/>
                </a:solidFill>
                <a:latin typeface="+mn-lt"/>
                <a:ea typeface="+mn-ea"/>
                <a:cs typeface="+mn-cs"/>
              </a:rPr>
              <a:t>Backup-</a:t>
            </a:r>
            <a:r>
              <a:rPr lang="fr-FR" sz="1200" b="1" i="0" u="none" strike="noStrike" kern="1200" baseline="0" dirty="0" err="1" smtClean="0">
                <a:solidFill>
                  <a:schemeClr val="tx1"/>
                </a:solidFill>
                <a:latin typeface="+mn-lt"/>
                <a:ea typeface="+mn-ea"/>
                <a:cs typeface="+mn-cs"/>
              </a:rPr>
              <a:t>DhcpServer</a:t>
            </a:r>
            <a:r>
              <a:rPr lang="fr-FR" sz="1200" b="1" i="0" u="none" strike="noStrike" kern="1200" baseline="0" dirty="0" smtClean="0">
                <a:solidFill>
                  <a:schemeClr val="tx1"/>
                </a:solidFill>
                <a:latin typeface="+mn-lt"/>
                <a:ea typeface="+mn-ea"/>
                <a:cs typeface="+mn-cs"/>
              </a:rPr>
              <a:t> -</a:t>
            </a:r>
            <a:r>
              <a:rPr lang="fr-FR" sz="1200" b="1" i="0" u="none" strike="noStrike" kern="1200" baseline="0" dirty="0" err="1" smtClean="0">
                <a:solidFill>
                  <a:schemeClr val="tx1"/>
                </a:solidFill>
                <a:latin typeface="+mn-lt"/>
                <a:ea typeface="+mn-ea"/>
                <a:cs typeface="+mn-cs"/>
              </a:rPr>
              <a:t>ComputerName</a:t>
            </a:r>
            <a:r>
              <a:rPr lang="fr-FR" sz="1200" b="1" i="0" u="none" strike="noStrike" kern="1200" baseline="0" dirty="0" smtClean="0">
                <a:solidFill>
                  <a:schemeClr val="tx1"/>
                </a:solidFill>
                <a:latin typeface="+mn-lt"/>
                <a:ea typeface="+mn-ea"/>
                <a:cs typeface="+mn-cs"/>
              </a:rPr>
              <a:t> lon-svr1.adatum.com -Path C:\Windows\system32\dhcp\backup</a:t>
            </a:r>
          </a:p>
          <a:p>
            <a:r>
              <a:rPr lang="en-US" sz="1200" b="0" i="0" u="none" strike="noStrike" kern="1200" baseline="0" dirty="0" smtClean="0">
                <a:solidFill>
                  <a:schemeClr val="tx1"/>
                </a:solidFill>
                <a:latin typeface="+mn-lt"/>
                <a:ea typeface="+mn-ea"/>
                <a:cs typeface="+mn-cs"/>
              </a:rPr>
              <a:t/>
            </a:r>
            <a:br>
              <a:rPr lang="en-US" sz="1200" b="0" i="0" u="none" strike="noStrike" kern="1200" baseline="0" dirty="0" smtClean="0">
                <a:solidFill>
                  <a:schemeClr val="tx1"/>
                </a:solidFill>
                <a:latin typeface="+mn-lt"/>
                <a:ea typeface="+mn-ea"/>
                <a:cs typeface="+mn-cs"/>
              </a:rPr>
            </a:br>
            <a:r>
              <a:rPr lang="en-US" sz="1200" b="0" i="0" u="none" strike="noStrike" kern="1200" baseline="0" dirty="0" smtClean="0">
                <a:solidFill>
                  <a:schemeClr val="tx1"/>
                </a:solidFill>
                <a:latin typeface="+mn-lt"/>
                <a:ea typeface="+mn-ea"/>
                <a:cs typeface="+mn-cs"/>
              </a:rPr>
              <a:t>To restore the DHCP database, use the following command:</a:t>
            </a:r>
          </a:p>
          <a:p>
            <a:r>
              <a:rPr lang="fr-FR" sz="1200" b="1" i="0" u="none" strike="noStrike" kern="1200" baseline="0" dirty="0" smtClean="0">
                <a:solidFill>
                  <a:schemeClr val="tx1"/>
                </a:solidFill>
                <a:latin typeface="+mn-lt"/>
                <a:ea typeface="+mn-ea"/>
                <a:cs typeface="+mn-cs"/>
              </a:rPr>
              <a:t>Restore-</a:t>
            </a:r>
            <a:r>
              <a:rPr lang="fr-FR" sz="1200" b="1" i="0" u="none" strike="noStrike" kern="1200" baseline="0" dirty="0" err="1" smtClean="0">
                <a:solidFill>
                  <a:schemeClr val="tx1"/>
                </a:solidFill>
                <a:latin typeface="+mn-lt"/>
                <a:ea typeface="+mn-ea"/>
                <a:cs typeface="+mn-cs"/>
              </a:rPr>
              <a:t>DhcpServer</a:t>
            </a:r>
            <a:r>
              <a:rPr lang="fr-FR" sz="1200" b="1" i="0" u="none" strike="noStrike" kern="1200" baseline="0" dirty="0" smtClean="0">
                <a:solidFill>
                  <a:schemeClr val="tx1"/>
                </a:solidFill>
                <a:latin typeface="+mn-lt"/>
                <a:ea typeface="+mn-ea"/>
                <a:cs typeface="+mn-cs"/>
              </a:rPr>
              <a:t> -</a:t>
            </a:r>
            <a:r>
              <a:rPr lang="fr-FR" sz="1200" b="1" i="0" u="none" strike="noStrike" kern="1200" baseline="0" dirty="0" err="1" smtClean="0">
                <a:solidFill>
                  <a:schemeClr val="tx1"/>
                </a:solidFill>
                <a:latin typeface="+mn-lt"/>
                <a:ea typeface="+mn-ea"/>
                <a:cs typeface="+mn-cs"/>
              </a:rPr>
              <a:t>ComputerName</a:t>
            </a:r>
            <a:r>
              <a:rPr lang="fr-FR" sz="1200" b="1" i="0" u="none" strike="noStrike" kern="1200" baseline="0" dirty="0" smtClean="0">
                <a:solidFill>
                  <a:schemeClr val="tx1"/>
                </a:solidFill>
                <a:latin typeface="+mn-lt"/>
                <a:ea typeface="+mn-ea"/>
                <a:cs typeface="+mn-cs"/>
              </a:rPr>
              <a:t> lon-svr1.adatum.com -Path C:\Windows\system32\dhcp\backup</a:t>
            </a:r>
          </a:p>
          <a:p>
            <a:r>
              <a:rPr lang="en-US" sz="1200" b="0" i="0" u="none" strike="noStrike" kern="1200" baseline="0" dirty="0" smtClean="0">
                <a:solidFill>
                  <a:schemeClr val="tx1"/>
                </a:solidFill>
                <a:latin typeface="+mn-lt"/>
                <a:ea typeface="+mn-ea"/>
                <a:cs typeface="+mn-cs"/>
              </a:rPr>
              <a:t/>
            </a:r>
            <a:br>
              <a:rPr lang="en-US" sz="1200" b="0" i="0" u="none" strike="noStrike" kern="1200" baseline="0" dirty="0" smtClean="0">
                <a:solidFill>
                  <a:schemeClr val="tx1"/>
                </a:solidFill>
                <a:latin typeface="+mn-lt"/>
                <a:ea typeface="+mn-ea"/>
                <a:cs typeface="+mn-cs"/>
              </a:rPr>
            </a:br>
            <a:r>
              <a:rPr lang="en-US" sz="1200" b="0" i="0" u="none" strike="noStrike" kern="1200" baseline="0" dirty="0" smtClean="0">
                <a:solidFill>
                  <a:schemeClr val="tx1"/>
                </a:solidFill>
                <a:latin typeface="+mn-lt"/>
                <a:ea typeface="+mn-ea"/>
                <a:cs typeface="+mn-cs"/>
              </a:rPr>
              <a:t>The export operation exports the DHCP server service configuration and lease data, to a specified file. To export, use the following command:</a:t>
            </a:r>
          </a:p>
          <a:p>
            <a:r>
              <a:rPr lang="fr-FR" sz="1200" b="1" i="0" u="none" strike="noStrike" kern="1200" baseline="0" dirty="0" smtClean="0">
                <a:solidFill>
                  <a:schemeClr val="tx1"/>
                </a:solidFill>
                <a:latin typeface="+mn-lt"/>
                <a:ea typeface="+mn-ea"/>
                <a:cs typeface="+mn-cs"/>
              </a:rPr>
              <a:t>Export-</a:t>
            </a:r>
            <a:r>
              <a:rPr lang="fr-FR" sz="1200" b="1" i="0" u="none" strike="noStrike" kern="1200" baseline="0" dirty="0" err="1" smtClean="0">
                <a:solidFill>
                  <a:schemeClr val="tx1"/>
                </a:solidFill>
                <a:latin typeface="+mn-lt"/>
                <a:ea typeface="+mn-ea"/>
                <a:cs typeface="+mn-cs"/>
              </a:rPr>
              <a:t>DhcpServer</a:t>
            </a:r>
            <a:r>
              <a:rPr lang="fr-FR" sz="1200" b="1" i="0" u="none" strike="noStrike" kern="1200" baseline="0" dirty="0" smtClean="0">
                <a:solidFill>
                  <a:schemeClr val="tx1"/>
                </a:solidFill>
                <a:latin typeface="+mn-lt"/>
                <a:ea typeface="+mn-ea"/>
                <a:cs typeface="+mn-cs"/>
              </a:rPr>
              <a:t> -</a:t>
            </a:r>
            <a:r>
              <a:rPr lang="fr-FR" sz="1200" b="1" i="0" u="none" strike="noStrike" kern="1200" baseline="0" dirty="0" err="1" smtClean="0">
                <a:solidFill>
                  <a:schemeClr val="tx1"/>
                </a:solidFill>
                <a:latin typeface="+mn-lt"/>
                <a:ea typeface="+mn-ea"/>
                <a:cs typeface="+mn-cs"/>
              </a:rPr>
              <a:t>ComputerName</a:t>
            </a:r>
            <a:r>
              <a:rPr lang="fr-FR" sz="1200" b="1" i="0" u="none" strike="noStrike" kern="1200" baseline="0" dirty="0" smtClean="0">
                <a:solidFill>
                  <a:schemeClr val="tx1"/>
                </a:solidFill>
                <a:latin typeface="+mn-lt"/>
                <a:ea typeface="+mn-ea"/>
                <a:cs typeface="+mn-cs"/>
              </a:rPr>
              <a:t> lon-svr1.adatum.com -File C:\exportdir\dhcpexport.xml</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To import, use the following command:</a:t>
            </a:r>
          </a:p>
          <a:p>
            <a:r>
              <a:rPr lang="fr-FR" sz="1200" b="1" i="0" u="none" strike="noStrike" kern="1200" baseline="0" dirty="0" smtClean="0">
                <a:solidFill>
                  <a:schemeClr val="tx1"/>
                </a:solidFill>
                <a:latin typeface="+mn-lt"/>
                <a:ea typeface="+mn-ea"/>
                <a:cs typeface="+mn-cs"/>
              </a:rPr>
              <a:t>Import-</a:t>
            </a:r>
            <a:r>
              <a:rPr lang="fr-FR" sz="1200" b="1" i="0" u="none" strike="noStrike" kern="1200" baseline="0" dirty="0" err="1" smtClean="0">
                <a:solidFill>
                  <a:schemeClr val="tx1"/>
                </a:solidFill>
                <a:latin typeface="+mn-lt"/>
                <a:ea typeface="+mn-ea"/>
                <a:cs typeface="+mn-cs"/>
              </a:rPr>
              <a:t>DhcpServer</a:t>
            </a:r>
            <a:r>
              <a:rPr lang="fr-FR" sz="1200" b="1" i="0" u="none" strike="noStrike" kern="1200" baseline="0" dirty="0" smtClean="0">
                <a:solidFill>
                  <a:schemeClr val="tx1"/>
                </a:solidFill>
                <a:latin typeface="+mn-lt"/>
                <a:ea typeface="+mn-ea"/>
                <a:cs typeface="+mn-cs"/>
              </a:rPr>
              <a:t> -</a:t>
            </a:r>
            <a:r>
              <a:rPr lang="fr-FR" sz="1200" b="1" i="0" u="none" strike="noStrike" kern="1200" baseline="0" dirty="0" err="1" smtClean="0">
                <a:solidFill>
                  <a:schemeClr val="tx1"/>
                </a:solidFill>
                <a:latin typeface="+mn-lt"/>
                <a:ea typeface="+mn-ea"/>
                <a:cs typeface="+mn-cs"/>
              </a:rPr>
              <a:t>ComputerName</a:t>
            </a:r>
            <a:r>
              <a:rPr lang="fr-FR" sz="1200" b="1" i="0" u="none" strike="noStrike" kern="1200" baseline="0" dirty="0" smtClean="0">
                <a:solidFill>
                  <a:schemeClr val="tx1"/>
                </a:solidFill>
                <a:latin typeface="+mn-lt"/>
                <a:ea typeface="+mn-ea"/>
                <a:cs typeface="+mn-cs"/>
              </a:rPr>
              <a:t> lon-svr2.adatum.com -File C:\exports\dhcpexport.xml -</a:t>
            </a:r>
            <a:r>
              <a:rPr lang="fr-FR" sz="1200" b="1" i="0" u="none" strike="noStrike" kern="1200" baseline="0" dirty="0" err="1" smtClean="0">
                <a:solidFill>
                  <a:schemeClr val="tx1"/>
                </a:solidFill>
                <a:latin typeface="+mn-lt"/>
                <a:ea typeface="+mn-ea"/>
                <a:cs typeface="+mn-cs"/>
              </a:rPr>
              <a:t>BackupPath</a:t>
            </a:r>
            <a:r>
              <a:rPr lang="fr-FR" sz="1200" b="1" i="0" u="none" strike="noStrike" kern="1200" baseline="0" dirty="0" smtClean="0">
                <a:solidFill>
                  <a:schemeClr val="tx1"/>
                </a:solidFill>
                <a:latin typeface="+mn-lt"/>
                <a:ea typeface="+mn-ea"/>
                <a:cs typeface="+mn-cs"/>
              </a:rPr>
              <a:t> C:\dhcpbackup\</a:t>
            </a:r>
            <a:endParaRPr lang="en-US" sz="1000" b="1" kern="1200" dirty="0" smtClean="0">
              <a:solidFill>
                <a:schemeClr val="tx1"/>
              </a:solidFill>
              <a:effectLst/>
              <a:latin typeface="Arial" panose="020B0604020202020204" pitchFamily="34" charset="0"/>
              <a:cs typeface="Arial" panose="020B0604020202020204" pitchFamily="34" charset="0"/>
            </a:endParaRPr>
          </a:p>
          <a:p>
            <a:pPr>
              <a:spcAft>
                <a:spcPts val="800"/>
              </a:spcAft>
            </a:pPr>
            <a:endParaRPr lang="en-US" sz="1000" kern="1200" dirty="0" smtClean="0">
              <a:solidFill>
                <a:schemeClr val="tx1"/>
              </a:solidFill>
              <a:effectLst/>
              <a:latin typeface="Arial" panose="020B0604020202020204" pitchFamily="34" charset="0"/>
              <a:cs typeface="Arial" panose="020B0604020202020204" pitchFamily="34" charset="0"/>
            </a:endParaRPr>
          </a:p>
          <a:p>
            <a:pPr>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
            </a:r>
            <a:br>
              <a:rPr lang="en-US" sz="1000" kern="1200" dirty="0" smtClean="0">
                <a:solidFill>
                  <a:schemeClr val="tx1"/>
                </a:solidFill>
                <a:effectLst/>
                <a:latin typeface="Arial" panose="020B0604020202020204" pitchFamily="34" charset="0"/>
                <a:cs typeface="Arial" panose="020B0604020202020204" pitchFamily="34" charset="0"/>
              </a:rPr>
            </a:br>
            <a:r>
              <a:rPr lang="en-US" sz="1000" kern="1200" dirty="0" smtClean="0">
                <a:solidFill>
                  <a:schemeClr val="tx1"/>
                </a:solidFill>
                <a:effectLst/>
                <a:latin typeface="Arial" panose="020B0604020202020204" pitchFamily="34" charset="0"/>
                <a:cs typeface="Arial" panose="020B0604020202020204" pitchFamily="34" charset="0"/>
              </a:rPr>
              <a:t>This </a:t>
            </a:r>
            <a:r>
              <a:rPr lang="en-US" sz="1000" kern="1200" dirty="0" smtClean="0">
                <a:solidFill>
                  <a:schemeClr val="tx1"/>
                </a:solidFill>
                <a:effectLst/>
                <a:latin typeface="Arial" panose="020B0604020202020204" pitchFamily="34" charset="0"/>
                <a:cs typeface="Arial" panose="020B0604020202020204" pitchFamily="34" charset="0"/>
              </a:rPr>
              <a:t>build slide requires five clicks to view all of the slides.</a:t>
            </a:r>
            <a:endParaRPr lang="en-CA" sz="1000" kern="1200" dirty="0" smtClean="0">
              <a:solidFill>
                <a:schemeClr val="tx1"/>
              </a:solidFill>
              <a:effectLst/>
              <a:latin typeface="Arial" panose="020B0604020202020204" pitchFamily="34" charset="0"/>
              <a:cs typeface="Arial" panose="020B0604020202020204" pitchFamily="34" charset="0"/>
            </a:endParaRPr>
          </a:p>
          <a:p>
            <a:pPr>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Describe how you back up and restore the DHCP database.</a:t>
            </a:r>
            <a:endParaRPr lang="en-CA" sz="1000" kern="1200" dirty="0" smtClean="0">
              <a:solidFill>
                <a:schemeClr val="tx1"/>
              </a:solidFill>
              <a:effectLst/>
              <a:latin typeface="Arial" panose="020B0604020202020204" pitchFamily="34" charset="0"/>
              <a:cs typeface="Arial" panose="020B0604020202020204" pitchFamily="34" charset="0"/>
            </a:endParaRPr>
          </a:p>
          <a:p>
            <a:pPr>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Automatic Backup (Synchronous Backup):</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Occurs every 60 minutes.</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Best practice: Ensure that you keep an offsite backup of the database.</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Best practice: Make sure that your automatic backup is to a different volume than the volume on which your DHCP server is running.</a:t>
            </a:r>
            <a:endParaRPr lang="en-CA" sz="1000" kern="1200" dirty="0" smtClean="0">
              <a:solidFill>
                <a:schemeClr val="tx1"/>
              </a:solidFill>
              <a:effectLst/>
              <a:latin typeface="Arial" panose="020B0604020202020204" pitchFamily="34" charset="0"/>
              <a:cs typeface="Arial" panose="020B0604020202020204" pitchFamily="34" charset="0"/>
            </a:endParaRPr>
          </a:p>
          <a:p>
            <a:pPr>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Manual Backup (Asynchronous Backup):</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Requires administrative-level permissions. Can also be a member of the DHCP administrators group.</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Show students where the option for manual backup is in the console.</a:t>
            </a:r>
            <a:endParaRPr lang="en-CA" sz="1000" kern="1200" dirty="0" smtClean="0">
              <a:solidFill>
                <a:schemeClr val="tx1"/>
              </a:solidFill>
              <a:effectLst/>
              <a:latin typeface="Arial" panose="020B0604020202020204" pitchFamily="34" charset="0"/>
              <a:cs typeface="Arial" panose="020B0604020202020204" pitchFamily="34" charset="0"/>
            </a:endParaRPr>
          </a:p>
          <a:p>
            <a:pPr>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What is backed up:</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All scopes</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Reservations</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Leases</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All options, including server options, scope options, reservation options, and class options</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All registry keys and other configuration settings that are set in DHCP server properties. These settings are stored in the following registry subkey:</a:t>
            </a:r>
            <a:endParaRPr lang="en-CA" sz="1000" kern="1200" dirty="0" smtClean="0">
              <a:solidFill>
                <a:schemeClr val="tx1"/>
              </a:solidFill>
              <a:effectLst/>
              <a:latin typeface="Arial" panose="020B0604020202020204" pitchFamily="34" charset="0"/>
              <a:cs typeface="Arial" panose="020B0604020202020204" pitchFamily="34" charset="0"/>
            </a:endParaRPr>
          </a:p>
          <a:p>
            <a:pPr marL="169863" lvl="1">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HKEY_LOCAL_MACHINE\SYSTEM\CurrentControlSet\Services\DHCPServer\Parameters</a:t>
            </a:r>
            <a:endParaRPr lang="en-CA" sz="1000" dirty="0">
              <a:latin typeface="Arial" panose="020B0604020202020204" pitchFamily="34" charset="0"/>
              <a:cs typeface="Arial" panose="020B0604020202020204" pitchFamily="34" charset="0"/>
            </a:endParaRPr>
          </a:p>
          <a:p>
            <a:pPr marL="169863" lvl="1">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To back up this subkey, open Registry Editor and then save the specified key to a text file.</a:t>
            </a:r>
            <a:endParaRPr lang="en-CA" sz="1000" kern="1200" dirty="0" smtClean="0">
              <a:solidFill>
                <a:schemeClr val="tx1"/>
              </a:solidFill>
              <a:effectLst/>
              <a:latin typeface="Arial" panose="020B0604020202020204" pitchFamily="34" charset="0"/>
              <a:cs typeface="Arial" panose="020B0604020202020204" pitchFamily="34" charset="0"/>
            </a:endParaRPr>
          </a:p>
          <a:p>
            <a:pPr>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Backup Security:</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Best Practice: Backups that are stored on another volume should grant permissions only to the administrator and the DHCP administrator groups.</a:t>
            </a:r>
            <a:endParaRPr lang="en-CA" sz="1000" kern="1200" dirty="0" smtClean="0">
              <a:solidFill>
                <a:schemeClr val="tx1"/>
              </a:solidFill>
              <a:effectLst/>
              <a:latin typeface="Arial" panose="020B0604020202020204" pitchFamily="34" charset="0"/>
              <a:cs typeface="Arial" panose="020B0604020202020204" pitchFamily="34" charset="0"/>
            </a:endParaRPr>
          </a:p>
          <a:p>
            <a:pPr>
              <a:spcAft>
                <a:spcPts val="800"/>
              </a:spcAft>
            </a:pPr>
            <a:r>
              <a:rPr lang="en-US" sz="1000" kern="1200" dirty="0" smtClean="0">
                <a:solidFill>
                  <a:schemeClr val="tx1"/>
                </a:solidFill>
                <a:effectLst/>
                <a:latin typeface="Arial" panose="020B0604020202020204" pitchFamily="34" charset="0"/>
                <a:cs typeface="Arial" panose="020B0604020202020204" pitchFamily="34" charset="0"/>
              </a:rPr>
              <a:t>Restore Process:</a:t>
            </a:r>
            <a:endParaRPr lang="en-CA" sz="1000" kern="1200" dirty="0" smtClean="0">
              <a:solidFill>
                <a:schemeClr val="tx1"/>
              </a:solidFill>
              <a:effectLst/>
              <a:latin typeface="Arial" panose="020B0604020202020204" pitchFamily="34" charset="0"/>
              <a:cs typeface="Arial" panose="020B0604020202020204" pitchFamily="34" charset="0"/>
            </a:endParaRPr>
          </a:p>
          <a:p>
            <a:pPr marL="171450" lvl="0" indent="-171450">
              <a:spcAft>
                <a:spcPts val="800"/>
              </a:spcAft>
              <a:buFont typeface="Arial" panose="020B0604020202020204" pitchFamily="34" charset="0"/>
              <a:buChar char="•"/>
            </a:pPr>
            <a:r>
              <a:rPr lang="en-US" sz="1000" kern="1200" dirty="0" smtClean="0">
                <a:solidFill>
                  <a:schemeClr val="tx1"/>
                </a:solidFill>
                <a:effectLst/>
                <a:latin typeface="Arial" panose="020B0604020202020204" pitchFamily="34" charset="0"/>
                <a:cs typeface="Arial" panose="020B0604020202020204" pitchFamily="34" charset="0"/>
              </a:rPr>
              <a:t>Requires administrative-level permissions. Can also be a member of the DHCP administrator group.</a:t>
            </a:r>
            <a:endParaRPr lang="en-CA" sz="1000" kern="1200" dirty="0" smtClean="0">
              <a:solidFill>
                <a:schemeClr val="tx1"/>
              </a:solidFill>
              <a:effectLst/>
              <a:latin typeface="Arial" panose="020B0604020202020204" pitchFamily="34" charset="0"/>
              <a:cs typeface="Arial" panose="020B0604020202020204" pitchFamily="34" charset="0"/>
            </a:endParaRPr>
          </a:p>
          <a:p>
            <a:pPr eaLnBrk="1" hangingPunct="1">
              <a:spcAft>
                <a:spcPts val="800"/>
              </a:spcAft>
            </a:pPr>
            <a:endParaRPr lang="en-US" sz="1000" dirty="0">
              <a:solidFill>
                <a:srgbClr val="7030A0"/>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DCCEFC8F-1EBC-43E5-886D-F0A9AD3E9B6F}" type="slidenum">
              <a:rPr lang="en-US" smtClean="0">
                <a:solidFill>
                  <a:prstClr val="black"/>
                </a:solidFill>
              </a:rPr>
              <a:pPr>
                <a:defRPr/>
              </a:pPr>
              <a:t>22</a:t>
            </a:fld>
            <a:endParaRPr lang="en-US" dirty="0">
              <a:solidFill>
                <a:prstClr val="black"/>
              </a:solidFill>
            </a:endParaRPr>
          </a:p>
        </p:txBody>
      </p:sp>
      <p:sp>
        <p:nvSpPr>
          <p:cNvPr id="8" name="Rectangle 7"/>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9" name="Rectangle 8"/>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19911431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how you reconcile a DHCP database.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1382769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can move a DHCP database from one server to another by using the normal backup and restore procedure.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Steps for moving a DHCP database: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285750" indent="-285750">
              <a:lnSpc>
                <a:spcPct val="115000"/>
              </a:lnSpc>
              <a:spcAft>
                <a:spcPts val="995"/>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Back up the DHCP database on the old server.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285750" indent="-285750">
              <a:lnSpc>
                <a:spcPct val="115000"/>
              </a:lnSpc>
              <a:spcAft>
                <a:spcPts val="995"/>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Stop the old DHCP server service.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285750" indent="-285750">
              <a:lnSpc>
                <a:spcPct val="115000"/>
              </a:lnSpc>
              <a:spcAft>
                <a:spcPts val="995"/>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Copy the DHCP database to the new server and, if necessary, install the DHCP server role.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285750" indent="-285750">
              <a:lnSpc>
                <a:spcPct val="115000"/>
              </a:lnSpc>
              <a:spcAft>
                <a:spcPts val="995"/>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Restore the database.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285750" indent="-285750">
              <a:lnSpc>
                <a:spcPct val="115000"/>
              </a:lnSpc>
              <a:spcAft>
                <a:spcPts val="995"/>
              </a:spcAft>
              <a:buFont typeface="+mj-lt"/>
              <a:buAutoNum type="arabicPeriod"/>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Start the DHCP Server service.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9238746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Briefly present the lesson content.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14287210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Discuss the guidelines for preventing an unauthorized computer from obtaining a lease.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Emphasize that the only way to prevent unauthorized access completely by using only DHCP is to disallow network access. However, this is not feasible. Therefore, the next best actions are to limit the possibility of an unauthorized user plugging into an empty network jack by implementing security on a wireless network.</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Use NAP to validate a client computer’s health. NAP can determine if the computer is running an up‑to‑date antivirus program and has the latest Windows operating system updates. If the computer is not compliant with the NAP policy, it can be denied network access or relegated to a remediation network where it can obtain the necessary updates to become compliant.</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also can use NAP to restrict access to a network based on whether the user is authorized for network access.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Some organizations lock down the network ports based on MAC address. Each MAC address is restricted to a specific port. If a different MAC address attempts to communicate on that port, the port will shut down.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26</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3053128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Mention to students that users must disable DHCP services from other devices, such as routers or non‑Microsoft tools.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If users complain of network access problems, check the IP settings that the DHCP server is providing by using the </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ipconfig /all</a:t>
            </a:r>
            <a:r>
              <a:rPr lang="en-CA" sz="1000" dirty="0" smtClean="0">
                <a:effectLst/>
                <a:latin typeface="Arial" panose="020B0604020202020204" pitchFamily="34" charset="0"/>
                <a:ea typeface="Calibri" panose="020F0502020204030204" pitchFamily="34" charset="0"/>
                <a:cs typeface="Segoe UI" panose="020B0502040204020203" pitchFamily="34" charset="0"/>
              </a:rPr>
              <a:t> command.</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If the DHCP server result is not correct, investigating the IP address in question should identify the problem.</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only way to restrict unauthorized DHCP servers is to find their source IP, and then to remove them from the network.</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879289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322862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that DHCP statistics provide a general view of DHCP activity and usage.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Point out that you can configure the statistics’ refresh rate in the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General</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dirty="0" smtClean="0">
                <a:effectLst/>
                <a:latin typeface="Arial" panose="020B0604020202020204" pitchFamily="34" charset="0"/>
                <a:ea typeface="Calibri" panose="020F0502020204030204" pitchFamily="34" charset="0"/>
                <a:cs typeface="Segoe UI" panose="020B0502040204020203" pitchFamily="34" charset="0"/>
              </a:rPr>
              <a:t>tab of the server’s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Properties</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dirty="0" smtClean="0">
                <a:effectLst/>
                <a:latin typeface="Arial" panose="020B0604020202020204" pitchFamily="34" charset="0"/>
                <a:ea typeface="Calibri" panose="020F0502020204030204" pitchFamily="34" charset="0"/>
                <a:cs typeface="Segoe UI" panose="020B0502040204020203" pitchFamily="34" charset="0"/>
              </a:rPr>
              <a:t>dialog box.</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Show students the statistics panel in the DHCP Server.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For the DHCP server statistics section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Provide an overview of DHCP server usage. Point out to students that they can use this data to understand the DHCP server’s state quickly.</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For the DHCP scope statistics section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Provide basic data about the leases in the DHCP scope.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29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253562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Describe the purpose of the DHCP audit log.</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Explain that the DHCP audit log file is stored in </a:t>
            </a:r>
            <a:r>
              <a:rPr lang="en-CA" sz="1000" i="1" dirty="0" smtClean="0">
                <a:effectLst/>
                <a:latin typeface="Arial" panose="020B0604020202020204" pitchFamily="34" charset="0"/>
                <a:ea typeface="Calibri" panose="020F0502020204030204" pitchFamily="34" charset="0"/>
                <a:cs typeface="Times New Roman" panose="02020603050405020304" pitchFamily="18" charset="0"/>
              </a:rPr>
              <a:t>systemroot</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\system32\dhcp</a:t>
            </a: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 and that the name of the audit log file is based on the day of the week it was created. For example, if the day of the week is Monday, then the file name is</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DhcpSrvLog‑Mon.log</a:t>
            </a: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30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4293371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4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Discuss common issues that can occur when you do not configure DHCP properly.</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For each of the issues, ask students: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171450" marR="0" lvl="0" indent="-171450">
              <a:lnSpc>
                <a:spcPct val="115000"/>
              </a:lnSpc>
              <a:spcBef>
                <a:spcPts val="0"/>
              </a:spcBef>
              <a:spcAft>
                <a:spcPts val="400"/>
              </a:spcAft>
              <a:buFont typeface="Arial" panose="020B0604020202020204" pitchFamily="34" charset="0"/>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What tests, tools, and procedures would they use to troubleshoot the issue?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171450" marR="0" lvl="0" indent="-171450">
              <a:lnSpc>
                <a:spcPct val="115000"/>
              </a:lnSpc>
              <a:spcBef>
                <a:spcPts val="0"/>
              </a:spcBef>
              <a:spcAft>
                <a:spcPts val="400"/>
              </a:spcAft>
              <a:buFont typeface="Arial" panose="020B0604020202020204" pitchFamily="34" charset="0"/>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What is the cause of the issue?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171450" marR="0" lvl="0" indent="-171450">
              <a:lnSpc>
                <a:spcPct val="115000"/>
              </a:lnSpc>
              <a:spcBef>
                <a:spcPts val="0"/>
              </a:spcBef>
              <a:spcAft>
                <a:spcPts val="400"/>
              </a:spcAft>
              <a:buFont typeface="Arial" panose="020B0604020202020204" pitchFamily="34" charset="0"/>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What would they consider as a solution?</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4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Each student should write in the empty space of the table in the Student Handbook what the possible cause of the issue might be, and their proposed solution.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endParaRPr lang="en-CA" sz="1000" dirty="0" smtClean="0">
              <a:effectLst/>
              <a:latin typeface="Arial" panose="020B0604020202020204" pitchFamily="34" charset="0"/>
              <a:ea typeface="Calibri" panose="020F0502020204030204" pitchFamily="34" charset="0"/>
              <a:cs typeface="Segoe UI" panose="020B0502040204020203" pitchFamily="34" charset="0"/>
            </a:endParaRPr>
          </a:p>
          <a:p>
            <a:pPr>
              <a:lnSpc>
                <a:spcPct val="107000"/>
              </a:lnSpc>
              <a:spcAft>
                <a:spcPts val="4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Some suggested answers to aid the discussion: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171450" marR="0" lvl="0" indent="-171450">
              <a:lnSpc>
                <a:spcPct val="115000"/>
              </a:lnSpc>
              <a:spcBef>
                <a:spcPts val="0"/>
              </a:spcBef>
              <a:spcAft>
                <a:spcPts val="400"/>
              </a:spcAft>
              <a:buFont typeface="Arial" panose="020B0604020202020204" pitchFamily="34" charset="0"/>
              <a:buChar char="•"/>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Address conflicts: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628650" lvl="1" indent="-171450">
              <a:lnSpc>
                <a:spcPct val="115000"/>
              </a:lnSpc>
              <a:spcAft>
                <a:spcPts val="400"/>
              </a:spcAft>
              <a:buFont typeface="Arial" panose="020B0604020202020204" pitchFamily="34" charset="0"/>
              <a:buChar char="•"/>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Check for manually configured computers with a conflicting address.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628650" lvl="1" indent="-171450">
              <a:lnSpc>
                <a:spcPct val="115000"/>
              </a:lnSpc>
              <a:spcAft>
                <a:spcPts val="400"/>
              </a:spcAft>
              <a:buFont typeface="Arial" panose="020B0604020202020204" pitchFamily="34" charset="0"/>
              <a:buChar char="•"/>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Verify that scopes do not contain overlapping addresses.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628650" lvl="1" indent="-171450">
              <a:lnSpc>
                <a:spcPct val="115000"/>
              </a:lnSpc>
              <a:spcAft>
                <a:spcPts val="400"/>
              </a:spcAft>
              <a:buFont typeface="Arial" panose="020B0604020202020204" pitchFamily="34" charset="0"/>
              <a:buChar char="•"/>
              <a:tabLst>
                <a:tab pos="9144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Inform students that you can configure a DHCP server to ping an IP address before it leases it, which helps prevent conflicts.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171450" marR="0" lvl="0" indent="-171450">
              <a:lnSpc>
                <a:spcPct val="115000"/>
              </a:lnSpc>
              <a:spcBef>
                <a:spcPts val="0"/>
              </a:spcBef>
              <a:spcAft>
                <a:spcPts val="400"/>
              </a:spcAft>
              <a:buFont typeface="Arial" panose="020B0604020202020204" pitchFamily="34" charset="0"/>
              <a:buChar char="•"/>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Failure to obtain a DHCP address: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628650" marR="0" lvl="1" indent="-171450">
              <a:lnSpc>
                <a:spcPct val="115000"/>
              </a:lnSpc>
              <a:spcBef>
                <a:spcPts val="0"/>
              </a:spcBef>
              <a:spcAft>
                <a:spcPts val="400"/>
              </a:spcAft>
              <a:buFont typeface="Arial" panose="020B0604020202020204" pitchFamily="34" charset="0"/>
              <a:buChar char="•"/>
              <a:tabLst>
                <a:tab pos="914400" algn="l"/>
              </a:tabLst>
            </a:pPr>
            <a:r>
              <a:rPr lang="en-CA" sz="1000" dirty="0">
                <a:latin typeface="Arial" panose="020B0604020202020204" pitchFamily="34" charset="0"/>
                <a:ea typeface="Calibri" panose="020F0502020204030204" pitchFamily="34" charset="0"/>
                <a:cs typeface="Segoe UI" panose="020B0502040204020203" pitchFamily="34" charset="0"/>
              </a:rPr>
              <a:t>Verify that the DHCP server is online. </a:t>
            </a:r>
          </a:p>
          <a:p>
            <a:pPr marL="628650" marR="0" lvl="1" indent="-171450">
              <a:lnSpc>
                <a:spcPct val="115000"/>
              </a:lnSpc>
              <a:spcBef>
                <a:spcPts val="0"/>
              </a:spcBef>
              <a:spcAft>
                <a:spcPts val="400"/>
              </a:spcAft>
              <a:buFont typeface="Arial" panose="020B0604020202020204" pitchFamily="34" charset="0"/>
              <a:buChar char="•"/>
              <a:tabLst>
                <a:tab pos="914400" algn="l"/>
              </a:tabLst>
            </a:pPr>
            <a:r>
              <a:rPr lang="en-CA" sz="1000" dirty="0">
                <a:latin typeface="Arial" panose="020B0604020202020204" pitchFamily="34" charset="0"/>
                <a:ea typeface="Calibri" panose="020F0502020204030204" pitchFamily="34" charset="0"/>
                <a:cs typeface="Segoe UI" panose="020B0502040204020203" pitchFamily="34" charset="0"/>
              </a:rPr>
              <a:t>Verify connectivity to the subnet containing the DHCP server. </a:t>
            </a:r>
          </a:p>
          <a:p>
            <a:pPr marL="628650" marR="0" lvl="1" indent="-171450">
              <a:lnSpc>
                <a:spcPct val="115000"/>
              </a:lnSpc>
              <a:spcBef>
                <a:spcPts val="0"/>
              </a:spcBef>
              <a:spcAft>
                <a:spcPts val="400"/>
              </a:spcAft>
              <a:buFont typeface="Arial" panose="020B0604020202020204" pitchFamily="34" charset="0"/>
              <a:buChar char="•"/>
              <a:tabLst>
                <a:tab pos="914400" algn="l"/>
              </a:tabLst>
            </a:pPr>
            <a:r>
              <a:rPr lang="en-CA" sz="1000" dirty="0">
                <a:latin typeface="Arial" panose="020B0604020202020204" pitchFamily="34" charset="0"/>
                <a:ea typeface="Calibri" panose="020F0502020204030204" pitchFamily="34" charset="0"/>
                <a:cs typeface="Segoe UI" panose="020B0502040204020203" pitchFamily="34" charset="0"/>
              </a:rPr>
              <a:t>Verify that there are sufficient addresses in the address pool.</a:t>
            </a:r>
          </a:p>
          <a:p>
            <a:pPr marL="171450" marR="0" lvl="0" indent="-171450">
              <a:lnSpc>
                <a:spcPct val="115000"/>
              </a:lnSpc>
              <a:spcBef>
                <a:spcPts val="0"/>
              </a:spcBef>
              <a:spcAft>
                <a:spcPts val="400"/>
              </a:spcAft>
              <a:buFont typeface="Arial" panose="020B0604020202020204" pitchFamily="34" charset="0"/>
              <a:buChar char="•"/>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Address obtained from incorrect scope: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628650" marR="0" lvl="1" indent="-171450">
              <a:lnSpc>
                <a:spcPct val="115000"/>
              </a:lnSpc>
              <a:spcBef>
                <a:spcPts val="0"/>
              </a:spcBef>
              <a:spcAft>
                <a:spcPts val="400"/>
              </a:spcAft>
              <a:buFont typeface="Arial" panose="020B0604020202020204" pitchFamily="34" charset="0"/>
              <a:buChar char="•"/>
              <a:tabLst>
                <a:tab pos="914400" algn="l"/>
              </a:tabLst>
            </a:pPr>
            <a:r>
              <a:rPr lang="en-CA" sz="1000" dirty="0">
                <a:latin typeface="Arial" panose="020B0604020202020204" pitchFamily="34" charset="0"/>
                <a:ea typeface="Calibri" panose="020F0502020204030204" pitchFamily="34" charset="0"/>
                <a:cs typeface="Segoe UI" panose="020B0502040204020203" pitchFamily="34" charset="0"/>
              </a:rPr>
              <a:t>Check other clients in the subnet for their configuration.</a:t>
            </a:r>
          </a:p>
          <a:p>
            <a:pPr marL="171450" marR="0" lvl="0" indent="-171450">
              <a:lnSpc>
                <a:spcPct val="115000"/>
              </a:lnSpc>
              <a:spcBef>
                <a:spcPts val="0"/>
              </a:spcBef>
              <a:spcAft>
                <a:spcPts val="400"/>
              </a:spcAft>
              <a:buFont typeface="Arial" panose="020B0604020202020204" pitchFamily="34" charset="0"/>
              <a:buChar char="•"/>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DHCP database suffers data corruption or loss: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628650" marR="0" lvl="1" indent="-171450">
              <a:lnSpc>
                <a:spcPct val="115000"/>
              </a:lnSpc>
              <a:spcBef>
                <a:spcPts val="0"/>
              </a:spcBef>
              <a:spcAft>
                <a:spcPts val="400"/>
              </a:spcAft>
              <a:buFont typeface="Arial" panose="020B0604020202020204" pitchFamily="34" charset="0"/>
              <a:buChar char="•"/>
              <a:tabLst>
                <a:tab pos="914400" algn="l"/>
              </a:tabLst>
            </a:pPr>
            <a:r>
              <a:rPr lang="en-CA" sz="1000" dirty="0">
                <a:latin typeface="Arial" panose="020B0604020202020204" pitchFamily="34" charset="0"/>
                <a:ea typeface="Calibri" panose="020F0502020204030204" pitchFamily="34" charset="0"/>
                <a:cs typeface="Segoe UI" panose="020B0502040204020203" pitchFamily="34" charset="0"/>
              </a:rPr>
              <a:t>Restore or recreate the DHCP database.</a:t>
            </a:r>
          </a:p>
          <a:p>
            <a:pPr marL="171450" lvl="0" indent="-171450">
              <a:lnSpc>
                <a:spcPct val="115000"/>
              </a:lnSpc>
              <a:spcAft>
                <a:spcPts val="400"/>
              </a:spcAft>
              <a:buFont typeface="Arial" panose="020B0604020202020204" pitchFamily="34" charset="0"/>
              <a:buChar char="•"/>
              <a:tabLst>
                <a:tab pos="457200" algn="l"/>
              </a:tabLs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DHCP server exhausts its IP address pool: </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628650" lvl="1" indent="-171450">
              <a:lnSpc>
                <a:spcPct val="115000"/>
              </a:lnSpc>
              <a:spcAft>
                <a:spcPts val="400"/>
              </a:spcAft>
              <a:buFont typeface="Arial" panose="020B0604020202020204" pitchFamily="34" charset="0"/>
              <a:buChar char="•"/>
              <a:tabLst>
                <a:tab pos="914400" algn="l"/>
              </a:tabLst>
            </a:pPr>
            <a:r>
              <a:rPr lang="en-CA" sz="1000" dirty="0">
                <a:latin typeface="Arial" panose="020B0604020202020204" pitchFamily="34" charset="0"/>
                <a:ea typeface="Calibri" panose="020F0502020204030204" pitchFamily="34" charset="0"/>
                <a:cs typeface="Segoe UI" panose="020B0502040204020203" pitchFamily="34" charset="0"/>
              </a:rPr>
              <a:t>Reduce the lease duration. </a:t>
            </a:r>
          </a:p>
          <a:p>
            <a:pPr marL="628650" lvl="1" indent="-171450">
              <a:lnSpc>
                <a:spcPct val="115000"/>
              </a:lnSpc>
              <a:spcAft>
                <a:spcPts val="400"/>
              </a:spcAft>
              <a:buFont typeface="Arial" panose="020B0604020202020204" pitchFamily="34" charset="0"/>
              <a:buChar char="•"/>
              <a:tabLst>
                <a:tab pos="914400" algn="l"/>
              </a:tabLst>
            </a:pPr>
            <a:r>
              <a:rPr lang="en-CA" sz="1000" dirty="0">
                <a:latin typeface="Arial" panose="020B0604020202020204" pitchFamily="34" charset="0"/>
                <a:ea typeface="Calibri" panose="020F0502020204030204" pitchFamily="34" charset="0"/>
                <a:cs typeface="Segoe UI" panose="020B0502040204020203" pitchFamily="34" charset="0"/>
              </a:rPr>
              <a:t>Consider redesigning the IP address pools.</a:t>
            </a:r>
          </a:p>
        </p:txBody>
      </p:sp>
      <p:sp>
        <p:nvSpPr>
          <p:cNvPr id="4" name="Slide Number Placeholder 3"/>
          <p:cNvSpPr>
            <a:spLocks noGrp="1"/>
          </p:cNvSpPr>
          <p:nvPr>
            <p:ph type="sldNum" sz="quarter" idx="10"/>
          </p:nvPr>
        </p:nvSpPr>
        <p:spPr/>
        <p:txBody>
          <a:bodyPr/>
          <a:lstStyle/>
          <a:p>
            <a:fld id="{3E924635-26AB-4A1B-8E76-E103976D4979}" type="slidenum">
              <a:rPr lang="en-CA" smtClean="0"/>
              <a:t>31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7461238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Before the students begin the lab, read the lab scenario and display the next slide. Before each exercise, read the scenario associated with the exercise to the class. The scenarios give context to the lab and exercises, and help to facilitate the discussion at the end of the lab. Remind students to complete the discussion questions after the last lab exercise.</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Exercise 1: Implementing DHCP</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As part of configuring the infrastructure for the new branch office, you need to configure a DHCP server that will provide IP addresses and configuration to client computers. Servers are configured with static IP addresses and usually do not use DHCP for obtaining IP addresses.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One of the client computers in the branch office needs to access an accounting app in the head office. The network team uses firewalls based on IP addresses to restrict access to this app. The network team has requested that you assign a static IP address to this client computer. Rather than configuring a static IP address on the client computer manually, you decide to create a reservation in DHCP for the client computer.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Exercise 2: Implementing a DHCP Relay Agent (Optional Exercise)</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To avoid configuring an addition DHCP server on the subnet, your manager has asked you to configure a DHCP relay agent for another subnet in your branch office.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32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25199151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3E924635-26AB-4A1B-8E76-E103976D4979}" type="slidenum">
              <a:rPr lang="en-CA" smtClean="0"/>
              <a:t>33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39513603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 Review Questions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What purpose does the DHCP scope have?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The DHCP scope defines what information is leased to DHCP clients through the DHCP process, such as the IP address, the subnet mask, the DNS server IP address, and the Default Gateway IP address.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How should you configure a computer to receive an IP address from the DHCP server?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should not have to do anything. The computer should be configured to obtain its IP address automatically.</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Why do you need MAC address for a DHCP server reservation?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The MAC address uniquely identifies a computer or any other network device, such as network printer. The DHCP reservation process needs to identify the computer or the network device through the MAC address, so it can lease an IP address to the computer or network device.</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What information do you need to configure on a DHCP relay agent?</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For a DHCP relay agent to provide IP addresses for subnets that have no DHCP server installed, you need to install DHCP relay agent protocol on a server that will act as a DHCP relay agent. In addition, you must configure the DHCP relay agent to contact the IP address of the DHCP server in another subnet, for purposes of leasing IP addresses to DHCP clients.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34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val="40723662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Module Review Questions</a:t>
            </a:r>
          </a:p>
          <a:p>
            <a:pPr>
              <a:lnSpc>
                <a:spcPct val="107000"/>
              </a:lnSpc>
              <a:spcAft>
                <a:spcPts val="800"/>
              </a:spcAft>
            </a:pPr>
            <a:r>
              <a:rPr lang="en-CA" sz="1000" dirty="0">
                <a:solidFill>
                  <a:srgbClr val="000000"/>
                </a:solidFill>
                <a:latin typeface="Arial" panose="020B0604020202020204" pitchFamily="34" charset="0"/>
                <a:ea typeface="Calibri" panose="020F0502020204030204" pitchFamily="34" charset="0"/>
                <a:cs typeface="Segoe UI" panose="020B0502040204020203" pitchFamily="34" charset="0"/>
              </a:rPr>
              <a:t>Point the students to the appropriate section in the course so that they are able to answer the questions that this section presents.</a:t>
            </a:r>
            <a:endParaRPr lang="en-CA" sz="1000" dirty="0"/>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have two subnets in your organization. You want to use DHCP to allocate addresses to client computers in both subnets, but you do not want to deploy two DHCP servers. What factors must you consider?</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Either </a:t>
            </a:r>
            <a:r>
              <a:rPr lang="en-CA" sz="1000" dirty="0" smtClean="0">
                <a:effectLst/>
                <a:latin typeface="Arial" panose="020B0604020202020204" pitchFamily="34" charset="0"/>
                <a:cs typeface="Times New Roman" panose="02020603050405020304" pitchFamily="18" charset="0"/>
              </a:rPr>
              <a:t>the router that interconnects the two subnets must support DHCP relaying, or you must place a DHCP relay agent on the subnet that does not host the DHCP server. Additionally, you should consider the impact on service availability in case the single DHCP server fails.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Your organization has grown, and your IPv4 scope is almost out of addresses. What should you do?</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Consider redesigning your IPv4 scope.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What information do you require to configure a DHCP reservation?</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require t</a:t>
            </a:r>
            <a:r>
              <a:rPr lang="en-CA" sz="1000" dirty="0" smtClean="0">
                <a:effectLst/>
                <a:latin typeface="Arial" panose="020B0604020202020204" pitchFamily="34" charset="0"/>
                <a:cs typeface="Segoe UI" panose="020B0502040204020203" pitchFamily="34" charset="0"/>
              </a:rPr>
              <a:t>he MAC address of the client that will lease the reservation.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Can you configure option 003 – Router as a Server-level DHCP scope option?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cs typeface="Segoe UI" panose="020B0502040204020203" pitchFamily="34" charset="0"/>
              </a:rPr>
              <a:t>Yes, but you should configure the option in each subnet. In a multi-subnet environment, all clients from the same subnet should obtain the same gateway setting.</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3E924635-26AB-4A1B-8E76-E103976D4979}" type="slidenum">
              <a:rPr lang="en-CA" smtClean="0"/>
              <a:t>35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p14="http://schemas.microsoft.com/office/powerpoint/2010/main" val="21370165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Best Practices</a:t>
            </a:r>
          </a:p>
          <a:p>
            <a:pPr>
              <a:lnSpc>
                <a:spcPct val="107000"/>
              </a:lnSpc>
              <a:spcAft>
                <a:spcPts val="800"/>
              </a:spcAft>
            </a:pPr>
            <a:r>
              <a:rPr lang="en-CA"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Discuss best practices and </a:t>
            </a:r>
            <a:r>
              <a:rPr lang="en-CA"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real-world </a:t>
            </a:r>
            <a:r>
              <a:rPr lang="en-CA"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scenarios with students, and ask for their experience with the topics </a:t>
            </a:r>
            <a:r>
              <a:rPr lang="en-CA"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shown.</a:t>
            </a:r>
            <a:endParaRPr lang="en-CA" sz="1000" dirty="0">
              <a:solidFill>
                <a:srgbClr val="000000"/>
              </a:solidFill>
              <a:latin typeface="Arial" panose="020B0604020202020204" pitchFamily="34" charset="0"/>
              <a:ea typeface="Times New Roman" panose="02020603050405020304" pitchFamily="18" charset="0"/>
              <a:cs typeface="Segoe UI" panose="020B0502040204020203" pitchFamily="34" charset="0"/>
            </a:endParaRPr>
          </a:p>
          <a:p>
            <a:pPr marL="234950" lvl="0" indent="-234950">
              <a:lnSpc>
                <a:spcPct val="107000"/>
              </a:lnSpc>
              <a:spcAft>
                <a:spcPts val="800"/>
              </a:spcAft>
            </a:pPr>
            <a:r>
              <a:rPr lang="en-CA" sz="1000" dirty="0" smtClean="0">
                <a:solidFill>
                  <a:prstClr val="black"/>
                </a:solidFill>
                <a:latin typeface="Arial" panose="020B0604020202020204" pitchFamily="34" charset="0"/>
                <a:ea typeface="Times New Roman" panose="02020603050405020304" pitchFamily="18" charset="0"/>
                <a:cs typeface="Segoe UI" panose="020B0502040204020203" pitchFamily="34" charset="0"/>
              </a:rPr>
              <a:t>The </a:t>
            </a:r>
            <a:r>
              <a:rPr lang="en-CA"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following are some best practices that </a:t>
            </a:r>
            <a:r>
              <a:rPr lang="en-CA" sz="1000" dirty="0" smtClean="0">
                <a:solidFill>
                  <a:prstClr val="black"/>
                </a:solidFill>
                <a:latin typeface="Arial" panose="020B0604020202020204" pitchFamily="34" charset="0"/>
                <a:ea typeface="Times New Roman" panose="02020603050405020304" pitchFamily="18" charset="0"/>
                <a:cs typeface="Segoe UI" panose="020B0502040204020203" pitchFamily="34" charset="0"/>
              </a:rPr>
              <a:t>students can </a:t>
            </a:r>
            <a:r>
              <a:rPr lang="en-CA"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follow:</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234950" lvl="0" indent="-234950">
              <a:lnSpc>
                <a:spcPct val="115000"/>
              </a:lnSpc>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Design your IP addressing scheme carefully so that it accommodates the requirements of both your current and future IT infrastructure.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234950" lvl="0" indent="-234950">
              <a:lnSpc>
                <a:spcPct val="115000"/>
              </a:lnSpc>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Determine which devices need DHCP reservations, such as network printers, network scanners, or IP-based cameras.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234950" indent="-234950">
              <a:lnSpc>
                <a:spcPct val="115000"/>
              </a:lnSpc>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Secure your network from unauthorized DHCP servers.</a:t>
            </a:r>
            <a:endParaRPr lang="en-CA" sz="1000" dirty="0">
              <a:solidFill>
                <a:srgbClr val="000000"/>
              </a:solidFill>
              <a:latin typeface="Arial" panose="020B0604020202020204" pitchFamily="34" charset="0"/>
              <a:ea typeface="Times New Roman" panose="02020603050405020304" pitchFamily="18" charset="0"/>
              <a:cs typeface="Segoe UI" panose="020B0502040204020203" pitchFamily="34" charset="0"/>
            </a:endParaRPr>
          </a:p>
          <a:p>
            <a:pPr marL="234950" indent="-234950">
              <a:lnSpc>
                <a:spcPct val="115000"/>
              </a:lnSpc>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Configure the DHCP database on highly available disk drive configurations, such as a redundant array of independent disks (RAID)‑5 or RAID‑1, to provide DHCP service availability in case of a disk failure.</a:t>
            </a:r>
            <a:endParaRPr lang="en-CA" sz="1000" dirty="0">
              <a:solidFill>
                <a:srgbClr val="000000"/>
              </a:solidFill>
              <a:latin typeface="Arial" panose="020B0604020202020204" pitchFamily="34" charset="0"/>
              <a:ea typeface="Times New Roman" panose="02020603050405020304" pitchFamily="18" charset="0"/>
              <a:cs typeface="Segoe UI" panose="020B0502040204020203" pitchFamily="34" charset="0"/>
            </a:endParaRPr>
          </a:p>
          <a:p>
            <a:pPr marL="234950" indent="-234950">
              <a:lnSpc>
                <a:spcPct val="115000"/>
              </a:lnSpc>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Back up the DHCP database regularly. Test the restore procedure in an isolated, non‑production environment.</a:t>
            </a:r>
            <a:endParaRPr lang="en-CA" sz="1000" dirty="0">
              <a:solidFill>
                <a:srgbClr val="000000"/>
              </a:solidFill>
              <a:latin typeface="Arial" panose="020B0604020202020204" pitchFamily="34" charset="0"/>
              <a:ea typeface="Times New Roman" panose="02020603050405020304" pitchFamily="18" charset="0"/>
              <a:cs typeface="Segoe UI" panose="020B0502040204020203" pitchFamily="34" charset="0"/>
            </a:endParaRPr>
          </a:p>
          <a:p>
            <a:pPr marL="234950" indent="-234950">
              <a:lnSpc>
                <a:spcPct val="115000"/>
              </a:lnSpc>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Monitor the system utilization of DHCP servers. Upgrade the DHCP server hardware if necessary to provide better service performance.</a:t>
            </a:r>
            <a:endParaRPr lang="en-CA" sz="1000" dirty="0">
              <a:solidFill>
                <a:srgbClr val="000000"/>
              </a:solidFill>
              <a:latin typeface="Arial" panose="020B0604020202020204" pitchFamily="34" charset="0"/>
              <a:ea typeface="Times New Roman" panose="02020603050405020304" pitchFamily="18" charset="0"/>
              <a:cs typeface="Segoe UI" panose="020B0502040204020203" pitchFamily="34" charset="0"/>
            </a:endParaRPr>
          </a:p>
          <a:p>
            <a:pPr marL="234950" lvl="0" indent="-234950">
              <a:lnSpc>
                <a:spcPct val="107000"/>
              </a:lnSpc>
              <a:spcAft>
                <a:spcPts val="800"/>
              </a:spcAft>
              <a:buAutoNum type="arabicPeriod" startAt="2"/>
            </a:pPr>
            <a:endParaRPr lang="en-US" sz="1000" dirty="0">
              <a:solidFill>
                <a:srgbClr val="000000"/>
              </a:solidFill>
              <a:latin typeface="Arial" panose="020B0604020202020204" pitchFamily="34" charset="0"/>
              <a:cs typeface="Segoe UI" panose="020B0502040204020203" pitchFamily="34" charset="0"/>
            </a:endParaRPr>
          </a:p>
          <a:p>
            <a:pPr lvl="0">
              <a:lnSpc>
                <a:spcPct val="115000"/>
              </a:lnSpc>
              <a:spcAft>
                <a:spcPts val="995"/>
              </a:spcAft>
            </a:pPr>
            <a:r>
              <a:rPr lang="en-US" sz="1000" b="1" dirty="0" smtClean="0">
                <a:solidFill>
                  <a:srgbClr val="000000"/>
                </a:solidFill>
                <a:latin typeface="Arial" panose="020B0604020202020204" pitchFamily="34" charset="0"/>
                <a:cs typeface="Segoe UI" panose="020B0502040204020203" pitchFamily="34" charset="0"/>
              </a:rPr>
              <a:t>Tools</a:t>
            </a:r>
            <a:endParaRPr lang="en-CA" b="1" dirty="0"/>
          </a:p>
        </p:txBody>
      </p:sp>
      <p:sp>
        <p:nvSpPr>
          <p:cNvPr id="4" name="Slide Number Placeholder 3"/>
          <p:cNvSpPr>
            <a:spLocks noGrp="1"/>
          </p:cNvSpPr>
          <p:nvPr>
            <p:ph type="sldNum" sz="quarter" idx="10"/>
          </p:nvPr>
        </p:nvSpPr>
        <p:spPr/>
        <p:txBody>
          <a:bodyPr/>
          <a:lstStyle/>
          <a:p>
            <a:fld id="{3E924635-26AB-4A1B-8E76-E103976D4979}" type="slidenum">
              <a:rPr lang="en-CA" smtClean="0"/>
              <a:t>36</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6: Implementing Dynamic Host Configuration Protocol</a:t>
            </a:r>
            <a:endParaRPr lang="en-CA" sz="1200" b="1" dirty="0">
              <a:solidFill>
                <a:srgbClr val="336699"/>
              </a:solidFill>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685687734"/>
              </p:ext>
            </p:extLst>
          </p:nvPr>
        </p:nvGraphicFramePr>
        <p:xfrm>
          <a:off x="400801" y="6409866"/>
          <a:ext cx="5558155" cy="2124534"/>
        </p:xfrm>
        <a:graphic>
          <a:graphicData uri="http://schemas.openxmlformats.org/drawingml/2006/table">
            <a:tbl>
              <a:tblPr firstRow="1" firstCol="1" lastRow="1" lastCol="1" bandRow="1" bandCol="1">
                <a:tableStyleId>{5940675A-B579-460E-94D1-54222C63F5DA}</a:tableStyleId>
              </a:tblPr>
              <a:tblGrid>
                <a:gridCol w="1104900"/>
                <a:gridCol w="3028950"/>
                <a:gridCol w="1424305"/>
              </a:tblGrid>
              <a:tr h="252395">
                <a:tc>
                  <a:txBody>
                    <a:bodyPr/>
                    <a:lstStyle/>
                    <a:p>
                      <a:pPr marL="0" marR="0">
                        <a:lnSpc>
                          <a:spcPct val="115000"/>
                        </a:lnSpc>
                        <a:spcBef>
                          <a:spcPts val="0"/>
                        </a:spcBef>
                        <a:spcAft>
                          <a:spcPts val="1000"/>
                        </a:spcAft>
                      </a:pPr>
                      <a:r>
                        <a:rPr lang="en-US" sz="1000" b="1" dirty="0">
                          <a:effectLst/>
                          <a:latin typeface="Arial" panose="020B0604020202020204" pitchFamily="34" charset="0"/>
                          <a:cs typeface="Arial" panose="020B0604020202020204" pitchFamily="34" charset="0"/>
                        </a:rPr>
                        <a:t>Tool</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nchor="b"/>
                </a:tc>
                <a:tc>
                  <a:txBody>
                    <a:bodyPr/>
                    <a:lstStyle/>
                    <a:p>
                      <a:pPr marL="0" marR="0">
                        <a:lnSpc>
                          <a:spcPct val="115000"/>
                        </a:lnSpc>
                        <a:spcBef>
                          <a:spcPts val="0"/>
                        </a:spcBef>
                        <a:spcAft>
                          <a:spcPts val="1000"/>
                        </a:spcAft>
                      </a:pPr>
                      <a:r>
                        <a:rPr lang="en-US" sz="1000" b="1" dirty="0">
                          <a:effectLst/>
                          <a:latin typeface="Arial" panose="020B0604020202020204" pitchFamily="34" charset="0"/>
                          <a:cs typeface="Arial" panose="020B0604020202020204" pitchFamily="34" charset="0"/>
                        </a:rPr>
                        <a:t>Use for</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nchor="b"/>
                </a:tc>
                <a:tc>
                  <a:txBody>
                    <a:bodyPr/>
                    <a:lstStyle/>
                    <a:p>
                      <a:pPr marL="0" marR="0">
                        <a:lnSpc>
                          <a:spcPct val="115000"/>
                        </a:lnSpc>
                        <a:spcBef>
                          <a:spcPts val="0"/>
                        </a:spcBef>
                        <a:spcAft>
                          <a:spcPts val="1000"/>
                        </a:spcAft>
                      </a:pPr>
                      <a:r>
                        <a:rPr lang="en-US" sz="1000" b="1" dirty="0">
                          <a:effectLst/>
                          <a:latin typeface="Arial" panose="020B0604020202020204" pitchFamily="34" charset="0"/>
                          <a:cs typeface="Arial" panose="020B0604020202020204" pitchFamily="34" charset="0"/>
                        </a:rPr>
                        <a:t>Where to find it</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nchor="b"/>
                </a:tc>
              </a:tr>
              <a:tr h="252395">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DHCP</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Graphical User Interface for managing DHCP Server</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Server Manager</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r>
              <a:tr h="455783">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Windows PowerShell</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Command-line interface for managing DHCP Server</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Windows taskbar on the desktop</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r>
              <a:tr h="252395">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Ipconfig.exe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Managing and troubleshooting client IP settings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Command line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r>
              <a:tr h="455783">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Netsh.exe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Configuring both client and server‑side IP settings, including those for DHCP server role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Command line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r>
              <a:tr h="455783">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Regedit.exe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Editing and fine‑tuning settings, including those for the DHCP server role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c>
                  <a:txBody>
                    <a:bodyPr/>
                    <a:lstStyle/>
                    <a:p>
                      <a:pPr marL="0" marR="0">
                        <a:lnSpc>
                          <a:spcPct val="115000"/>
                        </a:lnSpc>
                        <a:spcBef>
                          <a:spcPts val="0"/>
                        </a:spcBef>
                        <a:spcAft>
                          <a:spcPts val="1000"/>
                        </a:spcAft>
                      </a:pPr>
                      <a:r>
                        <a:rPr lang="en-US" sz="1000" dirty="0">
                          <a:effectLst/>
                          <a:latin typeface="Arial" panose="020B0604020202020204" pitchFamily="34" charset="0"/>
                          <a:cs typeface="Arial" panose="020B0604020202020204" pitchFamily="34" charset="0"/>
                        </a:rPr>
                        <a:t>Windows interface or Command line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38100" marR="38100" marT="38100" marB="19050"/>
                </a:tc>
              </a:tr>
            </a:tbl>
          </a:graphicData>
        </a:graphic>
      </p:graphicFrame>
    </p:spTree>
    <p:extLst>
      <p:ext uri="{BB962C8B-B14F-4D97-AF65-F5344CB8AC3E}">
        <p14:creationId xmlns:p14="http://schemas.microsoft.com/office/powerpoint/2010/main" val="410223785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4.xml"/><Relationship Id="rId4" Type="http://schemas.openxmlformats.org/officeDocument/2006/relationships/image" Target="../media/image2.jpeg"/></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5.xml"/><Relationship Id="rId4" Type="http://schemas.openxmlformats.org/officeDocument/2006/relationships/image" Target="../media/image2.jpeg"/></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6.xml"/><Relationship Id="rId4" Type="http://schemas.openxmlformats.org/officeDocument/2006/relationships/image" Target="../media/image2.jpeg"/></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7.xml"/><Relationship Id="rId4" Type="http://schemas.openxmlformats.org/officeDocument/2006/relationships/image" Target="../media/image2.jpeg"/></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8.xml"/><Relationship Id="rId4" Type="http://schemas.openxmlformats.org/officeDocument/2006/relationships/image" Target="../media/image2.jpeg"/></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9.xml"/><Relationship Id="rId4" Type="http://schemas.openxmlformats.org/officeDocument/2006/relationships/image" Target="../media/image2.jpeg"/></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0.xml"/><Relationship Id="rId4" Type="http://schemas.openxmlformats.org/officeDocument/2006/relationships/image" Target="../media/image2.jpeg"/></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97207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92050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54944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7492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23396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96708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6600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1644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33539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49134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51721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576523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59679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15593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85477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49718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72556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50646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059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5708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3243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254655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281978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2674979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983227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233680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539289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049616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372638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378539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09450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952244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782287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273878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277976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0313241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06674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86942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56873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3804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062912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354401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7815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355853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321448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258498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439761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922858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815988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61571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97809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429937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139420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2571967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617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490232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238258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3074888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602572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36214319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1292866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715191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294131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2111512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076729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384757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98756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3127478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9776741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9082320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0923471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9845566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1846591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805506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5151162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5652678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921659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14979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60817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49856092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613298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0456544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3148177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23436390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5031243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1968241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044351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6265600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3757972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3446567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96870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3937368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4983768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2757903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8944320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482040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82965721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3836683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0474717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6321229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9398233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0531198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709795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1223659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7165119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695295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4158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29879030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066757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1012648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05886405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053996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6151304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4104740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57219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7363387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7365333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0615981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8541558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96648058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0787380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4163279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89077809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2778437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986778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5296339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375668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7170034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7466439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009274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3092576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94624294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8485806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9679946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628157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439474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9404389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5852230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212647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0808464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9782189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4514843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2288790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06893022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77455207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98440427"/>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6429000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4903194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4335844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08311627"/>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348094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2816818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9699307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4936738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0454240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31271215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99317071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429948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084601"/>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4710708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4134227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078069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972090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9021932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8790711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1826287"/>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4893446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9034106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08856117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66543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2611585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4868661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6449427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4507450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266774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3591853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2416450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04105318"/>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6360597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8597123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815520247"/>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2168708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54512316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6861066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2954604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17385114"/>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18677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76701639"/>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39581584"/>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7193572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808568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734234726"/>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0848300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23909859"/>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193079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72402413"/>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584346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46156562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3286065"/>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7211106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62661844"/>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5986237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63658694"/>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03584314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58227266"/>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12434231"/>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3037919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84216004"/>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54556455"/>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5955968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1640992"/>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41335738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04289527"/>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4312938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9085998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81553592"/>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834377772"/>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2521456"/>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9632086"/>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5375212"/>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580554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633055652"/>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4998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802997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0210334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24386297"/>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8211303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44732990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892936968"/>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30568443"/>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61013362"/>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21830341"/>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26457480"/>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46737413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182192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7462263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7446571"/>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76904807"/>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591163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724289702"/>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53330406"/>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67083409"/>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7427047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26098458"/>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69680277"/>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53255061"/>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952271"/>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245683"/>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26221078"/>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6790627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17313699"/>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116863622"/>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838051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8457662"/>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52760623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22058890"/>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95384167"/>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1471246"/>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142068"/>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66579475"/>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16216166"/>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30056724"/>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81578444"/>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150823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503160015"/>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5431585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73322971"/>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046011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86454581"/>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674376753"/>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6390314"/>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53524047"/>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46009610"/>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91414103"/>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15132048"/>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1713463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511596939"/>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95008869"/>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86946259"/>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74482125"/>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34399988"/>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31098726"/>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835570"/>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59430224"/>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94622679"/>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97665062"/>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71187138"/>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62898004"/>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810342638"/>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51653860"/>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90226855"/>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39445185"/>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26270039"/>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59131598"/>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412962"/>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033545278"/>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43552661"/>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67988085"/>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36334436"/>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449867138"/>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540153295"/>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70083379"/>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860227511"/>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07665124"/>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68859413"/>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05163213"/>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307509"/>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74194973"/>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49740505"/>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55164187"/>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11527099"/>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065186488"/>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16906355"/>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0198566"/>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33085192"/>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9932333"/>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69583250"/>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48290089"/>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798760"/>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25666999"/>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19511558"/>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8451329"/>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73230597"/>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315755151"/>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418198492"/>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20691523"/>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32446887"/>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27994340"/>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17352662"/>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9796693"/>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2782036"/>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23741325"/>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96320915"/>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83577560"/>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7093219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758004716"/>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45960847"/>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90356920"/>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265606465"/>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53685266"/>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22196533"/>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2327905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993891"/>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37615085"/>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71009301"/>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62604244"/>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09675702"/>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682689163"/>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25046207"/>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34347480"/>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60830991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26443585"/>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06864828"/>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16271180"/>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814941"/>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49230024"/>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15808858"/>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41400523"/>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69906498"/>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83517984"/>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41539843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61511196"/>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06892573"/>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04268908"/>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7593955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47384177"/>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5903482"/>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3059707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80773660"/>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37969708"/>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80207818"/>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736101981"/>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05886044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56913715"/>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355608101"/>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39230989"/>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86753263"/>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09265120"/>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9650495"/>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9036200"/>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17917669"/>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48461485"/>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70152926"/>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333971744"/>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31830730"/>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97840054"/>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5006181"/>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88419012"/>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790296275"/>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5347737"/>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05447770"/>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3914123"/>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35641466"/>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22674009"/>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06991563"/>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06288957"/>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40193189"/>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123786147"/>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57187834"/>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90652888"/>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48417527"/>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3033583"/>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86973780"/>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98574289"/>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62384163"/>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93191103"/>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034638430"/>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581666660"/>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66937391"/>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64480735"/>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94325750"/>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44216019"/>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815601849"/>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573462"/>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41586213"/>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7385398"/>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87303260"/>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19803624"/>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235751825"/>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76085686"/>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52909353"/>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44860940"/>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75577279"/>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33617427"/>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82942317"/>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6386763"/>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007974397"/>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30190728"/>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44874417"/>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22127932"/>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222712994"/>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8774660"/>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5241616"/>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99119455"/>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36905795"/>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81462166"/>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57758514"/>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24389128"/>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87552795"/>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00500079"/>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00059368"/>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10201028"/>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39611085"/>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44515077"/>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30737141"/>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17162219"/>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19020030"/>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85711556"/>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4159586"/>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39894389"/>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48924582"/>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16299320"/>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19978085"/>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87774910"/>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56538940"/>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083513278"/>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00767259"/>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57758557"/>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36205233"/>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424979"/>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33127926"/>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00964308"/>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44184466"/>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56152923"/>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184645649"/>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59481944"/>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37628826"/>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82790857"/>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07915327"/>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30688100"/>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04175322"/>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708756"/>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80752115"/>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40280279"/>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52990657"/>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92524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13" Type="http://schemas.openxmlformats.org/officeDocument/2006/relationships/theme" Target="../theme/theme26.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slideLayout" Target="../slideLayouts/slideLayout312.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theme" Target="../theme/theme27.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theme" Target="../theme/theme28.xml"/><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slideLayout" Target="../slideLayouts/slideLayout336.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4.xml"/><Relationship Id="rId13" Type="http://schemas.openxmlformats.org/officeDocument/2006/relationships/theme" Target="../theme/theme29.xml"/><Relationship Id="rId3" Type="http://schemas.openxmlformats.org/officeDocument/2006/relationships/slideLayout" Target="../slideLayouts/slideLayout339.xml"/><Relationship Id="rId7" Type="http://schemas.openxmlformats.org/officeDocument/2006/relationships/slideLayout" Target="../slideLayouts/slideLayout343.xml"/><Relationship Id="rId12" Type="http://schemas.openxmlformats.org/officeDocument/2006/relationships/slideLayout" Target="../slideLayouts/slideLayout348.xml"/><Relationship Id="rId2" Type="http://schemas.openxmlformats.org/officeDocument/2006/relationships/slideLayout" Target="../slideLayouts/slideLayout338.xml"/><Relationship Id="rId1" Type="http://schemas.openxmlformats.org/officeDocument/2006/relationships/slideLayout" Target="../slideLayouts/slideLayout337.xml"/><Relationship Id="rId6" Type="http://schemas.openxmlformats.org/officeDocument/2006/relationships/slideLayout" Target="../slideLayouts/slideLayout342.xml"/><Relationship Id="rId11" Type="http://schemas.openxmlformats.org/officeDocument/2006/relationships/slideLayout" Target="../slideLayouts/slideLayout347.xml"/><Relationship Id="rId5" Type="http://schemas.openxmlformats.org/officeDocument/2006/relationships/slideLayout" Target="../slideLayouts/slideLayout341.xml"/><Relationship Id="rId10" Type="http://schemas.openxmlformats.org/officeDocument/2006/relationships/slideLayout" Target="../slideLayouts/slideLayout346.xml"/><Relationship Id="rId4" Type="http://schemas.openxmlformats.org/officeDocument/2006/relationships/slideLayout" Target="../slideLayouts/slideLayout340.xml"/><Relationship Id="rId9" Type="http://schemas.openxmlformats.org/officeDocument/2006/relationships/slideLayout" Target="../slideLayouts/slideLayout345.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6.xml"/><Relationship Id="rId13" Type="http://schemas.openxmlformats.org/officeDocument/2006/relationships/theme" Target="../theme/theme30.xml"/><Relationship Id="rId3" Type="http://schemas.openxmlformats.org/officeDocument/2006/relationships/slideLayout" Target="../slideLayouts/slideLayout351.xml"/><Relationship Id="rId7" Type="http://schemas.openxmlformats.org/officeDocument/2006/relationships/slideLayout" Target="../slideLayouts/slideLayout355.xml"/><Relationship Id="rId12" Type="http://schemas.openxmlformats.org/officeDocument/2006/relationships/slideLayout" Target="../slideLayouts/slideLayout360.xml"/><Relationship Id="rId2" Type="http://schemas.openxmlformats.org/officeDocument/2006/relationships/slideLayout" Target="../slideLayouts/slideLayout350.xml"/><Relationship Id="rId1" Type="http://schemas.openxmlformats.org/officeDocument/2006/relationships/slideLayout" Target="../slideLayouts/slideLayout349.xml"/><Relationship Id="rId6" Type="http://schemas.openxmlformats.org/officeDocument/2006/relationships/slideLayout" Target="../slideLayouts/slideLayout354.xml"/><Relationship Id="rId11" Type="http://schemas.openxmlformats.org/officeDocument/2006/relationships/slideLayout" Target="../slideLayouts/slideLayout359.xml"/><Relationship Id="rId5" Type="http://schemas.openxmlformats.org/officeDocument/2006/relationships/slideLayout" Target="../slideLayouts/slideLayout353.xml"/><Relationship Id="rId10" Type="http://schemas.openxmlformats.org/officeDocument/2006/relationships/slideLayout" Target="../slideLayouts/slideLayout358.xml"/><Relationship Id="rId4" Type="http://schemas.openxmlformats.org/officeDocument/2006/relationships/slideLayout" Target="../slideLayouts/slideLayout352.xml"/><Relationship Id="rId9" Type="http://schemas.openxmlformats.org/officeDocument/2006/relationships/slideLayout" Target="../slideLayouts/slideLayout357.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8.xml"/><Relationship Id="rId13" Type="http://schemas.openxmlformats.org/officeDocument/2006/relationships/theme" Target="../theme/theme31.xml"/><Relationship Id="rId3" Type="http://schemas.openxmlformats.org/officeDocument/2006/relationships/slideLayout" Target="../slideLayouts/slideLayout363.xml"/><Relationship Id="rId7" Type="http://schemas.openxmlformats.org/officeDocument/2006/relationships/slideLayout" Target="../slideLayouts/slideLayout367.xml"/><Relationship Id="rId12" Type="http://schemas.openxmlformats.org/officeDocument/2006/relationships/slideLayout" Target="../slideLayouts/slideLayout372.xml"/><Relationship Id="rId2" Type="http://schemas.openxmlformats.org/officeDocument/2006/relationships/slideLayout" Target="../slideLayouts/slideLayout362.xml"/><Relationship Id="rId1" Type="http://schemas.openxmlformats.org/officeDocument/2006/relationships/slideLayout" Target="../slideLayouts/slideLayout361.xml"/><Relationship Id="rId6" Type="http://schemas.openxmlformats.org/officeDocument/2006/relationships/slideLayout" Target="../slideLayouts/slideLayout366.xml"/><Relationship Id="rId11" Type="http://schemas.openxmlformats.org/officeDocument/2006/relationships/slideLayout" Target="../slideLayouts/slideLayout371.xml"/><Relationship Id="rId5" Type="http://schemas.openxmlformats.org/officeDocument/2006/relationships/slideLayout" Target="../slideLayouts/slideLayout365.xml"/><Relationship Id="rId10" Type="http://schemas.openxmlformats.org/officeDocument/2006/relationships/slideLayout" Target="../slideLayouts/slideLayout370.xml"/><Relationship Id="rId4" Type="http://schemas.openxmlformats.org/officeDocument/2006/relationships/slideLayout" Target="../slideLayouts/slideLayout364.xml"/><Relationship Id="rId9" Type="http://schemas.openxmlformats.org/officeDocument/2006/relationships/slideLayout" Target="../slideLayouts/slideLayout36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80.xml"/><Relationship Id="rId3" Type="http://schemas.openxmlformats.org/officeDocument/2006/relationships/slideLayout" Target="../slideLayouts/slideLayout375.xml"/><Relationship Id="rId7" Type="http://schemas.openxmlformats.org/officeDocument/2006/relationships/slideLayout" Target="../slideLayouts/slideLayout379.xml"/><Relationship Id="rId12" Type="http://schemas.openxmlformats.org/officeDocument/2006/relationships/theme" Target="../theme/theme32.xml"/><Relationship Id="rId2" Type="http://schemas.openxmlformats.org/officeDocument/2006/relationships/slideLayout" Target="../slideLayouts/slideLayout374.xml"/><Relationship Id="rId1" Type="http://schemas.openxmlformats.org/officeDocument/2006/relationships/slideLayout" Target="../slideLayouts/slideLayout373.xml"/><Relationship Id="rId6" Type="http://schemas.openxmlformats.org/officeDocument/2006/relationships/slideLayout" Target="../slideLayouts/slideLayout378.xml"/><Relationship Id="rId11" Type="http://schemas.openxmlformats.org/officeDocument/2006/relationships/slideLayout" Target="../slideLayouts/slideLayout383.xml"/><Relationship Id="rId5" Type="http://schemas.openxmlformats.org/officeDocument/2006/relationships/slideLayout" Target="../slideLayouts/slideLayout377.xml"/><Relationship Id="rId10" Type="http://schemas.openxmlformats.org/officeDocument/2006/relationships/slideLayout" Target="../slideLayouts/slideLayout382.xml"/><Relationship Id="rId4" Type="http://schemas.openxmlformats.org/officeDocument/2006/relationships/slideLayout" Target="../slideLayouts/slideLayout376.xml"/><Relationship Id="rId9" Type="http://schemas.openxmlformats.org/officeDocument/2006/relationships/slideLayout" Target="../slideLayouts/slideLayout381.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1.xml"/><Relationship Id="rId13" Type="http://schemas.openxmlformats.org/officeDocument/2006/relationships/theme" Target="../theme/theme33.xml"/><Relationship Id="rId3" Type="http://schemas.openxmlformats.org/officeDocument/2006/relationships/slideLayout" Target="../slideLayouts/slideLayout386.xml"/><Relationship Id="rId7" Type="http://schemas.openxmlformats.org/officeDocument/2006/relationships/slideLayout" Target="../slideLayouts/slideLayout390.xml"/><Relationship Id="rId12" Type="http://schemas.openxmlformats.org/officeDocument/2006/relationships/slideLayout" Target="../slideLayouts/slideLayout395.xml"/><Relationship Id="rId2" Type="http://schemas.openxmlformats.org/officeDocument/2006/relationships/slideLayout" Target="../slideLayouts/slideLayout385.xml"/><Relationship Id="rId1" Type="http://schemas.openxmlformats.org/officeDocument/2006/relationships/slideLayout" Target="../slideLayouts/slideLayout384.xml"/><Relationship Id="rId6" Type="http://schemas.openxmlformats.org/officeDocument/2006/relationships/slideLayout" Target="../slideLayouts/slideLayout389.xml"/><Relationship Id="rId11" Type="http://schemas.openxmlformats.org/officeDocument/2006/relationships/slideLayout" Target="../slideLayouts/slideLayout394.xml"/><Relationship Id="rId5" Type="http://schemas.openxmlformats.org/officeDocument/2006/relationships/slideLayout" Target="../slideLayouts/slideLayout388.xml"/><Relationship Id="rId10" Type="http://schemas.openxmlformats.org/officeDocument/2006/relationships/slideLayout" Target="../slideLayouts/slideLayout393.xml"/><Relationship Id="rId4" Type="http://schemas.openxmlformats.org/officeDocument/2006/relationships/slideLayout" Target="../slideLayouts/slideLayout387.xml"/><Relationship Id="rId9" Type="http://schemas.openxmlformats.org/officeDocument/2006/relationships/slideLayout" Target="../slideLayouts/slideLayout392.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03.xml"/><Relationship Id="rId13" Type="http://schemas.openxmlformats.org/officeDocument/2006/relationships/theme" Target="../theme/theme34.xml"/><Relationship Id="rId3" Type="http://schemas.openxmlformats.org/officeDocument/2006/relationships/slideLayout" Target="../slideLayouts/slideLayout398.xml"/><Relationship Id="rId7" Type="http://schemas.openxmlformats.org/officeDocument/2006/relationships/slideLayout" Target="../slideLayouts/slideLayout402.xml"/><Relationship Id="rId12" Type="http://schemas.openxmlformats.org/officeDocument/2006/relationships/slideLayout" Target="../slideLayouts/slideLayout407.xml"/><Relationship Id="rId2" Type="http://schemas.openxmlformats.org/officeDocument/2006/relationships/slideLayout" Target="../slideLayouts/slideLayout397.xml"/><Relationship Id="rId1" Type="http://schemas.openxmlformats.org/officeDocument/2006/relationships/slideLayout" Target="../slideLayouts/slideLayout396.xml"/><Relationship Id="rId6" Type="http://schemas.openxmlformats.org/officeDocument/2006/relationships/slideLayout" Target="../slideLayouts/slideLayout401.xml"/><Relationship Id="rId11" Type="http://schemas.openxmlformats.org/officeDocument/2006/relationships/slideLayout" Target="../slideLayouts/slideLayout406.xml"/><Relationship Id="rId5" Type="http://schemas.openxmlformats.org/officeDocument/2006/relationships/slideLayout" Target="../slideLayouts/slideLayout400.xml"/><Relationship Id="rId10" Type="http://schemas.openxmlformats.org/officeDocument/2006/relationships/slideLayout" Target="../slideLayouts/slideLayout405.xml"/><Relationship Id="rId4" Type="http://schemas.openxmlformats.org/officeDocument/2006/relationships/slideLayout" Target="../slideLayouts/slideLayout399.xml"/><Relationship Id="rId9" Type="http://schemas.openxmlformats.org/officeDocument/2006/relationships/slideLayout" Target="../slideLayouts/slideLayout404.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15.xml"/><Relationship Id="rId13" Type="http://schemas.openxmlformats.org/officeDocument/2006/relationships/theme" Target="../theme/theme35.xml"/><Relationship Id="rId3" Type="http://schemas.openxmlformats.org/officeDocument/2006/relationships/slideLayout" Target="../slideLayouts/slideLayout410.xml"/><Relationship Id="rId7" Type="http://schemas.openxmlformats.org/officeDocument/2006/relationships/slideLayout" Target="../slideLayouts/slideLayout414.xml"/><Relationship Id="rId12" Type="http://schemas.openxmlformats.org/officeDocument/2006/relationships/slideLayout" Target="../slideLayouts/slideLayout419.xml"/><Relationship Id="rId2" Type="http://schemas.openxmlformats.org/officeDocument/2006/relationships/slideLayout" Target="../slideLayouts/slideLayout409.xml"/><Relationship Id="rId1" Type="http://schemas.openxmlformats.org/officeDocument/2006/relationships/slideLayout" Target="../slideLayouts/slideLayout408.xml"/><Relationship Id="rId6" Type="http://schemas.openxmlformats.org/officeDocument/2006/relationships/slideLayout" Target="../slideLayouts/slideLayout413.xml"/><Relationship Id="rId11" Type="http://schemas.openxmlformats.org/officeDocument/2006/relationships/slideLayout" Target="../slideLayouts/slideLayout418.xml"/><Relationship Id="rId5" Type="http://schemas.openxmlformats.org/officeDocument/2006/relationships/slideLayout" Target="../slideLayouts/slideLayout412.xml"/><Relationship Id="rId10" Type="http://schemas.openxmlformats.org/officeDocument/2006/relationships/slideLayout" Target="../slideLayouts/slideLayout417.xml"/><Relationship Id="rId4" Type="http://schemas.openxmlformats.org/officeDocument/2006/relationships/slideLayout" Target="../slideLayouts/slideLayout411.xml"/><Relationship Id="rId9" Type="http://schemas.openxmlformats.org/officeDocument/2006/relationships/slideLayout" Target="../slideLayouts/slideLayout416.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27.xml"/><Relationship Id="rId13" Type="http://schemas.openxmlformats.org/officeDocument/2006/relationships/theme" Target="../theme/theme36.xml"/><Relationship Id="rId3" Type="http://schemas.openxmlformats.org/officeDocument/2006/relationships/slideLayout" Target="../slideLayouts/slideLayout422.xml"/><Relationship Id="rId7" Type="http://schemas.openxmlformats.org/officeDocument/2006/relationships/slideLayout" Target="../slideLayouts/slideLayout426.xml"/><Relationship Id="rId12" Type="http://schemas.openxmlformats.org/officeDocument/2006/relationships/slideLayout" Target="../slideLayouts/slideLayout431.xml"/><Relationship Id="rId2" Type="http://schemas.openxmlformats.org/officeDocument/2006/relationships/slideLayout" Target="../slideLayouts/slideLayout421.xml"/><Relationship Id="rId1" Type="http://schemas.openxmlformats.org/officeDocument/2006/relationships/slideLayout" Target="../slideLayouts/slideLayout420.xml"/><Relationship Id="rId6" Type="http://schemas.openxmlformats.org/officeDocument/2006/relationships/slideLayout" Target="../slideLayouts/slideLayout425.xml"/><Relationship Id="rId11" Type="http://schemas.openxmlformats.org/officeDocument/2006/relationships/slideLayout" Target="../slideLayouts/slideLayout430.xml"/><Relationship Id="rId5" Type="http://schemas.openxmlformats.org/officeDocument/2006/relationships/slideLayout" Target="../slideLayouts/slideLayout424.xml"/><Relationship Id="rId10" Type="http://schemas.openxmlformats.org/officeDocument/2006/relationships/slideLayout" Target="../slideLayouts/slideLayout429.xml"/><Relationship Id="rId4" Type="http://schemas.openxmlformats.org/officeDocument/2006/relationships/slideLayout" Target="../slideLayouts/slideLayout423.xml"/><Relationship Id="rId9" Type="http://schemas.openxmlformats.org/officeDocument/2006/relationships/slideLayout" Target="../slideLayouts/slideLayout428.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39.xml"/><Relationship Id="rId3" Type="http://schemas.openxmlformats.org/officeDocument/2006/relationships/slideLayout" Target="../slideLayouts/slideLayout434.xml"/><Relationship Id="rId7" Type="http://schemas.openxmlformats.org/officeDocument/2006/relationships/slideLayout" Target="../slideLayouts/slideLayout438.xml"/><Relationship Id="rId12" Type="http://schemas.openxmlformats.org/officeDocument/2006/relationships/theme" Target="../theme/theme37.xml"/><Relationship Id="rId2" Type="http://schemas.openxmlformats.org/officeDocument/2006/relationships/slideLayout" Target="../slideLayouts/slideLayout433.xml"/><Relationship Id="rId1" Type="http://schemas.openxmlformats.org/officeDocument/2006/relationships/slideLayout" Target="../slideLayouts/slideLayout432.xml"/><Relationship Id="rId6" Type="http://schemas.openxmlformats.org/officeDocument/2006/relationships/slideLayout" Target="../slideLayouts/slideLayout437.xml"/><Relationship Id="rId11" Type="http://schemas.openxmlformats.org/officeDocument/2006/relationships/slideLayout" Target="../slideLayouts/slideLayout442.xml"/><Relationship Id="rId5" Type="http://schemas.openxmlformats.org/officeDocument/2006/relationships/slideLayout" Target="../slideLayouts/slideLayout436.xml"/><Relationship Id="rId10" Type="http://schemas.openxmlformats.org/officeDocument/2006/relationships/slideLayout" Target="../slideLayouts/slideLayout441.xml"/><Relationship Id="rId4" Type="http://schemas.openxmlformats.org/officeDocument/2006/relationships/slideLayout" Target="../slideLayouts/slideLayout435.xml"/><Relationship Id="rId9" Type="http://schemas.openxmlformats.org/officeDocument/2006/relationships/slideLayout" Target="../slideLayouts/slideLayout440.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50.xml"/><Relationship Id="rId3" Type="http://schemas.openxmlformats.org/officeDocument/2006/relationships/slideLayout" Target="../slideLayouts/slideLayout445.xml"/><Relationship Id="rId7" Type="http://schemas.openxmlformats.org/officeDocument/2006/relationships/slideLayout" Target="../slideLayouts/slideLayout449.xml"/><Relationship Id="rId12" Type="http://schemas.openxmlformats.org/officeDocument/2006/relationships/theme" Target="../theme/theme38.xml"/><Relationship Id="rId2" Type="http://schemas.openxmlformats.org/officeDocument/2006/relationships/slideLayout" Target="../slideLayouts/slideLayout444.xml"/><Relationship Id="rId1" Type="http://schemas.openxmlformats.org/officeDocument/2006/relationships/slideLayout" Target="../slideLayouts/slideLayout443.xml"/><Relationship Id="rId6" Type="http://schemas.openxmlformats.org/officeDocument/2006/relationships/slideLayout" Target="../slideLayouts/slideLayout448.xml"/><Relationship Id="rId11" Type="http://schemas.openxmlformats.org/officeDocument/2006/relationships/slideLayout" Target="../slideLayouts/slideLayout453.xml"/><Relationship Id="rId5" Type="http://schemas.openxmlformats.org/officeDocument/2006/relationships/slideLayout" Target="../slideLayouts/slideLayout447.xml"/><Relationship Id="rId10" Type="http://schemas.openxmlformats.org/officeDocument/2006/relationships/slideLayout" Target="../slideLayouts/slideLayout452.xml"/><Relationship Id="rId4" Type="http://schemas.openxmlformats.org/officeDocument/2006/relationships/slideLayout" Target="../slideLayouts/slideLayout446.xml"/><Relationship Id="rId9" Type="http://schemas.openxmlformats.org/officeDocument/2006/relationships/slideLayout" Target="../slideLayouts/slideLayout451.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61.xml"/><Relationship Id="rId13" Type="http://schemas.openxmlformats.org/officeDocument/2006/relationships/theme" Target="../theme/theme39.xml"/><Relationship Id="rId3" Type="http://schemas.openxmlformats.org/officeDocument/2006/relationships/slideLayout" Target="../slideLayouts/slideLayout456.xml"/><Relationship Id="rId7" Type="http://schemas.openxmlformats.org/officeDocument/2006/relationships/slideLayout" Target="../slideLayouts/slideLayout460.xml"/><Relationship Id="rId12" Type="http://schemas.openxmlformats.org/officeDocument/2006/relationships/slideLayout" Target="../slideLayouts/slideLayout465.xml"/><Relationship Id="rId2" Type="http://schemas.openxmlformats.org/officeDocument/2006/relationships/slideLayout" Target="../slideLayouts/slideLayout455.xml"/><Relationship Id="rId1" Type="http://schemas.openxmlformats.org/officeDocument/2006/relationships/slideLayout" Target="../slideLayouts/slideLayout454.xml"/><Relationship Id="rId6" Type="http://schemas.openxmlformats.org/officeDocument/2006/relationships/slideLayout" Target="../slideLayouts/slideLayout459.xml"/><Relationship Id="rId11" Type="http://schemas.openxmlformats.org/officeDocument/2006/relationships/slideLayout" Target="../slideLayouts/slideLayout464.xml"/><Relationship Id="rId5" Type="http://schemas.openxmlformats.org/officeDocument/2006/relationships/slideLayout" Target="../slideLayouts/slideLayout458.xml"/><Relationship Id="rId10" Type="http://schemas.openxmlformats.org/officeDocument/2006/relationships/slideLayout" Target="../slideLayouts/slideLayout463.xml"/><Relationship Id="rId4" Type="http://schemas.openxmlformats.org/officeDocument/2006/relationships/slideLayout" Target="../slideLayouts/slideLayout457.xml"/><Relationship Id="rId9" Type="http://schemas.openxmlformats.org/officeDocument/2006/relationships/slideLayout" Target="../slideLayouts/slideLayout462.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73.xml"/><Relationship Id="rId3" Type="http://schemas.openxmlformats.org/officeDocument/2006/relationships/slideLayout" Target="../slideLayouts/slideLayout468.xml"/><Relationship Id="rId7" Type="http://schemas.openxmlformats.org/officeDocument/2006/relationships/slideLayout" Target="../slideLayouts/slideLayout472.xml"/><Relationship Id="rId12" Type="http://schemas.openxmlformats.org/officeDocument/2006/relationships/theme" Target="../theme/theme40.xml"/><Relationship Id="rId2" Type="http://schemas.openxmlformats.org/officeDocument/2006/relationships/slideLayout" Target="../slideLayouts/slideLayout467.xml"/><Relationship Id="rId1" Type="http://schemas.openxmlformats.org/officeDocument/2006/relationships/slideLayout" Target="../slideLayouts/slideLayout466.xml"/><Relationship Id="rId6" Type="http://schemas.openxmlformats.org/officeDocument/2006/relationships/slideLayout" Target="../slideLayouts/slideLayout471.xml"/><Relationship Id="rId11" Type="http://schemas.openxmlformats.org/officeDocument/2006/relationships/slideLayout" Target="../slideLayouts/slideLayout476.xml"/><Relationship Id="rId5" Type="http://schemas.openxmlformats.org/officeDocument/2006/relationships/slideLayout" Target="../slideLayouts/slideLayout470.xml"/><Relationship Id="rId10" Type="http://schemas.openxmlformats.org/officeDocument/2006/relationships/slideLayout" Target="../slideLayouts/slideLayout475.xml"/><Relationship Id="rId4" Type="http://schemas.openxmlformats.org/officeDocument/2006/relationships/slideLayout" Target="../slideLayouts/slideLayout469.xml"/><Relationship Id="rId9" Type="http://schemas.openxmlformats.org/officeDocument/2006/relationships/slideLayout" Target="../slideLayouts/slideLayout4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67295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75041749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27365869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866042322"/>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343773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7124929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93917112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3925527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764991599"/>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575693363"/>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038277286"/>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2312116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428670605"/>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931367304"/>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725584168"/>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268724202"/>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816025318"/>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96202052"/>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012431742"/>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874659486"/>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61626352"/>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648293253"/>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804774068"/>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289568240"/>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65698067"/>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47199837"/>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06241242"/>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242535233"/>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719416727"/>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126183547"/>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50842835"/>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23444142"/>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715972381"/>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584472393"/>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458753369"/>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73913905"/>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890280838"/>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835765894"/>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87061849"/>
      </p:ext>
    </p:extLst>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 id="214748416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91263543"/>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4.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8.emf"/><Relationship Id="rId5"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9.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2.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emf"/><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9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19.png"/><Relationship Id="rId7" Type="http://schemas.openxmlformats.org/officeDocument/2006/relationships/image" Target="../media/image9.emf"/><Relationship Id="rId2" Type="http://schemas.openxmlformats.org/officeDocument/2006/relationships/notesSlide" Target="../notesSlides/notesSlide12.xml"/><Relationship Id="rId1" Type="http://schemas.openxmlformats.org/officeDocument/2006/relationships/slideLayout" Target="../slideLayouts/slideLayout98.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50.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6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3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2.xml"/></Relationships>
</file>

<file path=ppt/slides/_rels/slide2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30.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8.emf"/></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46.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58.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2.xml"/></Relationships>
</file>

<file path=ppt/slides/_rels/slide2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9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06.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318.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0.xml"/><Relationship Id="rId1" Type="http://schemas.openxmlformats.org/officeDocument/2006/relationships/slideLayout" Target="../slideLayouts/slideLayout330.xml"/><Relationship Id="rId4" Type="http://schemas.openxmlformats.org/officeDocument/2006/relationships/image" Target="../media/image41.jpe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34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6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7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9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0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65.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6</a:t>
            </a:r>
            <a:endParaRPr lang="en-CA" sz="2600" dirty="0"/>
          </a:p>
        </p:txBody>
      </p:sp>
      <p:sp>
        <p:nvSpPr>
          <p:cNvPr id="3" name="Subtitle 2"/>
          <p:cNvSpPr>
            <a:spLocks noGrp="1"/>
          </p:cNvSpPr>
          <p:nvPr>
            <p:ph type="subTitle" sz="quarter" idx="1"/>
          </p:nvPr>
        </p:nvSpPr>
        <p:spPr/>
        <p:txBody>
          <a:bodyPr/>
          <a:lstStyle/>
          <a:p>
            <a:r>
              <a:rPr lang="en-CA" dirty="0" smtClean="0"/>
              <a:t>Implementing Dynamic Host Configuration Protocol
</a:t>
            </a:r>
            <a:endParaRPr lang="en-CA" dirty="0"/>
          </a:p>
        </p:txBody>
      </p:sp>
    </p:spTree>
    <p:extLst>
      <p:ext uri="{BB962C8B-B14F-4D97-AF65-F5344CB8AC3E}">
        <p14:creationId xmlns:p14="http://schemas.microsoft.com/office/powerpoint/2010/main" val="3717747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Overview</a:t>
            </a:r>
            <a:endParaRPr lang="en-CA" dirty="0"/>
          </a:p>
        </p:txBody>
      </p:sp>
      <p:sp>
        <p:nvSpPr>
          <p:cNvPr id="3" name="Text Placeholder 2"/>
          <p:cNvSpPr>
            <a:spLocks noGrp="1"/>
          </p:cNvSpPr>
          <p:nvPr>
            <p:ph type="body" idx="1"/>
          </p:nvPr>
        </p:nvSpPr>
        <p:spPr/>
        <p:txBody>
          <a:bodyPr/>
          <a:lstStyle/>
          <a:p>
            <a:r>
              <a:rPr lang="en-CA" dirty="0" smtClean="0"/>
              <a:t>Overview of the DHCP Server Role
Configuring DHCP Scopes
Managing a DHCP Database
Securing and Monitoring DHCP</a:t>
            </a:r>
            <a:endParaRPr lang="en-CA" dirty="0"/>
          </a:p>
        </p:txBody>
      </p:sp>
    </p:spTree>
    <p:extLst>
      <p:ext uri="{BB962C8B-B14F-4D97-AF65-F5344CB8AC3E}">
        <p14:creationId xmlns:p14="http://schemas.microsoft.com/office/powerpoint/2010/main" val="40050363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1: Overview of the DHCP Server Role</a:t>
            </a:r>
            <a:endParaRPr lang="en-CA" dirty="0"/>
          </a:p>
        </p:txBody>
      </p:sp>
      <p:sp>
        <p:nvSpPr>
          <p:cNvPr id="3" name="Text Placeholder 2"/>
          <p:cNvSpPr>
            <a:spLocks noGrp="1"/>
          </p:cNvSpPr>
          <p:nvPr>
            <p:ph type="body" idx="1"/>
          </p:nvPr>
        </p:nvSpPr>
        <p:spPr/>
        <p:txBody>
          <a:bodyPr/>
          <a:lstStyle/>
          <a:p>
            <a:r>
              <a:rPr lang="en-CA" dirty="0" smtClean="0"/>
              <a:t>Benefits of Using DHCP
How DHCP Allocates IP Addresses
How DHCP Lease Generation Works
How DHCP Lease Renewal Works
Demonstration: Installing the DHCP Server Role
How DHCP Interacts with DNS
What Is a DHCP Relay Agent?
DHCP Server Authorization</a:t>
            </a:r>
            <a:endParaRPr lang="en-CA" dirty="0"/>
          </a:p>
        </p:txBody>
      </p:sp>
    </p:spTree>
    <p:extLst>
      <p:ext uri="{BB962C8B-B14F-4D97-AF65-F5344CB8AC3E}">
        <p14:creationId xmlns:p14="http://schemas.microsoft.com/office/powerpoint/2010/main" val="4963832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683625" cy="740664"/>
          </a:xfrm>
        </p:spPr>
        <p:txBody>
          <a:bodyPr/>
          <a:lstStyle/>
          <a:p>
            <a:r>
              <a:rPr lang="fr-FR" dirty="0" smtClean="0"/>
              <a:t>Avantages d’une configuration IP automatique (DHCP)</a:t>
            </a:r>
            <a:endParaRPr lang="fr-FR" dirty="0"/>
          </a:p>
        </p:txBody>
      </p:sp>
      <p:sp>
        <p:nvSpPr>
          <p:cNvPr id="4" name="TextBox 3"/>
          <p:cNvSpPr txBox="1"/>
          <p:nvPr/>
        </p:nvSpPr>
        <p:spPr>
          <a:xfrm>
            <a:off x="449705" y="1002780"/>
            <a:ext cx="8244590" cy="769441"/>
          </a:xfrm>
          <a:prstGeom prst="rect">
            <a:avLst/>
          </a:prstGeom>
          <a:noFill/>
        </p:spPr>
        <p:txBody>
          <a:bodyPr wrap="square" rtlCol="0">
            <a:spAutoFit/>
          </a:bodyPr>
          <a:lstStyle/>
          <a:p>
            <a:pPr lvl="0" fontAlgn="base">
              <a:spcBef>
                <a:spcPct val="0"/>
              </a:spcBef>
              <a:spcAft>
                <a:spcPct val="0"/>
              </a:spcAft>
            </a:pPr>
            <a:r>
              <a:rPr lang="fr-FR" sz="2200" b="1" dirty="0" smtClean="0">
                <a:solidFill>
                  <a:srgbClr val="000000"/>
                </a:solidFill>
                <a:latin typeface="Segoe UI" pitchFamily="34" charset="0"/>
                <a:ea typeface="Segoe UI" pitchFamily="34" charset="0"/>
                <a:cs typeface="Segoe UI" pitchFamily="34" charset="0"/>
              </a:rPr>
              <a:t>Une configuration IP automatique réduit la complexité et le travail de gestion réseau.</a:t>
            </a:r>
            <a:endParaRPr lang="fr-FR" sz="2200" b="1" dirty="0">
              <a:solidFill>
                <a:srgbClr val="000000"/>
              </a:solidFill>
              <a:latin typeface="Segoe UI" pitchFamily="34" charset="0"/>
              <a:ea typeface="Segoe UI" pitchFamily="34" charset="0"/>
              <a:cs typeface="Segoe UI" pitchFamily="34" charset="0"/>
            </a:endParaRPr>
          </a:p>
        </p:txBody>
      </p:sp>
      <p:graphicFrame>
        <p:nvGraphicFramePr>
          <p:cNvPr id="5" name="Group 38"/>
          <p:cNvGraphicFramePr>
            <a:graphicFrameLocks/>
          </p:cNvGraphicFramePr>
          <p:nvPr>
            <p:extLst>
              <p:ext uri="{D42A27DB-BD31-4B8C-83A1-F6EECF244321}">
                <p14:modId xmlns:p14="http://schemas.microsoft.com/office/powerpoint/2010/main" val="3705833432"/>
              </p:ext>
            </p:extLst>
          </p:nvPr>
        </p:nvGraphicFramePr>
        <p:xfrm>
          <a:off x="502711" y="2102705"/>
          <a:ext cx="8152758" cy="3982788"/>
        </p:xfrm>
        <a:graphic>
          <a:graphicData uri="http://schemas.openxmlformats.org/drawingml/2006/table">
            <a:tbl>
              <a:tblPr firstRow="1">
                <a:tableStyleId>{5DA37D80-6434-44D0-A028-1B22A696006F}</a:tableStyleId>
              </a:tblPr>
              <a:tblGrid>
                <a:gridCol w="4076379"/>
                <a:gridCol w="4076379"/>
              </a:tblGrid>
              <a:tr h="721372">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fr-FR" sz="2000" b="1"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rPr>
                        <a:t>Configuration IP automatique</a:t>
                      </a:r>
                    </a:p>
                  </a:txBody>
                  <a:tcPr marT="91447" marB="91447" anchor="ctr" horzOverflow="overflow">
                    <a:solidFill>
                      <a:schemeClr val="accent2"/>
                    </a:solidFill>
                  </a:tcPr>
                </a:tc>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defRPr/>
                      </a:pPr>
                      <a:r>
                        <a:rPr lang="fr-FR" sz="2000" noProof="0" dirty="0" smtClean="0">
                          <a:latin typeface="Segoe UI" pitchFamily="34" charset="0"/>
                          <a:ea typeface="Segoe UI" pitchFamily="34" charset="0"/>
                          <a:cs typeface="Segoe UI" pitchFamily="34" charset="0"/>
                        </a:rPr>
                        <a:t>Configuration</a:t>
                      </a:r>
                      <a:r>
                        <a:rPr kumimoji="0" lang="fr-FR" sz="2000" b="1"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rPr>
                        <a:t> </a:t>
                      </a:r>
                      <a:r>
                        <a:rPr lang="fr-FR" sz="2000" noProof="0" dirty="0" smtClean="0">
                          <a:latin typeface="Segoe UI" pitchFamily="34" charset="0"/>
                          <a:ea typeface="Segoe UI" pitchFamily="34" charset="0"/>
                          <a:cs typeface="Segoe UI" pitchFamily="34" charset="0"/>
                        </a:rPr>
                        <a:t>IP manuelle</a:t>
                      </a:r>
                      <a:endParaRPr kumimoji="0" lang="fr-FR" sz="2000" b="1"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7" marB="91447" anchor="ctr" horzOverflow="overflow">
                    <a:solidFill>
                      <a:schemeClr val="accent2"/>
                    </a:solidFill>
                  </a:tcPr>
                </a:tc>
              </a:tr>
              <a:tr h="0">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rPr>
                        <a:t>Les adresses IP sont attribuées automatiquement</a:t>
                      </a:r>
                    </a:p>
                  </a:txBody>
                  <a:tcPr marT="91447" marB="91447" anchor="ctr" horzOverflow="overflow"/>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defRPr/>
                      </a:pPr>
                      <a:r>
                        <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rPr>
                        <a:t>Les adresses IP sont attribuées </a:t>
                      </a:r>
                      <a:r>
                        <a:rPr lang="fr-FR" sz="2000" noProof="0" dirty="0" smtClean="0">
                          <a:latin typeface="Segoe UI" pitchFamily="34" charset="0"/>
                          <a:ea typeface="Segoe UI" pitchFamily="34" charset="0"/>
                          <a:cs typeface="Segoe UI" pitchFamily="34" charset="0"/>
                        </a:rPr>
                        <a:t>manuellement</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7" marB="91447" anchor="ctr" horzOverflow="overflow"/>
                </a:tc>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000" noProof="0" dirty="0" smtClean="0">
                          <a:latin typeface="Segoe UI" pitchFamily="34" charset="0"/>
                          <a:ea typeface="Segoe UI" pitchFamily="34" charset="0"/>
                          <a:cs typeface="Segoe UI" pitchFamily="34" charset="0"/>
                        </a:rPr>
                        <a:t>L’exactitude des</a:t>
                      </a:r>
                      <a:r>
                        <a:rPr lang="fr-FR" sz="2000" baseline="0" noProof="0" dirty="0" smtClean="0">
                          <a:latin typeface="Segoe UI" pitchFamily="34" charset="0"/>
                          <a:ea typeface="Segoe UI" pitchFamily="34" charset="0"/>
                          <a:cs typeface="Segoe UI" pitchFamily="34" charset="0"/>
                        </a:rPr>
                        <a:t> informations de configuration IP est assurée</a:t>
                      </a:r>
                      <a:endParaRPr lang="fr-FR" sz="2000" noProof="0" dirty="0" smtClean="0">
                        <a:latin typeface="Segoe UI" pitchFamily="34" charset="0"/>
                        <a:ea typeface="Segoe UI" pitchFamily="34" charset="0"/>
                        <a:cs typeface="Segoe UI" pitchFamily="34" charset="0"/>
                      </a:endParaRPr>
                    </a:p>
                  </a:txBody>
                  <a:tcPr marT="91447" marB="91447" anchor="ctr" horzOverflow="overflow"/>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000" noProof="0" dirty="0" smtClean="0">
                          <a:latin typeface="Segoe UI" pitchFamily="34" charset="0"/>
                          <a:ea typeface="Segoe UI" pitchFamily="34" charset="0"/>
                          <a:cs typeface="Segoe UI" pitchFamily="34" charset="0"/>
                        </a:rPr>
                        <a:t>Risque</a:t>
                      </a:r>
                      <a:r>
                        <a:rPr lang="fr-FR" sz="2000" baseline="0" noProof="0" dirty="0" smtClean="0">
                          <a:latin typeface="Segoe UI" pitchFamily="34" charset="0"/>
                          <a:ea typeface="Segoe UI" pitchFamily="34" charset="0"/>
                          <a:cs typeface="Segoe UI" pitchFamily="34" charset="0"/>
                        </a:rPr>
                        <a:t> d’erreur dans l’encodage des adresses IP</a:t>
                      </a:r>
                      <a:endParaRPr lang="fr-FR" sz="2000" noProof="0" dirty="0" smtClean="0">
                        <a:latin typeface="Segoe UI" pitchFamily="34" charset="0"/>
                        <a:ea typeface="Segoe UI" pitchFamily="34" charset="0"/>
                        <a:cs typeface="Segoe UI" pitchFamily="34" charset="0"/>
                      </a:endParaRPr>
                    </a:p>
                  </a:txBody>
                  <a:tcPr marT="91447" marB="91447" anchor="ctr" horzOverflow="overflow"/>
                </a:tc>
              </a:tr>
              <a:tr h="0">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defRPr/>
                      </a:pPr>
                      <a:r>
                        <a:rPr lang="fr-FR" sz="2000" noProof="0" dirty="0" smtClean="0">
                          <a:latin typeface="Segoe UI" pitchFamily="34" charset="0"/>
                          <a:ea typeface="Segoe UI" pitchFamily="34" charset="0"/>
                          <a:cs typeface="Segoe UI" pitchFamily="34" charset="0"/>
                        </a:rPr>
                        <a:t>La configuration IP des clients est mise-à-jour</a:t>
                      </a:r>
                      <a:r>
                        <a:rPr lang="fr-FR" sz="2000" baseline="0" noProof="0" dirty="0" smtClean="0">
                          <a:latin typeface="Segoe UI" pitchFamily="34" charset="0"/>
                          <a:ea typeface="Segoe UI" pitchFamily="34" charset="0"/>
                          <a:cs typeface="Segoe UI" pitchFamily="34" charset="0"/>
                        </a:rPr>
                        <a:t> automatiquement</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7" marB="91447" anchor="ctr" horzOverflow="overflow"/>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defRPr/>
                      </a:pPr>
                      <a:r>
                        <a:rPr lang="fr-FR" sz="2000" noProof="0" dirty="0" smtClean="0">
                          <a:latin typeface="Segoe UI" pitchFamily="34" charset="0"/>
                          <a:ea typeface="Segoe UI" pitchFamily="34" charset="0"/>
                          <a:cs typeface="Segoe UI" pitchFamily="34" charset="0"/>
                        </a:rPr>
                        <a:t>Source de problèmes de communication et</a:t>
                      </a:r>
                      <a:r>
                        <a:rPr lang="fr-FR" sz="2000" baseline="0" noProof="0" dirty="0" smtClean="0">
                          <a:latin typeface="Segoe UI" pitchFamily="34" charset="0"/>
                          <a:ea typeface="Segoe UI" pitchFamily="34" charset="0"/>
                          <a:cs typeface="Segoe UI" pitchFamily="34" charset="0"/>
                        </a:rPr>
                        <a:t> de réseau</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7" marB="91447" anchor="ctr" horzOverflow="overflow"/>
                </a:tc>
              </a:tr>
              <a:tr h="0">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lang="fr-BE" sz="2000" noProof="0" dirty="0" smtClean="0">
                          <a:latin typeface="Segoe UI" pitchFamily="34" charset="0"/>
                          <a:ea typeface="Segoe UI" pitchFamily="34" charset="0"/>
                          <a:cs typeface="Segoe UI" pitchFamily="34" charset="0"/>
                        </a:rPr>
                        <a:t>Une source commune de problèmes réseaux peut-être</a:t>
                      </a:r>
                      <a:r>
                        <a:rPr lang="fr-BE" sz="2000" baseline="0" noProof="0" dirty="0" smtClean="0">
                          <a:latin typeface="Segoe UI" pitchFamily="34" charset="0"/>
                          <a:ea typeface="Segoe UI" pitchFamily="34" charset="0"/>
                          <a:cs typeface="Segoe UI" pitchFamily="34" charset="0"/>
                        </a:rPr>
                        <a:t> facilement éliminée</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7" marB="91447" anchor="ctr" horzOverflow="overflow"/>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defRPr/>
                      </a:pPr>
                      <a:r>
                        <a:rPr lang="fr-FR" sz="2000" noProof="0" dirty="0" smtClean="0">
                          <a:latin typeface="Segoe UI" pitchFamily="34" charset="0"/>
                          <a:ea typeface="Segoe UI" pitchFamily="34" charset="0"/>
                          <a:cs typeface="Segoe UI" pitchFamily="34" charset="0"/>
                        </a:rPr>
                        <a:t>Un déplacement fréquent des ordinateurs demande un</a:t>
                      </a:r>
                      <a:r>
                        <a:rPr lang="fr-FR" sz="2000" baseline="0" noProof="0" dirty="0" smtClean="0">
                          <a:latin typeface="Segoe UI" pitchFamily="34" charset="0"/>
                          <a:ea typeface="Segoe UI" pitchFamily="34" charset="0"/>
                          <a:cs typeface="Segoe UI" pitchFamily="34" charset="0"/>
                        </a:rPr>
                        <a:t> travail en continu</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7" marB="91447" anchor="ctr" horzOverflow="overflow"/>
                </a:tc>
              </a:tr>
            </a:tbl>
          </a:graphicData>
        </a:graphic>
      </p:graphicFrame>
    </p:spTree>
    <p:extLst>
      <p:ext uri="{BB962C8B-B14F-4D97-AF65-F5344CB8AC3E}">
        <p14:creationId xmlns:p14="http://schemas.microsoft.com/office/powerpoint/2010/main" val="42120695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Attribution des adresses IP</a:t>
            </a:r>
            <a:endParaRPr lang="fr-FR" dirty="0"/>
          </a:p>
        </p:txBody>
      </p:sp>
      <p:sp>
        <p:nvSpPr>
          <p:cNvPr id="4" name="AutoShape 13"/>
          <p:cNvSpPr>
            <a:spLocks noChangeArrowheads="1"/>
          </p:cNvSpPr>
          <p:nvPr/>
        </p:nvSpPr>
        <p:spPr bwMode="auto">
          <a:xfrm>
            <a:off x="1505332" y="5091628"/>
            <a:ext cx="6099157" cy="1074600"/>
          </a:xfrm>
          <a:prstGeom prst="roundRect">
            <a:avLst>
              <a:gd name="adj" fmla="val 4167"/>
            </a:avLst>
          </a:prstGeom>
          <a:noFill/>
          <a:ln w="9525" algn="ctr">
            <a:noFill/>
            <a:round/>
            <a:headEnd/>
            <a:tailEnd/>
          </a:ln>
          <a:effectLst/>
        </p:spPr>
        <p:txBody>
          <a:bodyPr wrap="square" lIns="0" tIns="0" rIns="0" bIns="0" anchor="ctr"/>
          <a:lstStyle/>
          <a:p>
            <a:pPr lvl="0" algn="ctr" fontAlgn="base">
              <a:spcBef>
                <a:spcPts val="600"/>
              </a:spcBef>
              <a:spcAft>
                <a:spcPct val="0"/>
              </a:spcAft>
            </a:pPr>
            <a:r>
              <a:rPr lang="fr-FR" sz="2000" b="1" dirty="0" smtClean="0">
                <a:solidFill>
                  <a:srgbClr val="000000"/>
                </a:solidFill>
                <a:latin typeface="Segoe UI" pitchFamily="34" charset="0"/>
                <a:ea typeface="Segoe UI" pitchFamily="34" charset="0"/>
                <a:cs typeface="Segoe UI" pitchFamily="34" charset="0"/>
              </a:rPr>
              <a:t>IP Address1: Attribuée au Client1</a:t>
            </a:r>
          </a:p>
          <a:p>
            <a:pPr lvl="0" algn="ctr" fontAlgn="base">
              <a:spcBef>
                <a:spcPts val="600"/>
              </a:spcBef>
              <a:spcAft>
                <a:spcPct val="0"/>
              </a:spcAft>
            </a:pPr>
            <a:r>
              <a:rPr lang="fr-FR" sz="2000" b="1" dirty="0" smtClean="0">
                <a:solidFill>
                  <a:srgbClr val="000000"/>
                </a:solidFill>
                <a:latin typeface="Segoe UI" pitchFamily="34" charset="0"/>
                <a:ea typeface="Segoe UI" pitchFamily="34" charset="0"/>
                <a:cs typeface="Segoe UI" pitchFamily="34" charset="0"/>
              </a:rPr>
              <a:t>IP Address2: Attribuée au Client2</a:t>
            </a:r>
          </a:p>
          <a:p>
            <a:pPr lvl="0" algn="ctr" fontAlgn="base">
              <a:spcBef>
                <a:spcPts val="600"/>
              </a:spcBef>
              <a:spcAft>
                <a:spcPct val="0"/>
              </a:spcAft>
            </a:pPr>
            <a:r>
              <a:rPr lang="fr-FR" sz="2000" b="1" dirty="0" smtClean="0">
                <a:solidFill>
                  <a:srgbClr val="000000"/>
                </a:solidFill>
                <a:latin typeface="Segoe UI" pitchFamily="34" charset="0"/>
                <a:ea typeface="Segoe UI" pitchFamily="34" charset="0"/>
                <a:cs typeface="Segoe UI" pitchFamily="34" charset="0"/>
              </a:rPr>
              <a:t>IP Address3: Disponible pour être attribuée</a:t>
            </a:r>
            <a:endParaRPr lang="fr-FR" sz="2000" b="1" dirty="0">
              <a:solidFill>
                <a:srgbClr val="000000"/>
              </a:solidFill>
              <a:latin typeface="Segoe UI" pitchFamily="34" charset="0"/>
              <a:ea typeface="Segoe UI" pitchFamily="34" charset="0"/>
              <a:cs typeface="Segoe UI" pitchFamily="34" charset="0"/>
            </a:endParaRPr>
          </a:p>
        </p:txBody>
      </p:sp>
      <p:grpSp>
        <p:nvGrpSpPr>
          <p:cNvPr id="5" name="Group 4" descr="Graphic depicting a network that has four members: &#10;1. A Dynamic Host Configuration Protocol (DHCP) server with a DHCP database.&#10;2. A DHCP client (Client 1) that leases an IP address. &#10;3. A DHCP client (Client 2) that renews its IP address.&#10;4. A non-DHCP client that does not communicate with the DHCP server. &#10;There are arrows pointing between both of the clients and the DHCP Server, which represent lease generation and lease renewal."/>
          <p:cNvGrpSpPr/>
          <p:nvPr/>
        </p:nvGrpSpPr>
        <p:grpSpPr>
          <a:xfrm>
            <a:off x="224289" y="922973"/>
            <a:ext cx="8793133" cy="3969925"/>
            <a:chOff x="176770" y="855738"/>
            <a:chExt cx="8635057" cy="3969925"/>
          </a:xfrm>
        </p:grpSpPr>
        <p:sp>
          <p:nvSpPr>
            <p:cNvPr id="6" name="AutoShape 14"/>
            <p:cNvSpPr>
              <a:spLocks noChangeArrowheads="1"/>
            </p:cNvSpPr>
            <p:nvPr/>
          </p:nvSpPr>
          <p:spPr bwMode="auto">
            <a:xfrm>
              <a:off x="6224535" y="855738"/>
              <a:ext cx="2587292" cy="1068200"/>
            </a:xfrm>
            <a:prstGeom prst="roundRect">
              <a:avLst>
                <a:gd name="adj" fmla="val 3755"/>
              </a:avLst>
            </a:prstGeom>
            <a:noFill/>
            <a:ln w="9525" algn="ctr">
              <a:noFill/>
              <a:round/>
              <a:headEnd/>
              <a:tailEnd/>
            </a:ln>
            <a:effectLst/>
          </p:spPr>
          <p:txBody>
            <a:bodyPr wrap="square" lIns="0" tIns="0" rIns="0" bIns="0" anchor="ctr"/>
            <a:lstStyle/>
            <a:p>
              <a:pPr lvl="0" fontAlgn="base">
                <a:spcBef>
                  <a:spcPct val="0"/>
                </a:spcBef>
                <a:spcAft>
                  <a:spcPct val="0"/>
                </a:spcAft>
              </a:pPr>
              <a:r>
                <a:rPr lang="fr-FR" sz="2000" b="1" dirty="0" smtClean="0">
                  <a:solidFill>
                    <a:srgbClr val="000000"/>
                  </a:solidFill>
                  <a:latin typeface="Segoe UI" pitchFamily="34" charset="0"/>
                  <a:ea typeface="Segoe UI" pitchFamily="34" charset="0"/>
                  <a:cs typeface="Segoe UI" pitchFamily="34" charset="0"/>
                </a:rPr>
                <a:t>DHCP Client2:</a:t>
              </a:r>
              <a:br>
                <a:rPr lang="fr-FR" sz="2000" b="1" dirty="0" smtClean="0">
                  <a:solidFill>
                    <a:srgbClr val="000000"/>
                  </a:solidFill>
                  <a:latin typeface="Segoe UI" pitchFamily="34" charset="0"/>
                  <a:ea typeface="Segoe UI" pitchFamily="34" charset="0"/>
                  <a:cs typeface="Segoe UI" pitchFamily="34" charset="0"/>
                </a:rPr>
              </a:br>
              <a:r>
                <a:rPr lang="fr-FR" dirty="0" smtClean="0">
                  <a:solidFill>
                    <a:srgbClr val="000000"/>
                  </a:solidFill>
                  <a:latin typeface="Segoe UI" pitchFamily="34" charset="0"/>
                  <a:ea typeface="Segoe UI" pitchFamily="34" charset="0"/>
                  <a:cs typeface="Segoe UI" pitchFamily="34" charset="0"/>
                </a:rPr>
                <a:t>Configuration IP</a:t>
              </a:r>
              <a:br>
                <a:rPr lang="fr-FR" dirty="0" smtClean="0">
                  <a:solidFill>
                    <a:srgbClr val="000000"/>
                  </a:solidFill>
                  <a:latin typeface="Segoe UI" pitchFamily="34" charset="0"/>
                  <a:ea typeface="Segoe UI" pitchFamily="34" charset="0"/>
                  <a:cs typeface="Segoe UI" pitchFamily="34" charset="0"/>
                </a:rPr>
              </a:br>
              <a:r>
                <a:rPr lang="fr-FR" dirty="0" smtClean="0">
                  <a:solidFill>
                    <a:srgbClr val="000000"/>
                  </a:solidFill>
                  <a:latin typeface="Segoe UI" pitchFamily="34" charset="0"/>
                  <a:ea typeface="Segoe UI" pitchFamily="34" charset="0"/>
                  <a:cs typeface="Segoe UI" pitchFamily="34" charset="0"/>
                </a:rPr>
                <a:t>automatique</a:t>
              </a:r>
              <a:endParaRPr lang="fr-FR" sz="2000" dirty="0">
                <a:solidFill>
                  <a:srgbClr val="000000"/>
                </a:solidFill>
                <a:latin typeface="Segoe UI" pitchFamily="34" charset="0"/>
                <a:ea typeface="Segoe UI" pitchFamily="34" charset="0"/>
                <a:cs typeface="Segoe UI" pitchFamily="34" charset="0"/>
              </a:endParaRPr>
            </a:p>
          </p:txBody>
        </p:sp>
        <p:sp>
          <p:nvSpPr>
            <p:cNvPr id="7" name="AutoShape 15"/>
            <p:cNvSpPr>
              <a:spLocks noChangeArrowheads="1"/>
            </p:cNvSpPr>
            <p:nvPr/>
          </p:nvSpPr>
          <p:spPr bwMode="auto">
            <a:xfrm>
              <a:off x="176770" y="861489"/>
              <a:ext cx="2547160" cy="1128154"/>
            </a:xfrm>
            <a:prstGeom prst="roundRect">
              <a:avLst>
                <a:gd name="adj" fmla="val 3755"/>
              </a:avLst>
            </a:prstGeom>
            <a:noFill/>
            <a:ln w="9525" algn="ctr">
              <a:noFill/>
              <a:round/>
              <a:headEnd/>
              <a:tailEnd/>
            </a:ln>
            <a:effectLst/>
          </p:spPr>
          <p:txBody>
            <a:bodyPr wrap="square" lIns="0" tIns="0" rIns="0" bIns="0" anchor="ctr"/>
            <a:lstStyle/>
            <a:p>
              <a:pPr lvl="0" algn="r" fontAlgn="base">
                <a:spcBef>
                  <a:spcPct val="0"/>
                </a:spcBef>
                <a:spcAft>
                  <a:spcPct val="0"/>
                </a:spcAft>
              </a:pPr>
              <a:r>
                <a:rPr lang="fr-FR" sz="2000" b="1" dirty="0" smtClean="0">
                  <a:solidFill>
                    <a:srgbClr val="000000"/>
                  </a:solidFill>
                  <a:latin typeface="Segoe UI" pitchFamily="34" charset="0"/>
                  <a:ea typeface="Segoe UI" pitchFamily="34" charset="0"/>
                  <a:cs typeface="Segoe UI" pitchFamily="34" charset="0"/>
                </a:rPr>
                <a:t>Non-DHCP Client: </a:t>
              </a:r>
              <a:r>
                <a:rPr lang="fr-FR" dirty="0" smtClean="0">
                  <a:solidFill>
                    <a:srgbClr val="000000"/>
                  </a:solidFill>
                  <a:latin typeface="Segoe UI" pitchFamily="34" charset="0"/>
                  <a:ea typeface="Segoe UI" pitchFamily="34" charset="0"/>
                  <a:cs typeface="Segoe UI" pitchFamily="34" charset="0"/>
                </a:rPr>
                <a:t>Configuration IP statique</a:t>
              </a:r>
              <a:endParaRPr lang="fr-FR" sz="2000" dirty="0">
                <a:solidFill>
                  <a:srgbClr val="000000"/>
                </a:solidFill>
                <a:latin typeface="Segoe UI" pitchFamily="34" charset="0"/>
                <a:ea typeface="Segoe UI" pitchFamily="34" charset="0"/>
                <a:cs typeface="Segoe UI" pitchFamily="34" charset="0"/>
              </a:endParaRPr>
            </a:p>
          </p:txBody>
        </p:sp>
        <p:sp>
          <p:nvSpPr>
            <p:cNvPr id="8" name="AutoShape 16"/>
            <p:cNvSpPr>
              <a:spLocks noChangeArrowheads="1"/>
            </p:cNvSpPr>
            <p:nvPr/>
          </p:nvSpPr>
          <p:spPr bwMode="auto">
            <a:xfrm>
              <a:off x="542753" y="3846987"/>
              <a:ext cx="2231442" cy="920957"/>
            </a:xfrm>
            <a:prstGeom prst="roundRect">
              <a:avLst>
                <a:gd name="adj" fmla="val 3755"/>
              </a:avLst>
            </a:prstGeom>
            <a:noFill/>
            <a:ln>
              <a:noFill/>
              <a:headEnd/>
              <a:tailEnd/>
            </a:ln>
            <a:effectLst/>
          </p:spPr>
          <p:style>
            <a:lnRef idx="1">
              <a:schemeClr val="accent2"/>
            </a:lnRef>
            <a:fillRef idx="2">
              <a:schemeClr val="accent2"/>
            </a:fillRef>
            <a:effectRef idx="1">
              <a:schemeClr val="accent2"/>
            </a:effectRef>
            <a:fontRef idx="minor">
              <a:schemeClr val="dk1"/>
            </a:fontRef>
          </p:style>
          <p:txBody>
            <a:bodyPr wrap="square" lIns="0" tIns="0" rIns="0" bIns="0" anchor="ctr"/>
            <a:lstStyle/>
            <a:p>
              <a:pPr lvl="0" fontAlgn="base">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DHCP Client1:</a:t>
              </a:r>
            </a:p>
            <a:p>
              <a:pPr lvl="0" fontAlgn="base">
                <a:spcBef>
                  <a:spcPct val="0"/>
                </a:spcBef>
                <a:spcAft>
                  <a:spcPct val="0"/>
                </a:spcAft>
              </a:pPr>
              <a:r>
                <a:rPr lang="fr-FR" dirty="0" smtClean="0">
                  <a:solidFill>
                    <a:srgbClr val="000000"/>
                  </a:solidFill>
                  <a:latin typeface="Segoe UI" pitchFamily="34" charset="0"/>
                  <a:ea typeface="Segoe UI" pitchFamily="34" charset="0"/>
                  <a:cs typeface="Segoe UI" pitchFamily="34" charset="0"/>
                </a:rPr>
                <a:t>Configuration </a:t>
              </a:r>
              <a:r>
                <a:rPr lang="fr-FR" dirty="0">
                  <a:solidFill>
                    <a:srgbClr val="000000"/>
                  </a:solidFill>
                  <a:latin typeface="Segoe UI" pitchFamily="34" charset="0"/>
                  <a:ea typeface="Segoe UI" pitchFamily="34" charset="0"/>
                  <a:cs typeface="Segoe UI" pitchFamily="34" charset="0"/>
                </a:rPr>
                <a:t>IP</a:t>
              </a:r>
              <a:br>
                <a:rPr lang="fr-FR" dirty="0">
                  <a:solidFill>
                    <a:srgbClr val="000000"/>
                  </a:solidFill>
                  <a:latin typeface="Segoe UI" pitchFamily="34" charset="0"/>
                  <a:ea typeface="Segoe UI" pitchFamily="34" charset="0"/>
                  <a:cs typeface="Segoe UI" pitchFamily="34" charset="0"/>
                </a:rPr>
              </a:br>
              <a:r>
                <a:rPr lang="fr-FR" dirty="0">
                  <a:solidFill>
                    <a:srgbClr val="000000"/>
                  </a:solidFill>
                  <a:latin typeface="Segoe UI" pitchFamily="34" charset="0"/>
                  <a:ea typeface="Segoe UI" pitchFamily="34" charset="0"/>
                  <a:cs typeface="Segoe UI" pitchFamily="34" charset="0"/>
                </a:rPr>
                <a:t>automatique</a:t>
              </a:r>
              <a:endParaRPr lang="en-US" dirty="0">
                <a:solidFill>
                  <a:srgbClr val="000000"/>
                </a:solidFill>
                <a:latin typeface="Segoe UI" pitchFamily="34" charset="0"/>
                <a:ea typeface="Segoe UI" pitchFamily="34" charset="0"/>
                <a:cs typeface="Segoe UI" pitchFamily="34" charset="0"/>
              </a:endParaRPr>
            </a:p>
          </p:txBody>
        </p:sp>
        <p:grpSp>
          <p:nvGrpSpPr>
            <p:cNvPr id="9" name="Group 8" descr="Graphic depicting a network that has four members: &#10;1. A Dynamic Host Configuration Protocol (DHCP) server with a DHCP database.&#10;2. A DHCP client (Client 1) that leases an IP address. &#10;3. A DHCP client (Client 2) that renews its IP address.&#10;4. A non-DHCP client that does not communicate with the DHCP server. &#10;There are arrows pointing between both of the clients and the DHCP Server, which represent lease generation and lease renewal.&#10;"/>
            <p:cNvGrpSpPr/>
            <p:nvPr/>
          </p:nvGrpSpPr>
          <p:grpSpPr>
            <a:xfrm>
              <a:off x="567524" y="890338"/>
              <a:ext cx="6882147" cy="3935325"/>
              <a:chOff x="567524" y="890338"/>
              <a:chExt cx="6882147" cy="3935325"/>
            </a:xfrm>
          </p:grpSpPr>
          <p:sp>
            <p:nvSpPr>
              <p:cNvPr id="12" name="Oval 4" descr="&quot;&quot;"/>
              <p:cNvSpPr txBox="1">
                <a:spLocks noChangeArrowheads="1"/>
              </p:cNvSpPr>
              <p:nvPr/>
            </p:nvSpPr>
            <p:spPr bwMode="auto">
              <a:xfrm>
                <a:off x="1671920" y="1656235"/>
                <a:ext cx="5777751" cy="2647950"/>
              </a:xfrm>
              <a:prstGeom prst="ellipse">
                <a:avLst/>
              </a:prstGeom>
              <a:noFill/>
              <a:ln w="12700">
                <a:solidFill>
                  <a:srgbClr val="0070C0"/>
                </a:solidFill>
                <a:miter lim="800000"/>
                <a:headEnd/>
                <a:tailEnd/>
              </a:ln>
              <a:effectLst/>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FontTx/>
                  <a:buNone/>
                  <a:defRPr/>
                </a:pPr>
                <a:r>
                  <a:rPr lang="en-US" sz="1800" b="1" dirty="0">
                    <a:solidFill>
                      <a:srgbClr val="000000"/>
                    </a:solidFill>
                    <a:latin typeface="Segoe UI" pitchFamily="34" charset="0"/>
                    <a:ea typeface="Segoe UI" pitchFamily="34" charset="0"/>
                    <a:cs typeface="Segoe UI" pitchFamily="34" charset="0"/>
                  </a:rPr>
                  <a:t> </a:t>
                </a:r>
                <a:endParaRPr lang="en-US" sz="1800" dirty="0" smtClean="0">
                  <a:latin typeface="Segoe UI" pitchFamily="34" charset="0"/>
                  <a:ea typeface="Segoe UI" pitchFamily="34" charset="0"/>
                  <a:cs typeface="Segoe UI" pitchFamily="34" charset="0"/>
                </a:endParaRPr>
              </a:p>
            </p:txBody>
          </p:sp>
          <p:grpSp>
            <p:nvGrpSpPr>
              <p:cNvPr id="13" name="Group 12"/>
              <p:cNvGrpSpPr/>
              <p:nvPr/>
            </p:nvGrpSpPr>
            <p:grpSpPr>
              <a:xfrm>
                <a:off x="2478361" y="2516413"/>
                <a:ext cx="2545282" cy="1201441"/>
                <a:chOff x="2478361" y="2839141"/>
                <a:chExt cx="2545282" cy="1201441"/>
              </a:xfrm>
            </p:grpSpPr>
            <p:sp>
              <p:nvSpPr>
                <p:cNvPr id="22" name="AutoShape 17" descr="&quot;&quot;"/>
                <p:cNvSpPr>
                  <a:spLocks noChangeArrowheads="1"/>
                </p:cNvSpPr>
                <p:nvPr/>
              </p:nvSpPr>
              <p:spPr bwMode="auto">
                <a:xfrm>
                  <a:off x="2478361" y="3680219"/>
                  <a:ext cx="2545282" cy="360363"/>
                </a:xfrm>
                <a:prstGeom prst="leftRightArrow">
                  <a:avLst>
                    <a:gd name="adj1" fmla="val 49778"/>
                    <a:gd name="adj2" fmla="val 86787"/>
                  </a:avLst>
                </a:prstGeom>
                <a:solidFill>
                  <a:srgbClr val="FF00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lvl="0" fontAlgn="base">
                    <a:spcBef>
                      <a:spcPct val="0"/>
                    </a:spcBef>
                    <a:spcAft>
                      <a:spcPct val="0"/>
                    </a:spcAft>
                  </a:pPr>
                  <a:endParaRPr lang="en-US" sz="2000" b="1" dirty="0">
                    <a:solidFill>
                      <a:srgbClr val="000000"/>
                    </a:solidFill>
                    <a:latin typeface="Segoe UI" pitchFamily="34" charset="0"/>
                    <a:ea typeface="Segoe UI" pitchFamily="34" charset="0"/>
                    <a:cs typeface="Segoe UI" pitchFamily="34" charset="0"/>
                  </a:endParaRPr>
                </a:p>
              </p:txBody>
            </p:sp>
            <p:sp>
              <p:nvSpPr>
                <p:cNvPr id="23" name="AutoShape 20"/>
                <p:cNvSpPr>
                  <a:spLocks noChangeArrowheads="1"/>
                </p:cNvSpPr>
                <p:nvPr/>
              </p:nvSpPr>
              <p:spPr bwMode="auto">
                <a:xfrm>
                  <a:off x="2799735" y="2839141"/>
                  <a:ext cx="1927225" cy="777184"/>
                </a:xfrm>
                <a:prstGeom prst="roundRect">
                  <a:avLst>
                    <a:gd name="adj" fmla="val 1106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square" lIns="0" tIns="0" rIns="0" bIns="0" anchor="ctr"/>
                <a:lstStyle/>
                <a:p>
                  <a:pPr lvl="0" algn="ctr" fontAlgn="base">
                    <a:spcBef>
                      <a:spcPct val="0"/>
                    </a:spcBef>
                    <a:spcAft>
                      <a:spcPct val="0"/>
                    </a:spcAft>
                  </a:pPr>
                  <a:r>
                    <a:rPr lang="fr-FR" sz="2800" b="1" dirty="0" smtClean="0">
                      <a:solidFill>
                        <a:srgbClr val="000000"/>
                      </a:solidFill>
                      <a:latin typeface="Segoe UI" pitchFamily="34" charset="0"/>
                      <a:ea typeface="Segoe UI" pitchFamily="34" charset="0"/>
                      <a:cs typeface="Segoe UI" pitchFamily="34" charset="0"/>
                    </a:rPr>
                    <a:t>Bail généré </a:t>
                  </a:r>
                  <a:endParaRPr lang="fr-FR" sz="2800" b="1" dirty="0">
                    <a:solidFill>
                      <a:srgbClr val="000000"/>
                    </a:solidFill>
                    <a:latin typeface="Segoe UI" pitchFamily="34" charset="0"/>
                    <a:ea typeface="Segoe UI" pitchFamily="34" charset="0"/>
                    <a:cs typeface="Segoe UI" pitchFamily="34" charset="0"/>
                  </a:endParaRPr>
                </a:p>
              </p:txBody>
            </p:sp>
          </p:gr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0663" y="3253357"/>
                <a:ext cx="885415" cy="1572306"/>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9735" y="890338"/>
                <a:ext cx="1356853" cy="1531793"/>
              </a:xfrm>
              <a:prstGeom prst="rect">
                <a:avLst/>
              </a:prstGeom>
            </p:spPr>
          </p:pic>
          <p:pic>
            <p:nvPicPr>
              <p:cNvPr id="16" name="Picture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50996" y="4120801"/>
                <a:ext cx="964661" cy="634862"/>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524" y="2263918"/>
                <a:ext cx="1356853" cy="1531793"/>
              </a:xfrm>
              <a:prstGeom prst="rect">
                <a:avLst/>
              </a:prstGeom>
            </p:spPr>
          </p:pic>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6960" y="890338"/>
                <a:ext cx="1356853" cy="1531793"/>
              </a:xfrm>
              <a:prstGeom prst="rect">
                <a:avLst/>
              </a:prstGeom>
            </p:spPr>
          </p:pic>
          <p:grpSp>
            <p:nvGrpSpPr>
              <p:cNvPr id="19" name="Group 18"/>
              <p:cNvGrpSpPr/>
              <p:nvPr/>
            </p:nvGrpSpPr>
            <p:grpSpPr>
              <a:xfrm>
                <a:off x="5508572" y="2450886"/>
                <a:ext cx="1715701" cy="736944"/>
                <a:chOff x="5508572" y="2450886"/>
                <a:chExt cx="1715701" cy="736944"/>
              </a:xfrm>
            </p:grpSpPr>
            <p:sp>
              <p:nvSpPr>
                <p:cNvPr id="20" name="AutoShape 19"/>
                <p:cNvSpPr>
                  <a:spLocks noChangeArrowheads="1"/>
                </p:cNvSpPr>
                <p:nvPr/>
              </p:nvSpPr>
              <p:spPr bwMode="auto">
                <a:xfrm>
                  <a:off x="5972199" y="2552711"/>
                  <a:ext cx="1252074" cy="511139"/>
                </a:xfrm>
                <a:prstGeom prst="roundRect">
                  <a:avLst>
                    <a:gd name="adj" fmla="val 11060"/>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square" lIns="0" tIns="0" rIns="0" bIns="0" anchor="ctr"/>
                <a:lstStyle/>
                <a:p>
                  <a:pPr lvl="0" fontAlgn="base">
                    <a:spcBef>
                      <a:spcPct val="0"/>
                    </a:spcBef>
                    <a:spcAft>
                      <a:spcPct val="0"/>
                    </a:spcAft>
                  </a:pPr>
                  <a:r>
                    <a:rPr lang="fr-FR" sz="2000" b="1" dirty="0" smtClean="0">
                      <a:solidFill>
                        <a:srgbClr val="000000"/>
                      </a:solidFill>
                      <a:latin typeface="Segoe UI" pitchFamily="34" charset="0"/>
                      <a:ea typeface="Segoe UI" pitchFamily="34" charset="0"/>
                      <a:cs typeface="Segoe UI" pitchFamily="34" charset="0"/>
                    </a:rPr>
                    <a:t>Bail</a:t>
                  </a:r>
                </a:p>
                <a:p>
                  <a:pPr lvl="0" fontAlgn="base">
                    <a:spcBef>
                      <a:spcPct val="0"/>
                    </a:spcBef>
                    <a:spcAft>
                      <a:spcPct val="0"/>
                    </a:spcAft>
                  </a:pPr>
                  <a:r>
                    <a:rPr lang="fr-FR" sz="2000" b="1" dirty="0" smtClean="0">
                      <a:solidFill>
                        <a:srgbClr val="000000"/>
                      </a:solidFill>
                      <a:latin typeface="Segoe UI" pitchFamily="34" charset="0"/>
                      <a:ea typeface="Segoe UI" pitchFamily="34" charset="0"/>
                      <a:cs typeface="Segoe UI" pitchFamily="34" charset="0"/>
                    </a:rPr>
                    <a:t>renouvelé</a:t>
                  </a:r>
                  <a:endParaRPr lang="fr-FR" sz="2000" b="1" dirty="0">
                    <a:solidFill>
                      <a:srgbClr val="000000"/>
                    </a:solidFill>
                    <a:latin typeface="Segoe UI" pitchFamily="34" charset="0"/>
                    <a:ea typeface="Segoe UI" pitchFamily="34" charset="0"/>
                    <a:cs typeface="Segoe UI" pitchFamily="34" charset="0"/>
                  </a:endParaRPr>
                </a:p>
              </p:txBody>
            </p:sp>
            <p:sp>
              <p:nvSpPr>
                <p:cNvPr id="21" name="AutoShape 18" descr="&quot;&quot;&#10;"/>
                <p:cNvSpPr>
                  <a:spLocks noChangeArrowheads="1"/>
                </p:cNvSpPr>
                <p:nvPr/>
              </p:nvSpPr>
              <p:spPr bwMode="auto">
                <a:xfrm rot="16200000">
                  <a:off x="5307581" y="2651877"/>
                  <a:ext cx="736944" cy="334962"/>
                </a:xfrm>
                <a:prstGeom prst="leftRightArrow">
                  <a:avLst>
                    <a:gd name="adj1" fmla="val 50000"/>
                    <a:gd name="adj2" fmla="val 62938"/>
                  </a:avLst>
                </a:prstGeom>
                <a:solidFill>
                  <a:srgbClr val="FF00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lvl="0" fontAlgn="base">
                    <a:spcBef>
                      <a:spcPct val="0"/>
                    </a:spcBef>
                    <a:spcAft>
                      <a:spcPct val="0"/>
                    </a:spcAft>
                  </a:pPr>
                  <a:endParaRPr lang="en-US" sz="2000" b="1" dirty="0">
                    <a:solidFill>
                      <a:srgbClr val="000000"/>
                    </a:solidFill>
                    <a:latin typeface="Segoe UI" pitchFamily="34" charset="0"/>
                    <a:ea typeface="Segoe UI" pitchFamily="34" charset="0"/>
                    <a:cs typeface="Segoe UI" pitchFamily="34" charset="0"/>
                  </a:endParaRPr>
                </a:p>
              </p:txBody>
            </p:sp>
          </p:grpSp>
        </p:grpSp>
        <p:sp>
          <p:nvSpPr>
            <p:cNvPr id="10" name="AutoShape 7"/>
            <p:cNvSpPr>
              <a:spLocks noChangeArrowheads="1"/>
            </p:cNvSpPr>
            <p:nvPr/>
          </p:nvSpPr>
          <p:spPr bwMode="auto">
            <a:xfrm>
              <a:off x="6677493" y="4254233"/>
              <a:ext cx="1981828" cy="394892"/>
            </a:xfrm>
            <a:prstGeom prst="roundRect">
              <a:avLst>
                <a:gd name="adj" fmla="val 11060"/>
              </a:avLst>
            </a:prstGeom>
            <a:solidFill>
              <a:schemeClr val="bg1"/>
            </a:solidFill>
            <a:ln w="9525" algn="ctr">
              <a:noFill/>
              <a:round/>
              <a:headEnd/>
              <a:tailEnd/>
            </a:ln>
            <a:effectLst/>
          </p:spPr>
          <p:txBody>
            <a:bodyPr wrap="square" lIns="0" tIns="0" rIns="0" bIns="0" anchor="ctr"/>
            <a:lstStyle/>
            <a:p>
              <a:pPr lvl="0" fontAlgn="base">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DHCP database</a:t>
              </a:r>
            </a:p>
          </p:txBody>
        </p:sp>
        <p:sp>
          <p:nvSpPr>
            <p:cNvPr id="11" name="AutoShape 7"/>
            <p:cNvSpPr>
              <a:spLocks noChangeArrowheads="1"/>
            </p:cNvSpPr>
            <p:nvPr/>
          </p:nvSpPr>
          <p:spPr bwMode="auto">
            <a:xfrm>
              <a:off x="6047731" y="3644618"/>
              <a:ext cx="1616455" cy="394892"/>
            </a:xfrm>
            <a:prstGeom prst="roundRect">
              <a:avLst>
                <a:gd name="adj" fmla="val 11060"/>
              </a:avLst>
            </a:prstGeom>
            <a:solidFill>
              <a:schemeClr val="bg1"/>
            </a:solidFill>
            <a:ln w="9525" algn="ctr">
              <a:noFill/>
              <a:round/>
              <a:headEnd/>
              <a:tailEnd/>
            </a:ln>
            <a:effectLst/>
          </p:spPr>
          <p:txBody>
            <a:bodyPr wrap="square" lIns="0" tIns="0" rIns="0" bIns="0" anchor="ctr"/>
            <a:lstStyle/>
            <a:p>
              <a:pPr lvl="0" fontAlgn="base">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DHCP server</a:t>
              </a:r>
            </a:p>
          </p:txBody>
        </p:sp>
      </p:grpSp>
    </p:spTree>
    <p:extLst>
      <p:ext uri="{BB962C8B-B14F-4D97-AF65-F5344CB8AC3E}">
        <p14:creationId xmlns:p14="http://schemas.microsoft.com/office/powerpoint/2010/main" val="21430674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computers"/>
          <p:cNvGrpSpPr/>
          <p:nvPr/>
        </p:nvGrpSpPr>
        <p:grpSpPr>
          <a:xfrm>
            <a:off x="1143000" y="1295400"/>
            <a:ext cx="6805465" cy="3452027"/>
            <a:chOff x="766317" y="1729573"/>
            <a:chExt cx="6805465" cy="3452027"/>
          </a:xfrm>
        </p:grpSpPr>
        <p:sp>
          <p:nvSpPr>
            <p:cNvPr id="51" name="Oval 50"/>
            <p:cNvSpPr/>
            <p:nvPr/>
          </p:nvSpPr>
          <p:spPr>
            <a:xfrm>
              <a:off x="914401" y="2013956"/>
              <a:ext cx="6562724" cy="30152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nvGrpSpPr>
            <p:cNvPr id="52" name="Group 51"/>
            <p:cNvGrpSpPr/>
            <p:nvPr/>
          </p:nvGrpSpPr>
          <p:grpSpPr>
            <a:xfrm>
              <a:off x="1142796" y="1881972"/>
              <a:ext cx="2181600" cy="1208839"/>
              <a:chOff x="1142796" y="1523999"/>
              <a:chExt cx="2181600" cy="1208839"/>
            </a:xfrm>
          </p:grpSpPr>
          <p:sp>
            <p:nvSpPr>
              <p:cNvPr id="63" name="AutoShape 39"/>
              <p:cNvSpPr>
                <a:spLocks noChangeArrowheads="1"/>
              </p:cNvSpPr>
              <p:nvPr/>
            </p:nvSpPr>
            <p:spPr bwMode="auto">
              <a:xfrm>
                <a:off x="1142796" y="2337111"/>
                <a:ext cx="2181600" cy="395727"/>
              </a:xfrm>
              <a:prstGeom prst="roundRect">
                <a:avLst>
                  <a:gd name="adj" fmla="val 4167"/>
                </a:avLst>
              </a:prstGeom>
              <a:noFill/>
              <a:ln w="9525">
                <a:noFill/>
                <a:round/>
                <a:headEnd/>
                <a:tailEnd/>
              </a:ln>
            </p:spPr>
            <p:txBody>
              <a:bodyPr wrap="none" lIns="0" tIns="0" rIns="0" bIns="0" anchor="ctr"/>
              <a:lstStyle/>
              <a:p>
                <a:pPr algn="ctr"/>
                <a:r>
                  <a:rPr lang="en-US" sz="1900" b="1" dirty="0" smtClean="0">
                    <a:solidFill>
                      <a:prstClr val="black"/>
                    </a:solidFill>
                    <a:latin typeface="Segoe UI" panose="020B0502040204020203" pitchFamily="34" charset="0"/>
                    <a:ea typeface="Segoe UI" panose="020B0502040204020203" pitchFamily="34" charset="0"/>
                    <a:cs typeface="Segoe UI" panose="020B0502040204020203" pitchFamily="34" charset="0"/>
                  </a:rPr>
                  <a:t>DHCP Server2</a:t>
                </a:r>
                <a:endParaRPr lang="en-US" sz="1900" b="1" dirty="0">
                  <a:solidFill>
                    <a:prstClr val="black"/>
                  </a:solidFill>
                  <a:latin typeface="Segoe UI" panose="020B0502040204020203" pitchFamily="34" charset="0"/>
                  <a:ea typeface="Segoe UI" panose="020B0502040204020203" pitchFamily="34" charset="0"/>
                  <a:cs typeface="Segoe UI" panose="020B0502040204020203" pitchFamily="34" charset="0"/>
                </a:endParaRPr>
              </a:p>
            </p:txBody>
          </p:sp>
          <p:pic>
            <p:nvPicPr>
              <p:cNvPr id="64" name="Picture 6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3197" y="1523999"/>
                <a:ext cx="500799" cy="889311"/>
              </a:xfrm>
              <a:prstGeom prst="rect">
                <a:avLst/>
              </a:prstGeom>
            </p:spPr>
          </p:pic>
        </p:grpSp>
        <p:pic>
          <p:nvPicPr>
            <p:cNvPr id="54" name="Picture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02238" y="1729573"/>
              <a:ext cx="1023586" cy="1155558"/>
            </a:xfrm>
            <a:prstGeom prst="rect">
              <a:avLst/>
            </a:prstGeom>
          </p:spPr>
        </p:pic>
        <p:grpSp>
          <p:nvGrpSpPr>
            <p:cNvPr id="55" name="Group 54"/>
            <p:cNvGrpSpPr/>
            <p:nvPr/>
          </p:nvGrpSpPr>
          <p:grpSpPr>
            <a:xfrm>
              <a:off x="766317" y="3518029"/>
              <a:ext cx="2181600" cy="1183344"/>
              <a:chOff x="766317" y="3160056"/>
              <a:chExt cx="2181600" cy="1183344"/>
            </a:xfrm>
          </p:grpSpPr>
          <p:sp>
            <p:nvSpPr>
              <p:cNvPr id="61" name="AutoShape 39"/>
              <p:cNvSpPr>
                <a:spLocks noChangeArrowheads="1"/>
              </p:cNvSpPr>
              <p:nvPr/>
            </p:nvSpPr>
            <p:spPr bwMode="auto">
              <a:xfrm>
                <a:off x="766317" y="4145537"/>
                <a:ext cx="2181600" cy="197863"/>
              </a:xfrm>
              <a:prstGeom prst="roundRect">
                <a:avLst>
                  <a:gd name="adj" fmla="val 4167"/>
                </a:avLst>
              </a:prstGeom>
              <a:solidFill>
                <a:schemeClr val="bg1"/>
              </a:solidFill>
              <a:ln w="9525">
                <a:noFill/>
                <a:round/>
                <a:headEnd/>
                <a:tailEnd/>
              </a:ln>
            </p:spPr>
            <p:txBody>
              <a:bodyPr wrap="none" lIns="0" tIns="0" rIns="0" bIns="0" anchor="ctr"/>
              <a:lstStyle/>
              <a:p>
                <a:pPr algn="ctr"/>
                <a:r>
                  <a:rPr lang="en-US" sz="1900" b="1" dirty="0" smtClean="0">
                    <a:solidFill>
                      <a:prstClr val="black"/>
                    </a:solidFill>
                    <a:latin typeface="Segoe UI" panose="020B0502040204020203" pitchFamily="34" charset="0"/>
                    <a:ea typeface="Segoe UI" panose="020B0502040204020203" pitchFamily="34" charset="0"/>
                    <a:cs typeface="Segoe UI" panose="020B0502040204020203" pitchFamily="34" charset="0"/>
                  </a:rPr>
                  <a:t>DHCP Server1</a:t>
                </a:r>
                <a:endParaRPr lang="en-US" sz="1900" b="1" dirty="0">
                  <a:solidFill>
                    <a:prstClr val="black"/>
                  </a:solidFill>
                  <a:latin typeface="Segoe UI" panose="020B0502040204020203" pitchFamily="34" charset="0"/>
                  <a:ea typeface="Segoe UI" panose="020B0502040204020203" pitchFamily="34" charset="0"/>
                  <a:cs typeface="Segoe UI" panose="020B0502040204020203" pitchFamily="34" charset="0"/>
                </a:endParaRPr>
              </a:p>
            </p:txBody>
          </p:sp>
          <p:pic>
            <p:nvPicPr>
              <p:cNvPr id="62" name="Picture 6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00573" y="3160056"/>
                <a:ext cx="513088" cy="911134"/>
              </a:xfrm>
              <a:prstGeom prst="rect">
                <a:avLst/>
              </a:prstGeom>
            </p:spPr>
          </p:pic>
        </p:grpSp>
        <p:grpSp>
          <p:nvGrpSpPr>
            <p:cNvPr id="56" name="Group 55"/>
            <p:cNvGrpSpPr/>
            <p:nvPr/>
          </p:nvGrpSpPr>
          <p:grpSpPr>
            <a:xfrm>
              <a:off x="5809741" y="3273605"/>
              <a:ext cx="1762041" cy="1432426"/>
              <a:chOff x="5809741" y="2915632"/>
              <a:chExt cx="1762041" cy="1432426"/>
            </a:xfrm>
          </p:grpSpPr>
          <p:sp>
            <p:nvSpPr>
              <p:cNvPr id="59" name="AutoShape 37"/>
              <p:cNvSpPr>
                <a:spLocks noChangeArrowheads="1"/>
              </p:cNvSpPr>
              <p:nvPr/>
            </p:nvSpPr>
            <p:spPr bwMode="auto">
              <a:xfrm>
                <a:off x="5809741" y="4009503"/>
                <a:ext cx="1762041" cy="338555"/>
              </a:xfrm>
              <a:prstGeom prst="roundRect">
                <a:avLst>
                  <a:gd name="adj" fmla="val 4167"/>
                </a:avLst>
              </a:prstGeom>
              <a:solidFill>
                <a:schemeClr val="bg1"/>
              </a:solidFill>
              <a:ln w="9525" algn="ctr">
                <a:noFill/>
                <a:round/>
                <a:headEnd/>
                <a:tailEnd/>
              </a:ln>
            </p:spPr>
            <p:txBody>
              <a:bodyPr wrap="none" lIns="0" tIns="0" rIns="0" bIns="0" anchor="ctr"/>
              <a:lstStyle/>
              <a:p>
                <a:pPr algn="ctr"/>
                <a:r>
                  <a:rPr lang="en-US" sz="1900" b="1" dirty="0">
                    <a:solidFill>
                      <a:prstClr val="black"/>
                    </a:solidFill>
                    <a:latin typeface="Segoe UI" panose="020B0502040204020203" pitchFamily="34" charset="0"/>
                    <a:ea typeface="Segoe UI" panose="020B0502040204020203" pitchFamily="34" charset="0"/>
                    <a:cs typeface="Segoe UI" panose="020B0502040204020203" pitchFamily="34" charset="0"/>
                  </a:rPr>
                  <a:t>DHCP </a:t>
                </a:r>
                <a:r>
                  <a:rPr lang="en-US" sz="1900" b="1" dirty="0" smtClean="0">
                    <a:solidFill>
                      <a:prstClr val="black"/>
                    </a:solidFill>
                    <a:latin typeface="Segoe UI" panose="020B0502040204020203" pitchFamily="34" charset="0"/>
                    <a:ea typeface="Segoe UI" panose="020B0502040204020203" pitchFamily="34" charset="0"/>
                    <a:cs typeface="Segoe UI" panose="020B0502040204020203" pitchFamily="34" charset="0"/>
                  </a:rPr>
                  <a:t>client</a:t>
                </a:r>
                <a:endParaRPr lang="en-US" sz="1900" b="1" dirty="0">
                  <a:solidFill>
                    <a:prstClr val="black"/>
                  </a:solidFill>
                  <a:latin typeface="Segoe UI" panose="020B0502040204020203" pitchFamily="34" charset="0"/>
                  <a:ea typeface="Segoe UI" panose="020B0502040204020203" pitchFamily="34" charset="0"/>
                  <a:cs typeface="Segoe UI" panose="020B0502040204020203" pitchFamily="34" charset="0"/>
                </a:endParaRPr>
              </a:p>
            </p:txBody>
          </p:sp>
          <p:pic>
            <p:nvPicPr>
              <p:cNvPr id="60" name="Picture 5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8655" y="2915632"/>
                <a:ext cx="1023586" cy="1155558"/>
              </a:xfrm>
              <a:prstGeom prst="rect">
                <a:avLst/>
              </a:prstGeom>
            </p:spPr>
          </p:pic>
        </p:grpSp>
        <p:pic>
          <p:nvPicPr>
            <p:cNvPr id="58" name="Picture 5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70765" y="3973596"/>
              <a:ext cx="1070043" cy="1208004"/>
            </a:xfrm>
            <a:prstGeom prst="rect">
              <a:avLst/>
            </a:prstGeom>
          </p:spPr>
        </p:pic>
      </p:grpSp>
      <p:pic>
        <p:nvPicPr>
          <p:cNvPr id="183" name="stop"/>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8125" y="609672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5" name="step 4 packet 2"/>
          <p:cNvGrpSpPr/>
          <p:nvPr/>
        </p:nvGrpSpPr>
        <p:grpSpPr>
          <a:xfrm>
            <a:off x="4355003" y="2688020"/>
            <a:ext cx="1005840" cy="158416"/>
            <a:chOff x="3525222" y="2331463"/>
            <a:chExt cx="1119079" cy="197864"/>
          </a:xfrm>
        </p:grpSpPr>
        <p:sp>
          <p:nvSpPr>
            <p:cNvPr id="176" name="Rectangle 175"/>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77" name="Rectangle 176"/>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78" name="Rectangle 177"/>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79" name="step 4 packet"/>
          <p:cNvGrpSpPr/>
          <p:nvPr/>
        </p:nvGrpSpPr>
        <p:grpSpPr>
          <a:xfrm>
            <a:off x="4355003" y="2688020"/>
            <a:ext cx="1005840" cy="158416"/>
            <a:chOff x="3525222" y="2331463"/>
            <a:chExt cx="1119079" cy="197864"/>
          </a:xfrm>
        </p:grpSpPr>
        <p:sp>
          <p:nvSpPr>
            <p:cNvPr id="180" name="Rectangle 179"/>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81" name="Rectangle 180"/>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82" name="Rectangle 181"/>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67" name="step 4 packet 4"/>
          <p:cNvGrpSpPr/>
          <p:nvPr/>
        </p:nvGrpSpPr>
        <p:grpSpPr>
          <a:xfrm>
            <a:off x="4355003" y="2688020"/>
            <a:ext cx="1005840" cy="158416"/>
            <a:chOff x="3525222" y="2331463"/>
            <a:chExt cx="1119079" cy="197864"/>
          </a:xfrm>
        </p:grpSpPr>
        <p:sp>
          <p:nvSpPr>
            <p:cNvPr id="168" name="Rectangle 167"/>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69" name="Rectangle 168"/>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70" name="Rectangle 169"/>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71" name="step 4 packet 3"/>
          <p:cNvGrpSpPr/>
          <p:nvPr/>
        </p:nvGrpSpPr>
        <p:grpSpPr>
          <a:xfrm>
            <a:off x="4355003" y="2688020"/>
            <a:ext cx="1005840" cy="158416"/>
            <a:chOff x="3525222" y="2331463"/>
            <a:chExt cx="1119079" cy="197864"/>
          </a:xfrm>
        </p:grpSpPr>
        <p:sp>
          <p:nvSpPr>
            <p:cNvPr id="172" name="Rectangle 171"/>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73" name="Rectangle 172"/>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74" name="Rectangle 173"/>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sp>
        <p:nvSpPr>
          <p:cNvPr id="24" name="text"/>
          <p:cNvSpPr/>
          <p:nvPr/>
        </p:nvSpPr>
        <p:spPr>
          <a:xfrm>
            <a:off x="1707004" y="5222770"/>
            <a:ext cx="5760596" cy="1200329"/>
          </a:xfrm>
          <a:prstGeom prst="rect">
            <a:avLst/>
          </a:prstGeom>
        </p:spPr>
        <p:txBody>
          <a:bodyPr wrap="square">
            <a:spAutoFit/>
          </a:bodyPr>
          <a:lstStyle/>
          <a:p>
            <a:pPr marL="342900" indent="-342900">
              <a:buFont typeface="+mj-lt"/>
              <a:buAutoNum type="arabicPeriod"/>
            </a:pPr>
            <a:r>
              <a:rPr lang="en-US" dirty="0" smtClean="0">
                <a:solidFill>
                  <a:prstClr val="black"/>
                </a:solidFill>
                <a:latin typeface="Segoe UI" panose="020B0502040204020203" pitchFamily="34" charset="0"/>
                <a:ea typeface="Segoe UI" pitchFamily="34" charset="0"/>
                <a:cs typeface="Segoe UI" panose="020B0502040204020203" pitchFamily="34" charset="0"/>
              </a:rPr>
              <a:t>DHCP client broadcasts a DHCPDISCOVER packet</a:t>
            </a:r>
          </a:p>
          <a:p>
            <a:pPr marL="342900" indent="-342900">
              <a:buFont typeface="+mj-lt"/>
              <a:buAutoNum type="arabicPeriod"/>
            </a:pPr>
            <a:r>
              <a:rPr lang="en-US" dirty="0" smtClean="0">
                <a:solidFill>
                  <a:prstClr val="black"/>
                </a:solidFill>
                <a:latin typeface="Segoe UI" panose="020B0502040204020203" pitchFamily="34" charset="0"/>
                <a:ea typeface="Segoe UI" pitchFamily="34" charset="0"/>
                <a:cs typeface="Segoe UI" panose="020B0502040204020203" pitchFamily="34" charset="0"/>
              </a:rPr>
              <a:t>DHCP servers broadcast a DHCPOFFER packet</a:t>
            </a:r>
          </a:p>
          <a:p>
            <a:pPr marL="342900" indent="-342900">
              <a:buFont typeface="+mj-lt"/>
              <a:buAutoNum type="arabicPeriod"/>
            </a:pPr>
            <a:r>
              <a:rPr lang="en-US" dirty="0" smtClean="0">
                <a:solidFill>
                  <a:prstClr val="black"/>
                </a:solidFill>
                <a:latin typeface="Segoe UI" panose="020B0502040204020203" pitchFamily="34" charset="0"/>
                <a:ea typeface="Segoe UI" pitchFamily="34" charset="0"/>
                <a:cs typeface="Segoe UI" panose="020B0502040204020203" pitchFamily="34" charset="0"/>
              </a:rPr>
              <a:t>DHCP </a:t>
            </a:r>
            <a:r>
              <a:rPr lang="en-US" dirty="0">
                <a:solidFill>
                  <a:prstClr val="black"/>
                </a:solidFill>
                <a:latin typeface="Segoe UI" panose="020B0502040204020203" pitchFamily="34" charset="0"/>
                <a:ea typeface="Segoe UI" panose="020B0502040204020203" pitchFamily="34" charset="0"/>
                <a:cs typeface="Segoe UI" panose="020B0502040204020203" pitchFamily="34" charset="0"/>
              </a:rPr>
              <a:t>client broadcasts a DHCPREQUEST </a:t>
            </a:r>
            <a:r>
              <a:rPr lang="en-US" dirty="0" smtClean="0">
                <a:solidFill>
                  <a:prstClr val="black"/>
                </a:solidFill>
                <a:latin typeface="Segoe UI" panose="020B0502040204020203" pitchFamily="34" charset="0"/>
                <a:ea typeface="Segoe UI" panose="020B0502040204020203" pitchFamily="34" charset="0"/>
                <a:cs typeface="Segoe UI" panose="020B0502040204020203" pitchFamily="34" charset="0"/>
              </a:rPr>
              <a:t>packet</a:t>
            </a:r>
          </a:p>
          <a:p>
            <a:pPr marL="342900" indent="-342900">
              <a:buFont typeface="+mj-lt"/>
              <a:buAutoNum type="arabicPeriod"/>
            </a:pPr>
            <a:r>
              <a:rPr lang="en-US" dirty="0">
                <a:solidFill>
                  <a:prstClr val="black"/>
                </a:solidFill>
                <a:latin typeface="Segoe UI" panose="020B0502040204020203" pitchFamily="34" charset="0"/>
                <a:ea typeface="Segoe UI" panose="020B0502040204020203" pitchFamily="34" charset="0"/>
                <a:cs typeface="Segoe UI" panose="020B0502040204020203" pitchFamily="34" charset="0"/>
              </a:rPr>
              <a:t>DHCP Server1 broadcasts a DHCPACK </a:t>
            </a:r>
            <a:r>
              <a:rPr lang="en-US" dirty="0" smtClean="0">
                <a:solidFill>
                  <a:prstClr val="black"/>
                </a:solidFill>
                <a:latin typeface="Segoe UI" panose="020B0502040204020203" pitchFamily="34" charset="0"/>
                <a:ea typeface="Segoe UI" panose="020B0502040204020203" pitchFamily="34" charset="0"/>
                <a:cs typeface="Segoe UI" panose="020B0502040204020203" pitchFamily="34" charset="0"/>
              </a:rPr>
              <a:t>packet</a:t>
            </a:r>
            <a:endParaRPr lang="en-US" dirty="0">
              <a:solidFill>
                <a:prstClr val="black"/>
              </a:solidFill>
              <a:latin typeface="Segoe UI" panose="020B0502040204020203" pitchFamily="34" charset="0"/>
              <a:ea typeface="Segoe UI" panose="020B0502040204020203" pitchFamily="34" charset="0"/>
              <a:cs typeface="Segoe UI" panose="020B0502040204020203" pitchFamily="34" charset="0"/>
            </a:endParaRPr>
          </a:p>
        </p:txBody>
      </p:sp>
      <p:grpSp>
        <p:nvGrpSpPr>
          <p:cNvPr id="163" name="step 4"/>
          <p:cNvGrpSpPr/>
          <p:nvPr/>
        </p:nvGrpSpPr>
        <p:grpSpPr>
          <a:xfrm>
            <a:off x="1957781" y="3513673"/>
            <a:ext cx="1005840" cy="158416"/>
            <a:chOff x="3525222" y="2331463"/>
            <a:chExt cx="1119079" cy="197864"/>
          </a:xfrm>
        </p:grpSpPr>
        <p:sp>
          <p:nvSpPr>
            <p:cNvPr id="164" name="Rectangle 163"/>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65" name="Rectangle 164"/>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66" name="Rectangle 165"/>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47" name="3-packet 6:00"/>
          <p:cNvGrpSpPr/>
          <p:nvPr/>
        </p:nvGrpSpPr>
        <p:grpSpPr>
          <a:xfrm>
            <a:off x="4355003" y="2688020"/>
            <a:ext cx="1005840" cy="158416"/>
            <a:chOff x="9891406" y="3953789"/>
            <a:chExt cx="895968" cy="158416"/>
          </a:xfrm>
        </p:grpSpPr>
        <p:sp>
          <p:nvSpPr>
            <p:cNvPr id="148" name="Rectangle 147"/>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49" name="Rectangle 148"/>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50" name="Rectangle 149"/>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51" name="3-packet 8:00"/>
          <p:cNvGrpSpPr/>
          <p:nvPr/>
        </p:nvGrpSpPr>
        <p:grpSpPr>
          <a:xfrm>
            <a:off x="4355003" y="2688020"/>
            <a:ext cx="1005840" cy="158416"/>
            <a:chOff x="9891406" y="3953789"/>
            <a:chExt cx="895968" cy="158416"/>
          </a:xfrm>
        </p:grpSpPr>
        <p:sp>
          <p:nvSpPr>
            <p:cNvPr id="152" name="Rectangle 151"/>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53" name="Rectangle 152"/>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54" name="Rectangle 153"/>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55" name="3-packet 11:00"/>
          <p:cNvGrpSpPr/>
          <p:nvPr/>
        </p:nvGrpSpPr>
        <p:grpSpPr>
          <a:xfrm>
            <a:off x="4355003" y="2688020"/>
            <a:ext cx="1005840" cy="158416"/>
            <a:chOff x="9891406" y="3953789"/>
            <a:chExt cx="788229" cy="158416"/>
          </a:xfrm>
        </p:grpSpPr>
        <p:sp>
          <p:nvSpPr>
            <p:cNvPr id="156" name="Rectangle 155"/>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57" name="Rectangle 156"/>
            <p:cNvSpPr/>
            <p:nvPr/>
          </p:nvSpPr>
          <p:spPr>
            <a:xfrm>
              <a:off x="105010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58" name="Rectangle 157"/>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59" name="3-packet 1:00"/>
          <p:cNvGrpSpPr/>
          <p:nvPr/>
        </p:nvGrpSpPr>
        <p:grpSpPr>
          <a:xfrm>
            <a:off x="4355003" y="2688020"/>
            <a:ext cx="1005840" cy="158416"/>
            <a:chOff x="9891406" y="3953789"/>
            <a:chExt cx="895968" cy="158416"/>
          </a:xfrm>
        </p:grpSpPr>
        <p:sp>
          <p:nvSpPr>
            <p:cNvPr id="160" name="Rectangle 159"/>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61" name="Rectangle 160"/>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62" name="Rectangle 161"/>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43" name="3-packet 1"/>
          <p:cNvGrpSpPr/>
          <p:nvPr/>
        </p:nvGrpSpPr>
        <p:grpSpPr>
          <a:xfrm>
            <a:off x="6019799" y="3462349"/>
            <a:ext cx="1005840" cy="158416"/>
            <a:chOff x="3468936" y="2331463"/>
            <a:chExt cx="1119080" cy="197864"/>
          </a:xfrm>
        </p:grpSpPr>
        <p:sp>
          <p:nvSpPr>
            <p:cNvPr id="144" name="Rectangle 143"/>
            <p:cNvSpPr/>
            <p:nvPr/>
          </p:nvSpPr>
          <p:spPr>
            <a:xfrm>
              <a:off x="3677515"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45" name="Rectangle 144"/>
            <p:cNvSpPr/>
            <p:nvPr/>
          </p:nvSpPr>
          <p:spPr>
            <a:xfrm>
              <a:off x="4364905"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46" name="Rectangle 145"/>
            <p:cNvSpPr/>
            <p:nvPr/>
          </p:nvSpPr>
          <p:spPr>
            <a:xfrm>
              <a:off x="3468936" y="2331463"/>
              <a:ext cx="223110"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86" name="2-5"/>
          <p:cNvGrpSpPr/>
          <p:nvPr/>
        </p:nvGrpSpPr>
        <p:grpSpPr>
          <a:xfrm>
            <a:off x="4355003" y="2688020"/>
            <a:ext cx="1005840" cy="368663"/>
            <a:chOff x="4134331" y="2667000"/>
            <a:chExt cx="902835" cy="368663"/>
          </a:xfrm>
        </p:grpSpPr>
        <p:grpSp>
          <p:nvGrpSpPr>
            <p:cNvPr id="187" name="Group 186"/>
            <p:cNvGrpSpPr/>
            <p:nvPr/>
          </p:nvGrpSpPr>
          <p:grpSpPr>
            <a:xfrm>
              <a:off x="4134331" y="2667000"/>
              <a:ext cx="895968" cy="158416"/>
              <a:chOff x="3512095" y="2331463"/>
              <a:chExt cx="1119079" cy="197864"/>
            </a:xfrm>
          </p:grpSpPr>
          <p:sp>
            <p:nvSpPr>
              <p:cNvPr id="192" name="Rectangle 191"/>
              <p:cNvSpPr/>
              <p:nvPr/>
            </p:nvSpPr>
            <p:spPr>
              <a:xfrm>
                <a:off x="3720673"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93" name="Rectangle 192"/>
              <p:cNvSpPr/>
              <p:nvPr/>
            </p:nvSpPr>
            <p:spPr>
              <a:xfrm>
                <a:off x="4408063"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94" name="Rectangle 193"/>
              <p:cNvSpPr/>
              <p:nvPr/>
            </p:nvSpPr>
            <p:spPr>
              <a:xfrm>
                <a:off x="3512095"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88" name="Group 187"/>
            <p:cNvGrpSpPr/>
            <p:nvPr/>
          </p:nvGrpSpPr>
          <p:grpSpPr>
            <a:xfrm>
              <a:off x="4141197" y="2877246"/>
              <a:ext cx="895969" cy="158417"/>
              <a:chOff x="3517527" y="2331462"/>
              <a:chExt cx="1119078" cy="197865"/>
            </a:xfrm>
          </p:grpSpPr>
          <p:sp>
            <p:nvSpPr>
              <p:cNvPr id="189" name="Rectangle 188"/>
              <p:cNvSpPr/>
              <p:nvPr/>
            </p:nvSpPr>
            <p:spPr>
              <a:xfrm>
                <a:off x="3726105"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90" name="Rectangle 189"/>
              <p:cNvSpPr/>
              <p:nvPr/>
            </p:nvSpPr>
            <p:spPr>
              <a:xfrm>
                <a:off x="4413495" y="2331462"/>
                <a:ext cx="223110"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91" name="Rectangle 190"/>
              <p:cNvSpPr/>
              <p:nvPr/>
            </p:nvSpPr>
            <p:spPr>
              <a:xfrm>
                <a:off x="3517527"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134" name="2-4"/>
          <p:cNvGrpSpPr/>
          <p:nvPr/>
        </p:nvGrpSpPr>
        <p:grpSpPr>
          <a:xfrm>
            <a:off x="4355003" y="2688020"/>
            <a:ext cx="1005840" cy="368663"/>
            <a:chOff x="4134331" y="2667000"/>
            <a:chExt cx="902835" cy="368663"/>
          </a:xfrm>
        </p:grpSpPr>
        <p:grpSp>
          <p:nvGrpSpPr>
            <p:cNvPr id="135" name="Group 134"/>
            <p:cNvGrpSpPr/>
            <p:nvPr/>
          </p:nvGrpSpPr>
          <p:grpSpPr>
            <a:xfrm>
              <a:off x="4134331" y="2667000"/>
              <a:ext cx="895968" cy="158416"/>
              <a:chOff x="3512095" y="2331463"/>
              <a:chExt cx="1119079" cy="197864"/>
            </a:xfrm>
          </p:grpSpPr>
          <p:sp>
            <p:nvSpPr>
              <p:cNvPr id="140" name="Rectangle 139"/>
              <p:cNvSpPr/>
              <p:nvPr/>
            </p:nvSpPr>
            <p:spPr>
              <a:xfrm>
                <a:off x="3720673"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41" name="Rectangle 140"/>
              <p:cNvSpPr/>
              <p:nvPr/>
            </p:nvSpPr>
            <p:spPr>
              <a:xfrm>
                <a:off x="4408063"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42" name="Rectangle 141"/>
              <p:cNvSpPr/>
              <p:nvPr/>
            </p:nvSpPr>
            <p:spPr>
              <a:xfrm>
                <a:off x="3512095"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36" name="Group 135"/>
            <p:cNvGrpSpPr/>
            <p:nvPr/>
          </p:nvGrpSpPr>
          <p:grpSpPr>
            <a:xfrm>
              <a:off x="4141197" y="2877246"/>
              <a:ext cx="895969" cy="158417"/>
              <a:chOff x="3517527" y="2331462"/>
              <a:chExt cx="1119078" cy="197865"/>
            </a:xfrm>
          </p:grpSpPr>
          <p:sp>
            <p:nvSpPr>
              <p:cNvPr id="137" name="Rectangle 136"/>
              <p:cNvSpPr/>
              <p:nvPr/>
            </p:nvSpPr>
            <p:spPr>
              <a:xfrm>
                <a:off x="3726105"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38" name="Rectangle 137"/>
              <p:cNvSpPr/>
              <p:nvPr/>
            </p:nvSpPr>
            <p:spPr>
              <a:xfrm>
                <a:off x="4413495" y="2331462"/>
                <a:ext cx="223110"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39" name="Rectangle 138"/>
              <p:cNvSpPr/>
              <p:nvPr/>
            </p:nvSpPr>
            <p:spPr>
              <a:xfrm>
                <a:off x="3517527"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125" name="2-3"/>
          <p:cNvGrpSpPr/>
          <p:nvPr/>
        </p:nvGrpSpPr>
        <p:grpSpPr>
          <a:xfrm>
            <a:off x="4355003" y="2688020"/>
            <a:ext cx="1005840" cy="368661"/>
            <a:chOff x="4144840" y="2667000"/>
            <a:chExt cx="898480" cy="368661"/>
          </a:xfrm>
        </p:grpSpPr>
        <p:grpSp>
          <p:nvGrpSpPr>
            <p:cNvPr id="126" name="Group 125"/>
            <p:cNvGrpSpPr/>
            <p:nvPr/>
          </p:nvGrpSpPr>
          <p:grpSpPr>
            <a:xfrm>
              <a:off x="4144840" y="2667000"/>
              <a:ext cx="895968" cy="158416"/>
              <a:chOff x="3525222" y="2331463"/>
              <a:chExt cx="1119079" cy="197864"/>
            </a:xfrm>
          </p:grpSpPr>
          <p:sp>
            <p:nvSpPr>
              <p:cNvPr id="131" name="Rectangle 130"/>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32" name="Rectangle 131"/>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33" name="Rectangle 132"/>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27" name="Group 126"/>
            <p:cNvGrpSpPr/>
            <p:nvPr/>
          </p:nvGrpSpPr>
          <p:grpSpPr>
            <a:xfrm>
              <a:off x="4147352" y="2877245"/>
              <a:ext cx="895968" cy="158416"/>
              <a:chOff x="3525222" y="2331463"/>
              <a:chExt cx="1119079" cy="197864"/>
            </a:xfrm>
          </p:grpSpPr>
          <p:sp>
            <p:nvSpPr>
              <p:cNvPr id="128" name="Rectangle 127"/>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9" name="Rectangle 128"/>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30" name="Rectangle 129"/>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116" name="2-2"/>
          <p:cNvGrpSpPr/>
          <p:nvPr/>
        </p:nvGrpSpPr>
        <p:grpSpPr>
          <a:xfrm>
            <a:off x="4355003" y="2688020"/>
            <a:ext cx="1005840" cy="368661"/>
            <a:chOff x="4144840" y="2667000"/>
            <a:chExt cx="898480" cy="368661"/>
          </a:xfrm>
        </p:grpSpPr>
        <p:grpSp>
          <p:nvGrpSpPr>
            <p:cNvPr id="117" name="Group 116"/>
            <p:cNvGrpSpPr/>
            <p:nvPr/>
          </p:nvGrpSpPr>
          <p:grpSpPr>
            <a:xfrm>
              <a:off x="4144840" y="2667000"/>
              <a:ext cx="895968" cy="158416"/>
              <a:chOff x="3525222" y="2331463"/>
              <a:chExt cx="1119079" cy="197864"/>
            </a:xfrm>
          </p:grpSpPr>
          <p:sp>
            <p:nvSpPr>
              <p:cNvPr id="122" name="Rectangle 121"/>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3" name="Rectangle 122"/>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4" name="Rectangle 123"/>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18" name="Group 117"/>
            <p:cNvGrpSpPr/>
            <p:nvPr/>
          </p:nvGrpSpPr>
          <p:grpSpPr>
            <a:xfrm>
              <a:off x="4147352" y="2877245"/>
              <a:ext cx="895968" cy="158416"/>
              <a:chOff x="3525222" y="2331463"/>
              <a:chExt cx="1119079" cy="197864"/>
            </a:xfrm>
          </p:grpSpPr>
          <p:sp>
            <p:nvSpPr>
              <p:cNvPr id="119" name="Rectangle 118"/>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0" name="Rectangle 119"/>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1" name="Rectangle 120"/>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107" name="2-1"/>
          <p:cNvGrpSpPr/>
          <p:nvPr/>
        </p:nvGrpSpPr>
        <p:grpSpPr>
          <a:xfrm>
            <a:off x="4355003" y="2688020"/>
            <a:ext cx="1005840" cy="368661"/>
            <a:chOff x="4144840" y="2667000"/>
            <a:chExt cx="898480" cy="368661"/>
          </a:xfrm>
        </p:grpSpPr>
        <p:grpSp>
          <p:nvGrpSpPr>
            <p:cNvPr id="108" name="Group 107"/>
            <p:cNvGrpSpPr/>
            <p:nvPr/>
          </p:nvGrpSpPr>
          <p:grpSpPr>
            <a:xfrm>
              <a:off x="4144840" y="2667000"/>
              <a:ext cx="895968" cy="158416"/>
              <a:chOff x="3525222" y="2331463"/>
              <a:chExt cx="1119079" cy="197864"/>
            </a:xfrm>
          </p:grpSpPr>
          <p:sp>
            <p:nvSpPr>
              <p:cNvPr id="113" name="Rectangle 112"/>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4" name="Rectangle 113"/>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5" name="Rectangle 114"/>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09" name="Group 108"/>
            <p:cNvGrpSpPr/>
            <p:nvPr/>
          </p:nvGrpSpPr>
          <p:grpSpPr>
            <a:xfrm>
              <a:off x="4147352" y="2877245"/>
              <a:ext cx="895968" cy="158416"/>
              <a:chOff x="3525222" y="2331463"/>
              <a:chExt cx="1119079" cy="197864"/>
            </a:xfrm>
          </p:grpSpPr>
          <p:sp>
            <p:nvSpPr>
              <p:cNvPr id="110" name="Rectangle 109"/>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1" name="Rectangle 110"/>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2" name="Rectangle 111"/>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70" name="2-single bottom left"/>
          <p:cNvGrpSpPr/>
          <p:nvPr/>
        </p:nvGrpSpPr>
        <p:grpSpPr>
          <a:xfrm>
            <a:off x="1957781" y="3513673"/>
            <a:ext cx="1005840" cy="158416"/>
            <a:chOff x="3525222" y="2331463"/>
            <a:chExt cx="1119079" cy="197864"/>
          </a:xfrm>
        </p:grpSpPr>
        <p:sp>
          <p:nvSpPr>
            <p:cNvPr id="71" name="Rectangle 70"/>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72" name="Rectangle 71"/>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73" name="Rectangle 72"/>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83" name="2-single top left"/>
          <p:cNvGrpSpPr/>
          <p:nvPr/>
        </p:nvGrpSpPr>
        <p:grpSpPr>
          <a:xfrm>
            <a:off x="2310449" y="1872532"/>
            <a:ext cx="1005840" cy="158416"/>
            <a:chOff x="9891406" y="3953789"/>
            <a:chExt cx="895968" cy="158416"/>
          </a:xfrm>
        </p:grpSpPr>
        <p:sp>
          <p:nvSpPr>
            <p:cNvPr id="85" name="Rectangle 84"/>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86" name="Rectangle 85"/>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88" name="Rectangle 87"/>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38" name="1-packet 1:00"/>
          <p:cNvGrpSpPr/>
          <p:nvPr/>
        </p:nvGrpSpPr>
        <p:grpSpPr>
          <a:xfrm>
            <a:off x="4355003" y="2688020"/>
            <a:ext cx="1005840" cy="158416"/>
            <a:chOff x="9891406" y="3953789"/>
            <a:chExt cx="895968" cy="158416"/>
          </a:xfrm>
        </p:grpSpPr>
        <p:sp>
          <p:nvSpPr>
            <p:cNvPr id="39" name="Rectangle 38"/>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0" name="Rectangle 39"/>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1" name="Rectangle 40"/>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42" name="1-packet 11:00"/>
          <p:cNvGrpSpPr/>
          <p:nvPr/>
        </p:nvGrpSpPr>
        <p:grpSpPr>
          <a:xfrm>
            <a:off x="4355003" y="2688020"/>
            <a:ext cx="1005840" cy="158416"/>
            <a:chOff x="9891406" y="3953789"/>
            <a:chExt cx="895968" cy="158416"/>
          </a:xfrm>
        </p:grpSpPr>
        <p:sp>
          <p:nvSpPr>
            <p:cNvPr id="43" name="Rectangle 42"/>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4" name="Rectangle 43"/>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5" name="Rectangle 44"/>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8" name="1-packet 1"/>
          <p:cNvGrpSpPr/>
          <p:nvPr/>
        </p:nvGrpSpPr>
        <p:grpSpPr>
          <a:xfrm>
            <a:off x="6019800" y="3460215"/>
            <a:ext cx="1005840" cy="158416"/>
            <a:chOff x="3525222" y="2331463"/>
            <a:chExt cx="1119079" cy="197864"/>
          </a:xfrm>
        </p:grpSpPr>
        <p:sp>
          <p:nvSpPr>
            <p:cNvPr id="9" name="Rectangle 8"/>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0" name="Rectangle 9"/>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 name="Rectangle 10"/>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46" name="1-packet 8:00"/>
          <p:cNvGrpSpPr/>
          <p:nvPr/>
        </p:nvGrpSpPr>
        <p:grpSpPr>
          <a:xfrm>
            <a:off x="4355003" y="2688020"/>
            <a:ext cx="1005840" cy="158416"/>
            <a:chOff x="9891406" y="3953789"/>
            <a:chExt cx="895968" cy="158416"/>
          </a:xfrm>
        </p:grpSpPr>
        <p:sp>
          <p:nvSpPr>
            <p:cNvPr id="48" name="Rectangle 47"/>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9" name="Rectangle 48"/>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53" name="Rectangle 52"/>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57" name="1-packet 6:00"/>
          <p:cNvGrpSpPr/>
          <p:nvPr/>
        </p:nvGrpSpPr>
        <p:grpSpPr>
          <a:xfrm>
            <a:off x="4355003" y="2688020"/>
            <a:ext cx="1005840" cy="158416"/>
            <a:chOff x="9891406" y="3953789"/>
            <a:chExt cx="895968" cy="158416"/>
          </a:xfrm>
        </p:grpSpPr>
        <p:sp>
          <p:nvSpPr>
            <p:cNvPr id="67" name="Rectangle 66"/>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68" name="Rectangle 67"/>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69" name="Rectangle 68"/>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pic>
        <p:nvPicPr>
          <p:cNvPr id="84" name="play - ALT TEXT IS HERE" descr="Graphic that represents a network made up of two DHCP servers (DHCP Server 1 and DHCP Server 2) and three DHCP clients. The frames of the build slide demonstrate the following four-step DHCP lease-generation process:&#10;1-DHCP client broadcasts a DHCPDISCOVER packet.&#10;2-DHCP servers broadcast a DHCPOFFER packet.&#10;3-DHCP client broadcasts a DHCPREQUEST packet.&#10;4-DHCP Server1 broadcasts a DHCPACK packe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77125" y="610349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60374" y="-2"/>
            <a:ext cx="8502557" cy="740664"/>
          </a:xfrm>
        </p:spPr>
        <p:txBody>
          <a:bodyPr/>
          <a:lstStyle/>
          <a:p>
            <a:r>
              <a:rPr lang="fr-FR" dirty="0" smtClean="0">
                <a:solidFill>
                  <a:srgbClr val="FFFFFF"/>
                </a:solidFill>
              </a:rPr>
              <a:t>Génération d’un bail</a:t>
            </a:r>
            <a:endParaRPr lang="fr-FR" dirty="0"/>
          </a:p>
        </p:txBody>
      </p:sp>
    </p:spTree>
    <p:extLst>
      <p:ext uri="{BB962C8B-B14F-4D97-AF65-F5344CB8AC3E}">
        <p14:creationId xmlns:p14="http://schemas.microsoft.com/office/powerpoint/2010/main" val="326718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animEffect transition="in" filter="fade">
                                      <p:cBhvr>
                                        <p:cTn id="11" dur="500"/>
                                        <p:tgtEl>
                                          <p:spTgt spid="24">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42" presetClass="path" presetSubtype="0" accel="50000" decel="50000" fill="hold" nodeType="withEffect">
                                  <p:stCondLst>
                                    <p:cond delay="0"/>
                                  </p:stCondLst>
                                  <p:childTnLst>
                                    <p:animMotion origin="layout" path="M 0.00104 -0.02569 L -0.18212 -0.1125 " pathEditMode="relative" rAng="0" ptsTypes="AA">
                                      <p:cBhvr>
                                        <p:cTn id="16" dur="2000" fill="hold"/>
                                        <p:tgtEl>
                                          <p:spTgt spid="8"/>
                                        </p:tgtEl>
                                        <p:attrNameLst>
                                          <p:attrName>ppt_x</p:attrName>
                                          <p:attrName>ppt_y</p:attrName>
                                        </p:attrNameLst>
                                      </p:cBhvr>
                                      <p:rCtr x="-9149" y="-4375"/>
                                    </p:animMotion>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fade">
                                      <p:cBhvr>
                                        <p:cTn id="20" dur="500"/>
                                        <p:tgtEl>
                                          <p:spTgt spid="57"/>
                                        </p:tgtEl>
                                      </p:cBhvr>
                                    </p:animEffect>
                                  </p:childTnLst>
                                </p:cTn>
                              </p:par>
                              <p:par>
                                <p:cTn id="21" presetID="10" presetClass="entr" presetSubtype="0" fill="hold" nodeType="with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par>
                                <p:cTn id="24" presetID="10" presetClass="entr" presetSubtype="0"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par>
                                <p:cTn id="27" presetID="10"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par>
                                <p:cTn id="30" presetID="42" presetClass="path" presetSubtype="0" accel="50000" decel="50000" fill="hold" nodeType="withEffect">
                                  <p:stCondLst>
                                    <p:cond delay="0"/>
                                  </p:stCondLst>
                                  <p:childTnLst>
                                    <p:animMotion origin="layout" path="M 0 -2.22222E-6 L 0.19167 -0.16065 " pathEditMode="relative" rAng="0" ptsTypes="AA">
                                      <p:cBhvr>
                                        <p:cTn id="31" dur="2000" fill="hold"/>
                                        <p:tgtEl>
                                          <p:spTgt spid="38"/>
                                        </p:tgtEl>
                                        <p:attrNameLst>
                                          <p:attrName>ppt_x</p:attrName>
                                          <p:attrName>ppt_y</p:attrName>
                                        </p:attrNameLst>
                                      </p:cBhvr>
                                      <p:rCtr x="9583" y="-8032"/>
                                    </p:animMotion>
                                  </p:childTnLst>
                                </p:cTn>
                              </p:par>
                              <p:par>
                                <p:cTn id="32" presetID="42" presetClass="path" presetSubtype="0" accel="50000" decel="50000" fill="hold" nodeType="withEffect">
                                  <p:stCondLst>
                                    <p:cond delay="0"/>
                                  </p:stCondLst>
                                  <p:childTnLst>
                                    <p:animMotion origin="layout" path="M 0 0.00047 L 0.00104 0.19884 " pathEditMode="relative" rAng="0" ptsTypes="AA">
                                      <p:cBhvr>
                                        <p:cTn id="33" dur="2000" fill="hold"/>
                                        <p:tgtEl>
                                          <p:spTgt spid="57"/>
                                        </p:tgtEl>
                                        <p:attrNameLst>
                                          <p:attrName>ppt_x</p:attrName>
                                          <p:attrName>ppt_y</p:attrName>
                                        </p:attrNameLst>
                                      </p:cBhvr>
                                      <p:rCtr x="52" y="9907"/>
                                    </p:animMotion>
                                  </p:childTnLst>
                                </p:cTn>
                              </p:par>
                              <p:par>
                                <p:cTn id="34" presetID="42" presetClass="path" presetSubtype="0" accel="50000" decel="50000" fill="hold" nodeType="withEffect">
                                  <p:stCondLst>
                                    <p:cond delay="0"/>
                                  </p:stCondLst>
                                  <p:childTnLst>
                                    <p:animMotion origin="layout" path="M 0 -2.22222E-6 L -0.3 0.08357 " pathEditMode="relative" rAng="0" ptsTypes="AA">
                                      <p:cBhvr>
                                        <p:cTn id="35" dur="2000" fill="hold"/>
                                        <p:tgtEl>
                                          <p:spTgt spid="46"/>
                                        </p:tgtEl>
                                        <p:attrNameLst>
                                          <p:attrName>ppt_x</p:attrName>
                                          <p:attrName>ppt_y</p:attrName>
                                        </p:attrNameLst>
                                      </p:cBhvr>
                                      <p:rCtr x="-15000" y="4167"/>
                                    </p:animMotion>
                                  </p:childTnLst>
                                </p:cTn>
                              </p:par>
                              <p:par>
                                <p:cTn id="36" presetID="42" presetClass="path" presetSubtype="0" accel="50000" decel="50000" fill="hold" nodeType="withEffect">
                                  <p:stCondLst>
                                    <p:cond delay="0"/>
                                  </p:stCondLst>
                                  <p:childTnLst>
                                    <p:animMotion origin="layout" path="M -3.33333E-6 7.40741E-7 L -0.28125 -0.12291 " pathEditMode="relative" rAng="0" ptsTypes="AA">
                                      <p:cBhvr>
                                        <p:cTn id="37" dur="2000" fill="hold"/>
                                        <p:tgtEl>
                                          <p:spTgt spid="42"/>
                                        </p:tgtEl>
                                        <p:attrNameLst>
                                          <p:attrName>ppt_x</p:attrName>
                                          <p:attrName>ppt_y</p:attrName>
                                        </p:attrNameLst>
                                      </p:cBhvr>
                                      <p:rCtr x="-14167" y="-6134"/>
                                    </p:animMotion>
                                  </p:childTnLst>
                                </p:cTn>
                              </p:par>
                              <p:par>
                                <p:cTn id="38" presetID="10" presetClass="exit" presetSubtype="0" fill="hold" nodeType="withEffect">
                                  <p:stCondLst>
                                    <p:cond delay="0"/>
                                  </p:stCondLst>
                                  <p:childTnLst>
                                    <p:animEffect transition="out" filter="fad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childTnLst>
                          </p:cTn>
                        </p:par>
                        <p:par>
                          <p:cTn id="41" fill="hold">
                            <p:stCondLst>
                              <p:cond delay="4000"/>
                            </p:stCondLst>
                            <p:childTnLst>
                              <p:par>
                                <p:cTn id="42" presetID="10" presetClass="exit" presetSubtype="0" fill="hold" nodeType="afterEffect">
                                  <p:stCondLst>
                                    <p:cond delay="0"/>
                                  </p:stCondLst>
                                  <p:childTnLst>
                                    <p:animEffect transition="out" filter="fade">
                                      <p:cBhvr>
                                        <p:cTn id="43" dur="500"/>
                                        <p:tgtEl>
                                          <p:spTgt spid="57"/>
                                        </p:tgtEl>
                                      </p:cBhvr>
                                    </p:animEffect>
                                    <p:set>
                                      <p:cBhvr>
                                        <p:cTn id="44" dur="1" fill="hold">
                                          <p:stCondLst>
                                            <p:cond delay="499"/>
                                          </p:stCondLst>
                                        </p:cTn>
                                        <p:tgtEl>
                                          <p:spTgt spid="57"/>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46"/>
                                        </p:tgtEl>
                                      </p:cBhvr>
                                    </p:animEffect>
                                    <p:set>
                                      <p:cBhvr>
                                        <p:cTn id="47" dur="1" fill="hold">
                                          <p:stCondLst>
                                            <p:cond delay="499"/>
                                          </p:stCondLst>
                                        </p:cTn>
                                        <p:tgtEl>
                                          <p:spTgt spid="46"/>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42"/>
                                        </p:tgtEl>
                                      </p:cBhvr>
                                    </p:animEffect>
                                    <p:set>
                                      <p:cBhvr>
                                        <p:cTn id="50" dur="1" fill="hold">
                                          <p:stCondLst>
                                            <p:cond delay="499"/>
                                          </p:stCondLst>
                                        </p:cTn>
                                        <p:tgtEl>
                                          <p:spTgt spid="42"/>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38"/>
                                        </p:tgtEl>
                                      </p:cBhvr>
                                    </p:animEffect>
                                    <p:set>
                                      <p:cBhvr>
                                        <p:cTn id="53" dur="1" fill="hold">
                                          <p:stCondLst>
                                            <p:cond delay="499"/>
                                          </p:stCondLst>
                                        </p:cTn>
                                        <p:tgtEl>
                                          <p:spTgt spid="38"/>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4">
                                            <p:txEl>
                                              <p:pRg st="1" end="1"/>
                                            </p:txEl>
                                          </p:spTgt>
                                        </p:tgtEl>
                                        <p:attrNameLst>
                                          <p:attrName>style.visibility</p:attrName>
                                        </p:attrNameLst>
                                      </p:cBhvr>
                                      <p:to>
                                        <p:strVal val="visible"/>
                                      </p:to>
                                    </p:set>
                                    <p:animEffect transition="in" filter="fade">
                                      <p:cBhvr>
                                        <p:cTn id="58" dur="500"/>
                                        <p:tgtEl>
                                          <p:spTgt spid="24">
                                            <p:txEl>
                                              <p:pRg st="1" end="1"/>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83"/>
                                        </p:tgtEl>
                                        <p:attrNameLst>
                                          <p:attrName>style.visibility</p:attrName>
                                        </p:attrNameLst>
                                      </p:cBhvr>
                                      <p:to>
                                        <p:strVal val="visible"/>
                                      </p:to>
                                    </p:set>
                                    <p:animEffect transition="in" filter="fade">
                                      <p:cBhvr>
                                        <p:cTn id="61" dur="500"/>
                                        <p:tgtEl>
                                          <p:spTgt spid="83"/>
                                        </p:tgtEl>
                                      </p:cBhvr>
                                    </p:animEffect>
                                  </p:childTnLst>
                                </p:cTn>
                              </p:par>
                              <p:par>
                                <p:cTn id="62" presetID="10" presetClass="entr" presetSubtype="0" fill="hold" nodeType="withEffect">
                                  <p:stCondLst>
                                    <p:cond delay="0"/>
                                  </p:stCondLst>
                                  <p:childTnLst>
                                    <p:set>
                                      <p:cBhvr>
                                        <p:cTn id="63" dur="1" fill="hold">
                                          <p:stCondLst>
                                            <p:cond delay="0"/>
                                          </p:stCondLst>
                                        </p:cTn>
                                        <p:tgtEl>
                                          <p:spTgt spid="70"/>
                                        </p:tgtEl>
                                        <p:attrNameLst>
                                          <p:attrName>style.visibility</p:attrName>
                                        </p:attrNameLst>
                                      </p:cBhvr>
                                      <p:to>
                                        <p:strVal val="visible"/>
                                      </p:to>
                                    </p:set>
                                    <p:animEffect transition="in" filter="fade">
                                      <p:cBhvr>
                                        <p:cTn id="64" dur="500"/>
                                        <p:tgtEl>
                                          <p:spTgt spid="70"/>
                                        </p:tgtEl>
                                      </p:cBhvr>
                                    </p:animEffect>
                                  </p:childTnLst>
                                </p:cTn>
                              </p:par>
                            </p:childTnLst>
                          </p:cTn>
                        </p:par>
                        <p:par>
                          <p:cTn id="65" fill="hold">
                            <p:stCondLst>
                              <p:cond delay="500"/>
                            </p:stCondLst>
                            <p:childTnLst>
                              <p:par>
                                <p:cTn id="66" presetID="42" presetClass="path" presetSubtype="0" accel="50000" decel="50000" fill="hold" nodeType="afterEffect">
                                  <p:stCondLst>
                                    <p:cond delay="0"/>
                                  </p:stCondLst>
                                  <p:childTnLst>
                                    <p:animMotion origin="layout" path="M 4.44444E-6 4.81481E-6 L 0.26284 -0.09028 " pathEditMode="relative" rAng="0" ptsTypes="AA">
                                      <p:cBhvr>
                                        <p:cTn id="67" dur="2000" fill="hold"/>
                                        <p:tgtEl>
                                          <p:spTgt spid="70"/>
                                        </p:tgtEl>
                                        <p:attrNameLst>
                                          <p:attrName>ppt_x</p:attrName>
                                          <p:attrName>ppt_y</p:attrName>
                                        </p:attrNameLst>
                                      </p:cBhvr>
                                      <p:rCtr x="13194" y="-4468"/>
                                    </p:animMotion>
                                  </p:childTnLst>
                                </p:cTn>
                              </p:par>
                              <p:par>
                                <p:cTn id="68" presetID="42" presetClass="path" presetSubtype="0" accel="50000" decel="50000" fill="hold" nodeType="withEffect">
                                  <p:stCondLst>
                                    <p:cond delay="0"/>
                                  </p:stCondLst>
                                  <p:childTnLst>
                                    <p:animMotion origin="layout" path="M 3.88889E-6 3.33333E-6 L 0.22361 0.11782 " pathEditMode="relative" rAng="0" ptsTypes="AA">
                                      <p:cBhvr>
                                        <p:cTn id="69" dur="2000" fill="hold"/>
                                        <p:tgtEl>
                                          <p:spTgt spid="83"/>
                                        </p:tgtEl>
                                        <p:attrNameLst>
                                          <p:attrName>ppt_x</p:attrName>
                                          <p:attrName>ppt_y</p:attrName>
                                        </p:attrNameLst>
                                      </p:cBhvr>
                                      <p:rCtr x="11163" y="5833"/>
                                    </p:animMotion>
                                  </p:childTnLst>
                                </p:cTn>
                              </p:par>
                            </p:childTnLst>
                          </p:cTn>
                        </p:par>
                        <p:par>
                          <p:cTn id="70" fill="hold">
                            <p:stCondLst>
                              <p:cond delay="2500"/>
                            </p:stCondLst>
                            <p:childTnLst>
                              <p:par>
                                <p:cTn id="71" presetID="10" presetClass="exit" presetSubtype="0" fill="hold" nodeType="afterEffect">
                                  <p:stCondLst>
                                    <p:cond delay="0"/>
                                  </p:stCondLst>
                                  <p:childTnLst>
                                    <p:animEffect transition="out" filter="fade">
                                      <p:cBhvr>
                                        <p:cTn id="72" dur="500"/>
                                        <p:tgtEl>
                                          <p:spTgt spid="83"/>
                                        </p:tgtEl>
                                      </p:cBhvr>
                                    </p:animEffect>
                                    <p:set>
                                      <p:cBhvr>
                                        <p:cTn id="73" dur="1" fill="hold">
                                          <p:stCondLst>
                                            <p:cond delay="499"/>
                                          </p:stCondLst>
                                        </p:cTn>
                                        <p:tgtEl>
                                          <p:spTgt spid="83"/>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70"/>
                                        </p:tgtEl>
                                      </p:cBhvr>
                                    </p:animEffect>
                                    <p:set>
                                      <p:cBhvr>
                                        <p:cTn id="76" dur="1" fill="hold">
                                          <p:stCondLst>
                                            <p:cond delay="499"/>
                                          </p:stCondLst>
                                        </p:cTn>
                                        <p:tgtEl>
                                          <p:spTgt spid="70"/>
                                        </p:tgtEl>
                                        <p:attrNameLst>
                                          <p:attrName>style.visibility</p:attrName>
                                        </p:attrNameLst>
                                      </p:cBhvr>
                                      <p:to>
                                        <p:strVal val="hidden"/>
                                      </p:to>
                                    </p:set>
                                  </p:childTnLst>
                                </p:cTn>
                              </p:par>
                              <p:par>
                                <p:cTn id="77" presetID="10" presetClass="entr" presetSubtype="0" fill="hold" nodeType="withEffect">
                                  <p:stCondLst>
                                    <p:cond delay="0"/>
                                  </p:stCondLst>
                                  <p:childTnLst>
                                    <p:set>
                                      <p:cBhvr>
                                        <p:cTn id="78" dur="1" fill="hold">
                                          <p:stCondLst>
                                            <p:cond delay="0"/>
                                          </p:stCondLst>
                                        </p:cTn>
                                        <p:tgtEl>
                                          <p:spTgt spid="107"/>
                                        </p:tgtEl>
                                        <p:attrNameLst>
                                          <p:attrName>style.visibility</p:attrName>
                                        </p:attrNameLst>
                                      </p:cBhvr>
                                      <p:to>
                                        <p:strVal val="visible"/>
                                      </p:to>
                                    </p:set>
                                    <p:animEffect transition="in" filter="fade">
                                      <p:cBhvr>
                                        <p:cTn id="79" dur="500"/>
                                        <p:tgtEl>
                                          <p:spTgt spid="107"/>
                                        </p:tgtEl>
                                      </p:cBhvr>
                                    </p:animEffect>
                                  </p:childTnLst>
                                </p:cTn>
                              </p:par>
                              <p:par>
                                <p:cTn id="80" presetID="10" presetClass="entr" presetSubtype="0" fill="hold" nodeType="withEffect">
                                  <p:stCondLst>
                                    <p:cond delay="0"/>
                                  </p:stCondLst>
                                  <p:childTnLst>
                                    <p:set>
                                      <p:cBhvr>
                                        <p:cTn id="81" dur="1" fill="hold">
                                          <p:stCondLst>
                                            <p:cond delay="0"/>
                                          </p:stCondLst>
                                        </p:cTn>
                                        <p:tgtEl>
                                          <p:spTgt spid="116"/>
                                        </p:tgtEl>
                                        <p:attrNameLst>
                                          <p:attrName>style.visibility</p:attrName>
                                        </p:attrNameLst>
                                      </p:cBhvr>
                                      <p:to>
                                        <p:strVal val="visible"/>
                                      </p:to>
                                    </p:set>
                                    <p:animEffect transition="in" filter="fade">
                                      <p:cBhvr>
                                        <p:cTn id="82" dur="500"/>
                                        <p:tgtEl>
                                          <p:spTgt spid="116"/>
                                        </p:tgtEl>
                                      </p:cBhvr>
                                    </p:animEffect>
                                  </p:childTnLst>
                                </p:cTn>
                              </p:par>
                              <p:par>
                                <p:cTn id="83" presetID="10" presetClass="entr" presetSubtype="0" fill="hold" nodeType="withEffect">
                                  <p:stCondLst>
                                    <p:cond delay="0"/>
                                  </p:stCondLst>
                                  <p:childTnLst>
                                    <p:set>
                                      <p:cBhvr>
                                        <p:cTn id="84" dur="1" fill="hold">
                                          <p:stCondLst>
                                            <p:cond delay="0"/>
                                          </p:stCondLst>
                                        </p:cTn>
                                        <p:tgtEl>
                                          <p:spTgt spid="125"/>
                                        </p:tgtEl>
                                        <p:attrNameLst>
                                          <p:attrName>style.visibility</p:attrName>
                                        </p:attrNameLst>
                                      </p:cBhvr>
                                      <p:to>
                                        <p:strVal val="visible"/>
                                      </p:to>
                                    </p:set>
                                    <p:animEffect transition="in" filter="fade">
                                      <p:cBhvr>
                                        <p:cTn id="85" dur="500"/>
                                        <p:tgtEl>
                                          <p:spTgt spid="125"/>
                                        </p:tgtEl>
                                      </p:cBhvr>
                                    </p:animEffect>
                                  </p:childTnLst>
                                </p:cTn>
                              </p:par>
                              <p:par>
                                <p:cTn id="86" presetID="10" presetClass="entr" presetSubtype="0" fill="hold" nodeType="withEffect">
                                  <p:stCondLst>
                                    <p:cond delay="0"/>
                                  </p:stCondLst>
                                  <p:childTnLst>
                                    <p:set>
                                      <p:cBhvr>
                                        <p:cTn id="87" dur="1" fill="hold">
                                          <p:stCondLst>
                                            <p:cond delay="0"/>
                                          </p:stCondLst>
                                        </p:cTn>
                                        <p:tgtEl>
                                          <p:spTgt spid="134"/>
                                        </p:tgtEl>
                                        <p:attrNameLst>
                                          <p:attrName>style.visibility</p:attrName>
                                        </p:attrNameLst>
                                      </p:cBhvr>
                                      <p:to>
                                        <p:strVal val="visible"/>
                                      </p:to>
                                    </p:set>
                                    <p:animEffect transition="in" filter="fade">
                                      <p:cBhvr>
                                        <p:cTn id="88" dur="500"/>
                                        <p:tgtEl>
                                          <p:spTgt spid="134"/>
                                        </p:tgtEl>
                                      </p:cBhvr>
                                    </p:animEffect>
                                  </p:childTnLst>
                                </p:cTn>
                              </p:par>
                              <p:par>
                                <p:cTn id="89" presetID="10" presetClass="entr" presetSubtype="0" fill="hold" nodeType="withEffect">
                                  <p:stCondLst>
                                    <p:cond delay="0"/>
                                  </p:stCondLst>
                                  <p:childTnLst>
                                    <p:set>
                                      <p:cBhvr>
                                        <p:cTn id="90" dur="1" fill="hold">
                                          <p:stCondLst>
                                            <p:cond delay="0"/>
                                          </p:stCondLst>
                                        </p:cTn>
                                        <p:tgtEl>
                                          <p:spTgt spid="186"/>
                                        </p:tgtEl>
                                        <p:attrNameLst>
                                          <p:attrName>style.visibility</p:attrName>
                                        </p:attrNameLst>
                                      </p:cBhvr>
                                      <p:to>
                                        <p:strVal val="visible"/>
                                      </p:to>
                                    </p:set>
                                    <p:animEffect transition="in" filter="fade">
                                      <p:cBhvr>
                                        <p:cTn id="91" dur="500"/>
                                        <p:tgtEl>
                                          <p:spTgt spid="186"/>
                                        </p:tgtEl>
                                      </p:cBhvr>
                                    </p:animEffect>
                                  </p:childTnLst>
                                </p:cTn>
                              </p:par>
                            </p:childTnLst>
                          </p:cTn>
                        </p:par>
                        <p:par>
                          <p:cTn id="92" fill="hold">
                            <p:stCondLst>
                              <p:cond delay="3000"/>
                            </p:stCondLst>
                            <p:childTnLst>
                              <p:par>
                                <p:cTn id="93" presetID="42" presetClass="path" presetSubtype="0" accel="50000" decel="50000" fill="hold" nodeType="afterEffect">
                                  <p:stCondLst>
                                    <p:cond delay="0"/>
                                  </p:stCondLst>
                                  <p:childTnLst>
                                    <p:animMotion origin="layout" path="M 0 0 L 0.19063 0.08981 " pathEditMode="relative" rAng="0" ptsTypes="AA">
                                      <p:cBhvr>
                                        <p:cTn id="94" dur="2000" fill="hold"/>
                                        <p:tgtEl>
                                          <p:spTgt spid="107"/>
                                        </p:tgtEl>
                                        <p:attrNameLst>
                                          <p:attrName>ppt_x</p:attrName>
                                          <p:attrName>ppt_y</p:attrName>
                                        </p:attrNameLst>
                                      </p:cBhvr>
                                      <p:rCtr x="9531" y="4491"/>
                                    </p:animMotion>
                                  </p:childTnLst>
                                </p:cTn>
                              </p:par>
                              <p:par>
                                <p:cTn id="95" presetID="42" presetClass="path" presetSubtype="0" accel="50000" decel="50000" fill="hold" nodeType="withEffect">
                                  <p:stCondLst>
                                    <p:cond delay="0"/>
                                  </p:stCondLst>
                                  <p:childTnLst>
                                    <p:animMotion origin="layout" path="M 0.00069 0.00069 L -0.31493 0.13194 " pathEditMode="relative" rAng="0" ptsTypes="AA">
                                      <p:cBhvr>
                                        <p:cTn id="96" dur="2000" fill="hold"/>
                                        <p:tgtEl>
                                          <p:spTgt spid="186"/>
                                        </p:tgtEl>
                                        <p:attrNameLst>
                                          <p:attrName>ppt_x</p:attrName>
                                          <p:attrName>ppt_y</p:attrName>
                                        </p:attrNameLst>
                                      </p:cBhvr>
                                      <p:rCtr x="-15781" y="6551"/>
                                    </p:animMotion>
                                  </p:childTnLst>
                                </p:cTn>
                              </p:par>
                              <p:par>
                                <p:cTn id="97" presetID="42" presetClass="path" presetSubtype="0" accel="50000" decel="50000" fill="hold" nodeType="withEffect">
                                  <p:stCondLst>
                                    <p:cond delay="0"/>
                                  </p:stCondLst>
                                  <p:childTnLst>
                                    <p:animMotion origin="layout" path="M 0 0 L 0.18993 -0.14236 " pathEditMode="relative" rAng="0" ptsTypes="AA">
                                      <p:cBhvr>
                                        <p:cTn id="98" dur="2000" fill="hold"/>
                                        <p:tgtEl>
                                          <p:spTgt spid="116"/>
                                        </p:tgtEl>
                                        <p:attrNameLst>
                                          <p:attrName>ppt_x</p:attrName>
                                          <p:attrName>ppt_y</p:attrName>
                                        </p:attrNameLst>
                                      </p:cBhvr>
                                      <p:rCtr x="9497" y="-7130"/>
                                    </p:animMotion>
                                  </p:childTnLst>
                                </p:cTn>
                              </p:par>
                              <p:par>
                                <p:cTn id="99" presetID="42" presetClass="path" presetSubtype="0" accel="50000" decel="50000" fill="hold" nodeType="withEffect">
                                  <p:stCondLst>
                                    <p:cond delay="0"/>
                                  </p:stCondLst>
                                  <p:childTnLst>
                                    <p:animMotion origin="layout" path="M 0 0 L 0.0066 0.19051 " pathEditMode="relative" rAng="0" ptsTypes="AA">
                                      <p:cBhvr>
                                        <p:cTn id="100" dur="2000" fill="hold"/>
                                        <p:tgtEl>
                                          <p:spTgt spid="125"/>
                                        </p:tgtEl>
                                        <p:attrNameLst>
                                          <p:attrName>ppt_x</p:attrName>
                                          <p:attrName>ppt_y</p:attrName>
                                        </p:attrNameLst>
                                      </p:cBhvr>
                                      <p:rCtr x="330" y="9514"/>
                                    </p:animMotion>
                                  </p:childTnLst>
                                </p:cTn>
                              </p:par>
                              <p:par>
                                <p:cTn id="101" presetID="42" presetClass="path" presetSubtype="0" accel="50000" decel="50000" fill="hold" nodeType="withEffect">
                                  <p:stCondLst>
                                    <p:cond delay="0"/>
                                  </p:stCondLst>
                                  <p:childTnLst>
                                    <p:animMotion origin="layout" path="M 0 0 L -0.24167 -0.14421 " pathEditMode="relative" rAng="0" ptsTypes="AA">
                                      <p:cBhvr>
                                        <p:cTn id="102" dur="2000" fill="hold"/>
                                        <p:tgtEl>
                                          <p:spTgt spid="134"/>
                                        </p:tgtEl>
                                        <p:attrNameLst>
                                          <p:attrName>ppt_x</p:attrName>
                                          <p:attrName>ppt_y</p:attrName>
                                        </p:attrNameLst>
                                      </p:cBhvr>
                                      <p:rCtr x="-12083" y="-7222"/>
                                    </p:animMotion>
                                  </p:childTnLst>
                                </p:cTn>
                              </p:par>
                            </p:childTnLst>
                          </p:cTn>
                        </p:par>
                        <p:par>
                          <p:cTn id="103" fill="hold">
                            <p:stCondLst>
                              <p:cond delay="5000"/>
                            </p:stCondLst>
                            <p:childTnLst>
                              <p:par>
                                <p:cTn id="104" presetID="10" presetClass="exit" presetSubtype="0" fill="hold" nodeType="afterEffect">
                                  <p:stCondLst>
                                    <p:cond delay="0"/>
                                  </p:stCondLst>
                                  <p:childTnLst>
                                    <p:animEffect transition="out" filter="fade">
                                      <p:cBhvr>
                                        <p:cTn id="105" dur="500"/>
                                        <p:tgtEl>
                                          <p:spTgt spid="107"/>
                                        </p:tgtEl>
                                      </p:cBhvr>
                                    </p:animEffect>
                                    <p:set>
                                      <p:cBhvr>
                                        <p:cTn id="106" dur="1" fill="hold">
                                          <p:stCondLst>
                                            <p:cond delay="499"/>
                                          </p:stCondLst>
                                        </p:cTn>
                                        <p:tgtEl>
                                          <p:spTgt spid="107"/>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186"/>
                                        </p:tgtEl>
                                      </p:cBhvr>
                                    </p:animEffect>
                                    <p:set>
                                      <p:cBhvr>
                                        <p:cTn id="109" dur="1" fill="hold">
                                          <p:stCondLst>
                                            <p:cond delay="499"/>
                                          </p:stCondLst>
                                        </p:cTn>
                                        <p:tgtEl>
                                          <p:spTgt spid="186"/>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116"/>
                                        </p:tgtEl>
                                      </p:cBhvr>
                                    </p:animEffect>
                                    <p:set>
                                      <p:cBhvr>
                                        <p:cTn id="112" dur="1" fill="hold">
                                          <p:stCondLst>
                                            <p:cond delay="499"/>
                                          </p:stCondLst>
                                        </p:cTn>
                                        <p:tgtEl>
                                          <p:spTgt spid="116"/>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125"/>
                                        </p:tgtEl>
                                      </p:cBhvr>
                                    </p:animEffect>
                                    <p:set>
                                      <p:cBhvr>
                                        <p:cTn id="115" dur="1" fill="hold">
                                          <p:stCondLst>
                                            <p:cond delay="499"/>
                                          </p:stCondLst>
                                        </p:cTn>
                                        <p:tgtEl>
                                          <p:spTgt spid="125"/>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500"/>
                                        <p:tgtEl>
                                          <p:spTgt spid="134"/>
                                        </p:tgtEl>
                                      </p:cBhvr>
                                    </p:animEffect>
                                    <p:set>
                                      <p:cBhvr>
                                        <p:cTn id="118" dur="1" fill="hold">
                                          <p:stCondLst>
                                            <p:cond delay="499"/>
                                          </p:stCondLst>
                                        </p:cTn>
                                        <p:tgtEl>
                                          <p:spTgt spid="134"/>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24">
                                            <p:txEl>
                                              <p:pRg st="2" end="2"/>
                                            </p:txEl>
                                          </p:spTgt>
                                        </p:tgtEl>
                                        <p:attrNameLst>
                                          <p:attrName>style.visibility</p:attrName>
                                        </p:attrNameLst>
                                      </p:cBhvr>
                                      <p:to>
                                        <p:strVal val="visible"/>
                                      </p:to>
                                    </p:set>
                                    <p:animEffect transition="in" filter="fade">
                                      <p:cBhvr>
                                        <p:cTn id="123" dur="500"/>
                                        <p:tgtEl>
                                          <p:spTgt spid="24">
                                            <p:txEl>
                                              <p:pRg st="2" end="2"/>
                                            </p:txEl>
                                          </p:spTgt>
                                        </p:tgtEl>
                                      </p:cBhvr>
                                    </p:animEffect>
                                  </p:childTnLst>
                                </p:cTn>
                              </p:par>
                              <p:par>
                                <p:cTn id="124" presetID="10" presetClass="entr" presetSubtype="0" fill="hold" nodeType="withEffect">
                                  <p:stCondLst>
                                    <p:cond delay="0"/>
                                  </p:stCondLst>
                                  <p:childTnLst>
                                    <p:set>
                                      <p:cBhvr>
                                        <p:cTn id="125" dur="1" fill="hold">
                                          <p:stCondLst>
                                            <p:cond delay="0"/>
                                          </p:stCondLst>
                                        </p:cTn>
                                        <p:tgtEl>
                                          <p:spTgt spid="143"/>
                                        </p:tgtEl>
                                        <p:attrNameLst>
                                          <p:attrName>style.visibility</p:attrName>
                                        </p:attrNameLst>
                                      </p:cBhvr>
                                      <p:to>
                                        <p:strVal val="visible"/>
                                      </p:to>
                                    </p:set>
                                    <p:animEffect transition="in" filter="fade">
                                      <p:cBhvr>
                                        <p:cTn id="126" dur="500"/>
                                        <p:tgtEl>
                                          <p:spTgt spid="143"/>
                                        </p:tgtEl>
                                      </p:cBhvr>
                                    </p:animEffect>
                                  </p:childTnLst>
                                </p:cTn>
                              </p:par>
                              <p:par>
                                <p:cTn id="127" presetID="42" presetClass="path" presetSubtype="0" accel="50000" decel="50000" fill="hold" nodeType="withEffect">
                                  <p:stCondLst>
                                    <p:cond delay="0"/>
                                  </p:stCondLst>
                                  <p:childTnLst>
                                    <p:animMotion origin="layout" path="M -0.0007 4.81481E-6 L -0.18177 -0.11343 " pathEditMode="relative" rAng="0" ptsTypes="AA">
                                      <p:cBhvr>
                                        <p:cTn id="128" dur="2000" fill="hold"/>
                                        <p:tgtEl>
                                          <p:spTgt spid="143"/>
                                        </p:tgtEl>
                                        <p:attrNameLst>
                                          <p:attrName>ppt_x</p:attrName>
                                          <p:attrName>ppt_y</p:attrName>
                                        </p:attrNameLst>
                                      </p:cBhvr>
                                      <p:rCtr x="-9063" y="-5671"/>
                                    </p:animMotion>
                                  </p:childTnLst>
                                </p:cTn>
                              </p:par>
                            </p:childTnLst>
                          </p:cTn>
                        </p:par>
                        <p:par>
                          <p:cTn id="129" fill="hold">
                            <p:stCondLst>
                              <p:cond delay="2000"/>
                            </p:stCondLst>
                            <p:childTnLst>
                              <p:par>
                                <p:cTn id="130" presetID="10" presetClass="exit" presetSubtype="0" fill="hold" nodeType="afterEffect">
                                  <p:stCondLst>
                                    <p:cond delay="0"/>
                                  </p:stCondLst>
                                  <p:childTnLst>
                                    <p:animEffect transition="out" filter="fade">
                                      <p:cBhvr>
                                        <p:cTn id="131" dur="500"/>
                                        <p:tgtEl>
                                          <p:spTgt spid="143"/>
                                        </p:tgtEl>
                                      </p:cBhvr>
                                    </p:animEffect>
                                    <p:set>
                                      <p:cBhvr>
                                        <p:cTn id="132" dur="1" fill="hold">
                                          <p:stCondLst>
                                            <p:cond delay="499"/>
                                          </p:stCondLst>
                                        </p:cTn>
                                        <p:tgtEl>
                                          <p:spTgt spid="143"/>
                                        </p:tgtEl>
                                        <p:attrNameLst>
                                          <p:attrName>style.visibility</p:attrName>
                                        </p:attrNameLst>
                                      </p:cBhvr>
                                      <p:to>
                                        <p:strVal val="hidden"/>
                                      </p:to>
                                    </p:set>
                                  </p:childTnLst>
                                </p:cTn>
                              </p:par>
                              <p:par>
                                <p:cTn id="133" presetID="10" presetClass="entr" presetSubtype="0" fill="hold" nodeType="withEffect">
                                  <p:stCondLst>
                                    <p:cond delay="0"/>
                                  </p:stCondLst>
                                  <p:childTnLst>
                                    <p:set>
                                      <p:cBhvr>
                                        <p:cTn id="134" dur="1" fill="hold">
                                          <p:stCondLst>
                                            <p:cond delay="0"/>
                                          </p:stCondLst>
                                        </p:cTn>
                                        <p:tgtEl>
                                          <p:spTgt spid="147"/>
                                        </p:tgtEl>
                                        <p:attrNameLst>
                                          <p:attrName>style.visibility</p:attrName>
                                        </p:attrNameLst>
                                      </p:cBhvr>
                                      <p:to>
                                        <p:strVal val="visible"/>
                                      </p:to>
                                    </p:set>
                                    <p:animEffect transition="in" filter="fade">
                                      <p:cBhvr>
                                        <p:cTn id="135" dur="500"/>
                                        <p:tgtEl>
                                          <p:spTgt spid="147"/>
                                        </p:tgtEl>
                                      </p:cBhvr>
                                    </p:animEffect>
                                  </p:childTnLst>
                                </p:cTn>
                              </p:par>
                              <p:par>
                                <p:cTn id="136" presetID="10" presetClass="entr" presetSubtype="0" fill="hold" nodeType="withEffect">
                                  <p:stCondLst>
                                    <p:cond delay="0"/>
                                  </p:stCondLst>
                                  <p:childTnLst>
                                    <p:set>
                                      <p:cBhvr>
                                        <p:cTn id="137" dur="1" fill="hold">
                                          <p:stCondLst>
                                            <p:cond delay="0"/>
                                          </p:stCondLst>
                                        </p:cTn>
                                        <p:tgtEl>
                                          <p:spTgt spid="151"/>
                                        </p:tgtEl>
                                        <p:attrNameLst>
                                          <p:attrName>style.visibility</p:attrName>
                                        </p:attrNameLst>
                                      </p:cBhvr>
                                      <p:to>
                                        <p:strVal val="visible"/>
                                      </p:to>
                                    </p:set>
                                    <p:animEffect transition="in" filter="fade">
                                      <p:cBhvr>
                                        <p:cTn id="138" dur="500"/>
                                        <p:tgtEl>
                                          <p:spTgt spid="151"/>
                                        </p:tgtEl>
                                      </p:cBhvr>
                                    </p:animEffect>
                                  </p:childTnLst>
                                </p:cTn>
                              </p:par>
                              <p:par>
                                <p:cTn id="139" presetID="10" presetClass="entr" presetSubtype="0" fill="hold" nodeType="withEffect">
                                  <p:stCondLst>
                                    <p:cond delay="0"/>
                                  </p:stCondLst>
                                  <p:childTnLst>
                                    <p:set>
                                      <p:cBhvr>
                                        <p:cTn id="140" dur="1" fill="hold">
                                          <p:stCondLst>
                                            <p:cond delay="0"/>
                                          </p:stCondLst>
                                        </p:cTn>
                                        <p:tgtEl>
                                          <p:spTgt spid="155"/>
                                        </p:tgtEl>
                                        <p:attrNameLst>
                                          <p:attrName>style.visibility</p:attrName>
                                        </p:attrNameLst>
                                      </p:cBhvr>
                                      <p:to>
                                        <p:strVal val="visible"/>
                                      </p:to>
                                    </p:set>
                                    <p:animEffect transition="in" filter="fade">
                                      <p:cBhvr>
                                        <p:cTn id="141" dur="500"/>
                                        <p:tgtEl>
                                          <p:spTgt spid="155"/>
                                        </p:tgtEl>
                                      </p:cBhvr>
                                    </p:animEffect>
                                  </p:childTnLst>
                                </p:cTn>
                              </p:par>
                              <p:par>
                                <p:cTn id="142" presetID="10" presetClass="entr" presetSubtype="0" fill="hold" nodeType="withEffect">
                                  <p:stCondLst>
                                    <p:cond delay="0"/>
                                  </p:stCondLst>
                                  <p:childTnLst>
                                    <p:set>
                                      <p:cBhvr>
                                        <p:cTn id="143" dur="1" fill="hold">
                                          <p:stCondLst>
                                            <p:cond delay="0"/>
                                          </p:stCondLst>
                                        </p:cTn>
                                        <p:tgtEl>
                                          <p:spTgt spid="159"/>
                                        </p:tgtEl>
                                        <p:attrNameLst>
                                          <p:attrName>style.visibility</p:attrName>
                                        </p:attrNameLst>
                                      </p:cBhvr>
                                      <p:to>
                                        <p:strVal val="visible"/>
                                      </p:to>
                                    </p:set>
                                    <p:animEffect transition="in" filter="fade">
                                      <p:cBhvr>
                                        <p:cTn id="144" dur="500"/>
                                        <p:tgtEl>
                                          <p:spTgt spid="159"/>
                                        </p:tgtEl>
                                      </p:cBhvr>
                                    </p:animEffect>
                                  </p:childTnLst>
                                </p:cTn>
                              </p:par>
                              <p:par>
                                <p:cTn id="145" presetID="42" presetClass="path" presetSubtype="0" accel="50000" decel="50000" fill="hold" nodeType="withEffect">
                                  <p:stCondLst>
                                    <p:cond delay="0"/>
                                  </p:stCondLst>
                                  <p:childTnLst>
                                    <p:animMotion origin="layout" path="M 0.00104 -0.00046 L 0.00104 0.19884 " pathEditMode="relative" rAng="0" ptsTypes="AA">
                                      <p:cBhvr>
                                        <p:cTn id="146" dur="2000" fill="hold"/>
                                        <p:tgtEl>
                                          <p:spTgt spid="147"/>
                                        </p:tgtEl>
                                        <p:attrNameLst>
                                          <p:attrName>ppt_x</p:attrName>
                                          <p:attrName>ppt_y</p:attrName>
                                        </p:attrNameLst>
                                      </p:cBhvr>
                                      <p:rCtr x="0" y="9954"/>
                                    </p:animMotion>
                                  </p:childTnLst>
                                </p:cTn>
                              </p:par>
                              <p:par>
                                <p:cTn id="147" presetID="42" presetClass="path" presetSubtype="0" accel="50000" decel="50000" fill="hold" nodeType="withEffect">
                                  <p:stCondLst>
                                    <p:cond delay="0"/>
                                  </p:stCondLst>
                                  <p:childTnLst>
                                    <p:animMotion origin="layout" path="M 0 -2.22222E-6 L -0.3 0.08357 " pathEditMode="relative" rAng="0" ptsTypes="AA">
                                      <p:cBhvr>
                                        <p:cTn id="148" dur="2000" fill="hold"/>
                                        <p:tgtEl>
                                          <p:spTgt spid="151"/>
                                        </p:tgtEl>
                                        <p:attrNameLst>
                                          <p:attrName>ppt_x</p:attrName>
                                          <p:attrName>ppt_y</p:attrName>
                                        </p:attrNameLst>
                                      </p:cBhvr>
                                      <p:rCtr x="-15000" y="4167"/>
                                    </p:animMotion>
                                  </p:childTnLst>
                                </p:cTn>
                              </p:par>
                              <p:par>
                                <p:cTn id="149" presetID="42" presetClass="path" presetSubtype="0" accel="50000" decel="50000" fill="hold" nodeType="withEffect">
                                  <p:stCondLst>
                                    <p:cond delay="0"/>
                                  </p:stCondLst>
                                  <p:childTnLst>
                                    <p:animMotion origin="layout" path="M -0.00729 -0.00046 L -0.28125 -0.12291 " pathEditMode="relative" rAng="0" ptsTypes="AA">
                                      <p:cBhvr>
                                        <p:cTn id="150" dur="2000" fill="hold"/>
                                        <p:tgtEl>
                                          <p:spTgt spid="155"/>
                                        </p:tgtEl>
                                        <p:attrNameLst>
                                          <p:attrName>ppt_x</p:attrName>
                                          <p:attrName>ppt_y</p:attrName>
                                        </p:attrNameLst>
                                      </p:cBhvr>
                                      <p:rCtr x="-13698" y="-6134"/>
                                    </p:animMotion>
                                  </p:childTnLst>
                                </p:cTn>
                              </p:par>
                              <p:par>
                                <p:cTn id="151" presetID="42" presetClass="path" presetSubtype="0" accel="50000" decel="50000" fill="hold" nodeType="withEffect">
                                  <p:stCondLst>
                                    <p:cond delay="0"/>
                                  </p:stCondLst>
                                  <p:childTnLst>
                                    <p:animMotion origin="layout" path="M 0 -2.22222E-6 L 0.19167 -0.16065 " pathEditMode="relative" rAng="0" ptsTypes="AA">
                                      <p:cBhvr>
                                        <p:cTn id="152" dur="2000" fill="hold"/>
                                        <p:tgtEl>
                                          <p:spTgt spid="159"/>
                                        </p:tgtEl>
                                        <p:attrNameLst>
                                          <p:attrName>ppt_x</p:attrName>
                                          <p:attrName>ppt_y</p:attrName>
                                        </p:attrNameLst>
                                      </p:cBhvr>
                                      <p:rCtr x="9583" y="-8032"/>
                                    </p:animMotion>
                                  </p:childTnLst>
                                </p:cTn>
                              </p:par>
                            </p:childTnLst>
                          </p:cTn>
                        </p:par>
                        <p:par>
                          <p:cTn id="153" fill="hold">
                            <p:stCondLst>
                              <p:cond delay="4000"/>
                            </p:stCondLst>
                            <p:childTnLst>
                              <p:par>
                                <p:cTn id="154" presetID="10" presetClass="exit" presetSubtype="0" fill="hold" nodeType="afterEffect">
                                  <p:stCondLst>
                                    <p:cond delay="0"/>
                                  </p:stCondLst>
                                  <p:childTnLst>
                                    <p:animEffect transition="out" filter="fade">
                                      <p:cBhvr>
                                        <p:cTn id="155" dur="500"/>
                                        <p:tgtEl>
                                          <p:spTgt spid="147"/>
                                        </p:tgtEl>
                                      </p:cBhvr>
                                    </p:animEffect>
                                    <p:set>
                                      <p:cBhvr>
                                        <p:cTn id="156" dur="1" fill="hold">
                                          <p:stCondLst>
                                            <p:cond delay="499"/>
                                          </p:stCondLst>
                                        </p:cTn>
                                        <p:tgtEl>
                                          <p:spTgt spid="147"/>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500"/>
                                        <p:tgtEl>
                                          <p:spTgt spid="151"/>
                                        </p:tgtEl>
                                      </p:cBhvr>
                                    </p:animEffect>
                                    <p:set>
                                      <p:cBhvr>
                                        <p:cTn id="159" dur="1" fill="hold">
                                          <p:stCondLst>
                                            <p:cond delay="499"/>
                                          </p:stCondLst>
                                        </p:cTn>
                                        <p:tgtEl>
                                          <p:spTgt spid="151"/>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500"/>
                                        <p:tgtEl>
                                          <p:spTgt spid="155"/>
                                        </p:tgtEl>
                                      </p:cBhvr>
                                    </p:animEffect>
                                    <p:set>
                                      <p:cBhvr>
                                        <p:cTn id="162" dur="1" fill="hold">
                                          <p:stCondLst>
                                            <p:cond delay="499"/>
                                          </p:stCondLst>
                                        </p:cTn>
                                        <p:tgtEl>
                                          <p:spTgt spid="155"/>
                                        </p:tgtEl>
                                        <p:attrNameLst>
                                          <p:attrName>style.visibility</p:attrName>
                                        </p:attrNameLst>
                                      </p:cBhvr>
                                      <p:to>
                                        <p:strVal val="hidden"/>
                                      </p:to>
                                    </p:set>
                                  </p:childTnLst>
                                </p:cTn>
                              </p:par>
                              <p:par>
                                <p:cTn id="163" presetID="10" presetClass="exit" presetSubtype="0" fill="hold" nodeType="withEffect">
                                  <p:stCondLst>
                                    <p:cond delay="0"/>
                                  </p:stCondLst>
                                  <p:childTnLst>
                                    <p:animEffect transition="out" filter="fade">
                                      <p:cBhvr>
                                        <p:cTn id="164" dur="500"/>
                                        <p:tgtEl>
                                          <p:spTgt spid="159"/>
                                        </p:tgtEl>
                                      </p:cBhvr>
                                    </p:animEffect>
                                    <p:set>
                                      <p:cBhvr>
                                        <p:cTn id="165" dur="1" fill="hold">
                                          <p:stCondLst>
                                            <p:cond delay="499"/>
                                          </p:stCondLst>
                                        </p:cTn>
                                        <p:tgtEl>
                                          <p:spTgt spid="159"/>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grpId="0" nodeType="clickEffect">
                                  <p:stCondLst>
                                    <p:cond delay="0"/>
                                  </p:stCondLst>
                                  <p:childTnLst>
                                    <p:set>
                                      <p:cBhvr>
                                        <p:cTn id="169" dur="1" fill="hold">
                                          <p:stCondLst>
                                            <p:cond delay="0"/>
                                          </p:stCondLst>
                                        </p:cTn>
                                        <p:tgtEl>
                                          <p:spTgt spid="24">
                                            <p:txEl>
                                              <p:pRg st="3" end="3"/>
                                            </p:txEl>
                                          </p:spTgt>
                                        </p:tgtEl>
                                        <p:attrNameLst>
                                          <p:attrName>style.visibility</p:attrName>
                                        </p:attrNameLst>
                                      </p:cBhvr>
                                      <p:to>
                                        <p:strVal val="visible"/>
                                      </p:to>
                                    </p:set>
                                    <p:animEffect transition="in" filter="fade">
                                      <p:cBhvr>
                                        <p:cTn id="170" dur="500"/>
                                        <p:tgtEl>
                                          <p:spTgt spid="24">
                                            <p:txEl>
                                              <p:pRg st="3" end="3"/>
                                            </p:txEl>
                                          </p:spTgt>
                                        </p:tgtEl>
                                      </p:cBhvr>
                                    </p:animEffect>
                                  </p:childTnLst>
                                </p:cTn>
                              </p:par>
                              <p:par>
                                <p:cTn id="171" presetID="10" presetClass="entr" presetSubtype="0" fill="hold" nodeType="withEffect">
                                  <p:stCondLst>
                                    <p:cond delay="0"/>
                                  </p:stCondLst>
                                  <p:childTnLst>
                                    <p:set>
                                      <p:cBhvr>
                                        <p:cTn id="172" dur="1" fill="hold">
                                          <p:stCondLst>
                                            <p:cond delay="0"/>
                                          </p:stCondLst>
                                        </p:cTn>
                                        <p:tgtEl>
                                          <p:spTgt spid="163"/>
                                        </p:tgtEl>
                                        <p:attrNameLst>
                                          <p:attrName>style.visibility</p:attrName>
                                        </p:attrNameLst>
                                      </p:cBhvr>
                                      <p:to>
                                        <p:strVal val="visible"/>
                                      </p:to>
                                    </p:set>
                                    <p:animEffect transition="in" filter="fade">
                                      <p:cBhvr>
                                        <p:cTn id="173" dur="500"/>
                                        <p:tgtEl>
                                          <p:spTgt spid="163"/>
                                        </p:tgtEl>
                                      </p:cBhvr>
                                    </p:animEffect>
                                  </p:childTnLst>
                                </p:cTn>
                              </p:par>
                              <p:par>
                                <p:cTn id="174" presetID="42" presetClass="path" presetSubtype="0" accel="50000" decel="50000" fill="hold" nodeType="withEffect">
                                  <p:stCondLst>
                                    <p:cond delay="0"/>
                                  </p:stCondLst>
                                  <p:childTnLst>
                                    <p:animMotion origin="layout" path="M -0.00764 -2.59259E-6 L 0.2618 -0.12037 " pathEditMode="relative" rAng="0" ptsTypes="AA">
                                      <p:cBhvr>
                                        <p:cTn id="175" dur="2000" fill="hold"/>
                                        <p:tgtEl>
                                          <p:spTgt spid="163"/>
                                        </p:tgtEl>
                                        <p:attrNameLst>
                                          <p:attrName>ppt_x</p:attrName>
                                          <p:attrName>ppt_y</p:attrName>
                                        </p:attrNameLst>
                                      </p:cBhvr>
                                      <p:rCtr x="13472" y="-6019"/>
                                    </p:animMotion>
                                  </p:childTnLst>
                                </p:cTn>
                              </p:par>
                            </p:childTnLst>
                          </p:cTn>
                        </p:par>
                        <p:par>
                          <p:cTn id="176" fill="hold">
                            <p:stCondLst>
                              <p:cond delay="2000"/>
                            </p:stCondLst>
                            <p:childTnLst>
                              <p:par>
                                <p:cTn id="177" presetID="10" presetClass="exit" presetSubtype="0" fill="hold" nodeType="afterEffect">
                                  <p:stCondLst>
                                    <p:cond delay="0"/>
                                  </p:stCondLst>
                                  <p:childTnLst>
                                    <p:animEffect transition="out" filter="fade">
                                      <p:cBhvr>
                                        <p:cTn id="178" dur="500"/>
                                        <p:tgtEl>
                                          <p:spTgt spid="163"/>
                                        </p:tgtEl>
                                      </p:cBhvr>
                                    </p:animEffect>
                                    <p:set>
                                      <p:cBhvr>
                                        <p:cTn id="179" dur="1" fill="hold">
                                          <p:stCondLst>
                                            <p:cond delay="499"/>
                                          </p:stCondLst>
                                        </p:cTn>
                                        <p:tgtEl>
                                          <p:spTgt spid="163"/>
                                        </p:tgtEl>
                                        <p:attrNameLst>
                                          <p:attrName>style.visibility</p:attrName>
                                        </p:attrNameLst>
                                      </p:cBhvr>
                                      <p:to>
                                        <p:strVal val="hidden"/>
                                      </p:to>
                                    </p:set>
                                  </p:childTnLst>
                                </p:cTn>
                              </p:par>
                              <p:par>
                                <p:cTn id="180" presetID="10" presetClass="entr" presetSubtype="0" fill="hold" nodeType="withEffect">
                                  <p:stCondLst>
                                    <p:cond delay="0"/>
                                  </p:stCondLst>
                                  <p:childTnLst>
                                    <p:set>
                                      <p:cBhvr>
                                        <p:cTn id="181" dur="1" fill="hold">
                                          <p:stCondLst>
                                            <p:cond delay="0"/>
                                          </p:stCondLst>
                                        </p:cTn>
                                        <p:tgtEl>
                                          <p:spTgt spid="179"/>
                                        </p:tgtEl>
                                        <p:attrNameLst>
                                          <p:attrName>style.visibility</p:attrName>
                                        </p:attrNameLst>
                                      </p:cBhvr>
                                      <p:to>
                                        <p:strVal val="visible"/>
                                      </p:to>
                                    </p:set>
                                    <p:animEffect transition="in" filter="fade">
                                      <p:cBhvr>
                                        <p:cTn id="182" dur="500"/>
                                        <p:tgtEl>
                                          <p:spTgt spid="179"/>
                                        </p:tgtEl>
                                      </p:cBhvr>
                                    </p:animEffect>
                                  </p:childTnLst>
                                </p:cTn>
                              </p:par>
                              <p:par>
                                <p:cTn id="183" presetID="10" presetClass="entr" presetSubtype="0" fill="hold" nodeType="withEffect">
                                  <p:stCondLst>
                                    <p:cond delay="0"/>
                                  </p:stCondLst>
                                  <p:childTnLst>
                                    <p:set>
                                      <p:cBhvr>
                                        <p:cTn id="184" dur="1" fill="hold">
                                          <p:stCondLst>
                                            <p:cond delay="0"/>
                                          </p:stCondLst>
                                        </p:cTn>
                                        <p:tgtEl>
                                          <p:spTgt spid="175"/>
                                        </p:tgtEl>
                                        <p:attrNameLst>
                                          <p:attrName>style.visibility</p:attrName>
                                        </p:attrNameLst>
                                      </p:cBhvr>
                                      <p:to>
                                        <p:strVal val="visible"/>
                                      </p:to>
                                    </p:set>
                                    <p:animEffect transition="in" filter="fade">
                                      <p:cBhvr>
                                        <p:cTn id="185" dur="500"/>
                                        <p:tgtEl>
                                          <p:spTgt spid="175"/>
                                        </p:tgtEl>
                                      </p:cBhvr>
                                    </p:animEffect>
                                  </p:childTnLst>
                                </p:cTn>
                              </p:par>
                              <p:par>
                                <p:cTn id="186" presetID="10" presetClass="entr" presetSubtype="0" fill="hold" nodeType="withEffect">
                                  <p:stCondLst>
                                    <p:cond delay="0"/>
                                  </p:stCondLst>
                                  <p:childTnLst>
                                    <p:set>
                                      <p:cBhvr>
                                        <p:cTn id="187" dur="1" fill="hold">
                                          <p:stCondLst>
                                            <p:cond delay="0"/>
                                          </p:stCondLst>
                                        </p:cTn>
                                        <p:tgtEl>
                                          <p:spTgt spid="171"/>
                                        </p:tgtEl>
                                        <p:attrNameLst>
                                          <p:attrName>style.visibility</p:attrName>
                                        </p:attrNameLst>
                                      </p:cBhvr>
                                      <p:to>
                                        <p:strVal val="visible"/>
                                      </p:to>
                                    </p:set>
                                    <p:animEffect transition="in" filter="fade">
                                      <p:cBhvr>
                                        <p:cTn id="188" dur="500"/>
                                        <p:tgtEl>
                                          <p:spTgt spid="171"/>
                                        </p:tgtEl>
                                      </p:cBhvr>
                                    </p:animEffect>
                                  </p:childTnLst>
                                </p:cTn>
                              </p:par>
                              <p:par>
                                <p:cTn id="189" presetID="10" presetClass="entr" presetSubtype="0" fill="hold" nodeType="withEffect">
                                  <p:stCondLst>
                                    <p:cond delay="0"/>
                                  </p:stCondLst>
                                  <p:childTnLst>
                                    <p:set>
                                      <p:cBhvr>
                                        <p:cTn id="190" dur="1" fill="hold">
                                          <p:stCondLst>
                                            <p:cond delay="0"/>
                                          </p:stCondLst>
                                        </p:cTn>
                                        <p:tgtEl>
                                          <p:spTgt spid="167"/>
                                        </p:tgtEl>
                                        <p:attrNameLst>
                                          <p:attrName>style.visibility</p:attrName>
                                        </p:attrNameLst>
                                      </p:cBhvr>
                                      <p:to>
                                        <p:strVal val="visible"/>
                                      </p:to>
                                    </p:set>
                                    <p:animEffect transition="in" filter="fade">
                                      <p:cBhvr>
                                        <p:cTn id="191" dur="500"/>
                                        <p:tgtEl>
                                          <p:spTgt spid="167"/>
                                        </p:tgtEl>
                                      </p:cBhvr>
                                    </p:animEffect>
                                  </p:childTnLst>
                                </p:cTn>
                              </p:par>
                              <p:par>
                                <p:cTn id="192" presetID="42" presetClass="path" presetSubtype="0" accel="50000" decel="50000" fill="hold" nodeType="withEffect">
                                  <p:stCondLst>
                                    <p:cond delay="0"/>
                                  </p:stCondLst>
                                  <p:childTnLst>
                                    <p:animMotion origin="layout" path="M 0.00729 -2.22222E-6 L -0.24375 -0.15532 " pathEditMode="relative" rAng="0" ptsTypes="AA">
                                      <p:cBhvr>
                                        <p:cTn id="193" dur="2000" fill="hold"/>
                                        <p:tgtEl>
                                          <p:spTgt spid="167"/>
                                        </p:tgtEl>
                                        <p:attrNameLst>
                                          <p:attrName>ppt_x</p:attrName>
                                          <p:attrName>ppt_y</p:attrName>
                                        </p:attrNameLst>
                                      </p:cBhvr>
                                      <p:rCtr x="-12552" y="-7778"/>
                                    </p:animMotion>
                                  </p:childTnLst>
                                </p:cTn>
                              </p:par>
                              <p:par>
                                <p:cTn id="194" presetID="42" presetClass="path" presetSubtype="0" accel="50000" decel="50000" fill="hold" nodeType="withEffect">
                                  <p:stCondLst>
                                    <p:cond delay="0"/>
                                  </p:stCondLst>
                                  <p:childTnLst>
                                    <p:animMotion origin="layout" path="M 0.00729 0.00047 L 0.20625 -0.1544 " pathEditMode="relative" rAng="0" ptsTypes="AA">
                                      <p:cBhvr>
                                        <p:cTn id="195" dur="2000" fill="hold"/>
                                        <p:tgtEl>
                                          <p:spTgt spid="171"/>
                                        </p:tgtEl>
                                        <p:attrNameLst>
                                          <p:attrName>ppt_x</p:attrName>
                                          <p:attrName>ppt_y</p:attrName>
                                        </p:attrNameLst>
                                      </p:cBhvr>
                                      <p:rCtr x="9948" y="-7755"/>
                                    </p:animMotion>
                                  </p:childTnLst>
                                </p:cTn>
                              </p:par>
                              <p:par>
                                <p:cTn id="196" presetID="42" presetClass="path" presetSubtype="0" accel="50000" decel="50000" fill="hold" nodeType="withEffect">
                                  <p:stCondLst>
                                    <p:cond delay="0"/>
                                  </p:stCondLst>
                                  <p:childTnLst>
                                    <p:animMotion origin="layout" path="M 0.00052 -0.00046 L 0.17448 0.08797 " pathEditMode="relative" rAng="0" ptsTypes="AA">
                                      <p:cBhvr>
                                        <p:cTn id="197" dur="2000" fill="hold"/>
                                        <p:tgtEl>
                                          <p:spTgt spid="175"/>
                                        </p:tgtEl>
                                        <p:attrNameLst>
                                          <p:attrName>ppt_x</p:attrName>
                                          <p:attrName>ppt_y</p:attrName>
                                        </p:attrNameLst>
                                      </p:cBhvr>
                                      <p:rCtr x="8698" y="4421"/>
                                    </p:animMotion>
                                  </p:childTnLst>
                                </p:cTn>
                              </p:par>
                              <p:par>
                                <p:cTn id="198" presetID="42" presetClass="path" presetSubtype="0" accel="50000" decel="50000" fill="hold" nodeType="withEffect">
                                  <p:stCondLst>
                                    <p:cond delay="0"/>
                                  </p:stCondLst>
                                  <p:childTnLst>
                                    <p:animMotion origin="layout" path="M 0 -2.22222E-6 L -0.00104 0.18866 " pathEditMode="relative" rAng="0" ptsTypes="AA">
                                      <p:cBhvr>
                                        <p:cTn id="199" dur="2000" fill="hold"/>
                                        <p:tgtEl>
                                          <p:spTgt spid="179"/>
                                        </p:tgtEl>
                                        <p:attrNameLst>
                                          <p:attrName>ppt_x</p:attrName>
                                          <p:attrName>ppt_y</p:attrName>
                                        </p:attrNameLst>
                                      </p:cBhvr>
                                      <p:rCtr x="-52" y="9421"/>
                                    </p:animMotion>
                                  </p:childTnLst>
                                </p:cTn>
                              </p:par>
                            </p:childTnLst>
                          </p:cTn>
                        </p:par>
                        <p:par>
                          <p:cTn id="200" fill="hold">
                            <p:stCondLst>
                              <p:cond delay="4000"/>
                            </p:stCondLst>
                            <p:childTnLst>
                              <p:par>
                                <p:cTn id="201" presetID="10" presetClass="exit" presetSubtype="0" fill="hold" nodeType="afterEffect">
                                  <p:stCondLst>
                                    <p:cond delay="0"/>
                                  </p:stCondLst>
                                  <p:childTnLst>
                                    <p:animEffect transition="out" filter="fade">
                                      <p:cBhvr>
                                        <p:cTn id="202" dur="500"/>
                                        <p:tgtEl>
                                          <p:spTgt spid="167"/>
                                        </p:tgtEl>
                                      </p:cBhvr>
                                    </p:animEffect>
                                    <p:set>
                                      <p:cBhvr>
                                        <p:cTn id="203" dur="1" fill="hold">
                                          <p:stCondLst>
                                            <p:cond delay="499"/>
                                          </p:stCondLst>
                                        </p:cTn>
                                        <p:tgtEl>
                                          <p:spTgt spid="167"/>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500"/>
                                        <p:tgtEl>
                                          <p:spTgt spid="171"/>
                                        </p:tgtEl>
                                      </p:cBhvr>
                                    </p:animEffect>
                                    <p:set>
                                      <p:cBhvr>
                                        <p:cTn id="206" dur="1" fill="hold">
                                          <p:stCondLst>
                                            <p:cond delay="499"/>
                                          </p:stCondLst>
                                        </p:cTn>
                                        <p:tgtEl>
                                          <p:spTgt spid="171"/>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500"/>
                                        <p:tgtEl>
                                          <p:spTgt spid="175"/>
                                        </p:tgtEl>
                                      </p:cBhvr>
                                    </p:animEffect>
                                    <p:set>
                                      <p:cBhvr>
                                        <p:cTn id="209" dur="1" fill="hold">
                                          <p:stCondLst>
                                            <p:cond delay="499"/>
                                          </p:stCondLst>
                                        </p:cTn>
                                        <p:tgtEl>
                                          <p:spTgt spid="175"/>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500"/>
                                        <p:tgtEl>
                                          <p:spTgt spid="179"/>
                                        </p:tgtEl>
                                      </p:cBhvr>
                                    </p:animEffect>
                                    <p:set>
                                      <p:cBhvr>
                                        <p:cTn id="212" dur="1" fill="hold">
                                          <p:stCondLst>
                                            <p:cond delay="499"/>
                                          </p:stCondLst>
                                        </p:cTn>
                                        <p:tgtEl>
                                          <p:spTgt spid="179"/>
                                        </p:tgtEl>
                                        <p:attrNameLst>
                                          <p:attrName>style.visibility</p:attrName>
                                        </p:attrNameLst>
                                      </p:cBhvr>
                                      <p:to>
                                        <p:strVal val="hidden"/>
                                      </p:to>
                                    </p:set>
                                  </p:childTnLst>
                                </p:cTn>
                              </p:par>
                            </p:childTnLst>
                          </p:cTn>
                        </p:par>
                        <p:par>
                          <p:cTn id="213" fill="hold">
                            <p:stCondLst>
                              <p:cond delay="4500"/>
                            </p:stCondLst>
                            <p:childTnLst>
                              <p:par>
                                <p:cTn id="214" presetID="10" presetClass="entr" presetSubtype="0" fill="hold" nodeType="afterEffect">
                                  <p:stCondLst>
                                    <p:cond delay="0"/>
                                  </p:stCondLst>
                                  <p:childTnLst>
                                    <p:set>
                                      <p:cBhvr>
                                        <p:cTn id="215" dur="1" fill="hold">
                                          <p:stCondLst>
                                            <p:cond delay="0"/>
                                          </p:stCondLst>
                                        </p:cTn>
                                        <p:tgtEl>
                                          <p:spTgt spid="183"/>
                                        </p:tgtEl>
                                        <p:attrNameLst>
                                          <p:attrName>style.visibility</p:attrName>
                                        </p:attrNameLst>
                                      </p:cBhvr>
                                      <p:to>
                                        <p:strVal val="visible"/>
                                      </p:to>
                                    </p:set>
                                    <p:animEffect transition="in" filter="fade">
                                      <p:cBhvr>
                                        <p:cTn id="216" dur="500"/>
                                        <p:tgtEl>
                                          <p:spTgt spid="183"/>
                                        </p:tgtEl>
                                      </p:cBhvr>
                                    </p:animEffect>
                                  </p:childTnLst>
                                </p:cTn>
                              </p:par>
                              <p:par>
                                <p:cTn id="217" presetID="10" presetClass="exit" presetSubtype="0" fill="hold" nodeType="withEffect">
                                  <p:stCondLst>
                                    <p:cond delay="0"/>
                                  </p:stCondLst>
                                  <p:childTnLst>
                                    <p:animEffect transition="out" filter="fade">
                                      <p:cBhvr>
                                        <p:cTn id="218" dur="500"/>
                                        <p:tgtEl>
                                          <p:spTgt spid="84"/>
                                        </p:tgtEl>
                                      </p:cBhvr>
                                    </p:animEffect>
                                    <p:set>
                                      <p:cBhvr>
                                        <p:cTn id="219" dur="1" fill="hold">
                                          <p:stCondLst>
                                            <p:cond delay="499"/>
                                          </p:stCondLst>
                                        </p:cTn>
                                        <p:tgtEl>
                                          <p:spTgt spid="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ey oval"/>
          <p:cNvSpPr/>
          <p:nvPr/>
        </p:nvSpPr>
        <p:spPr>
          <a:xfrm>
            <a:off x="1702318" y="1669256"/>
            <a:ext cx="4896543" cy="1630511"/>
          </a:xfrm>
          <a:prstGeom prst="ellipse">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37" name="87.5 percent"/>
          <p:cNvSpPr>
            <a:spLocks noChangeArrowheads="1"/>
          </p:cNvSpPr>
          <p:nvPr/>
        </p:nvSpPr>
        <p:spPr bwMode="auto">
          <a:xfrm>
            <a:off x="6315301" y="3014591"/>
            <a:ext cx="1975122" cy="702441"/>
          </a:xfrm>
          <a:prstGeom prst="roundRect">
            <a:avLst>
              <a:gd name="adj" fmla="val 4167"/>
            </a:avLst>
          </a:prstGeom>
          <a:noFill/>
          <a:ln w="9525" algn="ctr">
            <a:noFill/>
            <a:round/>
            <a:headEnd/>
            <a:tailEnd/>
          </a:ln>
          <a:effectLst/>
        </p:spPr>
        <p:txBody>
          <a:bodyPr anchor="b"/>
          <a:lstStyle/>
          <a:p>
            <a:pPr algn="ctr">
              <a:lnSpc>
                <a:spcPct val="85000"/>
              </a:lnSpc>
            </a:pPr>
            <a:r>
              <a:rPr lang="en-US" sz="1600" b="1" dirty="0" smtClean="0">
                <a:solidFill>
                  <a:srgbClr val="000000"/>
                </a:solidFill>
                <a:latin typeface="Segoe UI" pitchFamily="34" charset="0"/>
                <a:ea typeface="Segoe UI" pitchFamily="34" charset="0"/>
                <a:cs typeface="Segoe UI" pitchFamily="34" charset="0"/>
              </a:rPr>
              <a:t>87.5% </a:t>
            </a:r>
            <a:r>
              <a:rPr lang="en-US" sz="1600" b="1" dirty="0">
                <a:solidFill>
                  <a:srgbClr val="000000"/>
                </a:solidFill>
                <a:latin typeface="Segoe UI" pitchFamily="34" charset="0"/>
                <a:ea typeface="Segoe UI" pitchFamily="34" charset="0"/>
                <a:cs typeface="Segoe UI" pitchFamily="34" charset="0"/>
              </a:rPr>
              <a:t>of lease duration has expired</a:t>
            </a:r>
          </a:p>
        </p:txBody>
      </p:sp>
      <p:sp>
        <p:nvSpPr>
          <p:cNvPr id="14" name="main text"/>
          <p:cNvSpPr>
            <a:spLocks noChangeArrowheads="1"/>
          </p:cNvSpPr>
          <p:nvPr/>
        </p:nvSpPr>
        <p:spPr bwMode="auto">
          <a:xfrm>
            <a:off x="533400" y="3889067"/>
            <a:ext cx="8176882" cy="2306743"/>
          </a:xfrm>
          <a:prstGeom prst="roundRect">
            <a:avLst>
              <a:gd name="adj" fmla="val 4167"/>
            </a:avLst>
          </a:prstGeom>
          <a:noFill/>
          <a:ln w="9525" algn="ctr">
            <a:noFill/>
            <a:round/>
            <a:headEnd/>
            <a:tailEnd/>
          </a:ln>
        </p:spPr>
        <p:txBody>
          <a:bodyPr lIns="274320" anchor="ctr"/>
          <a:lstStyle/>
          <a:p>
            <a:pPr marL="457200" indent="-457200">
              <a:buFont typeface="+mj-lt"/>
              <a:buAutoNum type="arabicPeriod"/>
            </a:pPr>
            <a:r>
              <a:rPr lang="fr-FR" dirty="0" smtClean="0">
                <a:solidFill>
                  <a:srgbClr val="000000"/>
                </a:solidFill>
                <a:latin typeface="Segoe UI" pitchFamily="34" charset="0"/>
                <a:ea typeface="Segoe UI" pitchFamily="34" charset="0"/>
                <a:cs typeface="Segoe UI" pitchFamily="34" charset="0"/>
              </a:rPr>
              <a:t>DHCP client envoie un paquet DHCPREQUEST</a:t>
            </a:r>
          </a:p>
          <a:p>
            <a:pPr marL="457200" indent="-457200">
              <a:buFont typeface="+mj-lt"/>
              <a:buAutoNum type="arabicPeriod"/>
            </a:pPr>
            <a:r>
              <a:rPr lang="fr-FR" dirty="0" smtClean="0">
                <a:solidFill>
                  <a:srgbClr val="000000"/>
                </a:solidFill>
                <a:latin typeface="Segoe UI" pitchFamily="34" charset="0"/>
                <a:ea typeface="Segoe UI" pitchFamily="34" charset="0"/>
                <a:cs typeface="Segoe UI" pitchFamily="34" charset="0"/>
              </a:rPr>
              <a:t>DHCP </a:t>
            </a:r>
            <a:r>
              <a:rPr lang="fr-FR" dirty="0">
                <a:solidFill>
                  <a:srgbClr val="000000"/>
                </a:solidFill>
                <a:latin typeface="Segoe UI" pitchFamily="34" charset="0"/>
                <a:ea typeface="Segoe UI" pitchFamily="34" charset="0"/>
                <a:cs typeface="Segoe UI" pitchFamily="34" charset="0"/>
              </a:rPr>
              <a:t>Server1 envoie un paquet </a:t>
            </a:r>
            <a:r>
              <a:rPr lang="fr-FR" dirty="0" smtClean="0">
                <a:solidFill>
                  <a:srgbClr val="000000"/>
                </a:solidFill>
                <a:latin typeface="Segoe UI" pitchFamily="34" charset="0"/>
                <a:ea typeface="Segoe UI" pitchFamily="34" charset="0"/>
                <a:cs typeface="Segoe UI" pitchFamily="34" charset="0"/>
              </a:rPr>
              <a:t>DHCPACK</a:t>
            </a:r>
          </a:p>
          <a:p>
            <a:pPr marL="457200" indent="-457200">
              <a:buFont typeface="+mj-lt"/>
              <a:buAutoNum type="arabicPeriod"/>
            </a:pPr>
            <a:r>
              <a:rPr lang="fr-FR" dirty="0" smtClean="0">
                <a:solidFill>
                  <a:srgbClr val="000000"/>
                </a:solidFill>
                <a:latin typeface="Segoe UI" pitchFamily="34" charset="0"/>
                <a:ea typeface="Segoe UI" pitchFamily="34" charset="0"/>
                <a:cs typeface="Segoe UI" pitchFamily="34" charset="0"/>
              </a:rPr>
              <a:t>Première tentative de renouvellement du bail à 50% de la durée du bail. Deuxième tentative à 87,5% de la durée du bail. </a:t>
            </a:r>
            <a:endParaRPr lang="fr-FR" dirty="0" smtClean="0">
              <a:solidFill>
                <a:srgbClr val="000000"/>
              </a:solidFill>
              <a:latin typeface="Segoe UI" pitchFamily="34" charset="0"/>
              <a:ea typeface="Segoe UI" pitchFamily="34" charset="0"/>
              <a:cs typeface="Segoe UI" pitchFamily="34" charset="0"/>
            </a:endParaRPr>
          </a:p>
          <a:p>
            <a:pPr marL="457200" indent="-457200">
              <a:buFont typeface="+mj-lt"/>
              <a:buAutoNum type="arabicPeriod"/>
            </a:pPr>
            <a:r>
              <a:rPr lang="fr-FR" dirty="0" smtClean="0">
                <a:solidFill>
                  <a:srgbClr val="000000"/>
                </a:solidFill>
                <a:latin typeface="Segoe UI" pitchFamily="34" charset="0"/>
                <a:ea typeface="Segoe UI" pitchFamily="34" charset="0"/>
                <a:cs typeface="Segoe UI" pitchFamily="34" charset="0"/>
              </a:rPr>
              <a:t>Si les deux tentatives échouent, le client recommence un processus de génération de bail (</a:t>
            </a:r>
            <a:r>
              <a:rPr lang="fr-FR" dirty="0" smtClean="0">
                <a:solidFill>
                  <a:prstClr val="black"/>
                </a:solidFill>
                <a:latin typeface="Segoe UI" panose="020B0502040204020203" pitchFamily="34" charset="0"/>
                <a:ea typeface="Segoe UI" pitchFamily="34" charset="0"/>
                <a:cs typeface="Segoe UI" panose="020B0502040204020203" pitchFamily="34" charset="0"/>
              </a:rPr>
              <a:t>DHCPDISCOVER) à la fin de celui-ci.</a:t>
            </a:r>
            <a:endParaRPr lang="fr-FR" dirty="0">
              <a:solidFill>
                <a:srgbClr val="000000"/>
              </a:solidFill>
              <a:latin typeface="Segoe UI" pitchFamily="34" charset="0"/>
              <a:ea typeface="Segoe UI" pitchFamily="34" charset="0"/>
              <a:cs typeface="Segoe UI" pitchFamily="34" charset="0"/>
            </a:endParaRPr>
          </a:p>
        </p:txBody>
      </p:sp>
      <p:grpSp>
        <p:nvGrpSpPr>
          <p:cNvPr id="29" name="server 2"/>
          <p:cNvGrpSpPr/>
          <p:nvPr/>
        </p:nvGrpSpPr>
        <p:grpSpPr>
          <a:xfrm>
            <a:off x="2193540" y="1212763"/>
            <a:ext cx="2181600" cy="1136117"/>
            <a:chOff x="1142796" y="615707"/>
            <a:chExt cx="2181600" cy="1136117"/>
          </a:xfrm>
        </p:grpSpPr>
        <p:sp>
          <p:nvSpPr>
            <p:cNvPr id="13" name="AutoShape 39"/>
            <p:cNvSpPr>
              <a:spLocks noChangeArrowheads="1"/>
            </p:cNvSpPr>
            <p:nvPr/>
          </p:nvSpPr>
          <p:spPr bwMode="auto">
            <a:xfrm>
              <a:off x="1142796" y="1356097"/>
              <a:ext cx="2181600" cy="395727"/>
            </a:xfrm>
            <a:prstGeom prst="roundRect">
              <a:avLst>
                <a:gd name="adj" fmla="val 4167"/>
              </a:avLst>
            </a:prstGeom>
            <a:noFill/>
            <a:ln w="9525">
              <a:noFill/>
              <a:round/>
              <a:headEnd/>
              <a:tailEnd/>
            </a:ln>
          </p:spPr>
          <p:txBody>
            <a:bodyPr wrap="none" lIns="0" tIns="0" rIns="0" bIns="0" anchor="ctr"/>
            <a:lstStyle/>
            <a:p>
              <a:pPr algn="ctr"/>
              <a:r>
                <a:rPr lang="en-US" sz="1600" b="1" dirty="0" smtClean="0">
                  <a:solidFill>
                    <a:srgbClr val="000000"/>
                  </a:solidFill>
                  <a:latin typeface="Segoe UI" pitchFamily="34" charset="0"/>
                  <a:ea typeface="Segoe UI" pitchFamily="34" charset="0"/>
                  <a:cs typeface="Segoe UI" pitchFamily="34" charset="0"/>
                </a:rPr>
                <a:t>DHCP Server2</a:t>
              </a:r>
              <a:endParaRPr lang="en-US" sz="1600" b="1" dirty="0">
                <a:solidFill>
                  <a:srgbClr val="000000"/>
                </a:solidFill>
                <a:latin typeface="Segoe UI" pitchFamily="34" charset="0"/>
                <a:ea typeface="Segoe UI" pitchFamily="34" charset="0"/>
                <a:cs typeface="Segoe UI" pitchFamily="34" charset="0"/>
              </a:endParaRP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29473" y="615707"/>
              <a:ext cx="459847" cy="816589"/>
            </a:xfrm>
            <a:prstGeom prst="rect">
              <a:avLst/>
            </a:prstGeom>
          </p:spPr>
        </p:pic>
      </p:grpSp>
      <p:sp>
        <p:nvSpPr>
          <p:cNvPr id="12" name="AutoShape 37"/>
          <p:cNvSpPr>
            <a:spLocks noChangeArrowheads="1"/>
          </p:cNvSpPr>
          <p:nvPr/>
        </p:nvSpPr>
        <p:spPr bwMode="auto">
          <a:xfrm>
            <a:off x="5775062" y="1724842"/>
            <a:ext cx="1015436" cy="609019"/>
          </a:xfrm>
          <a:prstGeom prst="roundRect">
            <a:avLst>
              <a:gd name="adj" fmla="val 4167"/>
            </a:avLst>
          </a:prstGeom>
          <a:solidFill>
            <a:schemeClr val="bg1"/>
          </a:solidFill>
          <a:ln w="9525" algn="ctr">
            <a:noFill/>
            <a:round/>
            <a:headEnd/>
            <a:tailEnd/>
          </a:ln>
        </p:spPr>
        <p:txBody>
          <a:bodyPr wrap="none" lIns="0" tIns="0" rIns="0" bIns="0" anchor="ctr"/>
          <a:lstStyle/>
          <a:p>
            <a:pPr algn="ctr"/>
            <a:r>
              <a:rPr lang="en-US" sz="1600" b="1" dirty="0" smtClean="0">
                <a:solidFill>
                  <a:srgbClr val="000000"/>
                </a:solidFill>
                <a:latin typeface="Segoe UI" pitchFamily="34" charset="0"/>
                <a:ea typeface="Segoe UI" pitchFamily="34" charset="0"/>
                <a:cs typeface="Segoe UI" pitchFamily="34" charset="0"/>
              </a:rPr>
              <a:t>DHCP</a:t>
            </a:r>
          </a:p>
          <a:p>
            <a:pPr algn="ctr"/>
            <a:r>
              <a:rPr lang="en-US" sz="1600" b="1" dirty="0" smtClean="0">
                <a:solidFill>
                  <a:srgbClr val="000000"/>
                </a:solidFill>
                <a:latin typeface="Segoe UI" pitchFamily="34" charset="0"/>
                <a:ea typeface="Segoe UI" pitchFamily="34" charset="0"/>
                <a:cs typeface="Segoe UI" pitchFamily="34" charset="0"/>
              </a:rPr>
              <a:t>clients</a:t>
            </a:r>
            <a:endParaRPr lang="en-US" sz="1600" b="1" dirty="0">
              <a:solidFill>
                <a:srgbClr val="000000"/>
              </a:solidFill>
              <a:latin typeface="Segoe UI" pitchFamily="34" charset="0"/>
              <a:ea typeface="Segoe UI" pitchFamily="34" charset="0"/>
              <a:cs typeface="Segoe UI" pitchFamily="34" charset="0"/>
            </a:endParaRP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61684" y="1075198"/>
            <a:ext cx="827557" cy="934254"/>
          </a:xfrm>
          <a:prstGeom prst="rect">
            <a:avLst/>
          </a:prstGeom>
        </p:spPr>
      </p:pic>
      <p:grpSp>
        <p:nvGrpSpPr>
          <p:cNvPr id="28" name="server 1"/>
          <p:cNvGrpSpPr/>
          <p:nvPr/>
        </p:nvGrpSpPr>
        <p:grpSpPr>
          <a:xfrm>
            <a:off x="1371600" y="2437599"/>
            <a:ext cx="2181600" cy="1219373"/>
            <a:chOff x="1311634" y="2524013"/>
            <a:chExt cx="2181600" cy="1219373"/>
          </a:xfrm>
        </p:grpSpPr>
        <p:sp>
          <p:nvSpPr>
            <p:cNvPr id="18" name="AutoShape 39"/>
            <p:cNvSpPr>
              <a:spLocks noChangeArrowheads="1"/>
            </p:cNvSpPr>
            <p:nvPr/>
          </p:nvSpPr>
          <p:spPr bwMode="auto">
            <a:xfrm>
              <a:off x="1311634" y="3347659"/>
              <a:ext cx="2181600" cy="395727"/>
            </a:xfrm>
            <a:prstGeom prst="roundRect">
              <a:avLst>
                <a:gd name="adj" fmla="val 4167"/>
              </a:avLst>
            </a:prstGeom>
            <a:noFill/>
            <a:ln w="9525">
              <a:noFill/>
              <a:round/>
              <a:headEnd/>
              <a:tailEnd/>
            </a:ln>
          </p:spPr>
          <p:txBody>
            <a:bodyPr wrap="none" lIns="0" tIns="0" rIns="0" bIns="0" anchor="ctr"/>
            <a:lstStyle/>
            <a:p>
              <a:pPr algn="ctr"/>
              <a:r>
                <a:rPr lang="en-US" sz="1600" b="1" dirty="0" smtClean="0">
                  <a:solidFill>
                    <a:srgbClr val="000000"/>
                  </a:solidFill>
                  <a:latin typeface="Segoe UI" pitchFamily="34" charset="0"/>
                  <a:ea typeface="Segoe UI" pitchFamily="34" charset="0"/>
                  <a:cs typeface="Segoe UI" pitchFamily="34" charset="0"/>
                </a:rPr>
                <a:t>DHCP Server1</a:t>
              </a:r>
              <a:endParaRPr lang="en-US" sz="1600" b="1" dirty="0">
                <a:solidFill>
                  <a:srgbClr val="000000"/>
                </a:solidFill>
                <a:latin typeface="Segoe UI" pitchFamily="34" charset="0"/>
                <a:ea typeface="Segoe UI" pitchFamily="34" charset="0"/>
                <a:cs typeface="Segoe UI" pitchFamily="34" charset="0"/>
              </a:endParaRPr>
            </a:p>
          </p:txBody>
        </p:sp>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28151" y="2524013"/>
              <a:ext cx="512625" cy="910312"/>
            </a:xfrm>
            <a:prstGeom prst="rect">
              <a:avLst/>
            </a:prstGeom>
          </p:spPr>
        </p:pic>
      </p:grpSp>
      <p:sp>
        <p:nvSpPr>
          <p:cNvPr id="15" name="50 percent"/>
          <p:cNvSpPr>
            <a:spLocks noChangeArrowheads="1"/>
          </p:cNvSpPr>
          <p:nvPr/>
        </p:nvSpPr>
        <p:spPr bwMode="auto">
          <a:xfrm>
            <a:off x="6315301" y="3014591"/>
            <a:ext cx="1975122" cy="702441"/>
          </a:xfrm>
          <a:prstGeom prst="roundRect">
            <a:avLst>
              <a:gd name="adj" fmla="val 4167"/>
            </a:avLst>
          </a:prstGeom>
          <a:noFill/>
          <a:ln w="9525" algn="ctr">
            <a:noFill/>
            <a:round/>
            <a:headEnd/>
            <a:tailEnd/>
          </a:ln>
          <a:effectLst/>
        </p:spPr>
        <p:txBody>
          <a:bodyPr anchor="b"/>
          <a:lstStyle/>
          <a:p>
            <a:pPr algn="ctr">
              <a:lnSpc>
                <a:spcPct val="85000"/>
              </a:lnSpc>
            </a:pPr>
            <a:r>
              <a:rPr lang="en-US" sz="1600" b="1" dirty="0">
                <a:solidFill>
                  <a:srgbClr val="000000"/>
                </a:solidFill>
                <a:latin typeface="Segoe UI" pitchFamily="34" charset="0"/>
                <a:ea typeface="Segoe UI" pitchFamily="34" charset="0"/>
                <a:cs typeface="Segoe UI" pitchFamily="34" charset="0"/>
              </a:rPr>
              <a:t>50% of lease duration has expired</a:t>
            </a:r>
          </a:p>
        </p:txBody>
      </p:sp>
      <p:pic>
        <p:nvPicPr>
          <p:cNvPr id="20" name="work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85496" y="2348007"/>
            <a:ext cx="968031" cy="1092840"/>
          </a:xfrm>
          <a:prstGeom prst="rect">
            <a:avLst/>
          </a:prstGeom>
        </p:spPr>
      </p:pic>
      <p:pic>
        <p:nvPicPr>
          <p:cNvPr id="21" name="clock"/>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927577" y="2255655"/>
            <a:ext cx="666563" cy="758935"/>
          </a:xfrm>
          <a:prstGeom prst="rect">
            <a:avLst/>
          </a:prstGeom>
        </p:spPr>
      </p:pic>
      <p:grpSp>
        <p:nvGrpSpPr>
          <p:cNvPr id="22" name="packet"/>
          <p:cNvGrpSpPr/>
          <p:nvPr/>
        </p:nvGrpSpPr>
        <p:grpSpPr>
          <a:xfrm>
            <a:off x="5476127" y="2734339"/>
            <a:ext cx="895968" cy="158416"/>
            <a:chOff x="5022443" y="3604216"/>
            <a:chExt cx="895968" cy="158416"/>
          </a:xfrm>
        </p:grpSpPr>
        <p:sp>
          <p:nvSpPr>
            <p:cNvPr id="6" name="Rectangle 5"/>
            <p:cNvSpPr/>
            <p:nvPr/>
          </p:nvSpPr>
          <p:spPr>
            <a:xfrm>
              <a:off x="5189437" y="3604216"/>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7" name="Rectangle 6"/>
            <p:cNvSpPr/>
            <p:nvPr/>
          </p:nvSpPr>
          <p:spPr>
            <a:xfrm>
              <a:off x="5739782"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8" name="Rectangle 7"/>
            <p:cNvSpPr/>
            <p:nvPr/>
          </p:nvSpPr>
          <p:spPr>
            <a:xfrm>
              <a:off x="5022443"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grpSp>
      <p:grpSp>
        <p:nvGrpSpPr>
          <p:cNvPr id="39" name="discover"/>
          <p:cNvGrpSpPr/>
          <p:nvPr/>
        </p:nvGrpSpPr>
        <p:grpSpPr>
          <a:xfrm>
            <a:off x="5476127" y="2738495"/>
            <a:ext cx="895968" cy="158416"/>
            <a:chOff x="5022443" y="3604216"/>
            <a:chExt cx="895968" cy="158416"/>
          </a:xfrm>
        </p:grpSpPr>
        <p:sp>
          <p:nvSpPr>
            <p:cNvPr id="40" name="Rectangle 39"/>
            <p:cNvSpPr/>
            <p:nvPr/>
          </p:nvSpPr>
          <p:spPr>
            <a:xfrm>
              <a:off x="5189437" y="3604216"/>
              <a:ext cx="550345" cy="15841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41" name="Rectangle 40"/>
            <p:cNvSpPr/>
            <p:nvPr/>
          </p:nvSpPr>
          <p:spPr>
            <a:xfrm>
              <a:off x="5739782"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42" name="Rectangle 41"/>
            <p:cNvSpPr/>
            <p:nvPr/>
          </p:nvSpPr>
          <p:spPr>
            <a:xfrm>
              <a:off x="5022443"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grpSp>
      <p:grpSp>
        <p:nvGrpSpPr>
          <p:cNvPr id="33" name="packet"/>
          <p:cNvGrpSpPr/>
          <p:nvPr/>
        </p:nvGrpSpPr>
        <p:grpSpPr>
          <a:xfrm>
            <a:off x="1996445" y="2738495"/>
            <a:ext cx="895968" cy="158416"/>
            <a:chOff x="5022443" y="3604216"/>
            <a:chExt cx="895968" cy="158416"/>
          </a:xfrm>
        </p:grpSpPr>
        <p:sp>
          <p:nvSpPr>
            <p:cNvPr id="34" name="Rectangle 33"/>
            <p:cNvSpPr/>
            <p:nvPr/>
          </p:nvSpPr>
          <p:spPr>
            <a:xfrm>
              <a:off x="5189437" y="3604216"/>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35" name="Rectangle 34"/>
            <p:cNvSpPr/>
            <p:nvPr/>
          </p:nvSpPr>
          <p:spPr>
            <a:xfrm>
              <a:off x="5739782"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36" name="Rectangle 35"/>
            <p:cNvSpPr/>
            <p:nvPr/>
          </p:nvSpPr>
          <p:spPr>
            <a:xfrm>
              <a:off x="5022443"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grpSp>
      <p:sp>
        <p:nvSpPr>
          <p:cNvPr id="38" name="100 percent"/>
          <p:cNvSpPr>
            <a:spLocks noChangeArrowheads="1"/>
          </p:cNvSpPr>
          <p:nvPr/>
        </p:nvSpPr>
        <p:spPr bwMode="auto">
          <a:xfrm>
            <a:off x="6315301" y="3014591"/>
            <a:ext cx="1975122" cy="702441"/>
          </a:xfrm>
          <a:prstGeom prst="roundRect">
            <a:avLst>
              <a:gd name="adj" fmla="val 4167"/>
            </a:avLst>
          </a:prstGeom>
          <a:noFill/>
          <a:ln w="9525" algn="ctr">
            <a:noFill/>
            <a:round/>
            <a:headEnd/>
            <a:tailEnd/>
          </a:ln>
          <a:effectLst/>
        </p:spPr>
        <p:txBody>
          <a:bodyPr anchor="b"/>
          <a:lstStyle/>
          <a:p>
            <a:pPr algn="ctr">
              <a:lnSpc>
                <a:spcPct val="85000"/>
              </a:lnSpc>
            </a:pPr>
            <a:r>
              <a:rPr lang="en-US" sz="1600" b="1" dirty="0" smtClean="0">
                <a:solidFill>
                  <a:srgbClr val="000000"/>
                </a:solidFill>
                <a:latin typeface="Segoe UI" pitchFamily="34" charset="0"/>
                <a:ea typeface="Segoe UI" pitchFamily="34" charset="0"/>
                <a:cs typeface="Segoe UI" pitchFamily="34" charset="0"/>
              </a:rPr>
              <a:t>100% </a:t>
            </a:r>
            <a:r>
              <a:rPr lang="en-US" sz="1600" b="1" dirty="0">
                <a:solidFill>
                  <a:srgbClr val="000000"/>
                </a:solidFill>
                <a:latin typeface="Segoe UI" pitchFamily="34" charset="0"/>
                <a:ea typeface="Segoe UI" pitchFamily="34" charset="0"/>
                <a:cs typeface="Segoe UI" pitchFamily="34" charset="0"/>
              </a:rPr>
              <a:t>of lease duration has expired</a:t>
            </a:r>
          </a:p>
        </p:txBody>
      </p:sp>
      <p:pic>
        <p:nvPicPr>
          <p:cNvPr id="45" name="stop"/>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8125" y="609875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3" name="packet 2"/>
          <p:cNvGrpSpPr/>
          <p:nvPr/>
        </p:nvGrpSpPr>
        <p:grpSpPr>
          <a:xfrm>
            <a:off x="5470309" y="2738495"/>
            <a:ext cx="895968" cy="158416"/>
            <a:chOff x="5022443" y="3604216"/>
            <a:chExt cx="895968" cy="158416"/>
          </a:xfrm>
        </p:grpSpPr>
        <p:sp>
          <p:nvSpPr>
            <p:cNvPr id="24" name="Rectangle 23"/>
            <p:cNvSpPr/>
            <p:nvPr/>
          </p:nvSpPr>
          <p:spPr>
            <a:xfrm>
              <a:off x="5189437" y="3604216"/>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25" name="Rectangle 24"/>
            <p:cNvSpPr/>
            <p:nvPr/>
          </p:nvSpPr>
          <p:spPr>
            <a:xfrm>
              <a:off x="5739782"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26" name="Rectangle 25"/>
            <p:cNvSpPr/>
            <p:nvPr/>
          </p:nvSpPr>
          <p:spPr>
            <a:xfrm>
              <a:off x="5022443"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grpSp>
      <p:pic>
        <p:nvPicPr>
          <p:cNvPr id="43" name="play - alt text is here" descr="Graphic that depicts two DHCP servers (DHCP Server 1 and DHCP Server 2) and two DHCP clients. The frames of the build slide demonstrate how the DHCP renewal process works for one of the DHCP clients. &#10;Additionally, a label in the lower-right corner shows the percentage of the lease duration that has expir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77125" y="610552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a:spLocks noGrp="1"/>
          </p:cNvSpPr>
          <p:nvPr>
            <p:ph type="title"/>
          </p:nvPr>
        </p:nvSpPr>
        <p:spPr/>
        <p:txBody>
          <a:bodyPr/>
          <a:lstStyle/>
          <a:p>
            <a:r>
              <a:rPr lang="fr-FR" dirty="0" smtClean="0"/>
              <a:t>Renouvellement d’un bail</a:t>
            </a:r>
            <a:endParaRPr lang="fr-FR" dirty="0"/>
          </a:p>
        </p:txBody>
      </p:sp>
    </p:spTree>
    <p:extLst>
      <p:ext uri="{BB962C8B-B14F-4D97-AF65-F5344CB8AC3E}">
        <p14:creationId xmlns:p14="http://schemas.microsoft.com/office/powerpoint/2010/main" val="374934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par>
                                <p:cTn id="15" presetID="42" presetClass="path" presetSubtype="0" accel="50000" decel="50000" fill="hold" nodeType="withEffect">
                                  <p:stCondLst>
                                    <p:cond delay="0"/>
                                  </p:stCondLst>
                                  <p:childTnLst>
                                    <p:animMotion origin="layout" path="M -2.77778E-6 4.26457E-6 L -0.36059 0.00578 " pathEditMode="relative" rAng="0" ptsTypes="AA">
                                      <p:cBhvr>
                                        <p:cTn id="16" dur="2000" fill="hold"/>
                                        <p:tgtEl>
                                          <p:spTgt spid="22"/>
                                        </p:tgtEl>
                                        <p:attrNameLst>
                                          <p:attrName>ppt_x</p:attrName>
                                          <p:attrName>ppt_y</p:attrName>
                                        </p:attrNameLst>
                                      </p:cBhvr>
                                      <p:rCtr x="-18038" y="278"/>
                                    </p:animMotion>
                                  </p:childTnLst>
                                </p:cTn>
                              </p:par>
                            </p:childTnLst>
                          </p:cTn>
                        </p:par>
                        <p:par>
                          <p:cTn id="17" fill="hold">
                            <p:stCondLst>
                              <p:cond delay="2000"/>
                            </p:stCondLst>
                            <p:childTnLst>
                              <p:par>
                                <p:cTn id="18" presetID="10" presetClass="exit" presetSubtype="0" fill="hold" nodeType="afterEffect">
                                  <p:stCondLst>
                                    <p:cond delay="0"/>
                                  </p:stCondLst>
                                  <p:childTnLst>
                                    <p:animEffect transition="out" filter="fade">
                                      <p:cBhvr>
                                        <p:cTn id="19" dur="500"/>
                                        <p:tgtEl>
                                          <p:spTgt spid="22"/>
                                        </p:tgtEl>
                                      </p:cBhvr>
                                    </p:animEffect>
                                    <p:set>
                                      <p:cBhvr>
                                        <p:cTn id="20" dur="1" fill="hold">
                                          <p:stCondLst>
                                            <p:cond delay="499"/>
                                          </p:stCondLst>
                                        </p:cTn>
                                        <p:tgtEl>
                                          <p:spTgt spid="2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fade">
                                      <p:cBhvr>
                                        <p:cTn id="25" dur="500"/>
                                        <p:tgtEl>
                                          <p:spTgt spid="14">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xEl>
                                              <p:pRg st="2" end="2"/>
                                            </p:txEl>
                                          </p:spTgt>
                                        </p:tgtEl>
                                        <p:attrNameLst>
                                          <p:attrName>style.visibility</p:attrName>
                                        </p:attrNameLst>
                                      </p:cBhvr>
                                      <p:to>
                                        <p:strVal val="visible"/>
                                      </p:to>
                                    </p:set>
                                    <p:animEffect transition="in" filter="fade">
                                      <p:cBhvr>
                                        <p:cTn id="30" dur="500"/>
                                        <p:tgtEl>
                                          <p:spTgt spid="14">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xEl>
                                              <p:pRg st="3" end="3"/>
                                            </p:txEl>
                                          </p:spTgt>
                                        </p:tgtEl>
                                        <p:attrNameLst>
                                          <p:attrName>style.visibility</p:attrName>
                                        </p:attrNameLst>
                                      </p:cBhvr>
                                      <p:to>
                                        <p:strVal val="visible"/>
                                      </p:to>
                                    </p:set>
                                    <p:animEffect transition="in" filter="fade">
                                      <p:cBhvr>
                                        <p:cTn id="35" dur="500"/>
                                        <p:tgtEl>
                                          <p:spTgt spid="14">
                                            <p:txEl>
                                              <p:pRg st="3" end="3"/>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par>
                                <p:cTn id="39" presetID="42" presetClass="path" presetSubtype="0" accel="50000" decel="50000" fill="hold" nodeType="withEffect">
                                  <p:stCondLst>
                                    <p:cond delay="0"/>
                                  </p:stCondLst>
                                  <p:childTnLst>
                                    <p:animMotion origin="layout" path="M 0.01997 0.00509 L 0.38629 -0.00023 " pathEditMode="relative" rAng="0" ptsTypes="AA">
                                      <p:cBhvr>
                                        <p:cTn id="40" dur="2000" fill="hold"/>
                                        <p:tgtEl>
                                          <p:spTgt spid="33"/>
                                        </p:tgtEl>
                                        <p:attrNameLst>
                                          <p:attrName>ppt_x</p:attrName>
                                          <p:attrName>ppt_y</p:attrName>
                                        </p:attrNameLst>
                                      </p:cBhvr>
                                      <p:rCtr x="18316" y="-278"/>
                                    </p:animMotion>
                                  </p:childTnLst>
                                </p:cTn>
                              </p:par>
                            </p:childTnLst>
                          </p:cTn>
                        </p:par>
                        <p:par>
                          <p:cTn id="41" fill="hold">
                            <p:stCondLst>
                              <p:cond delay="2000"/>
                            </p:stCondLst>
                            <p:childTnLst>
                              <p:par>
                                <p:cTn id="42" presetID="10" presetClass="exit" presetSubtype="0" fill="hold" nodeType="afterEffect">
                                  <p:stCondLst>
                                    <p:cond delay="0"/>
                                  </p:stCondLst>
                                  <p:childTnLst>
                                    <p:animEffect transition="out" filter="fade">
                                      <p:cBhvr>
                                        <p:cTn id="43" dur="500"/>
                                        <p:tgtEl>
                                          <p:spTgt spid="33"/>
                                        </p:tgtEl>
                                      </p:cBhvr>
                                    </p:animEffect>
                                    <p:set>
                                      <p:cBhvr>
                                        <p:cTn id="44" dur="1" fill="hold">
                                          <p:stCondLst>
                                            <p:cond delay="499"/>
                                          </p:stCondLst>
                                        </p:cTn>
                                        <p:tgtEl>
                                          <p:spTgt spid="3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1" nodeType="click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500"/>
                                        <p:tgtEl>
                                          <p:spTgt spid="37"/>
                                        </p:tgtEl>
                                      </p:cBhvr>
                                    </p:animEffect>
                                  </p:childTnLst>
                                </p:cTn>
                              </p:par>
                              <p:par>
                                <p:cTn id="50" presetID="10" presetClass="exit" presetSubtype="0" fill="hold" grpId="0" nodeType="withEffect">
                                  <p:stCondLst>
                                    <p:cond delay="0"/>
                                  </p:stCondLst>
                                  <p:childTnLst>
                                    <p:animEffect transition="out" filter="fade">
                                      <p:cBhvr>
                                        <p:cTn id="51" dur="500"/>
                                        <p:tgtEl>
                                          <p:spTgt spid="15"/>
                                        </p:tgtEl>
                                      </p:cBhvr>
                                    </p:animEffect>
                                    <p:set>
                                      <p:cBhvr>
                                        <p:cTn id="52" dur="1" fill="hold">
                                          <p:stCondLst>
                                            <p:cond delay="499"/>
                                          </p:stCondLst>
                                        </p:cTn>
                                        <p:tgtEl>
                                          <p:spTgt spid="15"/>
                                        </p:tgtEl>
                                        <p:attrNameLst>
                                          <p:attrName>style.visibility</p:attrName>
                                        </p:attrNameLst>
                                      </p:cBhvr>
                                      <p:to>
                                        <p:strVal val="hidden"/>
                                      </p:to>
                                    </p:set>
                                  </p:childTnLst>
                                </p:cTn>
                              </p:par>
                            </p:childTnLst>
                          </p:cTn>
                        </p:par>
                        <p:par>
                          <p:cTn id="53" fill="hold">
                            <p:stCondLst>
                              <p:cond delay="500"/>
                            </p:stCondLst>
                            <p:childTnLst>
                              <p:par>
                                <p:cTn id="54" presetID="10" presetClass="entr" presetSubtype="0" fill="hold" nodeType="afterEffect">
                                  <p:stCondLst>
                                    <p:cond delay="125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childTnLst>
                          </p:cTn>
                        </p:par>
                        <p:par>
                          <p:cTn id="57" fill="hold">
                            <p:stCondLst>
                              <p:cond delay="2250"/>
                            </p:stCondLst>
                            <p:childTnLst>
                              <p:par>
                                <p:cTn id="58" presetID="42" presetClass="path" presetSubtype="0" accel="50000" decel="50000" fill="hold" nodeType="afterEffect">
                                  <p:stCondLst>
                                    <p:cond delay="0"/>
                                  </p:stCondLst>
                                  <p:childTnLst>
                                    <p:animMotion origin="layout" path="M -1.66667E-6 1.85185E-6 L -0.38125 0.00509 " pathEditMode="relative" rAng="0" ptsTypes="AA">
                                      <p:cBhvr>
                                        <p:cTn id="59" dur="2000" fill="hold"/>
                                        <p:tgtEl>
                                          <p:spTgt spid="23"/>
                                        </p:tgtEl>
                                        <p:attrNameLst>
                                          <p:attrName>ppt_x</p:attrName>
                                          <p:attrName>ppt_y</p:attrName>
                                        </p:attrNameLst>
                                      </p:cBhvr>
                                      <p:rCtr x="-19062" y="255"/>
                                    </p:animMotion>
                                  </p:childTnLst>
                                </p:cTn>
                              </p:par>
                            </p:childTnLst>
                          </p:cTn>
                        </p:par>
                        <p:par>
                          <p:cTn id="60" fill="hold">
                            <p:stCondLst>
                              <p:cond delay="4250"/>
                            </p:stCondLst>
                            <p:childTnLst>
                              <p:par>
                                <p:cTn id="61" presetID="10" presetClass="exit" presetSubtype="0" fill="hold" nodeType="afterEffect">
                                  <p:stCondLst>
                                    <p:cond delay="0"/>
                                  </p:stCondLst>
                                  <p:childTnLst>
                                    <p:animEffect transition="out" filter="fade">
                                      <p:cBhvr>
                                        <p:cTn id="62" dur="500"/>
                                        <p:tgtEl>
                                          <p:spTgt spid="23"/>
                                        </p:tgtEl>
                                      </p:cBhvr>
                                    </p:animEffect>
                                    <p:set>
                                      <p:cBhvr>
                                        <p:cTn id="63" dur="1" fill="hold">
                                          <p:stCondLst>
                                            <p:cond delay="499"/>
                                          </p:stCondLst>
                                        </p:cTn>
                                        <p:tgtEl>
                                          <p:spTgt spid="23"/>
                                        </p:tgtEl>
                                        <p:attrNameLst>
                                          <p:attrName>style.visibility</p:attrName>
                                        </p:attrNameLst>
                                      </p:cBhvr>
                                      <p:to>
                                        <p:strVal val="hidden"/>
                                      </p:to>
                                    </p:set>
                                  </p:childTnLst>
                                </p:cTn>
                              </p:par>
                            </p:childTnLst>
                          </p:cTn>
                        </p:par>
                        <p:par>
                          <p:cTn id="64" fill="hold">
                            <p:stCondLst>
                              <p:cond delay="4750"/>
                            </p:stCondLst>
                            <p:childTnLst>
                              <p:par>
                                <p:cTn id="65" presetID="10" presetClass="entr" presetSubtype="0" fill="hold"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5250"/>
                            </p:stCondLst>
                            <p:childTnLst>
                              <p:par>
                                <p:cTn id="69" presetID="42" presetClass="path" presetSubtype="0" accel="50000" decel="50000" fill="hold" nodeType="afterEffect">
                                  <p:stCondLst>
                                    <p:cond delay="0"/>
                                  </p:stCondLst>
                                  <p:childTnLst>
                                    <p:animMotion origin="layout" path="M -0.37743 0.00486 L 0.00608 3.7037E-7 " pathEditMode="relative" rAng="0" ptsTypes="AA">
                                      <p:cBhvr>
                                        <p:cTn id="70" dur="2000" fill="hold"/>
                                        <p:tgtEl>
                                          <p:spTgt spid="23"/>
                                        </p:tgtEl>
                                        <p:attrNameLst>
                                          <p:attrName>ppt_x</p:attrName>
                                          <p:attrName>ppt_y</p:attrName>
                                        </p:attrNameLst>
                                      </p:cBhvr>
                                      <p:rCtr x="19167" y="-255"/>
                                    </p:animMotion>
                                  </p:childTnLst>
                                </p:cTn>
                              </p:par>
                            </p:childTnLst>
                          </p:cTn>
                        </p:par>
                        <p:par>
                          <p:cTn id="71" fill="hold">
                            <p:stCondLst>
                              <p:cond delay="7250"/>
                            </p:stCondLst>
                            <p:childTnLst>
                              <p:par>
                                <p:cTn id="72" presetID="10" presetClass="exit" presetSubtype="0" fill="hold" nodeType="afterEffect">
                                  <p:stCondLst>
                                    <p:cond delay="0"/>
                                  </p:stCondLst>
                                  <p:childTnLst>
                                    <p:animEffect transition="out" filter="fade">
                                      <p:cBhvr>
                                        <p:cTn id="73" dur="500"/>
                                        <p:tgtEl>
                                          <p:spTgt spid="23"/>
                                        </p:tgtEl>
                                      </p:cBhvr>
                                    </p:animEffect>
                                    <p:set>
                                      <p:cBhvr>
                                        <p:cTn id="74" dur="1" fill="hold">
                                          <p:stCondLst>
                                            <p:cond delay="499"/>
                                          </p:stCondLst>
                                        </p:cTn>
                                        <p:tgtEl>
                                          <p:spTgt spid="23"/>
                                        </p:tgtEl>
                                        <p:attrNameLst>
                                          <p:attrName>style.visibility</p:attrName>
                                        </p:attrNameLst>
                                      </p:cBhvr>
                                      <p:to>
                                        <p:strVal val="hidden"/>
                                      </p:to>
                                    </p:set>
                                  </p:childTnLst>
                                </p:cTn>
                              </p:par>
                              <p:par>
                                <p:cTn id="75" presetID="10"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500"/>
                                        <p:tgtEl>
                                          <p:spTgt spid="38"/>
                                        </p:tgtEl>
                                      </p:cBhvr>
                                    </p:animEffect>
                                  </p:childTnLst>
                                </p:cTn>
                              </p:par>
                              <p:par>
                                <p:cTn id="78" presetID="10" presetClass="exit" presetSubtype="0" fill="hold" grpId="0" nodeType="withEffect">
                                  <p:stCondLst>
                                    <p:cond delay="0"/>
                                  </p:stCondLst>
                                  <p:childTnLst>
                                    <p:animEffect transition="out" filter="fade">
                                      <p:cBhvr>
                                        <p:cTn id="79" dur="500"/>
                                        <p:tgtEl>
                                          <p:spTgt spid="37"/>
                                        </p:tgtEl>
                                      </p:cBhvr>
                                    </p:animEffect>
                                    <p:set>
                                      <p:cBhvr>
                                        <p:cTn id="80" dur="1" fill="hold">
                                          <p:stCondLst>
                                            <p:cond delay="499"/>
                                          </p:stCondLst>
                                        </p:cTn>
                                        <p:tgtEl>
                                          <p:spTgt spid="37"/>
                                        </p:tgtEl>
                                        <p:attrNameLst>
                                          <p:attrName>style.visibility</p:attrName>
                                        </p:attrNameLst>
                                      </p:cBhvr>
                                      <p:to>
                                        <p:strVal val="hidden"/>
                                      </p:to>
                                    </p:set>
                                  </p:childTnLst>
                                </p:cTn>
                              </p:par>
                              <p:par>
                                <p:cTn id="81" presetID="10" presetClass="entr" presetSubtype="0" fill="hold"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500"/>
                                        <p:tgtEl>
                                          <p:spTgt spid="39"/>
                                        </p:tgtEl>
                                      </p:cBhvr>
                                    </p:animEffect>
                                  </p:childTnLst>
                                </p:cTn>
                              </p:par>
                            </p:childTnLst>
                          </p:cTn>
                        </p:par>
                        <p:par>
                          <p:cTn id="84" fill="hold">
                            <p:stCondLst>
                              <p:cond delay="7750"/>
                            </p:stCondLst>
                            <p:childTnLst>
                              <p:par>
                                <p:cTn id="85" presetID="42" presetClass="path" presetSubtype="0" accel="50000" decel="50000" fill="hold" nodeType="afterEffect">
                                  <p:stCondLst>
                                    <p:cond delay="0"/>
                                  </p:stCondLst>
                                  <p:childTnLst>
                                    <p:animMotion origin="layout" path="M -2.77778E-6 1.85185E-6 L -0.3842 0.00509 " pathEditMode="relative" rAng="0" ptsTypes="AA">
                                      <p:cBhvr>
                                        <p:cTn id="86" dur="2000" fill="hold"/>
                                        <p:tgtEl>
                                          <p:spTgt spid="39"/>
                                        </p:tgtEl>
                                        <p:attrNameLst>
                                          <p:attrName>ppt_x</p:attrName>
                                          <p:attrName>ppt_y</p:attrName>
                                        </p:attrNameLst>
                                      </p:cBhvr>
                                      <p:rCtr x="-19219" y="255"/>
                                    </p:animMotion>
                                  </p:childTnLst>
                                </p:cTn>
                              </p:par>
                            </p:childTnLst>
                          </p:cTn>
                        </p:par>
                        <p:par>
                          <p:cTn id="87" fill="hold">
                            <p:stCondLst>
                              <p:cond delay="9750"/>
                            </p:stCondLst>
                            <p:childTnLst>
                              <p:par>
                                <p:cTn id="88" presetID="10" presetClass="exit" presetSubtype="0" fill="hold" nodeType="afterEffect">
                                  <p:stCondLst>
                                    <p:cond delay="0"/>
                                  </p:stCondLst>
                                  <p:childTnLst>
                                    <p:animEffect transition="out" filter="fade">
                                      <p:cBhvr>
                                        <p:cTn id="89" dur="500"/>
                                        <p:tgtEl>
                                          <p:spTgt spid="39"/>
                                        </p:tgtEl>
                                      </p:cBhvr>
                                    </p:animEffect>
                                    <p:set>
                                      <p:cBhvr>
                                        <p:cTn id="90" dur="1" fill="hold">
                                          <p:stCondLst>
                                            <p:cond delay="499"/>
                                          </p:stCondLst>
                                        </p:cTn>
                                        <p:tgtEl>
                                          <p:spTgt spid="39"/>
                                        </p:tgtEl>
                                        <p:attrNameLst>
                                          <p:attrName>style.visibility</p:attrName>
                                        </p:attrNameLst>
                                      </p:cBhvr>
                                      <p:to>
                                        <p:strVal val="hidden"/>
                                      </p:to>
                                    </p:set>
                                  </p:childTnLst>
                                </p:cTn>
                              </p:par>
                            </p:childTnLst>
                          </p:cTn>
                        </p:par>
                        <p:par>
                          <p:cTn id="91" fill="hold">
                            <p:stCondLst>
                              <p:cond delay="10250"/>
                            </p:stCondLst>
                            <p:childTnLst>
                              <p:par>
                                <p:cTn id="92" presetID="10" presetClass="entr" presetSubtype="0" fill="hold" nodeType="after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500"/>
                                        <p:tgtEl>
                                          <p:spTgt spid="45"/>
                                        </p:tgtEl>
                                      </p:cBhvr>
                                    </p:animEffect>
                                  </p:childTnLst>
                                </p:cTn>
                              </p:par>
                              <p:par>
                                <p:cTn id="95" presetID="10" presetClass="exit" presetSubtype="0" fill="hold" nodeType="withEffect">
                                  <p:stCondLst>
                                    <p:cond delay="0"/>
                                  </p:stCondLst>
                                  <p:childTnLst>
                                    <p:animEffect transition="out" filter="fade">
                                      <p:cBhvr>
                                        <p:cTn id="96" dur="500"/>
                                        <p:tgtEl>
                                          <p:spTgt spid="43"/>
                                        </p:tgtEl>
                                      </p:cBhvr>
                                    </p:animEffect>
                                    <p:set>
                                      <p:cBhvr>
                                        <p:cTn id="97" dur="1" fill="hold">
                                          <p:stCondLst>
                                            <p:cond delay="499"/>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P spid="14" grpId="0" build="p"/>
      <p:bldP spid="15"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name="723a5a98-3550-4d5f-8c3a-3d628342f3c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Installing the DHCP Server Role</a:t>
            </a:r>
            <a:endParaRPr lang="en-CA" dirty="0"/>
          </a:p>
        </p:txBody>
      </p:sp>
      <p:sp>
        <p:nvSpPr>
          <p:cNvPr id="10" name="Content Placeholder 9"/>
          <p:cNvSpPr>
            <a:spLocks noGrp="1"/>
          </p:cNvSpPr>
          <p:nvPr>
            <p:ph idx="1"/>
          </p:nvPr>
        </p:nvSpPr>
        <p:spPr/>
        <p:txBody>
          <a:bodyPr/>
          <a:lstStyle/>
          <a:p>
            <a:pPr marL="4762" indent="0">
              <a:buNone/>
            </a:pPr>
            <a:r>
              <a:rPr lang="en-US" dirty="0">
                <a:solidFill>
                  <a:srgbClr val="000000"/>
                </a:solidFill>
              </a:rPr>
              <a:t>In this demonstration, you will see how to:</a:t>
            </a:r>
          </a:p>
          <a:p>
            <a:pPr lvl="1"/>
            <a:r>
              <a:rPr lang="en-US" sz="2800" dirty="0">
                <a:solidFill>
                  <a:srgbClr val="000000"/>
                </a:solidFill>
              </a:rPr>
              <a:t>Install the DHCP server role</a:t>
            </a:r>
          </a:p>
          <a:p>
            <a:pPr lvl="1"/>
            <a:r>
              <a:rPr lang="en-GB" sz="2800" dirty="0">
                <a:solidFill>
                  <a:srgbClr val="000000"/>
                </a:solidFill>
              </a:rPr>
              <a:t>Authorize the DHCP </a:t>
            </a:r>
            <a:r>
              <a:rPr lang="en-GB" sz="2800" dirty="0" smtClean="0">
                <a:solidFill>
                  <a:srgbClr val="000000"/>
                </a:solidFill>
              </a:rPr>
              <a:t>server</a:t>
            </a:r>
            <a:endParaRPr lang="en-GB" sz="2800" dirty="0">
              <a:solidFill>
                <a:srgbClr val="000000"/>
              </a:solidFill>
            </a:endParaRPr>
          </a:p>
        </p:txBody>
      </p:sp>
    </p:spTree>
    <p:extLst>
      <p:ext uri="{BB962C8B-B14F-4D97-AF65-F5344CB8AC3E}">
        <p14:creationId xmlns:p14="http://schemas.microsoft.com/office/powerpoint/2010/main" val="24530775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7553459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a02bbdab-9f5a-4730-af83-888d18ba344f">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421232" cy="740664"/>
          </a:xfrm>
        </p:spPr>
        <p:txBody>
          <a:bodyPr/>
          <a:lstStyle/>
          <a:p>
            <a:r>
              <a:rPr lang="fr-FR" dirty="0" smtClean="0"/>
              <a:t>Interactions entre le serveur DHCP et le serveur DNS</a:t>
            </a:r>
            <a:endParaRPr lang="fr-FR" dirty="0"/>
          </a:p>
        </p:txBody>
      </p:sp>
      <p:sp>
        <p:nvSpPr>
          <p:cNvPr id="4" name="Content Placeholder 2"/>
          <p:cNvSpPr txBox="1">
            <a:spLocks/>
          </p:cNvSpPr>
          <p:nvPr/>
        </p:nvSpPr>
        <p:spPr>
          <a:xfrm>
            <a:off x="458788" y="1021215"/>
            <a:ext cx="8573894" cy="5713540"/>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spcBef>
                <a:spcPts val="1800"/>
              </a:spcBef>
              <a:buNone/>
            </a:pPr>
            <a:r>
              <a:rPr lang="fr-FR" sz="2600" kern="0" dirty="0" smtClean="0">
                <a:solidFill>
                  <a:srgbClr val="000000"/>
                </a:solidFill>
              </a:rPr>
              <a:t>DHCP peut :</a:t>
            </a:r>
          </a:p>
          <a:p>
            <a:pPr lvl="1"/>
            <a:r>
              <a:rPr lang="fr-BE" kern="0" dirty="0" smtClean="0">
                <a:solidFill>
                  <a:srgbClr val="000000"/>
                </a:solidFill>
              </a:rPr>
              <a:t>Ajouter des </a:t>
            </a:r>
            <a:r>
              <a:rPr lang="fr-BE" kern="0" dirty="0">
                <a:solidFill>
                  <a:srgbClr val="000000"/>
                </a:solidFill>
              </a:rPr>
              <a:t>enregistrements clients dans les zones DNS</a:t>
            </a:r>
            <a:endParaRPr lang="fr-FR" kern="0" dirty="0" smtClean="0">
              <a:solidFill>
                <a:srgbClr val="000000"/>
              </a:solidFill>
            </a:endParaRPr>
          </a:p>
          <a:p>
            <a:pPr lvl="1"/>
            <a:r>
              <a:rPr lang="fr-BE" kern="0" dirty="0">
                <a:solidFill>
                  <a:srgbClr val="000000"/>
                </a:solidFill>
              </a:rPr>
              <a:t>Utiliser le protocole de mise à jour dynamique DNS</a:t>
            </a:r>
            <a:endParaRPr lang="fr-FR" kern="0" dirty="0" smtClean="0">
              <a:solidFill>
                <a:srgbClr val="000000"/>
              </a:solidFill>
            </a:endParaRPr>
          </a:p>
          <a:p>
            <a:pPr marL="0" lvl="0" indent="0">
              <a:spcBef>
                <a:spcPts val="1800"/>
              </a:spcBef>
              <a:buNone/>
            </a:pPr>
            <a:r>
              <a:rPr lang="fr-BE" sz="2600" kern="0" dirty="0" smtClean="0">
                <a:solidFill>
                  <a:srgbClr val="000000"/>
                </a:solidFill>
              </a:rPr>
              <a:t>Pour </a:t>
            </a:r>
            <a:r>
              <a:rPr lang="fr-BE" sz="2600" kern="0" dirty="0">
                <a:solidFill>
                  <a:srgbClr val="000000"/>
                </a:solidFill>
              </a:rPr>
              <a:t>utiliser </a:t>
            </a:r>
            <a:r>
              <a:rPr lang="fr-BE" sz="2600" kern="0" dirty="0" smtClean="0">
                <a:solidFill>
                  <a:srgbClr val="000000"/>
                </a:solidFill>
              </a:rPr>
              <a:t>les </a:t>
            </a:r>
            <a:r>
              <a:rPr lang="fr-BE" sz="2600" kern="0" dirty="0">
                <a:solidFill>
                  <a:srgbClr val="000000"/>
                </a:solidFill>
              </a:rPr>
              <a:t>mises à jour dynamiques DNS </a:t>
            </a:r>
            <a:r>
              <a:rPr lang="fr-BE" sz="2600" kern="0" dirty="0" smtClean="0">
                <a:solidFill>
                  <a:srgbClr val="000000"/>
                </a:solidFill>
              </a:rPr>
              <a:t>sécurisées (zones intégrées dans AD), </a:t>
            </a:r>
            <a:r>
              <a:rPr lang="fr-BE" sz="2600" kern="0" dirty="0">
                <a:solidFill>
                  <a:srgbClr val="000000"/>
                </a:solidFill>
              </a:rPr>
              <a:t>ajoutez </a:t>
            </a:r>
            <a:r>
              <a:rPr lang="fr-BE" sz="2600" kern="0" dirty="0" smtClean="0">
                <a:solidFill>
                  <a:srgbClr val="000000"/>
                </a:solidFill>
              </a:rPr>
              <a:t>les </a:t>
            </a:r>
            <a:r>
              <a:rPr lang="fr-BE" sz="2600" kern="0" dirty="0">
                <a:solidFill>
                  <a:srgbClr val="000000"/>
                </a:solidFill>
              </a:rPr>
              <a:t>serveurs DHCP au groupe global AD DS </a:t>
            </a:r>
            <a:r>
              <a:rPr lang="fr-BE" sz="2600" kern="0" dirty="0" err="1" smtClean="0">
                <a:solidFill>
                  <a:srgbClr val="000000"/>
                </a:solidFill>
              </a:rPr>
              <a:t>DnsUpdateProxy</a:t>
            </a:r>
            <a:endParaRPr lang="fr-FR" sz="2600" kern="0" dirty="0" smtClean="0">
              <a:solidFill>
                <a:srgbClr val="000000"/>
              </a:solidFill>
            </a:endParaRPr>
          </a:p>
          <a:p>
            <a:pPr marL="0" indent="0">
              <a:spcBef>
                <a:spcPts val="1800"/>
              </a:spcBef>
              <a:buNone/>
            </a:pPr>
            <a:r>
              <a:rPr lang="fr-FR" sz="2600" kern="0" dirty="0" smtClean="0">
                <a:solidFill>
                  <a:srgbClr val="000000"/>
                </a:solidFill>
              </a:rPr>
              <a:t>Nouveautés de DHCP :</a:t>
            </a:r>
          </a:p>
          <a:p>
            <a:pPr lvl="1"/>
            <a:r>
              <a:rPr lang="fr-BE" kern="0" dirty="0" smtClean="0">
                <a:solidFill>
                  <a:srgbClr val="000000"/>
                </a:solidFill>
              </a:rPr>
              <a:t>Enregistrement d’ordinateurs d’un </a:t>
            </a:r>
            <a:r>
              <a:rPr lang="fr-BE" kern="0" dirty="0">
                <a:solidFill>
                  <a:srgbClr val="000000"/>
                </a:solidFill>
              </a:rPr>
              <a:t>groupe de travail avec </a:t>
            </a:r>
            <a:r>
              <a:rPr lang="fr-BE" kern="0" dirty="0" smtClean="0">
                <a:solidFill>
                  <a:srgbClr val="000000"/>
                </a:solidFill>
              </a:rPr>
              <a:t>un suffixe </a:t>
            </a:r>
            <a:r>
              <a:rPr lang="fr-BE" kern="0" dirty="0">
                <a:solidFill>
                  <a:srgbClr val="000000"/>
                </a:solidFill>
              </a:rPr>
              <a:t>DNS invité</a:t>
            </a:r>
          </a:p>
          <a:p>
            <a:pPr lvl="1"/>
            <a:r>
              <a:rPr lang="fr-BE" kern="0" dirty="0">
                <a:solidFill>
                  <a:srgbClr val="000000"/>
                </a:solidFill>
              </a:rPr>
              <a:t>Désactiver les enregistrements PTR sans désactiver </a:t>
            </a:r>
            <a:r>
              <a:rPr lang="fr-BE" kern="0" dirty="0" smtClean="0">
                <a:solidFill>
                  <a:srgbClr val="000000"/>
                </a:solidFill>
              </a:rPr>
              <a:t>les enregistrements hôte (A) </a:t>
            </a:r>
            <a:br>
              <a:rPr lang="fr-BE" kern="0" dirty="0" smtClean="0">
                <a:solidFill>
                  <a:srgbClr val="000000"/>
                </a:solidFill>
              </a:rPr>
            </a:br>
            <a:r>
              <a:rPr lang="fr-BE" kern="0" dirty="0" smtClean="0">
                <a:solidFill>
                  <a:srgbClr val="000000"/>
                </a:solidFill>
              </a:rPr>
              <a:t>(si zone de recherche inversée non configurée)</a:t>
            </a:r>
            <a:endParaRPr lang="fr-FR" kern="0" dirty="0" smtClean="0">
              <a:solidFill>
                <a:srgbClr val="000000"/>
              </a:solidFill>
            </a:endParaRPr>
          </a:p>
          <a:p>
            <a:pPr lvl="0"/>
            <a:endParaRPr lang="fr-FR" kern="0" dirty="0">
              <a:solidFill>
                <a:srgbClr val="000000"/>
              </a:solidFill>
            </a:endParaRPr>
          </a:p>
        </p:txBody>
      </p:sp>
    </p:spTree>
    <p:extLst>
      <p:ext uri="{BB962C8B-B14F-4D97-AF65-F5344CB8AC3E}">
        <p14:creationId xmlns:p14="http://schemas.microsoft.com/office/powerpoint/2010/main" val="19690580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2" name="Oval 6" descr="&quot;&quot;"/>
          <p:cNvSpPr>
            <a:spLocks noChangeArrowheads="1"/>
          </p:cNvSpPr>
          <p:nvPr/>
        </p:nvSpPr>
        <p:spPr bwMode="auto">
          <a:xfrm>
            <a:off x="872455" y="1736521"/>
            <a:ext cx="2537029" cy="4026716"/>
          </a:xfrm>
          <a:prstGeom prst="rect">
            <a:avLst/>
          </a:prstGeom>
          <a:noFill/>
          <a:ln w="9525">
            <a:solidFill>
              <a:srgbClr val="0070C0"/>
            </a:solidFill>
            <a:headEnd/>
            <a:tailEnd/>
          </a:ln>
        </p:spPr>
        <p:style>
          <a:lnRef idx="2">
            <a:schemeClr val="accent6"/>
          </a:lnRef>
          <a:fillRef idx="1">
            <a:schemeClr val="lt1"/>
          </a:fillRef>
          <a:effectRef idx="0">
            <a:schemeClr val="accent6"/>
          </a:effectRef>
          <a:fontRef idx="minor">
            <a:schemeClr val="dk1"/>
          </a:fontRef>
        </p:style>
        <p:txBody>
          <a:bodyPr wrap="none" anchor="ctr"/>
          <a:lstStyle/>
          <a:p>
            <a:pPr algn="r"/>
            <a:endParaRPr lang="en-US" dirty="0">
              <a:solidFill>
                <a:srgbClr val="000000"/>
              </a:solidFill>
            </a:endParaRPr>
          </a:p>
        </p:txBody>
      </p:sp>
      <p:sp>
        <p:nvSpPr>
          <p:cNvPr id="91157" name="AutoShape 21" descr="&quot;&quot;"/>
          <p:cNvSpPr>
            <a:spLocks noChangeArrowheads="1"/>
          </p:cNvSpPr>
          <p:nvPr/>
        </p:nvSpPr>
        <p:spPr bwMode="auto">
          <a:xfrm>
            <a:off x="3381462" y="3284523"/>
            <a:ext cx="2323052" cy="750582"/>
          </a:xfrm>
          <a:prstGeom prst="roundRect">
            <a:avLst>
              <a:gd name="adj" fmla="val 4167"/>
            </a:avLst>
          </a:prstGeom>
          <a:noFill/>
          <a:ln w="9525">
            <a:noFill/>
            <a:round/>
            <a:headEnd/>
            <a:tailEnd/>
          </a:ln>
          <a:effectLst/>
        </p:spPr>
        <p:txBody>
          <a:bodyPr anchor="ctr"/>
          <a:lstStyle/>
          <a:p>
            <a:pPr algn="ctr"/>
            <a:r>
              <a:rPr lang="en-US" sz="1600" b="1" dirty="0">
                <a:solidFill>
                  <a:srgbClr val="000000"/>
                </a:solidFill>
                <a:latin typeface="Segoe UI" pitchFamily="34" charset="0"/>
                <a:ea typeface="Segoe UI" pitchFamily="34" charset="0"/>
                <a:cs typeface="Segoe UI" pitchFamily="34" charset="0"/>
              </a:rPr>
              <a:t>Routers</a:t>
            </a:r>
          </a:p>
          <a:p>
            <a:pPr algn="ctr"/>
            <a:r>
              <a:rPr lang="en-US" sz="1600" b="1" dirty="0" smtClean="0">
                <a:solidFill>
                  <a:srgbClr val="000000"/>
                </a:solidFill>
                <a:latin typeface="Segoe UI" pitchFamily="34" charset="0"/>
                <a:ea typeface="Segoe UI" pitchFamily="34" charset="0"/>
                <a:cs typeface="Segoe UI" pitchFamily="34" charset="0"/>
              </a:rPr>
              <a:t>(non–RFC </a:t>
            </a:r>
            <a:r>
              <a:rPr lang="en-US" sz="1600" b="1" dirty="0">
                <a:solidFill>
                  <a:srgbClr val="000000"/>
                </a:solidFill>
                <a:latin typeface="Segoe UI" pitchFamily="34" charset="0"/>
                <a:ea typeface="Segoe UI" pitchFamily="34" charset="0"/>
                <a:cs typeface="Segoe UI" pitchFamily="34" charset="0"/>
              </a:rPr>
              <a:t>1542 </a:t>
            </a:r>
            <a:r>
              <a:rPr lang="en-US" sz="1600" b="1" dirty="0" smtClean="0">
                <a:solidFill>
                  <a:srgbClr val="000000"/>
                </a:solidFill>
                <a:latin typeface="Segoe UI" pitchFamily="34" charset="0"/>
                <a:ea typeface="Segoe UI" pitchFamily="34" charset="0"/>
                <a:cs typeface="Segoe UI" pitchFamily="34" charset="0"/>
              </a:rPr>
              <a:t>compliant</a:t>
            </a:r>
            <a:r>
              <a:rPr lang="en-US" sz="1600" b="1" dirty="0">
                <a:solidFill>
                  <a:srgbClr val="000000"/>
                </a:solidFill>
                <a:latin typeface="Segoe UI" pitchFamily="34" charset="0"/>
                <a:ea typeface="Segoe UI" pitchFamily="34" charset="0"/>
                <a:cs typeface="Segoe UI" pitchFamily="34" charset="0"/>
              </a:rPr>
              <a:t>)</a:t>
            </a:r>
          </a:p>
        </p:txBody>
      </p:sp>
      <p:sp>
        <p:nvSpPr>
          <p:cNvPr id="91160" name="Text Box 24" descr="&quot;&quot;"/>
          <p:cNvSpPr txBox="1">
            <a:spLocks noChangeArrowheads="1"/>
          </p:cNvSpPr>
          <p:nvPr/>
        </p:nvSpPr>
        <p:spPr bwMode="auto">
          <a:xfrm>
            <a:off x="1571703" y="5359225"/>
            <a:ext cx="1176925" cy="369332"/>
          </a:xfrm>
          <a:prstGeom prst="rect">
            <a:avLst/>
          </a:prstGeom>
          <a:noFill/>
          <a:ln w="9525" algn="ctr">
            <a:noFill/>
            <a:miter lim="800000"/>
            <a:headEnd/>
            <a:tailEnd/>
          </a:ln>
          <a:effectLst/>
        </p:spPr>
        <p:txBody>
          <a:bodyPr wrap="none">
            <a:spAutoFit/>
          </a:bodyPr>
          <a:lstStyle/>
          <a:p>
            <a:r>
              <a:rPr lang="en-US" b="1" dirty="0">
                <a:solidFill>
                  <a:srgbClr val="000000"/>
                </a:solidFill>
                <a:latin typeface="Segoe UI" pitchFamily="34" charset="0"/>
                <a:ea typeface="Segoe UI" pitchFamily="34" charset="0"/>
                <a:cs typeface="Segoe UI" pitchFamily="34" charset="0"/>
              </a:rPr>
              <a:t>Subnet A</a:t>
            </a:r>
          </a:p>
        </p:txBody>
      </p:sp>
      <p:sp>
        <p:nvSpPr>
          <p:cNvPr id="91161" name="Text Box 25" descr="&quot;&quot;"/>
          <p:cNvSpPr txBox="1">
            <a:spLocks noChangeArrowheads="1"/>
          </p:cNvSpPr>
          <p:nvPr/>
        </p:nvSpPr>
        <p:spPr bwMode="auto">
          <a:xfrm>
            <a:off x="6436141" y="5359225"/>
            <a:ext cx="1162498" cy="369332"/>
          </a:xfrm>
          <a:prstGeom prst="rect">
            <a:avLst/>
          </a:prstGeom>
          <a:noFill/>
          <a:ln w="9525" algn="ctr">
            <a:noFill/>
            <a:miter lim="800000"/>
            <a:headEnd/>
            <a:tailEnd/>
          </a:ln>
          <a:effectLst/>
        </p:spPr>
        <p:txBody>
          <a:bodyPr wrap="none">
            <a:spAutoFit/>
          </a:bodyPr>
          <a:lstStyle/>
          <a:p>
            <a:r>
              <a:rPr lang="en-US" b="1" dirty="0">
                <a:solidFill>
                  <a:srgbClr val="000000"/>
                </a:solidFill>
                <a:latin typeface="Segoe UI" pitchFamily="34" charset="0"/>
                <a:ea typeface="Segoe UI" pitchFamily="34" charset="0"/>
                <a:cs typeface="Segoe UI" pitchFamily="34" charset="0"/>
              </a:rPr>
              <a:t>Subnet B</a:t>
            </a:r>
          </a:p>
        </p:txBody>
      </p:sp>
      <p:sp>
        <p:nvSpPr>
          <p:cNvPr id="91139" name="title of slide" descr="&quot;&quot;"/>
          <p:cNvSpPr>
            <a:spLocks noGrp="1" noChangeArrowheads="1"/>
          </p:cNvSpPr>
          <p:nvPr>
            <p:ph type="title"/>
          </p:nvPr>
        </p:nvSpPr>
        <p:spPr>
          <a:noFill/>
          <a:ln/>
        </p:spPr>
        <p:txBody>
          <a:bodyPr/>
          <a:lstStyle/>
          <a:p>
            <a:pPr>
              <a:lnSpc>
                <a:spcPct val="85000"/>
              </a:lnSpc>
            </a:pPr>
            <a:r>
              <a:rPr lang="en-US" sz="2800" dirty="0" smtClean="0">
                <a:latin typeface="Segoe UI" pitchFamily="34" charset="0"/>
                <a:ea typeface="Segoe UI" pitchFamily="34" charset="0"/>
                <a:cs typeface="Segoe UI" pitchFamily="34" charset="0"/>
              </a:rPr>
              <a:t>DHCP Relay</a:t>
            </a:r>
            <a:endParaRPr lang="en-US" sz="2800" dirty="0">
              <a:latin typeface="Segoe UI" pitchFamily="34" charset="0"/>
              <a:ea typeface="Segoe UI" pitchFamily="34" charset="0"/>
              <a:cs typeface="Segoe UI" pitchFamily="34" charset="0"/>
            </a:endParaRPr>
          </a:p>
        </p:txBody>
      </p:sp>
      <p:sp>
        <p:nvSpPr>
          <p:cNvPr id="91140" name="A DHCP etc text box"/>
          <p:cNvSpPr>
            <a:spLocks noChangeArrowheads="1"/>
          </p:cNvSpPr>
          <p:nvPr/>
        </p:nvSpPr>
        <p:spPr bwMode="auto">
          <a:xfrm>
            <a:off x="726114" y="898466"/>
            <a:ext cx="8127999" cy="586386"/>
          </a:xfrm>
          <a:prstGeom prst="roundRect">
            <a:avLst>
              <a:gd name="adj" fmla="val 24236"/>
            </a:avLst>
          </a:prstGeom>
          <a:noFill/>
          <a:ln w="9525" algn="ctr">
            <a:noFill/>
            <a:round/>
            <a:headEnd/>
            <a:tailEnd/>
          </a:ln>
          <a:effectLst/>
        </p:spPr>
        <p:txBody>
          <a:bodyPr anchor="ctr"/>
          <a:lstStyle/>
          <a:p>
            <a:pPr>
              <a:spcBef>
                <a:spcPct val="40000"/>
              </a:spcBef>
              <a:buClr>
                <a:srgbClr val="8DACD0"/>
              </a:buClr>
              <a:buSzPct val="70000"/>
            </a:pPr>
            <a:r>
              <a:rPr lang="fr-BE" sz="2000" b="1" dirty="0" smtClean="0">
                <a:solidFill>
                  <a:srgbClr val="000000"/>
                </a:solidFill>
                <a:latin typeface="Segoe UI" pitchFamily="34" charset="0"/>
                <a:ea typeface="Segoe UI" pitchFamily="34" charset="0"/>
                <a:cs typeface="Segoe UI" pitchFamily="34" charset="0"/>
              </a:rPr>
              <a:t>Un relais </a:t>
            </a:r>
            <a:r>
              <a:rPr lang="fr-BE" sz="2000" b="1" dirty="0">
                <a:solidFill>
                  <a:srgbClr val="000000"/>
                </a:solidFill>
                <a:latin typeface="Segoe UI" pitchFamily="34" charset="0"/>
                <a:ea typeface="Segoe UI" pitchFamily="34" charset="0"/>
                <a:cs typeface="Segoe UI" pitchFamily="34" charset="0"/>
              </a:rPr>
              <a:t>DHCP écoute les émissions DHCP des clients </a:t>
            </a:r>
            <a:r>
              <a:rPr lang="fr-BE" sz="2000" b="1" dirty="0" smtClean="0">
                <a:solidFill>
                  <a:srgbClr val="000000"/>
                </a:solidFill>
                <a:latin typeface="Segoe UI" pitchFamily="34" charset="0"/>
                <a:ea typeface="Segoe UI" pitchFamily="34" charset="0"/>
                <a:cs typeface="Segoe UI" pitchFamily="34" charset="0"/>
              </a:rPr>
              <a:t>et </a:t>
            </a:r>
            <a:r>
              <a:rPr lang="fr-BE" sz="2000" b="1" dirty="0">
                <a:solidFill>
                  <a:srgbClr val="000000"/>
                </a:solidFill>
                <a:latin typeface="Segoe UI" pitchFamily="34" charset="0"/>
                <a:ea typeface="Segoe UI" pitchFamily="34" charset="0"/>
                <a:cs typeface="Segoe UI" pitchFamily="34" charset="0"/>
              </a:rPr>
              <a:t>les </a:t>
            </a:r>
            <a:r>
              <a:rPr lang="fr-BE" sz="2000" b="1" dirty="0" smtClean="0">
                <a:solidFill>
                  <a:srgbClr val="000000"/>
                </a:solidFill>
                <a:latin typeface="Segoe UI" pitchFamily="34" charset="0"/>
                <a:ea typeface="Segoe UI" pitchFamily="34" charset="0"/>
                <a:cs typeface="Segoe UI" pitchFamily="34" charset="0"/>
              </a:rPr>
              <a:t>envoie au(x) serveur(s) </a:t>
            </a:r>
            <a:r>
              <a:rPr lang="fr-BE" sz="2000" b="1" dirty="0">
                <a:solidFill>
                  <a:srgbClr val="000000"/>
                </a:solidFill>
                <a:latin typeface="Segoe UI" pitchFamily="34" charset="0"/>
                <a:ea typeface="Segoe UI" pitchFamily="34" charset="0"/>
                <a:cs typeface="Segoe UI" pitchFamily="34" charset="0"/>
              </a:rPr>
              <a:t>DHCP </a:t>
            </a:r>
            <a:r>
              <a:rPr lang="fr-BE" sz="2000" b="1" dirty="0" smtClean="0">
                <a:solidFill>
                  <a:srgbClr val="000000"/>
                </a:solidFill>
                <a:latin typeface="Segoe UI" pitchFamily="34" charset="0"/>
                <a:ea typeface="Segoe UI" pitchFamily="34" charset="0"/>
                <a:cs typeface="Segoe UI" pitchFamily="34" charset="0"/>
              </a:rPr>
              <a:t>situé(s) dans un autre réseau</a:t>
            </a:r>
            <a:endParaRPr lang="en-US" sz="2000" b="1" dirty="0">
              <a:solidFill>
                <a:srgbClr val="000000"/>
              </a:solidFill>
              <a:latin typeface="Segoe UI" pitchFamily="34" charset="0"/>
              <a:ea typeface="Segoe UI" pitchFamily="34" charset="0"/>
              <a:cs typeface="Segoe UI" pitchFamily="34" charset="0"/>
            </a:endParaRPr>
          </a:p>
        </p:txBody>
      </p:sp>
      <p:sp>
        <p:nvSpPr>
          <p:cNvPr id="91147" name="&quot;DHCP Server&quot;" descr="&quot;&quot;"/>
          <p:cNvSpPr>
            <a:spLocks noChangeArrowheads="1"/>
          </p:cNvSpPr>
          <p:nvPr/>
        </p:nvSpPr>
        <p:spPr bwMode="auto">
          <a:xfrm>
            <a:off x="7214530" y="2070709"/>
            <a:ext cx="964735" cy="571822"/>
          </a:xfrm>
          <a:prstGeom prst="roundRect">
            <a:avLst>
              <a:gd name="adj" fmla="val 4167"/>
            </a:avLst>
          </a:prstGeom>
          <a:noFill/>
          <a:ln w="9525">
            <a:noFill/>
            <a:round/>
            <a:headEnd/>
            <a:tailEnd/>
          </a:ln>
          <a:effectLst/>
        </p:spPr>
        <p:txBody>
          <a:bodyPr anchor="ctr"/>
          <a:lstStyle/>
          <a:p>
            <a:pPr algn="ctr"/>
            <a:r>
              <a:rPr lang="en-US" sz="1600" b="1" dirty="0">
                <a:solidFill>
                  <a:srgbClr val="000000"/>
                </a:solidFill>
                <a:latin typeface="Segoe UI" pitchFamily="34" charset="0"/>
                <a:ea typeface="Segoe UI" pitchFamily="34" charset="0"/>
                <a:cs typeface="Segoe UI" pitchFamily="34" charset="0"/>
              </a:rPr>
              <a:t>DHCP </a:t>
            </a:r>
            <a:r>
              <a:rPr lang="en-US" sz="1600" b="1" dirty="0" smtClean="0">
                <a:solidFill>
                  <a:srgbClr val="000000"/>
                </a:solidFill>
                <a:latin typeface="Segoe UI" pitchFamily="34" charset="0"/>
                <a:ea typeface="Segoe UI" pitchFamily="34" charset="0"/>
                <a:cs typeface="Segoe UI" pitchFamily="34" charset="0"/>
              </a:rPr>
              <a:t>server</a:t>
            </a:r>
            <a:endParaRPr lang="en-US" sz="1600" b="1" dirty="0">
              <a:solidFill>
                <a:srgbClr val="000000"/>
              </a:solidFill>
              <a:latin typeface="Segoe UI" pitchFamily="34" charset="0"/>
              <a:ea typeface="Segoe UI" pitchFamily="34" charset="0"/>
              <a:cs typeface="Segoe UI" pitchFamily="34" charset="0"/>
            </a:endParaRPr>
          </a:p>
        </p:txBody>
      </p:sp>
      <p:sp>
        <p:nvSpPr>
          <p:cNvPr id="91150" name="&quot;DHCP Relay Agent&quot;" descr="&quot;&quot;"/>
          <p:cNvSpPr>
            <a:spLocks noChangeArrowheads="1"/>
          </p:cNvSpPr>
          <p:nvPr/>
        </p:nvSpPr>
        <p:spPr bwMode="auto">
          <a:xfrm>
            <a:off x="947199" y="2028765"/>
            <a:ext cx="1015825" cy="707996"/>
          </a:xfrm>
          <a:prstGeom prst="roundRect">
            <a:avLst>
              <a:gd name="adj" fmla="val 4167"/>
            </a:avLst>
          </a:prstGeom>
          <a:noFill/>
          <a:ln w="9525" algn="ctr">
            <a:noFill/>
            <a:round/>
            <a:headEnd/>
            <a:tailEnd/>
          </a:ln>
          <a:effectLst/>
        </p:spPr>
        <p:txBody>
          <a:bodyPr anchor="ctr"/>
          <a:lstStyle/>
          <a:p>
            <a:pPr algn="ctr"/>
            <a:r>
              <a:rPr lang="en-US" sz="1600" b="1" dirty="0">
                <a:solidFill>
                  <a:srgbClr val="000000"/>
                </a:solidFill>
                <a:latin typeface="Segoe UI" pitchFamily="34" charset="0"/>
                <a:ea typeface="Segoe UI" pitchFamily="34" charset="0"/>
                <a:cs typeface="Segoe UI" pitchFamily="34" charset="0"/>
              </a:rPr>
              <a:t>DHCP </a:t>
            </a:r>
            <a:r>
              <a:rPr lang="en-US" sz="1600" b="1" dirty="0" smtClean="0">
                <a:solidFill>
                  <a:srgbClr val="000000"/>
                </a:solidFill>
                <a:latin typeface="Segoe UI" pitchFamily="34" charset="0"/>
                <a:ea typeface="Segoe UI" pitchFamily="34" charset="0"/>
                <a:cs typeface="Segoe UI" pitchFamily="34" charset="0"/>
              </a:rPr>
              <a:t>relay agent</a:t>
            </a:r>
            <a:endParaRPr lang="en-US" sz="1600" b="1" dirty="0">
              <a:solidFill>
                <a:srgbClr val="000000"/>
              </a:solidFill>
              <a:latin typeface="Segoe UI" pitchFamily="34" charset="0"/>
              <a:ea typeface="Segoe UI" pitchFamily="34" charset="0"/>
              <a:cs typeface="Segoe UI" pitchFamily="34" charset="0"/>
            </a:endParaRPr>
          </a:p>
        </p:txBody>
      </p:sp>
      <p:sp>
        <p:nvSpPr>
          <p:cNvPr id="91159" name="red &quot;Broadcast&quot; on the left" descr="&quot;&quot;"/>
          <p:cNvSpPr txBox="1">
            <a:spLocks noChangeArrowheads="1"/>
          </p:cNvSpPr>
          <p:nvPr/>
        </p:nvSpPr>
        <p:spPr bwMode="auto">
          <a:xfrm>
            <a:off x="942282" y="3083950"/>
            <a:ext cx="1079465" cy="523220"/>
          </a:xfrm>
          <a:prstGeom prst="rect">
            <a:avLst/>
          </a:prstGeom>
          <a:noFill/>
          <a:ln w="9525" algn="ctr">
            <a:noFill/>
            <a:miter lim="800000"/>
            <a:headEnd/>
            <a:tailEnd/>
          </a:ln>
          <a:effectLst/>
        </p:spPr>
        <p:txBody>
          <a:bodyPr wrap="square">
            <a:spAutoFit/>
          </a:bodyPr>
          <a:lstStyle/>
          <a:p>
            <a:pPr algn="ctr"/>
            <a:r>
              <a:rPr lang="en-US" sz="1400" b="1" dirty="0" smtClean="0">
                <a:solidFill>
                  <a:srgbClr val="CC0000"/>
                </a:solidFill>
                <a:latin typeface="Segoe UI" pitchFamily="34" charset="0"/>
                <a:ea typeface="Segoe UI" pitchFamily="34" charset="0"/>
                <a:cs typeface="Segoe UI" pitchFamily="34" charset="0"/>
              </a:rPr>
              <a:t>DHCP broadcast</a:t>
            </a:r>
            <a:endParaRPr lang="en-US" sz="1400" b="1" dirty="0">
              <a:solidFill>
                <a:srgbClr val="CC0000"/>
              </a:solidFill>
              <a:latin typeface="Segoe UI" pitchFamily="34" charset="0"/>
              <a:ea typeface="Segoe UI" pitchFamily="34" charset="0"/>
              <a:cs typeface="Segoe UI" pitchFamily="34" charset="0"/>
            </a:endParaRPr>
          </a:p>
        </p:txBody>
      </p:sp>
      <p:pic>
        <p:nvPicPr>
          <p:cNvPr id="61" name="St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25" y="610551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 name="Play - alt text is here" descr="Illustration representing two subnets: Subnet A has a DHCP relay agent, two clients, and a router; Subnet B has a DHCP server, two clients, and a router. Both routers are non-RFC 1542 compliant. The animation represents the DHCP relay agent broadcasting packets to and from the local DHCP clients, while sending unicast packets to the DHCP server on the other subnet and the DHCP server sending unicasts back to the relay age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7125" y="610551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9" name="broadcast circle"/>
          <p:cNvGrpSpPr/>
          <p:nvPr/>
        </p:nvGrpSpPr>
        <p:grpSpPr>
          <a:xfrm>
            <a:off x="1954634" y="2835860"/>
            <a:ext cx="981511" cy="981511"/>
            <a:chOff x="4150360" y="3587432"/>
            <a:chExt cx="488950" cy="488950"/>
          </a:xfrm>
        </p:grpSpPr>
        <p:sp>
          <p:nvSpPr>
            <p:cNvPr id="40" name="broadcast 3" descr="&quot;&quot;"/>
            <p:cNvSpPr>
              <a:spLocks noChangeArrowheads="1"/>
            </p:cNvSpPr>
            <p:nvPr/>
          </p:nvSpPr>
          <p:spPr bwMode="auto">
            <a:xfrm>
              <a:off x="4150360" y="3587432"/>
              <a:ext cx="488950" cy="488950"/>
            </a:xfrm>
            <a:prstGeom prst="ellipse">
              <a:avLst/>
            </a:prstGeom>
            <a:solidFill>
              <a:srgbClr val="FF0000">
                <a:alpha val="50000"/>
              </a:srgbClr>
            </a:solidFill>
            <a:ln w="25400" algn="ctr">
              <a:solidFill>
                <a:schemeClr val="bg1"/>
              </a:solidFill>
              <a:round/>
              <a:headEnd/>
              <a:tailEnd/>
            </a:ln>
            <a:effectLst/>
          </p:spPr>
          <p:txBody>
            <a:bodyPr wrap="none" anchor="ctr"/>
            <a:lstStyle/>
            <a:p>
              <a:endParaRPr lang="en-US" dirty="0">
                <a:solidFill>
                  <a:srgbClr val="000000"/>
                </a:solidFill>
              </a:endParaRPr>
            </a:p>
          </p:txBody>
        </p:sp>
        <p:sp>
          <p:nvSpPr>
            <p:cNvPr id="41" name="broadcast 2" descr="&quot;&quot;"/>
            <p:cNvSpPr>
              <a:spLocks noChangeArrowheads="1"/>
            </p:cNvSpPr>
            <p:nvPr/>
          </p:nvSpPr>
          <p:spPr bwMode="auto">
            <a:xfrm>
              <a:off x="4232910" y="3669982"/>
              <a:ext cx="322263" cy="322263"/>
            </a:xfrm>
            <a:prstGeom prst="ellipse">
              <a:avLst/>
            </a:prstGeom>
            <a:solidFill>
              <a:srgbClr val="FF0000">
                <a:alpha val="50000"/>
              </a:srgbClr>
            </a:solidFill>
            <a:ln w="25400" algn="ctr">
              <a:solidFill>
                <a:schemeClr val="bg1"/>
              </a:solidFill>
              <a:round/>
              <a:headEnd/>
              <a:tailEnd/>
            </a:ln>
            <a:effectLst/>
          </p:spPr>
          <p:txBody>
            <a:bodyPr wrap="none" anchor="ctr"/>
            <a:lstStyle/>
            <a:p>
              <a:endParaRPr lang="en-US" dirty="0">
                <a:solidFill>
                  <a:srgbClr val="000000"/>
                </a:solidFill>
              </a:endParaRPr>
            </a:p>
          </p:txBody>
        </p:sp>
        <p:sp>
          <p:nvSpPr>
            <p:cNvPr id="45" name="broadcast 1"/>
            <p:cNvSpPr>
              <a:spLocks noChangeArrowheads="1"/>
            </p:cNvSpPr>
            <p:nvPr/>
          </p:nvSpPr>
          <p:spPr bwMode="auto">
            <a:xfrm>
              <a:off x="4310698" y="3747770"/>
              <a:ext cx="168275" cy="168275"/>
            </a:xfrm>
            <a:prstGeom prst="ellipse">
              <a:avLst/>
            </a:prstGeom>
            <a:solidFill>
              <a:srgbClr val="FF0000">
                <a:alpha val="50000"/>
              </a:srgbClr>
            </a:solidFill>
            <a:ln w="25400" algn="ctr">
              <a:solidFill>
                <a:schemeClr val="bg1"/>
              </a:solidFill>
              <a:round/>
              <a:headEnd/>
              <a:tailEnd/>
            </a:ln>
            <a:effectLst/>
          </p:spPr>
          <p:txBody>
            <a:bodyPr wrap="none" anchor="ctr"/>
            <a:lstStyle/>
            <a:p>
              <a:endParaRPr lang="en-US" dirty="0">
                <a:solidFill>
                  <a:srgbClr val="000000"/>
                </a:solidFill>
              </a:endParaRPr>
            </a:p>
          </p:txBody>
        </p:sp>
      </p:grpSp>
      <p:grpSp>
        <p:nvGrpSpPr>
          <p:cNvPr id="7" name="Group 6"/>
          <p:cNvGrpSpPr/>
          <p:nvPr/>
        </p:nvGrpSpPr>
        <p:grpSpPr>
          <a:xfrm>
            <a:off x="1434518" y="3677452"/>
            <a:ext cx="1451295" cy="1364331"/>
            <a:chOff x="1233182" y="4625409"/>
            <a:chExt cx="1451295" cy="1364331"/>
          </a:xfrm>
        </p:grpSpPr>
        <p:pic>
          <p:nvPicPr>
            <p:cNvPr id="66" name="Picture 65"/>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597715" y="4625409"/>
              <a:ext cx="457588" cy="516586"/>
            </a:xfrm>
            <a:prstGeom prst="rect">
              <a:avLst/>
            </a:prstGeom>
            <a:noFill/>
            <a:extLst>
              <a:ext uri="{909E8E84-426E-40DD-AFC4-6F175D3DCCD1}">
                <a14:hiddenFill xmlns:a14="http://schemas.microsoft.com/office/drawing/2010/main">
                  <a:solidFill>
                    <a:srgbClr val="FFFFFF"/>
                  </a:solidFill>
                </a14:hiddenFill>
              </a:ext>
            </a:extLst>
          </p:spPr>
        </p:pic>
        <p:sp>
          <p:nvSpPr>
            <p:cNvPr id="47" name="AutoShape 12" descr="&quot;&quot;"/>
            <p:cNvSpPr>
              <a:spLocks noChangeArrowheads="1"/>
            </p:cNvSpPr>
            <p:nvPr/>
          </p:nvSpPr>
          <p:spPr bwMode="auto">
            <a:xfrm>
              <a:off x="1233182" y="5780015"/>
              <a:ext cx="1451295" cy="209725"/>
            </a:xfrm>
            <a:prstGeom prst="roundRect">
              <a:avLst>
                <a:gd name="adj" fmla="val 4167"/>
              </a:avLst>
            </a:prstGeom>
            <a:noFill/>
            <a:ln w="9525">
              <a:noFill/>
              <a:round/>
              <a:headEnd/>
              <a:tailEnd/>
            </a:ln>
            <a:effectLst/>
          </p:spPr>
          <p:txBody>
            <a:bodyPr anchor="ctr"/>
            <a:lstStyle/>
            <a:p>
              <a:pPr algn="ctr"/>
              <a:r>
                <a:rPr lang="en-US" sz="1400" b="1" dirty="0" smtClean="0">
                  <a:solidFill>
                    <a:srgbClr val="000000"/>
                  </a:solidFill>
                  <a:latin typeface="Segoe UI" pitchFamily="34" charset="0"/>
                  <a:ea typeface="Segoe UI" pitchFamily="34" charset="0"/>
                  <a:cs typeface="Segoe UI" pitchFamily="34" charset="0"/>
                </a:rPr>
                <a:t>DHCP clients</a:t>
              </a:r>
              <a:endParaRPr lang="en-US" sz="1400" b="1" dirty="0">
                <a:solidFill>
                  <a:srgbClr val="000000"/>
                </a:solidFill>
                <a:latin typeface="Segoe UI" pitchFamily="34" charset="0"/>
                <a:ea typeface="Segoe UI" pitchFamily="34" charset="0"/>
                <a:cs typeface="Segoe UI" pitchFamily="34" charset="0"/>
              </a:endParaRPr>
            </a:p>
          </p:txBody>
        </p:sp>
        <p:pic>
          <p:nvPicPr>
            <p:cNvPr id="48" name="Picture 47"/>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294312" y="5033395"/>
              <a:ext cx="579610" cy="654340"/>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924885" y="5018015"/>
              <a:ext cx="644846" cy="7279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8" name="Group 67"/>
          <p:cNvGrpSpPr/>
          <p:nvPr/>
        </p:nvGrpSpPr>
        <p:grpSpPr>
          <a:xfrm>
            <a:off x="6291743" y="3677452"/>
            <a:ext cx="1451295" cy="1364331"/>
            <a:chOff x="1233182" y="4625409"/>
            <a:chExt cx="1451295" cy="1364331"/>
          </a:xfrm>
        </p:grpSpPr>
        <p:pic>
          <p:nvPicPr>
            <p:cNvPr id="69" name="Picture 68"/>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597715" y="4625409"/>
              <a:ext cx="457588" cy="516586"/>
            </a:xfrm>
            <a:prstGeom prst="rect">
              <a:avLst/>
            </a:prstGeom>
            <a:noFill/>
            <a:extLst>
              <a:ext uri="{909E8E84-426E-40DD-AFC4-6F175D3DCCD1}">
                <a14:hiddenFill xmlns:a14="http://schemas.microsoft.com/office/drawing/2010/main">
                  <a:solidFill>
                    <a:srgbClr val="FFFFFF"/>
                  </a:solidFill>
                </a14:hiddenFill>
              </a:ext>
            </a:extLst>
          </p:spPr>
        </p:pic>
        <p:sp>
          <p:nvSpPr>
            <p:cNvPr id="70" name="AutoShape 12" descr="&quot;&quot;"/>
            <p:cNvSpPr>
              <a:spLocks noChangeArrowheads="1"/>
            </p:cNvSpPr>
            <p:nvPr/>
          </p:nvSpPr>
          <p:spPr bwMode="auto">
            <a:xfrm>
              <a:off x="1233182" y="5780015"/>
              <a:ext cx="1451295" cy="209725"/>
            </a:xfrm>
            <a:prstGeom prst="roundRect">
              <a:avLst>
                <a:gd name="adj" fmla="val 4167"/>
              </a:avLst>
            </a:prstGeom>
            <a:noFill/>
            <a:ln w="9525">
              <a:noFill/>
              <a:round/>
              <a:headEnd/>
              <a:tailEnd/>
            </a:ln>
            <a:effectLst/>
          </p:spPr>
          <p:txBody>
            <a:bodyPr anchor="ctr"/>
            <a:lstStyle/>
            <a:p>
              <a:pPr algn="ctr"/>
              <a:r>
                <a:rPr lang="en-US" sz="1400" b="1" dirty="0" smtClean="0">
                  <a:solidFill>
                    <a:srgbClr val="000000"/>
                  </a:solidFill>
                  <a:latin typeface="Segoe UI" pitchFamily="34" charset="0"/>
                  <a:ea typeface="Segoe UI" pitchFamily="34" charset="0"/>
                  <a:cs typeface="Segoe UI" pitchFamily="34" charset="0"/>
                </a:rPr>
                <a:t>DHCP clients</a:t>
              </a:r>
              <a:endParaRPr lang="en-US" sz="1400" b="1" dirty="0">
                <a:solidFill>
                  <a:srgbClr val="000000"/>
                </a:solidFill>
                <a:latin typeface="Segoe UI" pitchFamily="34" charset="0"/>
                <a:ea typeface="Segoe UI" pitchFamily="34" charset="0"/>
                <a:cs typeface="Segoe UI" pitchFamily="34" charset="0"/>
              </a:endParaRPr>
            </a:p>
          </p:txBody>
        </p:sp>
        <p:pic>
          <p:nvPicPr>
            <p:cNvPr id="71" name="Picture 70"/>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294312" y="5033395"/>
              <a:ext cx="579610" cy="654340"/>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924885" y="5018015"/>
              <a:ext cx="644846" cy="727987"/>
            </a:xfrm>
            <a:prstGeom prst="rect">
              <a:avLst/>
            </a:prstGeom>
            <a:noFill/>
            <a:extLst>
              <a:ext uri="{909E8E84-426E-40DD-AFC4-6F175D3DCCD1}">
                <a14:hiddenFill xmlns:a14="http://schemas.microsoft.com/office/drawing/2010/main">
                  <a:solidFill>
                    <a:srgbClr val="FFFFFF"/>
                  </a:solidFill>
                </a14:hiddenFill>
              </a:ext>
            </a:extLst>
          </p:spPr>
        </p:pic>
      </p:grpSp>
      <p:sp>
        <p:nvSpPr>
          <p:cNvPr id="73" name="Oval 6" descr="&quot;&quot;"/>
          <p:cNvSpPr>
            <a:spLocks noChangeArrowheads="1"/>
          </p:cNvSpPr>
          <p:nvPr/>
        </p:nvSpPr>
        <p:spPr bwMode="auto">
          <a:xfrm>
            <a:off x="5679347" y="1736521"/>
            <a:ext cx="2537029" cy="4026716"/>
          </a:xfrm>
          <a:prstGeom prst="rect">
            <a:avLst/>
          </a:prstGeom>
          <a:noFill/>
          <a:ln w="9525">
            <a:solidFill>
              <a:srgbClr val="0070C0"/>
            </a:solidFill>
            <a:headEnd/>
            <a:tailEnd/>
          </a:ln>
        </p:spPr>
        <p:style>
          <a:lnRef idx="2">
            <a:schemeClr val="accent6"/>
          </a:lnRef>
          <a:fillRef idx="1">
            <a:schemeClr val="lt1"/>
          </a:fillRef>
          <a:effectRef idx="0">
            <a:schemeClr val="accent6"/>
          </a:effectRef>
          <a:fontRef idx="minor">
            <a:schemeClr val="dk1"/>
          </a:fontRef>
        </p:style>
        <p:txBody>
          <a:bodyPr wrap="none" anchor="ctr"/>
          <a:lstStyle/>
          <a:p>
            <a:pPr algn="r"/>
            <a:endParaRPr lang="en-US" dirty="0">
              <a:solidFill>
                <a:srgbClr val="000000"/>
              </a:solidFill>
            </a:endParaRPr>
          </a:p>
        </p:txBody>
      </p:sp>
      <p:sp>
        <p:nvSpPr>
          <p:cNvPr id="91141" name="Line 5" descr="&quot;&quot;"/>
          <p:cNvSpPr>
            <a:spLocks noChangeShapeType="1"/>
          </p:cNvSpPr>
          <p:nvPr/>
        </p:nvSpPr>
        <p:spPr bwMode="auto">
          <a:xfrm>
            <a:off x="3422607" y="4119549"/>
            <a:ext cx="2486025" cy="0"/>
          </a:xfrm>
          <a:prstGeom prst="line">
            <a:avLst/>
          </a:prstGeom>
          <a:noFill/>
          <a:ln w="57150">
            <a:solidFill>
              <a:srgbClr val="0070C0"/>
            </a:solidFill>
            <a:prstDash val="sysDot"/>
            <a:round/>
            <a:headEnd/>
            <a:tailEnd/>
          </a:ln>
          <a:effectLst/>
        </p:spPr>
        <p:txBody>
          <a:bodyPr/>
          <a:lstStyle/>
          <a:p>
            <a:endParaRPr lang="en-US" dirty="0">
              <a:solidFill>
                <a:srgbClr val="000000"/>
              </a:solidFill>
            </a:endParaRPr>
          </a:p>
        </p:txBody>
      </p:sp>
      <p:pic>
        <p:nvPicPr>
          <p:cNvPr id="43" name="Picture 42"/>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859583" y="3890224"/>
            <a:ext cx="879475" cy="458650"/>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57"/>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5337837" y="3890224"/>
            <a:ext cx="879475" cy="458650"/>
          </a:xfrm>
          <a:prstGeom prst="rect">
            <a:avLst/>
          </a:prstGeom>
          <a:noFill/>
          <a:extLst>
            <a:ext uri="{909E8E84-426E-40DD-AFC4-6F175D3DCCD1}">
              <a14:hiddenFill xmlns:a14="http://schemas.microsoft.com/office/drawing/2010/main">
                <a:solidFill>
                  <a:srgbClr val="FFFFFF"/>
                </a:solidFill>
              </a14:hiddenFill>
            </a:ext>
          </a:extLst>
        </p:spPr>
      </p:pic>
      <p:sp>
        <p:nvSpPr>
          <p:cNvPr id="91158" name="left-to-right" descr="&quot;&quot;"/>
          <p:cNvSpPr>
            <a:spLocks noChangeArrowheads="1"/>
          </p:cNvSpPr>
          <p:nvPr/>
        </p:nvSpPr>
        <p:spPr bwMode="auto">
          <a:xfrm>
            <a:off x="2155972" y="2149555"/>
            <a:ext cx="4630722" cy="466725"/>
          </a:xfrm>
          <a:prstGeom prst="rightArrow">
            <a:avLst/>
          </a:prstGeom>
          <a:solidFill>
            <a:srgbClr val="FF0000"/>
          </a:solidFill>
          <a:ln w="9525" algn="ctr">
            <a:noFill/>
            <a:miter lim="800000"/>
            <a:headEnd/>
            <a:tailEnd/>
          </a:ln>
          <a:effectLst/>
        </p:spPr>
        <p:txBody>
          <a:bodyPr wrap="none" anchor="ctr"/>
          <a:lstStyle/>
          <a:p>
            <a:pPr algn="ctr"/>
            <a:r>
              <a:rPr lang="en-US" dirty="0" smtClean="0">
                <a:solidFill>
                  <a:srgbClr val="FFFFFF"/>
                </a:solidFill>
                <a:latin typeface="Segoe UI" pitchFamily="34" charset="0"/>
                <a:ea typeface="Segoe UI" pitchFamily="34" charset="0"/>
                <a:cs typeface="Segoe UI" pitchFamily="34" charset="0"/>
              </a:rPr>
              <a:t>      Unicast</a:t>
            </a:r>
            <a:endParaRPr lang="en-US" dirty="0">
              <a:solidFill>
                <a:srgbClr val="FFFFFF"/>
              </a:solidFill>
              <a:latin typeface="Segoe UI" pitchFamily="34" charset="0"/>
              <a:ea typeface="Segoe UI" pitchFamily="34" charset="0"/>
              <a:cs typeface="Segoe UI" pitchFamily="34" charset="0"/>
            </a:endParaRPr>
          </a:p>
        </p:txBody>
      </p:sp>
      <p:sp>
        <p:nvSpPr>
          <p:cNvPr id="36" name="right-to-left" descr="&quot;&quot;"/>
          <p:cNvSpPr>
            <a:spLocks noChangeArrowheads="1"/>
          </p:cNvSpPr>
          <p:nvPr/>
        </p:nvSpPr>
        <p:spPr bwMode="auto">
          <a:xfrm>
            <a:off x="2440096" y="2149555"/>
            <a:ext cx="4504889" cy="466725"/>
          </a:xfrm>
          <a:prstGeom prst="leftArrow">
            <a:avLst/>
          </a:prstGeom>
          <a:solidFill>
            <a:srgbClr val="FF0000"/>
          </a:solidFill>
          <a:ln w="9525" algn="ctr">
            <a:noFill/>
            <a:miter lim="800000"/>
            <a:headEnd/>
            <a:tailEnd/>
          </a:ln>
          <a:effectLst/>
        </p:spPr>
        <p:txBody>
          <a:bodyPr wrap="none" anchor="ctr"/>
          <a:lstStyle/>
          <a:p>
            <a:pPr algn="ctr"/>
            <a:r>
              <a:rPr lang="en-US" dirty="0" smtClean="0">
                <a:solidFill>
                  <a:srgbClr val="FFFFFF"/>
                </a:solidFill>
                <a:latin typeface="Segoe UI" pitchFamily="34" charset="0"/>
                <a:ea typeface="Segoe UI" pitchFamily="34" charset="0"/>
                <a:cs typeface="Segoe UI" pitchFamily="34" charset="0"/>
              </a:rPr>
              <a:t>Unicast</a:t>
            </a:r>
            <a:endParaRPr lang="en-US" dirty="0">
              <a:solidFill>
                <a:srgbClr val="FFFFFF"/>
              </a:solidFill>
              <a:latin typeface="Segoe UI" pitchFamily="34" charset="0"/>
              <a:ea typeface="Segoe UI" pitchFamily="34" charset="0"/>
              <a:cs typeface="Segoe UI" pitchFamily="34" charset="0"/>
            </a:endParaRPr>
          </a:p>
        </p:txBody>
      </p:sp>
      <p:pic>
        <p:nvPicPr>
          <p:cNvPr id="67" name="serve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6797682" y="1928737"/>
            <a:ext cx="512041" cy="908053"/>
          </a:xfrm>
          <a:prstGeom prst="rect">
            <a:avLst/>
          </a:prstGeom>
          <a:noFill/>
          <a:extLst>
            <a:ext uri="{909E8E84-426E-40DD-AFC4-6F175D3DCCD1}">
              <a14:hiddenFill xmlns:a14="http://schemas.microsoft.com/office/drawing/2010/main">
                <a:solidFill>
                  <a:srgbClr val="FFFFFF"/>
                </a:solidFill>
              </a14:hiddenFill>
            </a:ext>
          </a:extLst>
        </p:spPr>
      </p:pic>
      <p:pic>
        <p:nvPicPr>
          <p:cNvPr id="44" name="alt-text here, serve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1915290" y="1928737"/>
            <a:ext cx="512041" cy="908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586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1159"/>
                                        </p:tgtEl>
                                        <p:attrNameLst>
                                          <p:attrName>style.visibility</p:attrName>
                                        </p:attrNameLst>
                                      </p:cBhvr>
                                      <p:to>
                                        <p:strVal val="visible"/>
                                      </p:to>
                                    </p:set>
                                    <p:animEffect transition="in" filter="fade">
                                      <p:cBhvr>
                                        <p:cTn id="11" dur="500"/>
                                        <p:tgtEl>
                                          <p:spTgt spid="91159"/>
                                        </p:tgtEl>
                                      </p:cBhvr>
                                    </p:animEffect>
                                  </p:childTnLst>
                                </p:cTn>
                              </p:par>
                              <p:par>
                                <p:cTn id="12" presetID="6" presetClass="entr" presetSubtype="32" fill="hold"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circle(out)">
                                      <p:cBhvr>
                                        <p:cTn id="14" dur="2000"/>
                                        <p:tgtEl>
                                          <p:spTgt spid="39"/>
                                        </p:tgtEl>
                                      </p:cBhvr>
                                    </p:animEffect>
                                  </p:childTnLst>
                                </p:cTn>
                              </p:par>
                            </p:childTnLst>
                          </p:cTn>
                        </p:par>
                        <p:par>
                          <p:cTn id="15" fill="hold">
                            <p:stCondLst>
                              <p:cond delay="2000"/>
                            </p:stCondLst>
                            <p:childTnLst>
                              <p:par>
                                <p:cTn id="16" presetID="6" presetClass="entr" presetSubtype="32" fill="hold" nodeType="after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circle(out)">
                                      <p:cBhvr>
                                        <p:cTn id="18" dur="2000"/>
                                        <p:tgtEl>
                                          <p:spTgt spid="39"/>
                                        </p:tgtEl>
                                      </p:cBhvr>
                                    </p:animEffect>
                                  </p:childTnLst>
                                </p:cTn>
                              </p:par>
                            </p:childTnLst>
                          </p:cTn>
                        </p:par>
                        <p:par>
                          <p:cTn id="19" fill="hold">
                            <p:stCondLst>
                              <p:cond delay="4000"/>
                            </p:stCondLst>
                            <p:childTnLst>
                              <p:par>
                                <p:cTn id="20" presetID="22" presetClass="entr" presetSubtype="8" fill="hold" grpId="0" nodeType="afterEffect">
                                  <p:stCondLst>
                                    <p:cond delay="0"/>
                                  </p:stCondLst>
                                  <p:childTnLst>
                                    <p:set>
                                      <p:cBhvr>
                                        <p:cTn id="21" dur="1" fill="hold">
                                          <p:stCondLst>
                                            <p:cond delay="0"/>
                                          </p:stCondLst>
                                        </p:cTn>
                                        <p:tgtEl>
                                          <p:spTgt spid="91158"/>
                                        </p:tgtEl>
                                        <p:attrNameLst>
                                          <p:attrName>style.visibility</p:attrName>
                                        </p:attrNameLst>
                                      </p:cBhvr>
                                      <p:to>
                                        <p:strVal val="visible"/>
                                      </p:to>
                                    </p:set>
                                    <p:animEffect transition="in" filter="wipe(left)">
                                      <p:cBhvr>
                                        <p:cTn id="22" dur="1250"/>
                                        <p:tgtEl>
                                          <p:spTgt spid="9115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91159"/>
                                        </p:tgtEl>
                                      </p:cBhvr>
                                    </p:animEffect>
                                    <p:set>
                                      <p:cBhvr>
                                        <p:cTn id="27" dur="1" fill="hold">
                                          <p:stCondLst>
                                            <p:cond delay="499"/>
                                          </p:stCondLst>
                                        </p:cTn>
                                        <p:tgtEl>
                                          <p:spTgt spid="91159"/>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39"/>
                                        </p:tgtEl>
                                      </p:cBhvr>
                                    </p:animEffect>
                                    <p:set>
                                      <p:cBhvr>
                                        <p:cTn id="30" dur="1" fill="hold">
                                          <p:stCondLst>
                                            <p:cond delay="499"/>
                                          </p:stCondLst>
                                        </p:cTn>
                                        <p:tgtEl>
                                          <p:spTgt spid="39"/>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500"/>
                                        <p:tgtEl>
                                          <p:spTgt spid="91158"/>
                                        </p:tgtEl>
                                      </p:cBhvr>
                                    </p:animEffect>
                                    <p:set>
                                      <p:cBhvr>
                                        <p:cTn id="33" dur="1" fill="hold">
                                          <p:stCondLst>
                                            <p:cond delay="499"/>
                                          </p:stCondLst>
                                        </p:cTn>
                                        <p:tgtEl>
                                          <p:spTgt spid="91158"/>
                                        </p:tgtEl>
                                        <p:attrNameLst>
                                          <p:attrName>style.visibility</p:attrName>
                                        </p:attrNameLst>
                                      </p:cBhvr>
                                      <p:to>
                                        <p:strVal val="hidden"/>
                                      </p:to>
                                    </p:set>
                                  </p:childTnLst>
                                </p:cTn>
                              </p:par>
                            </p:childTnLst>
                          </p:cTn>
                        </p:par>
                        <p:par>
                          <p:cTn id="34" fill="hold">
                            <p:stCondLst>
                              <p:cond delay="500"/>
                            </p:stCondLst>
                            <p:childTnLst>
                              <p:par>
                                <p:cTn id="35" presetID="22" presetClass="entr" presetSubtype="2"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right)">
                                      <p:cBhvr>
                                        <p:cTn id="37" dur="1250"/>
                                        <p:tgtEl>
                                          <p:spTgt spid="36"/>
                                        </p:tgtEl>
                                      </p:cBhvr>
                                    </p:animEffect>
                                  </p:childTnLst>
                                </p:cTn>
                              </p:par>
                            </p:childTnLst>
                          </p:cTn>
                        </p:par>
                        <p:par>
                          <p:cTn id="38" fill="hold">
                            <p:stCondLst>
                              <p:cond delay="1750"/>
                            </p:stCondLst>
                            <p:childTnLst>
                              <p:par>
                                <p:cTn id="39" presetID="10" presetClass="entr" presetSubtype="0" fill="hold" grpId="2" nodeType="afterEffect">
                                  <p:stCondLst>
                                    <p:cond delay="0"/>
                                  </p:stCondLst>
                                  <p:childTnLst>
                                    <p:set>
                                      <p:cBhvr>
                                        <p:cTn id="40" dur="1" fill="hold">
                                          <p:stCondLst>
                                            <p:cond delay="0"/>
                                          </p:stCondLst>
                                        </p:cTn>
                                        <p:tgtEl>
                                          <p:spTgt spid="91159"/>
                                        </p:tgtEl>
                                        <p:attrNameLst>
                                          <p:attrName>style.visibility</p:attrName>
                                        </p:attrNameLst>
                                      </p:cBhvr>
                                      <p:to>
                                        <p:strVal val="visible"/>
                                      </p:to>
                                    </p:set>
                                    <p:animEffect transition="in" filter="fade">
                                      <p:cBhvr>
                                        <p:cTn id="41" dur="500"/>
                                        <p:tgtEl>
                                          <p:spTgt spid="91159"/>
                                        </p:tgtEl>
                                      </p:cBhvr>
                                    </p:animEffect>
                                  </p:childTnLst>
                                </p:cTn>
                              </p:par>
                              <p:par>
                                <p:cTn id="42" presetID="6" presetClass="entr" presetSubtype="32" fill="hold"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circle(out)">
                                      <p:cBhvr>
                                        <p:cTn id="44" dur="2000"/>
                                        <p:tgtEl>
                                          <p:spTgt spid="39"/>
                                        </p:tgtEl>
                                      </p:cBhvr>
                                    </p:animEffect>
                                  </p:childTnLst>
                                </p:cTn>
                              </p:par>
                            </p:childTnLst>
                          </p:cTn>
                        </p:par>
                        <p:par>
                          <p:cTn id="45" fill="hold">
                            <p:stCondLst>
                              <p:cond delay="3750"/>
                            </p:stCondLst>
                            <p:childTnLst>
                              <p:par>
                                <p:cTn id="46" presetID="6" presetClass="entr" presetSubtype="32" fill="hold" nodeType="after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circle(out)">
                                      <p:cBhvr>
                                        <p:cTn id="48" dur="2000"/>
                                        <p:tgtEl>
                                          <p:spTgt spid="39"/>
                                        </p:tgtEl>
                                      </p:cBhvr>
                                    </p:animEffect>
                                  </p:childTnLst>
                                </p:cTn>
                              </p:par>
                            </p:childTnLst>
                          </p:cTn>
                        </p:par>
                        <p:par>
                          <p:cTn id="49" fill="hold">
                            <p:stCondLst>
                              <p:cond delay="5750"/>
                            </p:stCondLst>
                            <p:childTnLst>
                              <p:par>
                                <p:cTn id="50" presetID="10" presetClass="exit" presetSubtype="0" fill="hold" nodeType="afterEffect">
                                  <p:stCondLst>
                                    <p:cond delay="0"/>
                                  </p:stCondLst>
                                  <p:childTnLst>
                                    <p:animEffect transition="out" filter="fade">
                                      <p:cBhvr>
                                        <p:cTn id="51" dur="500"/>
                                        <p:tgtEl>
                                          <p:spTgt spid="60"/>
                                        </p:tgtEl>
                                      </p:cBhvr>
                                    </p:animEffect>
                                    <p:set>
                                      <p:cBhvr>
                                        <p:cTn id="52" dur="1" fill="hold">
                                          <p:stCondLst>
                                            <p:cond delay="499"/>
                                          </p:stCondLst>
                                        </p:cTn>
                                        <p:tgtEl>
                                          <p:spTgt spid="60"/>
                                        </p:tgtEl>
                                        <p:attrNameLst>
                                          <p:attrName>style.visibility</p:attrName>
                                        </p:attrNameLst>
                                      </p:cBhvr>
                                      <p:to>
                                        <p:strVal val="hidden"/>
                                      </p:to>
                                    </p:set>
                                  </p:childTnLst>
                                </p:cTn>
                              </p:par>
                              <p:par>
                                <p:cTn id="53" presetID="10" presetClass="entr" presetSubtype="0" fill="hold" nodeType="with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fade">
                                      <p:cBhvr>
                                        <p:cTn id="55"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9" grpId="0"/>
      <p:bldP spid="91159" grpId="1"/>
      <p:bldP spid="91159" grpId="2"/>
      <p:bldP spid="91158" grpId="0" animBg="1"/>
      <p:bldP spid="91158" grpId="1" animBg="1"/>
      <p:bldP spid="3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quot;&quot;"/>
          <p:cNvSpPr>
            <a:spLocks noGrp="1"/>
          </p:cNvSpPr>
          <p:nvPr>
            <p:ph type="title"/>
          </p:nvPr>
        </p:nvSpPr>
        <p:spPr/>
        <p:txBody>
          <a:bodyPr/>
          <a:lstStyle/>
          <a:p>
            <a:r>
              <a:rPr lang="en-US" sz="2800" dirty="0">
                <a:latin typeface="Segoe UI" pitchFamily="34" charset="0"/>
                <a:ea typeface="Segoe UI" pitchFamily="34" charset="0"/>
                <a:cs typeface="Segoe UI" pitchFamily="34" charset="0"/>
              </a:rPr>
              <a:t>DHCP Server Authorization</a:t>
            </a:r>
            <a:endParaRPr lang="en-GB" sz="2800" dirty="0">
              <a:latin typeface="Segoe UI" pitchFamily="34" charset="0"/>
              <a:ea typeface="Segoe UI" pitchFamily="34" charset="0"/>
              <a:cs typeface="Segoe UI" pitchFamily="34" charset="0"/>
            </a:endParaRPr>
          </a:p>
        </p:txBody>
      </p:sp>
      <p:grpSp>
        <p:nvGrpSpPr>
          <p:cNvPr id="45" name="static objects"/>
          <p:cNvGrpSpPr/>
          <p:nvPr/>
        </p:nvGrpSpPr>
        <p:grpSpPr>
          <a:xfrm>
            <a:off x="642939" y="2743200"/>
            <a:ext cx="5640388" cy="2782888"/>
            <a:chOff x="642939" y="2743200"/>
            <a:chExt cx="5640388" cy="2782888"/>
          </a:xfrm>
        </p:grpSpPr>
        <p:sp>
          <p:nvSpPr>
            <p:cNvPr id="44" name="Isosceles Triangle 43"/>
            <p:cNvSpPr/>
            <p:nvPr/>
          </p:nvSpPr>
          <p:spPr bwMode="auto">
            <a:xfrm>
              <a:off x="783499" y="3314783"/>
              <a:ext cx="793035" cy="701857"/>
            </a:xfrm>
            <a:prstGeom prst="triangle">
              <a:avLst/>
            </a:prstGeom>
            <a:noFill/>
            <a:ln>
              <a:solidFill>
                <a:schemeClr val="accent6">
                  <a:lumMod val="7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CA" b="1" dirty="0" smtClean="0">
                <a:solidFill>
                  <a:srgbClr val="000000"/>
                </a:solidFill>
              </a:endParaRPr>
            </a:p>
          </p:txBody>
        </p:sp>
        <p:grpSp>
          <p:nvGrpSpPr>
            <p:cNvPr id="9" name="Group 57" descr="&quot;&quot;"/>
            <p:cNvGrpSpPr>
              <a:grpSpLocks/>
            </p:cNvGrpSpPr>
            <p:nvPr/>
          </p:nvGrpSpPr>
          <p:grpSpPr bwMode="auto">
            <a:xfrm>
              <a:off x="642939" y="2743200"/>
              <a:ext cx="5640388" cy="2782888"/>
              <a:chOff x="315" y="1602"/>
              <a:chExt cx="3553" cy="1753"/>
            </a:xfrm>
          </p:grpSpPr>
          <p:sp>
            <p:nvSpPr>
              <p:cNvPr id="10" name="Oval 55" descr="&quot;&quot;"/>
              <p:cNvSpPr>
                <a:spLocks noChangeArrowheads="1"/>
              </p:cNvSpPr>
              <p:nvPr/>
            </p:nvSpPr>
            <p:spPr bwMode="auto">
              <a:xfrm>
                <a:off x="1066" y="1880"/>
                <a:ext cx="2802" cy="1343"/>
              </a:xfrm>
              <a:prstGeom prst="ellipse">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0" tIns="0" rIns="0" bIns="0"/>
              <a:lstStyle/>
              <a:p>
                <a:pPr marL="174625" indent="-174625">
                  <a:lnSpc>
                    <a:spcPct val="90000"/>
                  </a:lnSpc>
                  <a:spcBef>
                    <a:spcPct val="70000"/>
                  </a:spcBef>
                  <a:buClr>
                    <a:srgbClr val="006699"/>
                  </a:buClr>
                  <a:buSzPct val="90000"/>
                  <a:defRPr/>
                </a:pPr>
                <a:r>
                  <a:rPr lang="en-US" sz="2000" dirty="0">
                    <a:solidFill>
                      <a:srgbClr val="000000"/>
                    </a:solidFill>
                  </a:rPr>
                  <a:t>                                                          </a:t>
                </a:r>
              </a:p>
            </p:txBody>
          </p:sp>
          <p:pic>
            <p:nvPicPr>
              <p:cNvPr id="11" name="Picture 5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179" y="1667"/>
                <a:ext cx="443" cy="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57"/>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302" y="2590"/>
                <a:ext cx="56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8"/>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350" y="1602"/>
                <a:ext cx="443" cy="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9"/>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179" y="2570"/>
                <a:ext cx="443" cy="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AutoShape 60" descr="&quot;&quot;"/>
              <p:cNvSpPr>
                <a:spLocks noChangeArrowheads="1"/>
              </p:cNvSpPr>
              <p:nvPr/>
            </p:nvSpPr>
            <p:spPr bwMode="auto">
              <a:xfrm>
                <a:off x="545" y="1614"/>
                <a:ext cx="853" cy="315"/>
              </a:xfrm>
              <a:prstGeom prst="roundRect">
                <a:avLst>
                  <a:gd name="adj" fmla="val 4167"/>
                </a:avLst>
              </a:prstGeom>
              <a:noFill/>
              <a:ln w="9525">
                <a:noFill/>
                <a:round/>
                <a:headEnd/>
                <a:tailEnd/>
              </a:ln>
              <a:effectLst/>
            </p:spPr>
            <p:txBody>
              <a:bodyPr anchor="ctr"/>
              <a:lstStyle/>
              <a:p>
                <a:pPr>
                  <a:lnSpc>
                    <a:spcPct val="85000"/>
                  </a:lnSpc>
                </a:pPr>
                <a:r>
                  <a:rPr lang="en-US" sz="1600" b="1" dirty="0">
                    <a:solidFill>
                      <a:srgbClr val="000000"/>
                    </a:solidFill>
                    <a:latin typeface="Segoe UI" pitchFamily="34" charset="0"/>
                    <a:ea typeface="Segoe UI" pitchFamily="34" charset="0"/>
                    <a:cs typeface="Segoe UI" pitchFamily="34" charset="0"/>
                  </a:rPr>
                  <a:t>Domain</a:t>
                </a:r>
              </a:p>
              <a:p>
                <a:pPr>
                  <a:lnSpc>
                    <a:spcPct val="85000"/>
                  </a:lnSpc>
                </a:pPr>
                <a:r>
                  <a:rPr lang="en-US" sz="1600" b="1" dirty="0">
                    <a:solidFill>
                      <a:srgbClr val="000000"/>
                    </a:solidFill>
                    <a:latin typeface="Segoe UI" pitchFamily="34" charset="0"/>
                    <a:ea typeface="Segoe UI" pitchFamily="34" charset="0"/>
                    <a:cs typeface="Segoe UI" pitchFamily="34" charset="0"/>
                  </a:rPr>
                  <a:t>c</a:t>
                </a:r>
                <a:r>
                  <a:rPr lang="en-US" sz="1600" b="1" dirty="0" smtClean="0">
                    <a:solidFill>
                      <a:srgbClr val="000000"/>
                    </a:solidFill>
                    <a:latin typeface="Segoe UI" pitchFamily="34" charset="0"/>
                    <a:ea typeface="Segoe UI" pitchFamily="34" charset="0"/>
                    <a:cs typeface="Segoe UI" pitchFamily="34" charset="0"/>
                  </a:rPr>
                  <a:t>ontroller</a:t>
                </a:r>
                <a:endParaRPr lang="en-US" sz="1600" b="1" dirty="0">
                  <a:solidFill>
                    <a:srgbClr val="000000"/>
                  </a:solidFill>
                  <a:latin typeface="Segoe UI" pitchFamily="34" charset="0"/>
                  <a:ea typeface="Segoe UI" pitchFamily="34" charset="0"/>
                  <a:cs typeface="Segoe UI" pitchFamily="34" charset="0"/>
                </a:endParaRPr>
              </a:p>
            </p:txBody>
          </p:sp>
          <p:sp>
            <p:nvSpPr>
              <p:cNvPr id="16" name="AutoShape 62" descr="&quot;&quot;"/>
              <p:cNvSpPr>
                <a:spLocks noChangeArrowheads="1"/>
              </p:cNvSpPr>
              <p:nvPr/>
            </p:nvSpPr>
            <p:spPr bwMode="auto">
              <a:xfrm>
                <a:off x="384" y="2450"/>
                <a:ext cx="581" cy="144"/>
              </a:xfrm>
              <a:prstGeom prst="roundRect">
                <a:avLst>
                  <a:gd name="adj" fmla="val 4167"/>
                </a:avLst>
              </a:prstGeom>
              <a:solidFill>
                <a:schemeClr val="bg1"/>
              </a:solidFill>
              <a:ln w="9525" algn="ctr">
                <a:noFill/>
                <a:round/>
                <a:headEnd/>
                <a:tailEnd/>
              </a:ln>
              <a:effectLst/>
            </p:spPr>
            <p:txBody>
              <a:bodyPr anchor="ctr"/>
              <a:lstStyle/>
              <a:p>
                <a:pPr algn="ctr">
                  <a:lnSpc>
                    <a:spcPct val="85000"/>
                  </a:lnSpc>
                </a:pPr>
                <a:r>
                  <a:rPr lang="en-US" sz="1600" b="1" dirty="0" smtClean="0">
                    <a:solidFill>
                      <a:srgbClr val="000000"/>
                    </a:solidFill>
                    <a:latin typeface="Segoe UI" pitchFamily="34" charset="0"/>
                    <a:ea typeface="Segoe UI" pitchFamily="34" charset="0"/>
                    <a:cs typeface="Segoe UI" pitchFamily="34" charset="0"/>
                  </a:rPr>
                  <a:t>AD DS</a:t>
                </a:r>
                <a:endParaRPr lang="en-US" sz="1600" b="1" dirty="0">
                  <a:solidFill>
                    <a:srgbClr val="000000"/>
                  </a:solidFill>
                  <a:latin typeface="Segoe UI" pitchFamily="34" charset="0"/>
                  <a:ea typeface="Segoe UI" pitchFamily="34" charset="0"/>
                  <a:cs typeface="Segoe UI" pitchFamily="34" charset="0"/>
                </a:endParaRPr>
              </a:p>
            </p:txBody>
          </p:sp>
          <p:sp>
            <p:nvSpPr>
              <p:cNvPr id="17" name="AutoShape 64" descr="&quot;&quot;"/>
              <p:cNvSpPr>
                <a:spLocks noChangeArrowheads="1"/>
              </p:cNvSpPr>
              <p:nvPr/>
            </p:nvSpPr>
            <p:spPr bwMode="auto">
              <a:xfrm>
                <a:off x="315" y="2887"/>
                <a:ext cx="950" cy="240"/>
              </a:xfrm>
              <a:prstGeom prst="roundRect">
                <a:avLst>
                  <a:gd name="adj" fmla="val 4167"/>
                </a:avLst>
              </a:prstGeom>
              <a:solidFill>
                <a:schemeClr val="bg1"/>
              </a:solidFill>
              <a:ln w="9525">
                <a:noFill/>
                <a:round/>
                <a:headEnd/>
                <a:tailEnd/>
              </a:ln>
              <a:effectLst/>
            </p:spPr>
            <p:txBody>
              <a:bodyPr wrap="none" anchor="ctr"/>
              <a:lstStyle/>
              <a:p>
                <a:r>
                  <a:rPr lang="en-US" sz="1600" b="1" dirty="0">
                    <a:solidFill>
                      <a:srgbClr val="000000"/>
                    </a:solidFill>
                    <a:latin typeface="Segoe UI" pitchFamily="34" charset="0"/>
                    <a:ea typeface="Segoe UI" pitchFamily="34" charset="0"/>
                    <a:cs typeface="Segoe UI" pitchFamily="34" charset="0"/>
                  </a:rPr>
                  <a:t>DHCP </a:t>
                </a:r>
                <a:r>
                  <a:rPr lang="en-US" sz="1600" b="1" dirty="0" smtClean="0">
                    <a:solidFill>
                      <a:srgbClr val="000000"/>
                    </a:solidFill>
                    <a:latin typeface="Segoe UI" pitchFamily="34" charset="0"/>
                    <a:ea typeface="Segoe UI" pitchFamily="34" charset="0"/>
                    <a:cs typeface="Segoe UI" pitchFamily="34" charset="0"/>
                  </a:rPr>
                  <a:t>client </a:t>
                </a:r>
                <a:endParaRPr lang="en-US" sz="1600" b="1" dirty="0">
                  <a:solidFill>
                    <a:srgbClr val="000000"/>
                  </a:solidFill>
                  <a:latin typeface="Segoe UI" pitchFamily="34" charset="0"/>
                  <a:ea typeface="Segoe UI" pitchFamily="34" charset="0"/>
                  <a:cs typeface="Segoe UI" pitchFamily="34" charset="0"/>
                </a:endParaRPr>
              </a:p>
            </p:txBody>
          </p:sp>
        </p:grpSp>
      </p:grpSp>
      <p:sp>
        <p:nvSpPr>
          <p:cNvPr id="4" name="frame 4 alt-text, &quot;DHCP Server 2 ...&quot;" descr="This is the 4th of 6 frames. It depicts how DHCP Server 2 contacts the domain controller in order to obtain a list of authorized DHCP Servers.&#10;An explanation of this appears in a text box.&#10;An arrow points from DHCP Server 1 to the domain controller"/>
          <p:cNvSpPr>
            <a:spLocks noChangeArrowheads="1"/>
          </p:cNvSpPr>
          <p:nvPr/>
        </p:nvSpPr>
        <p:spPr bwMode="auto">
          <a:xfrm>
            <a:off x="1570038" y="1851022"/>
            <a:ext cx="5212080" cy="781050"/>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r>
              <a:rPr lang="en-US" dirty="0" smtClean="0">
                <a:solidFill>
                  <a:srgbClr val="000000"/>
                </a:solidFill>
                <a:latin typeface="Segoe UI" pitchFamily="34" charset="0"/>
                <a:ea typeface="Segoe UI" pitchFamily="34" charset="0"/>
                <a:cs typeface="Segoe UI" pitchFamily="34" charset="0"/>
              </a:rPr>
              <a:t>DHCP </a:t>
            </a:r>
            <a:r>
              <a:rPr lang="en-US" dirty="0">
                <a:solidFill>
                  <a:srgbClr val="000000"/>
                </a:solidFill>
                <a:latin typeface="Segoe UI" pitchFamily="34" charset="0"/>
                <a:ea typeface="Segoe UI" pitchFamily="34" charset="0"/>
                <a:cs typeface="Segoe UI" pitchFamily="34" charset="0"/>
              </a:rPr>
              <a:t>Server2 checks with the </a:t>
            </a:r>
            <a:r>
              <a:rPr lang="en-US" dirty="0" smtClean="0">
                <a:solidFill>
                  <a:srgbClr val="000000"/>
                </a:solidFill>
                <a:latin typeface="Segoe UI" pitchFamily="34" charset="0"/>
                <a:ea typeface="Segoe UI" pitchFamily="34" charset="0"/>
                <a:cs typeface="Segoe UI" pitchFamily="34" charset="0"/>
              </a:rPr>
              <a:t>domain </a:t>
            </a:r>
            <a:r>
              <a:rPr lang="en-US" dirty="0">
                <a:solidFill>
                  <a:srgbClr val="000000"/>
                </a:solidFill>
                <a:latin typeface="Segoe UI" pitchFamily="34" charset="0"/>
                <a:ea typeface="Segoe UI" pitchFamily="34" charset="0"/>
                <a:cs typeface="Segoe UI" pitchFamily="34" charset="0"/>
              </a:rPr>
              <a:t>controller to obtain a list </a:t>
            </a:r>
            <a:r>
              <a:rPr lang="en-US" dirty="0" smtClean="0">
                <a:solidFill>
                  <a:srgbClr val="000000"/>
                </a:solidFill>
                <a:latin typeface="Segoe UI" pitchFamily="34" charset="0"/>
                <a:ea typeface="Segoe UI" pitchFamily="34" charset="0"/>
                <a:cs typeface="Segoe UI" pitchFamily="34" charset="0"/>
              </a:rPr>
              <a:t>of authorized </a:t>
            </a:r>
            <a:r>
              <a:rPr lang="en-US" dirty="0">
                <a:solidFill>
                  <a:srgbClr val="000000"/>
                </a:solidFill>
                <a:latin typeface="Segoe UI" pitchFamily="34" charset="0"/>
                <a:ea typeface="Segoe UI" pitchFamily="34" charset="0"/>
                <a:cs typeface="Segoe UI" pitchFamily="34" charset="0"/>
              </a:rPr>
              <a:t>DHCP servers</a:t>
            </a:r>
          </a:p>
        </p:txBody>
      </p:sp>
      <p:sp>
        <p:nvSpPr>
          <p:cNvPr id="5" name="frame 5 alt-text, &quot;If DHCP Server2 ..." descr="This is the 5th of 6 frames. It depicts how DHCP server 2 in not on the domain controller's list of authorized servers.&#10;An explanation of this appears in a text box.&#10;A X mark appears on the domain controller's AD DS.&#10;An arrow points from the domain controller to DHCP Server 2. &#10;Two Xs appear beside DHCP Server 2; these Xs and their labels indicate that DHCP Server 2 is unauthorized and does not service DHCP requests."/>
          <p:cNvSpPr>
            <a:spLocks noChangeArrowheads="1"/>
          </p:cNvSpPr>
          <p:nvPr/>
        </p:nvSpPr>
        <p:spPr bwMode="auto">
          <a:xfrm>
            <a:off x="1570038" y="1851022"/>
            <a:ext cx="5212080" cy="781050"/>
          </a:xfrm>
          <a:prstGeom prst="roundRect">
            <a:avLst>
              <a:gd name="adj" fmla="val 4167"/>
            </a:avLst>
          </a:prstGeom>
          <a:solidFill>
            <a:schemeClr val="bg1"/>
          </a:solidFill>
          <a:ln w="9525" algn="ctr">
            <a:noFill/>
            <a:round/>
            <a:headEnd/>
            <a:tailEnd/>
          </a:ln>
          <a:effectLst/>
        </p:spPr>
        <p:txBody>
          <a:bodyPr anchor="ctr"/>
          <a:lstStyle/>
          <a:p>
            <a:pPr>
              <a:lnSpc>
                <a:spcPct val="85000"/>
              </a:lnSpc>
            </a:pPr>
            <a:r>
              <a:rPr lang="en-US" dirty="0" smtClean="0">
                <a:solidFill>
                  <a:srgbClr val="000000"/>
                </a:solidFill>
                <a:latin typeface="Segoe UI" pitchFamily="34" charset="0"/>
                <a:ea typeface="Segoe UI" pitchFamily="34" charset="0"/>
                <a:cs typeface="Segoe UI" pitchFamily="34" charset="0"/>
              </a:rPr>
              <a:t>If </a:t>
            </a:r>
            <a:r>
              <a:rPr lang="en-US" dirty="0">
                <a:solidFill>
                  <a:srgbClr val="000000"/>
                </a:solidFill>
                <a:latin typeface="Segoe UI" pitchFamily="34" charset="0"/>
                <a:ea typeface="Segoe UI" pitchFamily="34" charset="0"/>
                <a:cs typeface="Segoe UI" pitchFamily="34" charset="0"/>
              </a:rPr>
              <a:t>DHCP Server2 does not find its IP address on the list, the service does not start and support DHCP clients</a:t>
            </a:r>
          </a:p>
        </p:txBody>
      </p:sp>
      <p:sp>
        <p:nvSpPr>
          <p:cNvPr id="6" name="frame 6 alt-text, &quot; DHCP client ...&quot;" descr="This is the 6th of 6 frames. It depicts how the DHCP client broadcasts a DHCPDISCOVER package to both DHCP servers, but receives a DHCPOFFER package back from DHCP server 1 only.&#10;Two red arrows point from the DHCP client two the two DHCP servers. &#10;A red arrow points from DHCP server 1 back to the DHCP client."/>
          <p:cNvSpPr>
            <a:spLocks noChangeArrowheads="1"/>
          </p:cNvSpPr>
          <p:nvPr/>
        </p:nvSpPr>
        <p:spPr bwMode="auto">
          <a:xfrm>
            <a:off x="1570038" y="1851022"/>
            <a:ext cx="5212080" cy="781050"/>
          </a:xfrm>
          <a:prstGeom prst="roundRect">
            <a:avLst>
              <a:gd name="adj" fmla="val 4167"/>
            </a:avLst>
          </a:prstGeom>
          <a:solidFill>
            <a:schemeClr val="accent1"/>
          </a:solidFill>
          <a:ln w="9525" algn="ctr">
            <a:noFill/>
            <a:round/>
            <a:headEnd/>
            <a:tailEnd/>
          </a:ln>
          <a:effectLst/>
        </p:spPr>
        <p:txBody>
          <a:bodyPr anchor="ctr"/>
          <a:lstStyle/>
          <a:p>
            <a:r>
              <a:rPr lang="en-US" sz="1600" dirty="0" smtClean="0">
                <a:solidFill>
                  <a:srgbClr val="000000"/>
                </a:solidFill>
                <a:latin typeface="Segoe UI" pitchFamily="34" charset="0"/>
                <a:ea typeface="Segoe UI" pitchFamily="34" charset="0"/>
                <a:cs typeface="Segoe UI" pitchFamily="34" charset="0"/>
              </a:rPr>
              <a:t>DHCP </a:t>
            </a:r>
            <a:r>
              <a:rPr lang="en-US" sz="1600" dirty="0">
                <a:solidFill>
                  <a:srgbClr val="000000"/>
                </a:solidFill>
                <a:latin typeface="Segoe UI" pitchFamily="34" charset="0"/>
                <a:ea typeface="Segoe UI" pitchFamily="34" charset="0"/>
                <a:cs typeface="Segoe UI" pitchFamily="34" charset="0"/>
              </a:rPr>
              <a:t>client receives IP </a:t>
            </a:r>
            <a:r>
              <a:rPr lang="en-US" sz="1600" dirty="0" smtClean="0">
                <a:solidFill>
                  <a:srgbClr val="000000"/>
                </a:solidFill>
                <a:latin typeface="Segoe UI" pitchFamily="34" charset="0"/>
                <a:ea typeface="Segoe UI" pitchFamily="34" charset="0"/>
                <a:cs typeface="Segoe UI" pitchFamily="34" charset="0"/>
              </a:rPr>
              <a:t>address </a:t>
            </a:r>
          </a:p>
          <a:p>
            <a:r>
              <a:rPr lang="en-US" sz="1600" dirty="0" smtClean="0">
                <a:solidFill>
                  <a:srgbClr val="000000"/>
                </a:solidFill>
                <a:latin typeface="Segoe UI" pitchFamily="34" charset="0"/>
                <a:ea typeface="Segoe UI" pitchFamily="34" charset="0"/>
                <a:cs typeface="Segoe UI" pitchFamily="34" charset="0"/>
              </a:rPr>
              <a:t>from </a:t>
            </a:r>
            <a:r>
              <a:rPr lang="en-US" sz="1600" dirty="0">
                <a:solidFill>
                  <a:srgbClr val="000000"/>
                </a:solidFill>
                <a:latin typeface="Segoe UI" pitchFamily="34" charset="0"/>
                <a:ea typeface="Segoe UI" pitchFamily="34" charset="0"/>
                <a:cs typeface="Segoe UI" pitchFamily="34" charset="0"/>
              </a:rPr>
              <a:t>authorized DHCP Server1</a:t>
            </a:r>
          </a:p>
        </p:txBody>
      </p:sp>
      <p:sp>
        <p:nvSpPr>
          <p:cNvPr id="7" name="frame 2 alt-text, &quot;&quot; DHCP Server1  ...&quot;" descr="This is the 2nd of 6 frames. It depicts how DHCP Server 1 contacts the domain controller in order to obtain a list of authorized DHCP Servers.&#10;An explanation of this appears in a text box.&#10;An arrow points from DHCP Server 1 to the domain controller."/>
          <p:cNvSpPr>
            <a:spLocks noChangeArrowheads="1"/>
          </p:cNvSpPr>
          <p:nvPr/>
        </p:nvSpPr>
        <p:spPr bwMode="auto">
          <a:xfrm>
            <a:off x="1570038" y="1851022"/>
            <a:ext cx="5212080" cy="809625"/>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a:lnSpc>
                <a:spcPct val="85000"/>
              </a:lnSpc>
            </a:pPr>
            <a:r>
              <a:rPr lang="en-US" dirty="0" smtClean="0">
                <a:solidFill>
                  <a:srgbClr val="000000"/>
                </a:solidFill>
                <a:latin typeface="Segoe UI" pitchFamily="34" charset="0"/>
                <a:ea typeface="Segoe UI" pitchFamily="34" charset="0"/>
                <a:cs typeface="Segoe UI" pitchFamily="34" charset="0"/>
              </a:rPr>
              <a:t>DHCP </a:t>
            </a:r>
            <a:r>
              <a:rPr lang="en-US" dirty="0">
                <a:solidFill>
                  <a:srgbClr val="000000"/>
                </a:solidFill>
                <a:latin typeface="Segoe UI" pitchFamily="34" charset="0"/>
                <a:ea typeface="Segoe UI" pitchFamily="34" charset="0"/>
                <a:cs typeface="Segoe UI" pitchFamily="34" charset="0"/>
              </a:rPr>
              <a:t>Server1 checks with the domain controller to obtain a list of authorized DHCP servers</a:t>
            </a:r>
          </a:p>
        </p:txBody>
      </p:sp>
      <p:sp>
        <p:nvSpPr>
          <p:cNvPr id="8" name="frame 3 alt-text, &quot; If DHCP Server1  ...&quot;" descr="This is the 3rd of 6 frames. It depicts how the DHCP server 1 is on the domain controller's list of authorized servers.&#10;An explanation of this appears in a text box.&#10;A green check mark appears on the domain controller's AD DS.&#10;An arrow points from the domain controller to DHCP Server 1. &#10;Two green check marks appear beside DHCP Server 1; these check marks and their labels indicate that DHCP Server 1 is authorized and services DHCP requests."/>
          <p:cNvSpPr>
            <a:spLocks noChangeArrowheads="1"/>
          </p:cNvSpPr>
          <p:nvPr/>
        </p:nvSpPr>
        <p:spPr bwMode="auto">
          <a:xfrm>
            <a:off x="1570038" y="1851022"/>
            <a:ext cx="5212080" cy="809625"/>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a:lnSpc>
                <a:spcPct val="95000"/>
              </a:lnSpc>
            </a:pPr>
            <a:r>
              <a:rPr lang="en-US" dirty="0" smtClean="0">
                <a:solidFill>
                  <a:srgbClr val="000000"/>
                </a:solidFill>
                <a:latin typeface="Segoe UI" pitchFamily="34" charset="0"/>
                <a:ea typeface="Segoe UI" pitchFamily="34" charset="0"/>
                <a:cs typeface="Segoe UI" pitchFamily="34" charset="0"/>
              </a:rPr>
              <a:t>If </a:t>
            </a:r>
            <a:r>
              <a:rPr lang="en-US" dirty="0">
                <a:solidFill>
                  <a:srgbClr val="000000"/>
                </a:solidFill>
                <a:latin typeface="Segoe UI" pitchFamily="34" charset="0"/>
                <a:ea typeface="Segoe UI" pitchFamily="34" charset="0"/>
                <a:cs typeface="Segoe UI" pitchFamily="34" charset="0"/>
              </a:rPr>
              <a:t>DHCP Server1 finds its IP address on the list, the service starts and supports DHCP clients</a:t>
            </a:r>
          </a:p>
        </p:txBody>
      </p:sp>
      <p:sp>
        <p:nvSpPr>
          <p:cNvPr id="19" name="arrow at top right to left" descr="&quot;&quot;"/>
          <p:cNvSpPr>
            <a:spLocks noChangeShapeType="1"/>
          </p:cNvSpPr>
          <p:nvPr/>
        </p:nvSpPr>
        <p:spPr bwMode="auto">
          <a:xfrm flipH="1">
            <a:off x="3432175" y="3324225"/>
            <a:ext cx="1520825"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sp>
        <p:nvSpPr>
          <p:cNvPr id="20" name="arrow at top left to right" descr="&quot;&quot;"/>
          <p:cNvSpPr>
            <a:spLocks noChangeShapeType="1"/>
          </p:cNvSpPr>
          <p:nvPr/>
        </p:nvSpPr>
        <p:spPr bwMode="auto">
          <a:xfrm>
            <a:off x="3432175" y="3492500"/>
            <a:ext cx="1520825"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sp>
        <p:nvSpPr>
          <p:cNvPr id="21" name="arrow bottom R to top L" descr="&quot;&quot;"/>
          <p:cNvSpPr>
            <a:spLocks noChangeShapeType="1"/>
          </p:cNvSpPr>
          <p:nvPr/>
        </p:nvSpPr>
        <p:spPr bwMode="auto">
          <a:xfrm rot="1250189" flipH="1">
            <a:off x="3131807" y="4177562"/>
            <a:ext cx="1903413"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sp>
        <p:nvSpPr>
          <p:cNvPr id="22" name="arrow top left to bottom R" descr="&quot;&quot;"/>
          <p:cNvSpPr>
            <a:spLocks noChangeShapeType="1"/>
          </p:cNvSpPr>
          <p:nvPr/>
        </p:nvSpPr>
        <p:spPr bwMode="auto">
          <a:xfrm rot="1250189">
            <a:off x="3050847" y="4350951"/>
            <a:ext cx="1903412"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sp>
        <p:nvSpPr>
          <p:cNvPr id="23" name="arrow bottom L to top R" descr="&quot;&quot;"/>
          <p:cNvSpPr>
            <a:spLocks noChangeShapeType="1"/>
          </p:cNvSpPr>
          <p:nvPr/>
        </p:nvSpPr>
        <p:spPr bwMode="auto">
          <a:xfrm rot="20349811">
            <a:off x="3050847" y="4071930"/>
            <a:ext cx="1903412"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sp>
        <p:nvSpPr>
          <p:cNvPr id="24" name="arrow top R to bottom L" descr="&quot;&quot;"/>
          <p:cNvSpPr>
            <a:spLocks noChangeShapeType="1"/>
          </p:cNvSpPr>
          <p:nvPr/>
        </p:nvSpPr>
        <p:spPr bwMode="auto">
          <a:xfrm rot="20349811" flipH="1">
            <a:off x="3131808" y="4225924"/>
            <a:ext cx="1903413"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grpSp>
        <p:nvGrpSpPr>
          <p:cNvPr id="26" name="unauthorized red" descr="&quot;&quot;"/>
          <p:cNvGrpSpPr>
            <a:grpSpLocks/>
          </p:cNvGrpSpPr>
          <p:nvPr/>
        </p:nvGrpSpPr>
        <p:grpSpPr bwMode="auto">
          <a:xfrm>
            <a:off x="6178550" y="4689475"/>
            <a:ext cx="2559050" cy="1331913"/>
            <a:chOff x="3892" y="2954"/>
            <a:chExt cx="1612" cy="839"/>
          </a:xfrm>
          <a:noFill/>
          <a:effectLst/>
        </p:grpSpPr>
        <p:sp>
          <p:nvSpPr>
            <p:cNvPr id="27" name="AutoShape 74" descr="&quot;&quot;"/>
            <p:cNvSpPr>
              <a:spLocks noChangeArrowheads="1"/>
            </p:cNvSpPr>
            <p:nvPr/>
          </p:nvSpPr>
          <p:spPr bwMode="auto">
            <a:xfrm>
              <a:off x="3892" y="2954"/>
              <a:ext cx="1470" cy="839"/>
            </a:xfrm>
            <a:prstGeom prst="roundRect">
              <a:avLst>
                <a:gd name="adj" fmla="val 2931"/>
              </a:avLst>
            </a:prstGeom>
            <a:grpFill/>
            <a:ln w="9525" algn="ctr">
              <a:noFill/>
              <a:round/>
              <a:headEnd/>
              <a:tailEnd/>
            </a:ln>
            <a:extLst/>
          </p:spPr>
          <p:txBody>
            <a:bodyPr wrap="none" anchor="ctr"/>
            <a:lstStyle/>
            <a:p>
              <a:endParaRPr lang="en-US" sz="1600" dirty="0">
                <a:solidFill>
                  <a:srgbClr val="000000"/>
                </a:solidFill>
                <a:latin typeface="Segoe UI" pitchFamily="34" charset="0"/>
                <a:ea typeface="Segoe UI" pitchFamily="34" charset="0"/>
                <a:cs typeface="Segoe UI" pitchFamily="34" charset="0"/>
              </a:endParaRPr>
            </a:p>
          </p:txBody>
        </p:sp>
        <p:sp>
          <p:nvSpPr>
            <p:cNvPr id="28" name="Text Box 75" descr="&quot;&quot;"/>
            <p:cNvSpPr txBox="1">
              <a:spLocks noChangeArrowheads="1"/>
            </p:cNvSpPr>
            <p:nvPr/>
          </p:nvSpPr>
          <p:spPr bwMode="auto">
            <a:xfrm>
              <a:off x="4192" y="3052"/>
              <a:ext cx="887" cy="213"/>
            </a:xfrm>
            <a:prstGeom prst="rect">
              <a:avLst/>
            </a:prstGeom>
            <a:grpFill/>
            <a:ln w="9525" algn="ctr">
              <a:noFill/>
              <a:miter lim="800000"/>
              <a:headEnd/>
              <a:tailEnd/>
            </a:ln>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600" b="0" dirty="0">
                  <a:solidFill>
                    <a:srgbClr val="000000"/>
                  </a:solidFill>
                  <a:latin typeface="Segoe UI" pitchFamily="34" charset="0"/>
                  <a:ea typeface="Segoe UI" pitchFamily="34" charset="0"/>
                  <a:cs typeface="Segoe UI" pitchFamily="34" charset="0"/>
                </a:rPr>
                <a:t>Unauthorized</a:t>
              </a:r>
            </a:p>
          </p:txBody>
        </p:sp>
        <p:sp>
          <p:nvSpPr>
            <p:cNvPr id="29" name="Text Box 76" descr="&quot;&quot;"/>
            <p:cNvSpPr txBox="1">
              <a:spLocks noChangeArrowheads="1"/>
            </p:cNvSpPr>
            <p:nvPr/>
          </p:nvSpPr>
          <p:spPr bwMode="auto">
            <a:xfrm>
              <a:off x="4192" y="3304"/>
              <a:ext cx="1312" cy="366"/>
            </a:xfrm>
            <a:prstGeom prst="rect">
              <a:avLst/>
            </a:prstGeom>
            <a:grpFill/>
            <a:ln w="9525" algn="ctr">
              <a:noFill/>
              <a:miter lim="800000"/>
              <a:headEnd/>
              <a:tailEnd/>
            </a:ln>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600" b="0" dirty="0">
                  <a:solidFill>
                    <a:srgbClr val="000000"/>
                  </a:solidFill>
                  <a:latin typeface="Segoe UI" pitchFamily="34" charset="0"/>
                  <a:ea typeface="Segoe UI" pitchFamily="34" charset="0"/>
                  <a:cs typeface="Segoe UI" pitchFamily="34" charset="0"/>
                </a:rPr>
                <a:t>Does not service DHCP requests</a:t>
              </a:r>
            </a:p>
          </p:txBody>
        </p:sp>
        <p:pic>
          <p:nvPicPr>
            <p:cNvPr id="30" name="Picture 77"/>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3975" y="3081"/>
              <a:ext cx="196" cy="196"/>
            </a:xfrm>
            <a:prstGeom prst="rect">
              <a:avLst/>
            </a:prstGeom>
            <a:grpFill/>
            <a:ln w="9525">
              <a:noFill/>
              <a:miter lim="800000"/>
              <a:headEnd/>
              <a:tailEnd/>
            </a:ln>
            <a:extLst/>
          </p:spPr>
        </p:pic>
        <p:pic>
          <p:nvPicPr>
            <p:cNvPr id="31" name="Picture 78"/>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3975" y="3405"/>
              <a:ext cx="196" cy="196"/>
            </a:xfrm>
            <a:prstGeom prst="rect">
              <a:avLst/>
            </a:prstGeom>
            <a:grpFill/>
            <a:ln w="9525">
              <a:noFill/>
              <a:miter lim="800000"/>
              <a:headEnd/>
              <a:tailEnd/>
            </a:ln>
            <a:extLst/>
          </p:spPr>
        </p:pic>
      </p:grpSp>
      <p:grpSp>
        <p:nvGrpSpPr>
          <p:cNvPr id="32" name="authorized green" descr="&quot;&quot;"/>
          <p:cNvGrpSpPr>
            <a:grpSpLocks/>
          </p:cNvGrpSpPr>
          <p:nvPr/>
        </p:nvGrpSpPr>
        <p:grpSpPr bwMode="auto">
          <a:xfrm>
            <a:off x="6307045" y="2947781"/>
            <a:ext cx="2278856" cy="1252537"/>
            <a:chOff x="3892" y="1915"/>
            <a:chExt cx="1470" cy="839"/>
          </a:xfrm>
          <a:solidFill>
            <a:schemeClr val="accent1"/>
          </a:solidFill>
          <a:effectLst/>
        </p:grpSpPr>
        <p:sp>
          <p:nvSpPr>
            <p:cNvPr id="33" name="AutoShape 80" descr="&quot;&quot;"/>
            <p:cNvSpPr>
              <a:spLocks noChangeArrowheads="1"/>
            </p:cNvSpPr>
            <p:nvPr/>
          </p:nvSpPr>
          <p:spPr bwMode="auto">
            <a:xfrm>
              <a:off x="3892" y="1915"/>
              <a:ext cx="1470" cy="839"/>
            </a:xfrm>
            <a:prstGeom prst="roundRect">
              <a:avLst>
                <a:gd name="adj" fmla="val 2931"/>
              </a:avLst>
            </a:prstGeom>
            <a:grpFill/>
            <a:ln w="9525" algn="ctr">
              <a:noFill/>
              <a:round/>
              <a:headEnd/>
              <a:tailEnd/>
            </a:ln>
            <a:extLst/>
          </p:spPr>
          <p:txBody>
            <a:bodyPr wrap="none" anchor="ctr"/>
            <a:lstStyle/>
            <a:p>
              <a:endParaRPr lang="en-US" sz="1600" dirty="0">
                <a:solidFill>
                  <a:srgbClr val="000000"/>
                </a:solidFill>
                <a:latin typeface="Segoe UI" pitchFamily="34" charset="0"/>
                <a:ea typeface="Segoe UI" pitchFamily="34" charset="0"/>
                <a:cs typeface="Segoe UI" pitchFamily="34" charset="0"/>
              </a:endParaRPr>
            </a:p>
          </p:txBody>
        </p:sp>
        <p:sp>
          <p:nvSpPr>
            <p:cNvPr id="34" name="Text Box 81" descr="&quot;&quot;"/>
            <p:cNvSpPr txBox="1">
              <a:spLocks noChangeArrowheads="1"/>
            </p:cNvSpPr>
            <p:nvPr/>
          </p:nvSpPr>
          <p:spPr bwMode="auto">
            <a:xfrm>
              <a:off x="4174" y="2059"/>
              <a:ext cx="888" cy="212"/>
            </a:xfrm>
            <a:prstGeom prst="rect">
              <a:avLst/>
            </a:prstGeom>
            <a:grpFill/>
            <a:ln w="9525" algn="ctr">
              <a:noFill/>
              <a:miter lim="800000"/>
              <a:headEnd/>
              <a:tailEnd/>
            </a:ln>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600" b="0" dirty="0">
                  <a:solidFill>
                    <a:srgbClr val="000000"/>
                  </a:solidFill>
                  <a:latin typeface="Segoe UI" pitchFamily="34" charset="0"/>
                  <a:ea typeface="Segoe UI" pitchFamily="34" charset="0"/>
                  <a:cs typeface="Segoe UI" pitchFamily="34" charset="0"/>
                </a:rPr>
                <a:t>Authorized</a:t>
              </a:r>
            </a:p>
          </p:txBody>
        </p:sp>
        <p:sp>
          <p:nvSpPr>
            <p:cNvPr id="35" name="Text Box 82" descr="&quot;&quot;"/>
            <p:cNvSpPr txBox="1">
              <a:spLocks noChangeArrowheads="1"/>
            </p:cNvSpPr>
            <p:nvPr/>
          </p:nvSpPr>
          <p:spPr bwMode="auto">
            <a:xfrm>
              <a:off x="4174" y="2329"/>
              <a:ext cx="1155" cy="366"/>
            </a:xfrm>
            <a:prstGeom prst="rect">
              <a:avLst/>
            </a:prstGeom>
            <a:grpFill/>
            <a:ln w="9525" algn="ctr">
              <a:noFill/>
              <a:miter lim="800000"/>
              <a:headEnd/>
              <a:tailEnd/>
            </a:ln>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US" sz="1600" b="0" dirty="0">
                  <a:solidFill>
                    <a:srgbClr val="000000"/>
                  </a:solidFill>
                  <a:latin typeface="Segoe UI" pitchFamily="34" charset="0"/>
                  <a:ea typeface="Segoe UI" pitchFamily="34" charset="0"/>
                  <a:cs typeface="Segoe UI" pitchFamily="34" charset="0"/>
                </a:rPr>
                <a:t>Services DHCP requests</a:t>
              </a:r>
            </a:p>
          </p:txBody>
        </p:sp>
        <p:pic>
          <p:nvPicPr>
            <p:cNvPr id="36" name="Picture 83"/>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3909" y="2061"/>
              <a:ext cx="256" cy="265"/>
            </a:xfrm>
            <a:prstGeom prst="rect">
              <a:avLst/>
            </a:prstGeom>
            <a:grpFill/>
            <a:ln w="9525">
              <a:noFill/>
              <a:miter lim="800000"/>
              <a:headEnd/>
              <a:tailEnd/>
            </a:ln>
            <a:extLst/>
          </p:spPr>
        </p:pic>
        <p:pic>
          <p:nvPicPr>
            <p:cNvPr id="37" name="Picture 84"/>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3909" y="2403"/>
              <a:ext cx="256" cy="265"/>
            </a:xfrm>
            <a:prstGeom prst="rect">
              <a:avLst/>
            </a:prstGeom>
            <a:grpFill/>
            <a:ln w="9525">
              <a:noFill/>
              <a:miter lim="800000"/>
              <a:headEnd/>
              <a:tailEnd/>
            </a:ln>
            <a:extLst/>
          </p:spPr>
        </p:pic>
      </p:grpSp>
      <p:sp>
        <p:nvSpPr>
          <p:cNvPr id="38" name="DHCP server1" descr="&quot;&quot;"/>
          <p:cNvSpPr>
            <a:spLocks noChangeArrowheads="1"/>
          </p:cNvSpPr>
          <p:nvPr/>
        </p:nvSpPr>
        <p:spPr bwMode="auto">
          <a:xfrm>
            <a:off x="6239575" y="2756488"/>
            <a:ext cx="2346325" cy="352425"/>
          </a:xfrm>
          <a:prstGeom prst="roundRect">
            <a:avLst>
              <a:gd name="adj" fmla="val 4167"/>
            </a:avLst>
          </a:prstGeom>
          <a:solidFill>
            <a:schemeClr val="bg1"/>
          </a:solidFill>
          <a:ln w="9525">
            <a:noFill/>
            <a:round/>
            <a:headEnd/>
            <a:tailEnd/>
          </a:ln>
          <a:effectLst/>
        </p:spPr>
        <p:txBody>
          <a:bodyPr anchor="ctr"/>
          <a:lstStyle/>
          <a:p>
            <a:r>
              <a:rPr lang="en-US" sz="1600" b="1" dirty="0">
                <a:solidFill>
                  <a:srgbClr val="000000"/>
                </a:solidFill>
                <a:latin typeface="Segoe UI" pitchFamily="34" charset="0"/>
                <a:ea typeface="Segoe UI" pitchFamily="34" charset="0"/>
                <a:cs typeface="Segoe UI" pitchFamily="34" charset="0"/>
              </a:rPr>
              <a:t>DHCP Server1</a:t>
            </a:r>
          </a:p>
        </p:txBody>
      </p:sp>
      <p:sp>
        <p:nvSpPr>
          <p:cNvPr id="39" name="DHCP server2" descr="&quot;&quot;"/>
          <p:cNvSpPr>
            <a:spLocks noChangeArrowheads="1"/>
          </p:cNvSpPr>
          <p:nvPr/>
        </p:nvSpPr>
        <p:spPr bwMode="auto">
          <a:xfrm>
            <a:off x="6239575" y="4500563"/>
            <a:ext cx="2246312" cy="352425"/>
          </a:xfrm>
          <a:prstGeom prst="roundRect">
            <a:avLst>
              <a:gd name="adj" fmla="val 4167"/>
            </a:avLst>
          </a:prstGeom>
          <a:solidFill>
            <a:schemeClr val="bg1"/>
          </a:solidFill>
          <a:ln w="9525">
            <a:noFill/>
            <a:round/>
            <a:headEnd/>
            <a:tailEnd/>
          </a:ln>
          <a:effectLst/>
        </p:spPr>
        <p:txBody>
          <a:bodyPr anchor="ctr"/>
          <a:lstStyle/>
          <a:p>
            <a:r>
              <a:rPr lang="en-US" sz="1600" b="1" dirty="0">
                <a:solidFill>
                  <a:srgbClr val="000000"/>
                </a:solidFill>
                <a:latin typeface="Segoe UI" pitchFamily="34" charset="0"/>
                <a:ea typeface="Segoe UI" pitchFamily="34" charset="0"/>
                <a:cs typeface="Segoe UI" pitchFamily="34" charset="0"/>
              </a:rPr>
              <a:t>DHCP Server2</a:t>
            </a:r>
          </a:p>
        </p:txBody>
      </p:sp>
      <p:sp>
        <p:nvSpPr>
          <p:cNvPr id="41" name="arrow" descr="&quot;&quot;"/>
          <p:cNvSpPr>
            <a:spLocks noChangeShapeType="1"/>
          </p:cNvSpPr>
          <p:nvPr/>
        </p:nvSpPr>
        <p:spPr bwMode="auto">
          <a:xfrm>
            <a:off x="3323101" y="5014119"/>
            <a:ext cx="1520825"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sp>
        <p:nvSpPr>
          <p:cNvPr id="42" name="large text @ top"/>
          <p:cNvSpPr>
            <a:spLocks noChangeArrowheads="1"/>
          </p:cNvSpPr>
          <p:nvPr/>
        </p:nvSpPr>
        <p:spPr bwMode="auto">
          <a:xfrm>
            <a:off x="751206" y="893763"/>
            <a:ext cx="7778432" cy="812800"/>
          </a:xfrm>
          <a:prstGeom prst="roundRect">
            <a:avLst>
              <a:gd name="adj" fmla="val 16667"/>
            </a:avLst>
          </a:prstGeom>
          <a:solidFill>
            <a:schemeClr val="accent1"/>
          </a:solidFill>
          <a:ln w="9525" algn="ctr">
            <a:noFill/>
            <a:round/>
            <a:headEnd/>
            <a:tailEnd/>
          </a:ln>
          <a:effectLst/>
        </p:spPr>
        <p:txBody>
          <a:bodyPr anchor="ctr"/>
          <a:lstStyle/>
          <a:p>
            <a:r>
              <a:rPr lang="en-CA" sz="2000" b="1" dirty="0" smtClean="0">
                <a:solidFill>
                  <a:srgbClr val="000000"/>
                </a:solidFill>
                <a:latin typeface="Segoe UI" pitchFamily="34" charset="0"/>
                <a:ea typeface="Segoe UI" pitchFamily="34" charset="0"/>
                <a:cs typeface="Segoe UI" pitchFamily="34" charset="0"/>
              </a:rPr>
              <a:t>DHCP </a:t>
            </a:r>
            <a:r>
              <a:rPr lang="en-CA" sz="2000" b="1" dirty="0">
                <a:solidFill>
                  <a:srgbClr val="000000"/>
                </a:solidFill>
                <a:latin typeface="Segoe UI" pitchFamily="34" charset="0"/>
                <a:ea typeface="Segoe UI" pitchFamily="34" charset="0"/>
                <a:cs typeface="Segoe UI" pitchFamily="34" charset="0"/>
              </a:rPr>
              <a:t>authorization registers the DHCP Server service in the Active Directory domain to support DHCP clients</a:t>
            </a:r>
            <a:endParaRPr lang="en-US" sz="2000" b="1" dirty="0">
              <a:solidFill>
                <a:srgbClr val="000000"/>
              </a:solidFill>
              <a:latin typeface="Segoe UI" pitchFamily="34" charset="0"/>
              <a:ea typeface="Segoe UI" pitchFamily="34" charset="0"/>
              <a:cs typeface="Segoe UI" pitchFamily="34" charset="0"/>
            </a:endParaRPr>
          </a:p>
        </p:txBody>
      </p:sp>
      <p:pic>
        <p:nvPicPr>
          <p:cNvPr id="51" name="start button - alt text here" descr="Illustration that depicts two DHCP servers (DHCP Server 1 and DHCP Server 2), a domain controller with AD DS, and a DHCP client. &#10;There are arrows pointing between the two servers, the domain controller, and the client. These arrows represent the messages that flow between the members of the network. DHCP Server 1 is marked with two green check marks, which indicate that it is authorized, and that it services DHCP requests. DHCP Server 2 is marked with two red X marks, which indicate that it is unauthorized, and that it does not service DHCP requests.&#10;The frames of the build slide illustrate how the DHCP servers request a list of authorized servers from the domain controller and how the domain controller replies with a list of authorized DHCP server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77125" y="610551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stop butt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8125" y="610551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green on AD DS"/>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1175368" y="3404011"/>
            <a:ext cx="422862" cy="42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nk X on AD DS"/>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a:off x="1185661" y="3404011"/>
            <a:ext cx="420499" cy="420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984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right)">
                                      <p:cBhvr>
                                        <p:cTn id="15" dur="10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par>
                                <p:cTn id="21" presetID="10" presetClass="exit" presetSubtype="0" fill="hold" grpId="1" nodeType="withEffect">
                                  <p:stCondLst>
                                    <p:cond delay="0"/>
                                  </p:stCondLst>
                                  <p:childTnLst>
                                    <p:animEffect transition="out" filter="fade">
                                      <p:cBhvr>
                                        <p:cTn id="22" dur="1000"/>
                                        <p:tgtEl>
                                          <p:spTgt spid="7"/>
                                        </p:tgtEl>
                                      </p:cBhvr>
                                    </p:animEffect>
                                    <p:set>
                                      <p:cBhvr>
                                        <p:cTn id="23" dur="1" fill="hold">
                                          <p:stCondLst>
                                            <p:cond delay="999"/>
                                          </p:stCondLst>
                                        </p:cTn>
                                        <p:tgtEl>
                                          <p:spTgt spid="7"/>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1000"/>
                                        <p:tgtEl>
                                          <p:spTgt spid="19"/>
                                        </p:tgtEl>
                                      </p:cBhvr>
                                    </p:animEffect>
                                    <p:set>
                                      <p:cBhvr>
                                        <p:cTn id="26" dur="1" fill="hold">
                                          <p:stCondLst>
                                            <p:cond delay="999"/>
                                          </p:stCondLst>
                                        </p:cTn>
                                        <p:tgtEl>
                                          <p:spTgt spid="19"/>
                                        </p:tgtEl>
                                        <p:attrNameLst>
                                          <p:attrName>style.visibility</p:attrName>
                                        </p:attrNameLst>
                                      </p:cBhvr>
                                      <p:to>
                                        <p:strVal val="hidden"/>
                                      </p:to>
                                    </p:set>
                                  </p:childTnLst>
                                </p:cTn>
                              </p:par>
                            </p:childTnLst>
                          </p:cTn>
                        </p:par>
                        <p:par>
                          <p:cTn id="27" fill="hold">
                            <p:stCondLst>
                              <p:cond delay="1000"/>
                            </p:stCondLst>
                            <p:childTnLst>
                              <p:par>
                                <p:cTn id="28" presetID="9" presetClass="entr" presetSubtype="0"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dissolve">
                                      <p:cBhvr>
                                        <p:cTn id="30" dur="500"/>
                                        <p:tgtEl>
                                          <p:spTgt spid="25"/>
                                        </p:tgtEl>
                                      </p:cBhvr>
                                    </p:animEffect>
                                  </p:childTnLst>
                                </p:cTn>
                              </p:par>
                            </p:childTnLst>
                          </p:cTn>
                        </p:par>
                        <p:par>
                          <p:cTn id="31" fill="hold">
                            <p:stCondLst>
                              <p:cond delay="1500"/>
                            </p:stCondLst>
                            <p:childTnLst>
                              <p:par>
                                <p:cTn id="32" presetID="22" presetClass="entr" presetSubtype="8" fill="hold" grpId="0" nodeType="afterEffect">
                                  <p:stCondLst>
                                    <p:cond delay="500"/>
                                  </p:stCondLst>
                                  <p:childTnLst>
                                    <p:set>
                                      <p:cBhvr>
                                        <p:cTn id="33" dur="1" fill="hold">
                                          <p:stCondLst>
                                            <p:cond delay="0"/>
                                          </p:stCondLst>
                                        </p:cTn>
                                        <p:tgtEl>
                                          <p:spTgt spid="20"/>
                                        </p:tgtEl>
                                        <p:attrNameLst>
                                          <p:attrName>style.visibility</p:attrName>
                                        </p:attrNameLst>
                                      </p:cBhvr>
                                      <p:to>
                                        <p:strVal val="visible"/>
                                      </p:to>
                                    </p:set>
                                    <p:animEffect transition="in" filter="wipe(left)">
                                      <p:cBhvr>
                                        <p:cTn id="34" dur="1000"/>
                                        <p:tgtEl>
                                          <p:spTgt spid="20"/>
                                        </p:tgtEl>
                                      </p:cBhvr>
                                    </p:animEffect>
                                  </p:childTnLst>
                                </p:cTn>
                              </p:par>
                            </p:childTnLst>
                          </p:cTn>
                        </p:par>
                        <p:par>
                          <p:cTn id="35" fill="hold">
                            <p:stCondLst>
                              <p:cond delay="3000"/>
                            </p:stCondLst>
                            <p:childTnLst>
                              <p:par>
                                <p:cTn id="36" presetID="22" presetClass="entr" presetSubtype="1" fill="hold" nodeType="after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wipe(up)">
                                      <p:cBhvr>
                                        <p:cTn id="38" dur="500"/>
                                        <p:tgtEl>
                                          <p:spTgt spid="32"/>
                                        </p:tgtEl>
                                      </p:cBhvr>
                                    </p:animEffect>
                                  </p:childTnLst>
                                </p:cTn>
                              </p:par>
                              <p:par>
                                <p:cTn id="39" presetID="10" presetClass="exit" presetSubtype="0" fill="hold" grpId="1" nodeType="withEffect">
                                  <p:stCondLst>
                                    <p:cond delay="0"/>
                                  </p:stCondLst>
                                  <p:childTnLst>
                                    <p:animEffect transition="out" filter="fade">
                                      <p:cBhvr>
                                        <p:cTn id="40" dur="1000"/>
                                        <p:tgtEl>
                                          <p:spTgt spid="20"/>
                                        </p:tgtEl>
                                      </p:cBhvr>
                                    </p:animEffect>
                                    <p:set>
                                      <p:cBhvr>
                                        <p:cTn id="41" dur="1" fill="hold">
                                          <p:stCondLst>
                                            <p:cond delay="999"/>
                                          </p:stCondLst>
                                        </p:cTn>
                                        <p:tgtEl>
                                          <p:spTgt spid="20"/>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1000"/>
                                        <p:tgtEl>
                                          <p:spTgt spid="4"/>
                                        </p:tgtEl>
                                      </p:cBhvr>
                                    </p:animEffect>
                                  </p:childTnLst>
                                </p:cTn>
                              </p:par>
                              <p:par>
                                <p:cTn id="47" presetID="10" presetClass="exit" presetSubtype="0" fill="hold" nodeType="withEffect">
                                  <p:stCondLst>
                                    <p:cond delay="0"/>
                                  </p:stCondLst>
                                  <p:childTnLst>
                                    <p:animEffect transition="out" filter="fade">
                                      <p:cBhvr>
                                        <p:cTn id="48" dur="1000"/>
                                        <p:tgtEl>
                                          <p:spTgt spid="25"/>
                                        </p:tgtEl>
                                      </p:cBhvr>
                                    </p:animEffect>
                                    <p:set>
                                      <p:cBhvr>
                                        <p:cTn id="49" dur="1" fill="hold">
                                          <p:stCondLst>
                                            <p:cond delay="999"/>
                                          </p:stCondLst>
                                        </p:cTn>
                                        <p:tgtEl>
                                          <p:spTgt spid="25"/>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1000"/>
                                        <p:tgtEl>
                                          <p:spTgt spid="8"/>
                                        </p:tgtEl>
                                      </p:cBhvr>
                                    </p:animEffect>
                                    <p:set>
                                      <p:cBhvr>
                                        <p:cTn id="52" dur="1" fill="hold">
                                          <p:stCondLst>
                                            <p:cond delay="999"/>
                                          </p:stCondLst>
                                        </p:cTn>
                                        <p:tgtEl>
                                          <p:spTgt spid="8"/>
                                        </p:tgtEl>
                                        <p:attrNameLst>
                                          <p:attrName>style.visibility</p:attrName>
                                        </p:attrNameLst>
                                      </p:cBhvr>
                                      <p:to>
                                        <p:strVal val="hidden"/>
                                      </p:to>
                                    </p:set>
                                  </p:childTnLst>
                                </p:cTn>
                              </p:par>
                            </p:childTnLst>
                          </p:cTn>
                        </p:par>
                        <p:par>
                          <p:cTn id="53" fill="hold">
                            <p:stCondLst>
                              <p:cond delay="1000"/>
                            </p:stCondLst>
                            <p:childTnLst>
                              <p:par>
                                <p:cTn id="54" presetID="22" presetClass="entr" presetSubtype="2"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right)">
                                      <p:cBhvr>
                                        <p:cTn id="56" dur="1000"/>
                                        <p:tgtEl>
                                          <p:spTgt spid="2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fade">
                                      <p:cBhvr>
                                        <p:cTn id="61" dur="1000"/>
                                        <p:tgtEl>
                                          <p:spTgt spid="5"/>
                                        </p:tgtEl>
                                      </p:cBhvr>
                                    </p:animEffect>
                                  </p:childTnLst>
                                </p:cTn>
                              </p:par>
                              <p:par>
                                <p:cTn id="62" presetID="10" presetClass="exit" presetSubtype="0" fill="hold" grpId="1" nodeType="withEffect">
                                  <p:stCondLst>
                                    <p:cond delay="0"/>
                                  </p:stCondLst>
                                  <p:childTnLst>
                                    <p:animEffect transition="out" filter="fade">
                                      <p:cBhvr>
                                        <p:cTn id="63" dur="1000"/>
                                        <p:tgtEl>
                                          <p:spTgt spid="4"/>
                                        </p:tgtEl>
                                      </p:cBhvr>
                                    </p:animEffect>
                                    <p:set>
                                      <p:cBhvr>
                                        <p:cTn id="64" dur="1" fill="hold">
                                          <p:stCondLst>
                                            <p:cond delay="999"/>
                                          </p:stCondLst>
                                        </p:cTn>
                                        <p:tgtEl>
                                          <p:spTgt spid="4"/>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1000"/>
                                        <p:tgtEl>
                                          <p:spTgt spid="21"/>
                                        </p:tgtEl>
                                      </p:cBhvr>
                                    </p:animEffect>
                                    <p:set>
                                      <p:cBhvr>
                                        <p:cTn id="67" dur="1" fill="hold">
                                          <p:stCondLst>
                                            <p:cond delay="999"/>
                                          </p:stCondLst>
                                        </p:cTn>
                                        <p:tgtEl>
                                          <p:spTgt spid="21"/>
                                        </p:tgtEl>
                                        <p:attrNameLst>
                                          <p:attrName>style.visibility</p:attrName>
                                        </p:attrNameLst>
                                      </p:cBhvr>
                                      <p:to>
                                        <p:strVal val="hidden"/>
                                      </p:to>
                                    </p:set>
                                  </p:childTnLst>
                                </p:cTn>
                              </p:par>
                            </p:childTnLst>
                          </p:cTn>
                        </p:par>
                        <p:par>
                          <p:cTn id="68" fill="hold">
                            <p:stCondLst>
                              <p:cond delay="1000"/>
                            </p:stCondLst>
                            <p:childTnLst>
                              <p:par>
                                <p:cTn id="69" presetID="9" presetClass="entr" presetSubtype="0" fill="hold" nodeType="afterEffect">
                                  <p:stCondLst>
                                    <p:cond delay="0"/>
                                  </p:stCondLst>
                                  <p:childTnLst>
                                    <p:set>
                                      <p:cBhvr>
                                        <p:cTn id="70" dur="1" fill="hold">
                                          <p:stCondLst>
                                            <p:cond delay="0"/>
                                          </p:stCondLst>
                                        </p:cTn>
                                        <p:tgtEl>
                                          <p:spTgt spid="40"/>
                                        </p:tgtEl>
                                        <p:attrNameLst>
                                          <p:attrName>style.visibility</p:attrName>
                                        </p:attrNameLst>
                                      </p:cBhvr>
                                      <p:to>
                                        <p:strVal val="visible"/>
                                      </p:to>
                                    </p:set>
                                    <p:animEffect transition="in" filter="dissolve">
                                      <p:cBhvr>
                                        <p:cTn id="71" dur="500"/>
                                        <p:tgtEl>
                                          <p:spTgt spid="40"/>
                                        </p:tgtEl>
                                      </p:cBhvr>
                                    </p:animEffect>
                                  </p:childTnLst>
                                </p:cTn>
                              </p:par>
                            </p:childTnLst>
                          </p:cTn>
                        </p:par>
                        <p:par>
                          <p:cTn id="72" fill="hold">
                            <p:stCondLst>
                              <p:cond delay="1500"/>
                            </p:stCondLst>
                            <p:childTnLst>
                              <p:par>
                                <p:cTn id="73" presetID="22" presetClass="entr" presetSubtype="8" fill="hold" grpId="0" nodeType="afterEffect">
                                  <p:stCondLst>
                                    <p:cond delay="50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1000"/>
                                        <p:tgtEl>
                                          <p:spTgt spid="22"/>
                                        </p:tgtEl>
                                      </p:cBhvr>
                                    </p:animEffect>
                                  </p:childTnLst>
                                </p:cTn>
                              </p:par>
                            </p:childTnLst>
                          </p:cTn>
                        </p:par>
                        <p:par>
                          <p:cTn id="76" fill="hold">
                            <p:stCondLst>
                              <p:cond delay="3000"/>
                            </p:stCondLst>
                            <p:childTnLst>
                              <p:par>
                                <p:cTn id="77" presetID="22" presetClass="entr" presetSubtype="1" fill="hold" nodeType="after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wipe(up)">
                                      <p:cBhvr>
                                        <p:cTn id="79" dur="1000"/>
                                        <p:tgtEl>
                                          <p:spTgt spid="26"/>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xit" presetSubtype="0" fill="hold" nodeType="clickEffect">
                                  <p:stCondLst>
                                    <p:cond delay="0"/>
                                  </p:stCondLst>
                                  <p:childTnLst>
                                    <p:animEffect transition="out" filter="dissolve">
                                      <p:cBhvr>
                                        <p:cTn id="83" dur="500"/>
                                        <p:tgtEl>
                                          <p:spTgt spid="40"/>
                                        </p:tgtEl>
                                      </p:cBhvr>
                                    </p:animEffect>
                                    <p:set>
                                      <p:cBhvr>
                                        <p:cTn id="84" dur="1" fill="hold">
                                          <p:stCondLst>
                                            <p:cond delay="499"/>
                                          </p:stCondLst>
                                        </p:cTn>
                                        <p:tgtEl>
                                          <p:spTgt spid="40"/>
                                        </p:tgtEl>
                                        <p:attrNameLst>
                                          <p:attrName>style.visibility</p:attrName>
                                        </p:attrNameLst>
                                      </p:cBhvr>
                                      <p:to>
                                        <p:strVal val="hidden"/>
                                      </p:to>
                                    </p:set>
                                  </p:childTnLst>
                                </p:cTn>
                              </p:par>
                              <p:par>
                                <p:cTn id="85" presetID="10" presetClass="exit" presetSubtype="0" fill="hold" grpId="2" nodeType="withEffect">
                                  <p:stCondLst>
                                    <p:cond delay="0"/>
                                  </p:stCondLst>
                                  <p:childTnLst>
                                    <p:animEffect transition="out" filter="fade">
                                      <p:cBhvr>
                                        <p:cTn id="86" dur="1000"/>
                                        <p:tgtEl>
                                          <p:spTgt spid="21"/>
                                        </p:tgtEl>
                                      </p:cBhvr>
                                    </p:animEffect>
                                    <p:set>
                                      <p:cBhvr>
                                        <p:cTn id="87" dur="1" fill="hold">
                                          <p:stCondLst>
                                            <p:cond delay="999"/>
                                          </p:stCondLst>
                                        </p:cTn>
                                        <p:tgtEl>
                                          <p:spTgt spid="21"/>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1000"/>
                                        <p:tgtEl>
                                          <p:spTgt spid="22"/>
                                        </p:tgtEl>
                                      </p:cBhvr>
                                    </p:animEffect>
                                    <p:set>
                                      <p:cBhvr>
                                        <p:cTn id="90" dur="1" fill="hold">
                                          <p:stCondLst>
                                            <p:cond delay="999"/>
                                          </p:stCondLst>
                                        </p:cTn>
                                        <p:tgtEl>
                                          <p:spTgt spid="22"/>
                                        </p:tgtEl>
                                        <p:attrNameLst>
                                          <p:attrName>style.visibility</p:attrName>
                                        </p:attrNameLst>
                                      </p:cBhvr>
                                      <p:to>
                                        <p:strVal val="hidden"/>
                                      </p:to>
                                    </p:set>
                                  </p:childTnLst>
                                </p:cTn>
                              </p:par>
                              <p:par>
                                <p:cTn id="91" presetID="10" presetClass="exit" presetSubtype="0" fill="hold" grpId="1" nodeType="withEffect">
                                  <p:stCondLst>
                                    <p:cond delay="0"/>
                                  </p:stCondLst>
                                  <p:childTnLst>
                                    <p:animEffect transition="out" filter="fade">
                                      <p:cBhvr>
                                        <p:cTn id="92" dur="1000"/>
                                        <p:tgtEl>
                                          <p:spTgt spid="5"/>
                                        </p:tgtEl>
                                      </p:cBhvr>
                                    </p:animEffect>
                                    <p:set>
                                      <p:cBhvr>
                                        <p:cTn id="93" dur="1" fill="hold">
                                          <p:stCondLst>
                                            <p:cond delay="999"/>
                                          </p:stCondLst>
                                        </p:cTn>
                                        <p:tgtEl>
                                          <p:spTgt spid="5"/>
                                        </p:tgtEl>
                                        <p:attrNameLst>
                                          <p:attrName>style.visibility</p:attrName>
                                        </p:attrNameLst>
                                      </p:cBhvr>
                                      <p:to>
                                        <p:strVal val="hidden"/>
                                      </p:to>
                                    </p:set>
                                  </p:childTnLst>
                                </p:cTn>
                              </p:par>
                            </p:childTnLst>
                          </p:cTn>
                        </p:par>
                        <p:par>
                          <p:cTn id="94" fill="hold">
                            <p:stCondLst>
                              <p:cond delay="1000"/>
                            </p:stCondLst>
                            <p:childTnLst>
                              <p:par>
                                <p:cTn id="95" presetID="10" presetClass="entr" presetSubtype="0" fill="hold" grpId="0" nodeType="afterEffect">
                                  <p:stCondLst>
                                    <p:cond delay="0"/>
                                  </p:stCondLst>
                                  <p:childTnLst>
                                    <p:set>
                                      <p:cBhvr>
                                        <p:cTn id="96" dur="1" fill="hold">
                                          <p:stCondLst>
                                            <p:cond delay="0"/>
                                          </p:stCondLst>
                                        </p:cTn>
                                        <p:tgtEl>
                                          <p:spTgt spid="6"/>
                                        </p:tgtEl>
                                        <p:attrNameLst>
                                          <p:attrName>style.visibility</p:attrName>
                                        </p:attrNameLst>
                                      </p:cBhvr>
                                      <p:to>
                                        <p:strVal val="visible"/>
                                      </p:to>
                                    </p:set>
                                    <p:animEffect transition="in" filter="fade">
                                      <p:cBhvr>
                                        <p:cTn id="97" dur="1000"/>
                                        <p:tgtEl>
                                          <p:spTgt spid="6"/>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wipe(down)">
                                      <p:cBhvr>
                                        <p:cTn id="100" dur="1000"/>
                                        <p:tgtEl>
                                          <p:spTgt spid="23"/>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wipe(left)">
                                      <p:cBhvr>
                                        <p:cTn id="103" dur="1000"/>
                                        <p:tgtEl>
                                          <p:spTgt spid="41"/>
                                        </p:tgtEl>
                                      </p:cBhvr>
                                    </p:animEffect>
                                  </p:childTnLst>
                                </p:cTn>
                              </p:par>
                            </p:childTnLst>
                          </p:cTn>
                        </p:par>
                        <p:par>
                          <p:cTn id="104" fill="hold">
                            <p:stCondLst>
                              <p:cond delay="2000"/>
                            </p:stCondLst>
                            <p:childTnLst>
                              <p:par>
                                <p:cTn id="105" presetID="22" presetClass="entr" presetSubtype="1" fill="hold" grpId="0" nodeType="afterEffect">
                                  <p:stCondLst>
                                    <p:cond delay="500"/>
                                  </p:stCondLst>
                                  <p:childTnLst>
                                    <p:set>
                                      <p:cBhvr>
                                        <p:cTn id="106" dur="1" fill="hold">
                                          <p:stCondLst>
                                            <p:cond delay="0"/>
                                          </p:stCondLst>
                                        </p:cTn>
                                        <p:tgtEl>
                                          <p:spTgt spid="24"/>
                                        </p:tgtEl>
                                        <p:attrNameLst>
                                          <p:attrName>style.visibility</p:attrName>
                                        </p:attrNameLst>
                                      </p:cBhvr>
                                      <p:to>
                                        <p:strVal val="visible"/>
                                      </p:to>
                                    </p:set>
                                    <p:animEffect transition="in" filter="wipe(up)">
                                      <p:cBhvr>
                                        <p:cTn id="107" dur="1000"/>
                                        <p:tgtEl>
                                          <p:spTgt spid="24"/>
                                        </p:tgtEl>
                                      </p:cBhvr>
                                    </p:animEffect>
                                  </p:childTnLst>
                                </p:cTn>
                              </p:par>
                            </p:childTnLst>
                          </p:cTn>
                        </p:par>
                        <p:par>
                          <p:cTn id="108" fill="hold">
                            <p:stCondLst>
                              <p:cond delay="3500"/>
                            </p:stCondLst>
                            <p:childTnLst>
                              <p:par>
                                <p:cTn id="109" presetID="10" presetClass="exit" presetSubtype="0" fill="hold" nodeType="afterEffect">
                                  <p:stCondLst>
                                    <p:cond delay="0"/>
                                  </p:stCondLst>
                                  <p:childTnLst>
                                    <p:animEffect transition="out" filter="fade">
                                      <p:cBhvr>
                                        <p:cTn id="110" dur="500"/>
                                        <p:tgtEl>
                                          <p:spTgt spid="51"/>
                                        </p:tgtEl>
                                      </p:cBhvr>
                                    </p:animEffect>
                                    <p:set>
                                      <p:cBhvr>
                                        <p:cTn id="111" dur="1" fill="hold">
                                          <p:stCondLst>
                                            <p:cond delay="499"/>
                                          </p:stCondLst>
                                        </p:cTn>
                                        <p:tgtEl>
                                          <p:spTgt spid="51"/>
                                        </p:tgtEl>
                                        <p:attrNameLst>
                                          <p:attrName>style.visibility</p:attrName>
                                        </p:attrNameLst>
                                      </p:cBhvr>
                                      <p:to>
                                        <p:strVal val="hidden"/>
                                      </p:to>
                                    </p:set>
                                  </p:childTnLst>
                                </p:cTn>
                              </p:par>
                              <p:par>
                                <p:cTn id="112" presetID="10" presetClass="entr" presetSubtype="0" fill="hold" nodeType="withEffect">
                                  <p:stCondLst>
                                    <p:cond delay="0"/>
                                  </p:stCondLst>
                                  <p:childTnLst>
                                    <p:set>
                                      <p:cBhvr>
                                        <p:cTn id="113" dur="1" fill="hold">
                                          <p:stCondLst>
                                            <p:cond delay="0"/>
                                          </p:stCondLst>
                                        </p:cTn>
                                        <p:tgtEl>
                                          <p:spTgt spid="52"/>
                                        </p:tgtEl>
                                        <p:attrNameLst>
                                          <p:attrName>style.visibility</p:attrName>
                                        </p:attrNameLst>
                                      </p:cBhvr>
                                      <p:to>
                                        <p:strVal val="visible"/>
                                      </p:to>
                                    </p:set>
                                    <p:animEffect transition="in" filter="fade">
                                      <p:cBhvr>
                                        <p:cTn id="11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7" grpId="0" animBg="1"/>
      <p:bldP spid="7" grpId="1" animBg="1"/>
      <p:bldP spid="8" grpId="0" animBg="1"/>
      <p:bldP spid="8" grpId="1" animBg="1"/>
      <p:bldP spid="19" grpId="0" animBg="1"/>
      <p:bldP spid="19" grpId="1" animBg="1"/>
      <p:bldP spid="20" grpId="0" animBg="1"/>
      <p:bldP spid="20" grpId="1" animBg="1"/>
      <p:bldP spid="21" grpId="0" animBg="1"/>
      <p:bldP spid="21" grpId="1" animBg="1"/>
      <p:bldP spid="21" grpId="2" animBg="1"/>
      <p:bldP spid="22" grpId="0" animBg="1"/>
      <p:bldP spid="22" grpId="1" animBg="1"/>
      <p:bldP spid="23" grpId="0" animBg="1"/>
      <p:bldP spid="24" grpId="0" animBg="1"/>
      <p:bldP spid="4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2: Configuring DHCP Scopes</a:t>
            </a:r>
            <a:endParaRPr lang="en-CA" dirty="0"/>
          </a:p>
        </p:txBody>
      </p:sp>
      <p:sp>
        <p:nvSpPr>
          <p:cNvPr id="3" name="Text Placeholder 2"/>
          <p:cNvSpPr>
            <a:spLocks noGrp="1"/>
          </p:cNvSpPr>
          <p:nvPr>
            <p:ph type="body" idx="1"/>
          </p:nvPr>
        </p:nvSpPr>
        <p:spPr/>
        <p:txBody>
          <a:bodyPr/>
          <a:lstStyle/>
          <a:p>
            <a:r>
              <a:rPr lang="en-CA" dirty="0" smtClean="0"/>
              <a:t>What Are DHCP Scopes?
What Is a DHCP Reservation?
What Are DHCP Options?
How DHCP Applies Options
Demonstration: Creating and Configuring a DHCP Scope</a:t>
            </a:r>
            <a:endParaRPr lang="en-CA" dirty="0"/>
          </a:p>
        </p:txBody>
      </p:sp>
    </p:spTree>
    <p:extLst>
      <p:ext uri="{BB962C8B-B14F-4D97-AF65-F5344CB8AC3E}">
        <p14:creationId xmlns:p14="http://schemas.microsoft.com/office/powerpoint/2010/main" val="23666068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Etendue</a:t>
            </a:r>
            <a:r>
              <a:rPr lang="fr-FR" dirty="0" smtClean="0"/>
              <a:t> DHCP</a:t>
            </a:r>
            <a:endParaRPr lang="fr-FR" dirty="0"/>
          </a:p>
        </p:txBody>
      </p:sp>
      <p:sp>
        <p:nvSpPr>
          <p:cNvPr id="4" name="AutoShape 6"/>
          <p:cNvSpPr>
            <a:spLocks noChangeArrowheads="1"/>
          </p:cNvSpPr>
          <p:nvPr/>
        </p:nvSpPr>
        <p:spPr bwMode="auto">
          <a:xfrm>
            <a:off x="1274763" y="4705350"/>
            <a:ext cx="6477000" cy="1177925"/>
          </a:xfrm>
          <a:prstGeom prst="roundRect">
            <a:avLst>
              <a:gd name="adj" fmla="val 4167"/>
            </a:avLst>
          </a:prstGeom>
          <a:noFill/>
          <a:ln w="9525" algn="ctr">
            <a:noFill/>
            <a:round/>
            <a:headEnd/>
            <a:tailEnd/>
          </a:ln>
          <a:effectLst/>
        </p:spPr>
        <p:txBody>
          <a:bodyPr wrap="none" anchor="ctr"/>
          <a:lstStyle/>
          <a:p>
            <a:pPr marL="177800" lvl="0" indent="-177800" fontAlgn="base">
              <a:lnSpc>
                <a:spcPct val="90000"/>
              </a:lnSpc>
              <a:spcBef>
                <a:spcPct val="70000"/>
              </a:spcBef>
              <a:spcAft>
                <a:spcPct val="0"/>
              </a:spcAft>
              <a:buClr>
                <a:srgbClr val="006699"/>
              </a:buClr>
              <a:buSzPct val="90000"/>
            </a:pPr>
            <a:endParaRPr lang="en-US" sz="2200" dirty="0">
              <a:solidFill>
                <a:srgbClr val="000000"/>
              </a:solidFill>
              <a:latin typeface="Segoe UI" pitchFamily="34" charset="0"/>
              <a:ea typeface="Segoe UI" pitchFamily="34" charset="0"/>
              <a:cs typeface="Segoe UI" pitchFamily="34" charset="0"/>
            </a:endParaRPr>
          </a:p>
        </p:txBody>
      </p:sp>
      <p:sp>
        <p:nvSpPr>
          <p:cNvPr id="5" name="Rectangle 8"/>
          <p:cNvSpPr>
            <a:spLocks noChangeArrowheads="1"/>
          </p:cNvSpPr>
          <p:nvPr/>
        </p:nvSpPr>
        <p:spPr bwMode="auto">
          <a:xfrm>
            <a:off x="3382963" y="4813300"/>
            <a:ext cx="2208212" cy="944563"/>
          </a:xfrm>
          <a:prstGeom prst="rect">
            <a:avLst/>
          </a:prstGeom>
          <a:noFill/>
          <a:ln>
            <a:noFill/>
          </a:ln>
          <a:effectLst/>
          <a:extLst/>
        </p:spPr>
        <p:txBody>
          <a:bodyPr wrap="none" anchor="ctr"/>
          <a:lstStyle/>
          <a:p>
            <a:pPr marL="177800" lvl="0" indent="-177800" fontAlgn="base">
              <a:lnSpc>
                <a:spcPct val="90000"/>
              </a:lnSpc>
              <a:spcBef>
                <a:spcPct val="70000"/>
              </a:spcBef>
              <a:spcAft>
                <a:spcPct val="0"/>
              </a:spcAft>
              <a:buClr>
                <a:srgbClr val="006699"/>
              </a:buClr>
              <a:buSzPct val="90000"/>
              <a:buFontTx/>
              <a:buChar char="•"/>
            </a:pPr>
            <a:endParaRPr lang="en-US" dirty="0">
              <a:solidFill>
                <a:srgbClr val="000000"/>
              </a:solidFill>
              <a:latin typeface="Segoe UI" pitchFamily="34" charset="0"/>
              <a:ea typeface="Segoe UI" pitchFamily="34" charset="0"/>
              <a:cs typeface="Segoe UI" pitchFamily="34" charset="0"/>
            </a:endParaRPr>
          </a:p>
        </p:txBody>
      </p:sp>
      <p:sp>
        <p:nvSpPr>
          <p:cNvPr id="6" name="AutoShape 10" descr="&quot;&quot;"/>
          <p:cNvSpPr>
            <a:spLocks noChangeArrowheads="1"/>
          </p:cNvSpPr>
          <p:nvPr/>
        </p:nvSpPr>
        <p:spPr bwMode="auto">
          <a:xfrm>
            <a:off x="1038225" y="1793875"/>
            <a:ext cx="7051675" cy="2246313"/>
          </a:xfrm>
          <a:prstGeom prst="roundRect">
            <a:avLst>
              <a:gd name="adj" fmla="val 12056"/>
            </a:avLst>
          </a:prstGeom>
          <a:noFill/>
          <a:ln w="9525" algn="ctr">
            <a:noFill/>
            <a:round/>
            <a:headEnd/>
            <a:tailEnd/>
          </a:ln>
          <a:effectLst/>
        </p:spPr>
        <p:txBody>
          <a:bodyPr wrap="none" anchor="ctr"/>
          <a:lstStyle/>
          <a:p>
            <a:pPr marL="177800" lvl="0" indent="-177800" fontAlgn="base">
              <a:lnSpc>
                <a:spcPct val="90000"/>
              </a:lnSpc>
              <a:spcBef>
                <a:spcPct val="70000"/>
              </a:spcBef>
              <a:spcAft>
                <a:spcPct val="0"/>
              </a:spcAft>
              <a:buClr>
                <a:srgbClr val="006699"/>
              </a:buClr>
              <a:buSzPct val="90000"/>
            </a:pPr>
            <a:endParaRPr lang="en-US" dirty="0">
              <a:solidFill>
                <a:srgbClr val="000000"/>
              </a:solidFill>
              <a:latin typeface="Segoe UI" pitchFamily="34" charset="0"/>
              <a:ea typeface="Segoe UI" pitchFamily="34" charset="0"/>
              <a:cs typeface="Segoe UI" pitchFamily="34" charset="0"/>
            </a:endParaRPr>
          </a:p>
        </p:txBody>
      </p:sp>
      <p:sp>
        <p:nvSpPr>
          <p:cNvPr id="7" name="Content Placeholder 12"/>
          <p:cNvSpPr txBox="1">
            <a:spLocks/>
          </p:cNvSpPr>
          <p:nvPr/>
        </p:nvSpPr>
        <p:spPr>
          <a:xfrm>
            <a:off x="458788" y="1021215"/>
            <a:ext cx="4986422"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Bef>
                <a:spcPts val="2400"/>
              </a:spcBef>
              <a:spcAft>
                <a:spcPts val="2400"/>
              </a:spcAft>
              <a:buNone/>
            </a:pPr>
            <a:r>
              <a:rPr lang="fr-FR" sz="2200" b="1" kern="0" dirty="0" smtClean="0">
                <a:solidFill>
                  <a:srgbClr val="000000"/>
                </a:solidFill>
              </a:rPr>
              <a:t>Une étendue DHCP</a:t>
            </a:r>
            <a:r>
              <a:rPr lang="fr-FR" sz="2200" b="1" kern="0" dirty="0" smtClean="0">
                <a:solidFill>
                  <a:srgbClr val="000000"/>
                </a:solidFill>
              </a:rPr>
              <a:t> est </a:t>
            </a:r>
            <a:r>
              <a:rPr lang="fr-FR" sz="2200" b="1" kern="0" dirty="0" smtClean="0">
                <a:solidFill>
                  <a:srgbClr val="000000"/>
                </a:solidFill>
              </a:rPr>
              <a:t>un ensemble d’adresses IP qui peuvent être distribuées</a:t>
            </a:r>
            <a:endParaRPr lang="fr-FR" sz="2200" b="1" kern="0" dirty="0" smtClean="0">
              <a:solidFill>
                <a:srgbClr val="000000"/>
              </a:solidFill>
            </a:endParaRPr>
          </a:p>
          <a:p>
            <a:pPr marL="0" lvl="0" indent="0">
              <a:buNone/>
            </a:pPr>
            <a:r>
              <a:rPr lang="fr-FR" sz="2200" b="1" kern="0" dirty="0" smtClean="0">
                <a:solidFill>
                  <a:srgbClr val="000000"/>
                </a:solidFill>
              </a:rPr>
              <a:t>Propriétés d’une étendue DHCP :</a:t>
            </a:r>
          </a:p>
          <a:p>
            <a:pPr lvl="1"/>
            <a:r>
              <a:rPr lang="fr-FR" kern="0" dirty="0" smtClean="0">
                <a:solidFill>
                  <a:srgbClr val="000000"/>
                </a:solidFill>
              </a:rPr>
              <a:t>Network ID</a:t>
            </a:r>
          </a:p>
          <a:p>
            <a:pPr lvl="1"/>
            <a:r>
              <a:rPr lang="fr-FR" kern="0" dirty="0" smtClean="0">
                <a:solidFill>
                  <a:srgbClr val="000000"/>
                </a:solidFill>
              </a:rPr>
              <a:t>Durée du bail</a:t>
            </a:r>
            <a:endParaRPr lang="fr-FR" kern="0" dirty="0" smtClean="0">
              <a:solidFill>
                <a:srgbClr val="000000"/>
              </a:solidFill>
            </a:endParaRPr>
          </a:p>
          <a:p>
            <a:pPr lvl="1"/>
            <a:r>
              <a:rPr lang="fr-FR" kern="0" dirty="0" smtClean="0">
                <a:solidFill>
                  <a:srgbClr val="000000"/>
                </a:solidFill>
              </a:rPr>
              <a:t>Nom de l’étende</a:t>
            </a:r>
            <a:endParaRPr lang="fr-FR" kern="0" dirty="0" smtClean="0">
              <a:solidFill>
                <a:srgbClr val="000000"/>
              </a:solidFill>
            </a:endParaRPr>
          </a:p>
          <a:p>
            <a:pPr lvl="1"/>
            <a:r>
              <a:rPr lang="fr-FR" kern="0" dirty="0" smtClean="0">
                <a:solidFill>
                  <a:srgbClr val="000000"/>
                </a:solidFill>
              </a:rPr>
              <a:t>Masque</a:t>
            </a:r>
            <a:endParaRPr lang="fr-FR" kern="0" dirty="0" smtClean="0">
              <a:solidFill>
                <a:srgbClr val="000000"/>
              </a:solidFill>
            </a:endParaRPr>
          </a:p>
          <a:p>
            <a:pPr lvl="1"/>
            <a:r>
              <a:rPr lang="fr-FR" kern="0" dirty="0" smtClean="0">
                <a:solidFill>
                  <a:srgbClr val="000000"/>
                </a:solidFill>
              </a:rPr>
              <a:t>Réseau IP</a:t>
            </a:r>
            <a:endParaRPr lang="fr-FR" kern="0" dirty="0" smtClean="0">
              <a:solidFill>
                <a:srgbClr val="000000"/>
              </a:solidFill>
            </a:endParaRPr>
          </a:p>
          <a:p>
            <a:pPr lvl="1"/>
            <a:r>
              <a:rPr lang="fr-FR" kern="0" dirty="0" smtClean="0">
                <a:solidFill>
                  <a:srgbClr val="000000"/>
                </a:solidFill>
              </a:rPr>
              <a:t>Adresses IP exclues</a:t>
            </a:r>
            <a:endParaRPr lang="fr-FR" kern="0" dirty="0" smtClean="0">
              <a:solidFill>
                <a:srgbClr val="000000"/>
              </a:solidFill>
            </a:endParaRPr>
          </a:p>
          <a:p>
            <a:pPr lvl="0"/>
            <a:endParaRPr lang="fr-FR" kern="0" dirty="0">
              <a:solidFill>
                <a:srgbClr val="000000"/>
              </a:solidFill>
            </a:endParaRPr>
          </a:p>
        </p:txBody>
      </p:sp>
      <p:grpSp>
        <p:nvGrpSpPr>
          <p:cNvPr id="8" name="Group 7" descr="Illustration that depicts two networks with different scopes and a DHCP Server. This demonstrates that one DHCP Server can issue IP address leases to multiple networks that have unique scopes."/>
          <p:cNvGrpSpPr/>
          <p:nvPr/>
        </p:nvGrpSpPr>
        <p:grpSpPr>
          <a:xfrm>
            <a:off x="5127370" y="1240196"/>
            <a:ext cx="3663401" cy="4681479"/>
            <a:chOff x="5010825" y="1240196"/>
            <a:chExt cx="3663401" cy="4681479"/>
          </a:xfrm>
        </p:grpSpPr>
        <p:sp>
          <p:nvSpPr>
            <p:cNvPr id="9" name="Line 16"/>
            <p:cNvSpPr>
              <a:spLocks noChangeShapeType="1"/>
            </p:cNvSpPr>
            <p:nvPr/>
          </p:nvSpPr>
          <p:spPr bwMode="auto">
            <a:xfrm>
              <a:off x="6826389" y="2514601"/>
              <a:ext cx="722211" cy="1154080"/>
            </a:xfrm>
            <a:prstGeom prst="line">
              <a:avLst/>
            </a:prstGeom>
            <a:noFill/>
            <a:ln w="38100">
              <a:solidFill>
                <a:srgbClr val="FF0000"/>
              </a:solidFill>
              <a:prstDash val="solid"/>
              <a:round/>
              <a:headEnd type="none" w="med" len="med"/>
              <a:tailEnd type="arrow" w="med" len="med"/>
            </a:ln>
            <a:effectLst/>
            <a:extLst>
              <a:ext uri="{909E8E84-426E-40DD-AFC4-6F175D3DCCD1}">
                <a14:hiddenFill xmlns:a14="http://schemas.microsoft.com/office/drawing/2010/main">
                  <a:noFill/>
                </a14:hiddenFill>
              </a:ext>
            </a:extLst>
          </p:spPr>
          <p:txBody>
            <a:bodyP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10" name="Line 16"/>
            <p:cNvSpPr>
              <a:spLocks noChangeShapeType="1"/>
            </p:cNvSpPr>
            <p:nvPr/>
          </p:nvSpPr>
          <p:spPr bwMode="auto">
            <a:xfrm flipH="1">
              <a:off x="6099427" y="2514602"/>
              <a:ext cx="726961" cy="1154080"/>
            </a:xfrm>
            <a:prstGeom prst="line">
              <a:avLst/>
            </a:prstGeom>
            <a:noFill/>
            <a:ln w="38100">
              <a:solidFill>
                <a:srgbClr val="FF0000"/>
              </a:solidFill>
              <a:prstDash val="solid"/>
              <a:round/>
              <a:headEnd type="none" w="med" len="med"/>
              <a:tailEnd type="arrow" w="med" len="med"/>
            </a:ln>
            <a:effectLst/>
            <a:extLst>
              <a:ext uri="{909E8E84-426E-40DD-AFC4-6F175D3DCCD1}">
                <a14:hiddenFill xmlns:a14="http://schemas.microsoft.com/office/drawing/2010/main">
                  <a:noFill/>
                </a14:hiddenFill>
              </a:ext>
            </a:extLst>
          </p:spPr>
          <p:txBody>
            <a:bodyP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grpSp>
          <p:nvGrpSpPr>
            <p:cNvPr id="11" name="Group 10" descr="&#10;"/>
            <p:cNvGrpSpPr/>
            <p:nvPr/>
          </p:nvGrpSpPr>
          <p:grpSpPr>
            <a:xfrm>
              <a:off x="5010825" y="1240196"/>
              <a:ext cx="3663401" cy="4681479"/>
              <a:chOff x="5010825" y="1240196"/>
              <a:chExt cx="3663401" cy="4681479"/>
            </a:xfrm>
          </p:grpSpPr>
          <p:sp>
            <p:nvSpPr>
              <p:cNvPr id="12" name="Text Box 14" descr="&quot;&quot;"/>
              <p:cNvSpPr txBox="1">
                <a:spLocks noChangeArrowheads="1"/>
              </p:cNvSpPr>
              <p:nvPr/>
            </p:nvSpPr>
            <p:spPr bwMode="auto">
              <a:xfrm>
                <a:off x="7387031" y="3668681"/>
                <a:ext cx="1148020" cy="400110"/>
              </a:xfrm>
              <a:prstGeom prst="rect">
                <a:avLst/>
              </a:prstGeom>
              <a:noFill/>
              <a:ln>
                <a:noFill/>
              </a:ln>
              <a:effectLs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sz="2000" dirty="0">
                    <a:solidFill>
                      <a:srgbClr val="000000"/>
                    </a:solidFill>
                    <a:latin typeface="Segoe UI" pitchFamily="34" charset="0"/>
                    <a:ea typeface="Segoe UI" pitchFamily="34" charset="0"/>
                    <a:cs typeface="Segoe UI" pitchFamily="34" charset="0"/>
                  </a:rPr>
                  <a:t>LAN B</a:t>
                </a:r>
              </a:p>
            </p:txBody>
          </p:sp>
          <p:sp>
            <p:nvSpPr>
              <p:cNvPr id="13" name="AutoShape 18" descr="&quot;&quot;"/>
              <p:cNvSpPr>
                <a:spLocks noChangeArrowheads="1"/>
              </p:cNvSpPr>
              <p:nvPr/>
            </p:nvSpPr>
            <p:spPr bwMode="auto">
              <a:xfrm>
                <a:off x="7247856" y="5589676"/>
                <a:ext cx="1426370" cy="301657"/>
              </a:xfrm>
              <a:prstGeom prst="roundRect">
                <a:avLst>
                  <a:gd name="adj" fmla="val 16667"/>
                </a:avLst>
              </a:prstGeom>
              <a:noFill/>
              <a:ln w="9525" algn="ctr">
                <a:noFill/>
                <a:round/>
                <a:headEnd/>
                <a:tailEnd/>
              </a:ln>
              <a:effectLst/>
            </p:spPr>
            <p:txBody>
              <a:bodyPr anchor="ctr"/>
              <a:lstStyle/>
              <a:p>
                <a:pPr lvl="0" algn="ctr" fontAlgn="base">
                  <a:spcBef>
                    <a:spcPct val="0"/>
                  </a:spcBef>
                  <a:spcAft>
                    <a:spcPct val="0"/>
                  </a:spcAft>
                  <a:defRPr/>
                </a:pPr>
                <a:r>
                  <a:rPr lang="en-US" sz="2000" b="1" dirty="0">
                    <a:solidFill>
                      <a:srgbClr val="000000"/>
                    </a:solidFill>
                    <a:latin typeface="Segoe UI" pitchFamily="34" charset="0"/>
                    <a:ea typeface="Segoe UI" pitchFamily="34" charset="0"/>
                    <a:cs typeface="Segoe UI" pitchFamily="34" charset="0"/>
                  </a:rPr>
                  <a:t>Scope B</a:t>
                </a:r>
              </a:p>
            </p:txBody>
          </p:sp>
          <p:grpSp>
            <p:nvGrpSpPr>
              <p:cNvPr id="14" name="Group 13"/>
              <p:cNvGrpSpPr/>
              <p:nvPr/>
            </p:nvGrpSpPr>
            <p:grpSpPr>
              <a:xfrm>
                <a:off x="5010825" y="3668681"/>
                <a:ext cx="1553227" cy="2252994"/>
                <a:chOff x="4747779" y="3668681"/>
                <a:chExt cx="1553227" cy="2252994"/>
              </a:xfrm>
            </p:grpSpPr>
            <p:sp>
              <p:nvSpPr>
                <p:cNvPr id="23" name="Text Box 12" descr="&quot;&quot;"/>
                <p:cNvSpPr txBox="1">
                  <a:spLocks noChangeArrowheads="1"/>
                </p:cNvSpPr>
                <p:nvPr/>
              </p:nvSpPr>
              <p:spPr bwMode="auto">
                <a:xfrm>
                  <a:off x="5046120" y="3668681"/>
                  <a:ext cx="956544" cy="400110"/>
                </a:xfrm>
                <a:prstGeom prst="rect">
                  <a:avLst/>
                </a:prstGeom>
                <a:noFill/>
                <a:ln>
                  <a:noFill/>
                </a:ln>
                <a:effectLs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sz="2000" dirty="0">
                      <a:solidFill>
                        <a:srgbClr val="000000"/>
                      </a:solidFill>
                      <a:latin typeface="Segoe UI" pitchFamily="34" charset="0"/>
                      <a:ea typeface="Segoe UI" pitchFamily="34" charset="0"/>
                      <a:cs typeface="Segoe UI" pitchFamily="34" charset="0"/>
                    </a:rPr>
                    <a:t>LAN A</a:t>
                  </a:r>
                </a:p>
              </p:txBody>
            </p:sp>
            <p:sp>
              <p:nvSpPr>
                <p:cNvPr id="24" name="AutoShape 19" descr="&quot;&quot;"/>
                <p:cNvSpPr>
                  <a:spLocks noChangeArrowheads="1"/>
                </p:cNvSpPr>
                <p:nvPr/>
              </p:nvSpPr>
              <p:spPr bwMode="auto">
                <a:xfrm>
                  <a:off x="4811207" y="5589676"/>
                  <a:ext cx="1426370" cy="331999"/>
                </a:xfrm>
                <a:prstGeom prst="roundRect">
                  <a:avLst>
                    <a:gd name="adj" fmla="val 16667"/>
                  </a:avLst>
                </a:prstGeom>
                <a:noFill/>
                <a:ln w="9525" algn="ctr">
                  <a:noFill/>
                  <a:round/>
                  <a:headEnd/>
                  <a:tailEnd/>
                </a:ln>
                <a:effectLst/>
              </p:spPr>
              <p:txBody>
                <a:bodyPr anchor="ctr"/>
                <a:lstStyle/>
                <a:p>
                  <a:pPr lvl="0" algn="ctr" fontAlgn="base">
                    <a:spcBef>
                      <a:spcPct val="0"/>
                    </a:spcBef>
                    <a:spcAft>
                      <a:spcPct val="0"/>
                    </a:spcAft>
                    <a:defRPr/>
                  </a:pPr>
                  <a:r>
                    <a:rPr lang="en-US" sz="2000" b="1" dirty="0">
                      <a:solidFill>
                        <a:srgbClr val="000000"/>
                      </a:solidFill>
                      <a:latin typeface="Segoe UI" pitchFamily="34" charset="0"/>
                      <a:ea typeface="Segoe UI" pitchFamily="34" charset="0"/>
                      <a:cs typeface="Segoe UI" pitchFamily="34" charset="0"/>
                    </a:rPr>
                    <a:t>Scope A</a:t>
                  </a:r>
                </a:p>
              </p:txBody>
            </p:sp>
            <p:grpSp>
              <p:nvGrpSpPr>
                <p:cNvPr id="25" name="Group 24"/>
                <p:cNvGrpSpPr/>
                <p:nvPr/>
              </p:nvGrpSpPr>
              <p:grpSpPr>
                <a:xfrm>
                  <a:off x="4747779" y="4089284"/>
                  <a:ext cx="1553227" cy="1508647"/>
                  <a:chOff x="7121331" y="2461404"/>
                  <a:chExt cx="1553227" cy="1508647"/>
                </a:xfrm>
              </p:grpSpPr>
              <p:sp>
                <p:nvSpPr>
                  <p:cNvPr id="26" name="Oval 25"/>
                  <p:cNvSpPr/>
                  <p:nvPr/>
                </p:nvSpPr>
                <p:spPr bwMode="auto">
                  <a:xfrm>
                    <a:off x="7121331" y="2578699"/>
                    <a:ext cx="1553227" cy="1267902"/>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endParaRPr>
                  </a:p>
                </p:txBody>
              </p:sp>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13555" y="2578699"/>
                    <a:ext cx="661003" cy="746226"/>
                  </a:xfrm>
                  <a:prstGeom prst="rect">
                    <a:avLst/>
                  </a:prstGeom>
                </p:spPr>
              </p:pic>
              <p:pic>
                <p:nvPicPr>
                  <p:cNvPr id="28" name="Picture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1331" y="2461404"/>
                    <a:ext cx="661003" cy="746226"/>
                  </a:xfrm>
                  <a:prstGeom prst="rect">
                    <a:avLst/>
                  </a:prstGeom>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8931" y="3223825"/>
                    <a:ext cx="661003" cy="746226"/>
                  </a:xfrm>
                  <a:prstGeom prst="rect">
                    <a:avLst/>
                  </a:prstGeom>
                </p:spPr>
              </p:pic>
            </p:grpSp>
          </p:grpSp>
          <p:grpSp>
            <p:nvGrpSpPr>
              <p:cNvPr id="15" name="Group 14"/>
              <p:cNvGrpSpPr/>
              <p:nvPr/>
            </p:nvGrpSpPr>
            <p:grpSpPr>
              <a:xfrm>
                <a:off x="6025307" y="1240196"/>
                <a:ext cx="1799855" cy="1869159"/>
                <a:chOff x="4612108" y="2869770"/>
                <a:chExt cx="1799855" cy="1869159"/>
              </a:xfrm>
            </p:grpSpPr>
            <p:sp>
              <p:nvSpPr>
                <p:cNvPr id="21" name="AutoShape 15" descr="&quot;&quot;"/>
                <p:cNvSpPr>
                  <a:spLocks noChangeArrowheads="1"/>
                </p:cNvSpPr>
                <p:nvPr/>
              </p:nvSpPr>
              <p:spPr bwMode="auto">
                <a:xfrm>
                  <a:off x="4612108" y="2869770"/>
                  <a:ext cx="1799855" cy="358775"/>
                </a:xfrm>
                <a:prstGeom prst="roundRect">
                  <a:avLst>
                    <a:gd name="adj" fmla="val 4167"/>
                  </a:avLst>
                </a:prstGeom>
                <a:noFill/>
                <a:ln w="9525">
                  <a:noFill/>
                  <a:round/>
                  <a:headEnd/>
                  <a:tailEnd/>
                </a:ln>
                <a:effectLst/>
              </p:spPr>
              <p:txBody>
                <a:bodyPr wrap="none" anchor="ctr"/>
                <a:lstStyle/>
                <a:p>
                  <a:pPr lvl="0" fontAlgn="base">
                    <a:spcBef>
                      <a:spcPct val="0"/>
                    </a:spcBef>
                    <a:spcAft>
                      <a:spcPct val="0"/>
                    </a:spcAft>
                    <a:defRPr/>
                  </a:pPr>
                  <a:r>
                    <a:rPr lang="en-US" sz="2000" b="1" dirty="0">
                      <a:solidFill>
                        <a:srgbClr val="000000"/>
                      </a:solidFill>
                      <a:latin typeface="Segoe UI" pitchFamily="34" charset="0"/>
                      <a:ea typeface="Segoe UI" pitchFamily="34" charset="0"/>
                      <a:cs typeface="Segoe UI" pitchFamily="34" charset="0"/>
                    </a:rPr>
                    <a:t>DHCP Server</a:t>
                  </a:r>
                </a:p>
              </p:txBody>
            </p:sp>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21994" y="3349568"/>
                  <a:ext cx="782393" cy="1389361"/>
                </a:xfrm>
                <a:prstGeom prst="rect">
                  <a:avLst/>
                </a:prstGeom>
              </p:spPr>
            </p:pic>
          </p:grpSp>
          <p:grpSp>
            <p:nvGrpSpPr>
              <p:cNvPr id="16" name="Group 15"/>
              <p:cNvGrpSpPr/>
              <p:nvPr/>
            </p:nvGrpSpPr>
            <p:grpSpPr>
              <a:xfrm>
                <a:off x="7120999" y="4089284"/>
                <a:ext cx="1553227" cy="1508647"/>
                <a:chOff x="7121331" y="2461404"/>
                <a:chExt cx="1553227" cy="1508647"/>
              </a:xfrm>
            </p:grpSpPr>
            <p:sp>
              <p:nvSpPr>
                <p:cNvPr id="17" name="Oval 16"/>
                <p:cNvSpPr/>
                <p:nvPr/>
              </p:nvSpPr>
              <p:spPr bwMode="auto">
                <a:xfrm>
                  <a:off x="7121331" y="2578699"/>
                  <a:ext cx="1553227" cy="1267902"/>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13555" y="2578699"/>
                  <a:ext cx="661003" cy="746226"/>
                </a:xfrm>
                <a:prstGeom prst="rect">
                  <a:avLst/>
                </a:prstGeom>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1331" y="2461404"/>
                  <a:ext cx="661003" cy="746226"/>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8931" y="3223825"/>
                  <a:ext cx="661003" cy="746226"/>
                </a:xfrm>
                <a:prstGeom prst="rect">
                  <a:avLst/>
                </a:prstGeom>
              </p:spPr>
            </p:pic>
          </p:grpSp>
        </p:grpSp>
      </p:grpSp>
    </p:spTree>
    <p:extLst>
      <p:ext uri="{BB962C8B-B14F-4D97-AF65-F5344CB8AC3E}">
        <p14:creationId xmlns:p14="http://schemas.microsoft.com/office/powerpoint/2010/main" val="14681971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f7243d8a-db93-439b-aa10-b669a3b4693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Réservation DHCP</a:t>
            </a:r>
            <a:endParaRPr lang="fr-FR" dirty="0"/>
          </a:p>
        </p:txBody>
      </p:sp>
      <p:sp>
        <p:nvSpPr>
          <p:cNvPr id="4" name="AutoShape 6"/>
          <p:cNvSpPr>
            <a:spLocks noChangeArrowheads="1"/>
          </p:cNvSpPr>
          <p:nvPr/>
        </p:nvSpPr>
        <p:spPr bwMode="auto">
          <a:xfrm>
            <a:off x="493485" y="770964"/>
            <a:ext cx="8383815" cy="1270374"/>
          </a:xfrm>
          <a:prstGeom prst="roundRect">
            <a:avLst>
              <a:gd name="adj" fmla="val 24236"/>
            </a:avLst>
          </a:prstGeom>
          <a:noFill/>
          <a:ln w="9525" algn="ctr">
            <a:noFill/>
            <a:round/>
            <a:headEnd/>
            <a:tailEnd/>
          </a:ln>
          <a:effectLst/>
        </p:spPr>
        <p:txBody>
          <a:bodyPr anchor="ctr"/>
          <a:lstStyle/>
          <a:p>
            <a:pPr lvl="0" algn="ctr" fontAlgn="base">
              <a:spcBef>
                <a:spcPct val="40000"/>
              </a:spcBef>
              <a:spcAft>
                <a:spcPct val="0"/>
              </a:spcAft>
              <a:buClr>
                <a:srgbClr val="8DACD0"/>
              </a:buClr>
              <a:buSzPct val="70000"/>
            </a:pPr>
            <a:r>
              <a:rPr lang="fr-BE" sz="2400" b="1" dirty="0" smtClean="0">
                <a:solidFill>
                  <a:srgbClr val="000000"/>
                </a:solidFill>
                <a:latin typeface="Segoe UI" pitchFamily="34" charset="0"/>
                <a:ea typeface="Segoe UI" pitchFamily="34" charset="0"/>
                <a:cs typeface="Segoe UI" pitchFamily="34" charset="0"/>
              </a:rPr>
              <a:t>Une réservation DHCP se produit lorsqu'une adresse IP est mise de côté pour être attribuée à un client DHCP spécifique (exemple : imprimante)</a:t>
            </a:r>
            <a:endParaRPr lang="fr-BE" sz="2400" b="1" dirty="0">
              <a:solidFill>
                <a:srgbClr val="000000"/>
              </a:solidFill>
              <a:latin typeface="Segoe UI" pitchFamily="34" charset="0"/>
              <a:ea typeface="Segoe UI" pitchFamily="34" charset="0"/>
              <a:cs typeface="Segoe UI" pitchFamily="34" charset="0"/>
            </a:endParaRPr>
          </a:p>
        </p:txBody>
      </p:sp>
      <p:sp>
        <p:nvSpPr>
          <p:cNvPr id="5" name="AutoShape 20"/>
          <p:cNvSpPr>
            <a:spLocks noChangeArrowheads="1"/>
          </p:cNvSpPr>
          <p:nvPr/>
        </p:nvSpPr>
        <p:spPr bwMode="auto">
          <a:xfrm>
            <a:off x="1783457" y="4845517"/>
            <a:ext cx="6967263" cy="1045730"/>
          </a:xfrm>
          <a:prstGeom prst="roundRect">
            <a:avLst>
              <a:gd name="adj" fmla="val 4167"/>
            </a:avLst>
          </a:prstGeom>
          <a:noFill/>
          <a:ln w="9525">
            <a:noFill/>
            <a:round/>
            <a:headEnd/>
            <a:tailEnd/>
          </a:ln>
          <a:effectLst/>
        </p:spPr>
        <p:txBody>
          <a:bodyPr anchor="ctr"/>
          <a:lstStyle/>
          <a:p>
            <a:pPr lvl="0" fontAlgn="base">
              <a:lnSpc>
                <a:spcPts val="3000"/>
              </a:lnSpc>
              <a:spcBef>
                <a:spcPct val="0"/>
              </a:spcBef>
              <a:spcAft>
                <a:spcPct val="0"/>
              </a:spcAft>
            </a:pPr>
            <a:r>
              <a:rPr lang="fr-FR" sz="2000" b="1" dirty="0" smtClean="0">
                <a:solidFill>
                  <a:srgbClr val="000000"/>
                </a:solidFill>
                <a:latin typeface="Segoe UI" pitchFamily="34" charset="0"/>
                <a:ea typeface="Segoe UI" pitchFamily="34" charset="0"/>
                <a:cs typeface="Segoe UI" pitchFamily="34" charset="0"/>
              </a:rPr>
              <a:t>IP Address1: Attribuée à Workstation 1</a:t>
            </a:r>
          </a:p>
          <a:p>
            <a:pPr lvl="0" fontAlgn="base">
              <a:lnSpc>
                <a:spcPts val="3000"/>
              </a:lnSpc>
              <a:spcBef>
                <a:spcPct val="0"/>
              </a:spcBef>
              <a:spcAft>
                <a:spcPct val="0"/>
              </a:spcAft>
            </a:pPr>
            <a:r>
              <a:rPr lang="fr-FR" sz="2000" b="1" dirty="0" smtClean="0">
                <a:solidFill>
                  <a:srgbClr val="000000"/>
                </a:solidFill>
                <a:latin typeface="Segoe UI" pitchFamily="34" charset="0"/>
                <a:ea typeface="Segoe UI" pitchFamily="34" charset="0"/>
                <a:cs typeface="Segoe UI" pitchFamily="34" charset="0"/>
              </a:rPr>
              <a:t>IP Address2: </a:t>
            </a:r>
            <a:r>
              <a:rPr lang="fr-FR" sz="2000" b="1" dirty="0" smtClean="0">
                <a:solidFill>
                  <a:srgbClr val="000000"/>
                </a:solidFill>
                <a:latin typeface="Segoe UI" pitchFamily="34" charset="0"/>
                <a:ea typeface="Segoe UI" pitchFamily="34" charset="0"/>
                <a:cs typeface="Segoe UI" pitchFamily="34" charset="0"/>
              </a:rPr>
              <a:t>Attribuée à </a:t>
            </a:r>
            <a:r>
              <a:rPr lang="fr-FR" sz="2000" b="1" dirty="0" smtClean="0">
                <a:solidFill>
                  <a:srgbClr val="000000"/>
                </a:solidFill>
                <a:latin typeface="Segoe UI" pitchFamily="34" charset="0"/>
                <a:ea typeface="Segoe UI" pitchFamily="34" charset="0"/>
                <a:cs typeface="Segoe UI" pitchFamily="34" charset="0"/>
              </a:rPr>
              <a:t>Workstation 2 </a:t>
            </a:r>
          </a:p>
          <a:p>
            <a:pPr lvl="0" fontAlgn="base">
              <a:lnSpc>
                <a:spcPts val="3000"/>
              </a:lnSpc>
              <a:spcBef>
                <a:spcPct val="0"/>
              </a:spcBef>
              <a:spcAft>
                <a:spcPct val="0"/>
              </a:spcAft>
            </a:pPr>
            <a:r>
              <a:rPr lang="fr-FR" sz="2000" b="1" dirty="0" smtClean="0">
                <a:solidFill>
                  <a:srgbClr val="000000"/>
                </a:solidFill>
                <a:latin typeface="Segoe UI" pitchFamily="34" charset="0"/>
                <a:ea typeface="Segoe UI" pitchFamily="34" charset="0"/>
                <a:cs typeface="Segoe UI" pitchFamily="34" charset="0"/>
              </a:rPr>
              <a:t>IP Address3: Réservé pour file and </a:t>
            </a:r>
            <a:r>
              <a:rPr lang="fr-FR" sz="2000" b="1" dirty="0" err="1" smtClean="0">
                <a:solidFill>
                  <a:srgbClr val="000000"/>
                </a:solidFill>
                <a:latin typeface="Segoe UI" pitchFamily="34" charset="0"/>
                <a:ea typeface="Segoe UI" pitchFamily="34" charset="0"/>
                <a:cs typeface="Segoe UI" pitchFamily="34" charset="0"/>
              </a:rPr>
              <a:t>print</a:t>
            </a:r>
            <a:r>
              <a:rPr lang="fr-FR" sz="2000" b="1" dirty="0" smtClean="0">
                <a:solidFill>
                  <a:srgbClr val="000000"/>
                </a:solidFill>
                <a:latin typeface="Segoe UI" pitchFamily="34" charset="0"/>
                <a:ea typeface="Segoe UI" pitchFamily="34" charset="0"/>
                <a:cs typeface="Segoe UI" pitchFamily="34" charset="0"/>
              </a:rPr>
              <a:t> server</a:t>
            </a:r>
            <a:endParaRPr lang="fr-FR" sz="2000" b="1" dirty="0">
              <a:solidFill>
                <a:srgbClr val="000000"/>
              </a:solidFill>
              <a:latin typeface="Segoe UI" pitchFamily="34" charset="0"/>
              <a:ea typeface="Segoe UI" pitchFamily="34" charset="0"/>
              <a:cs typeface="Segoe UI" pitchFamily="34" charset="0"/>
            </a:endParaRPr>
          </a:p>
        </p:txBody>
      </p:sp>
      <p:grpSp>
        <p:nvGrpSpPr>
          <p:cNvPr id="6" name="Group 5" descr="Illustration representing two subnets: Subnet A has a DHCP server, a client computer named Workstation 1, and a router; Subnet B has a file and print server, a client computer named Workstation 2, and a router. "/>
          <p:cNvGrpSpPr/>
          <p:nvPr/>
        </p:nvGrpSpPr>
        <p:grpSpPr>
          <a:xfrm>
            <a:off x="493485" y="2295071"/>
            <a:ext cx="8279939" cy="2218336"/>
            <a:chOff x="493485" y="2612571"/>
            <a:chExt cx="8279939" cy="2218336"/>
          </a:xfrm>
        </p:grpSpPr>
        <p:sp>
          <p:nvSpPr>
            <p:cNvPr id="7" name="Line 8" descr="&quot;&quot;"/>
            <p:cNvSpPr>
              <a:spLocks noChangeShapeType="1"/>
            </p:cNvSpPr>
            <p:nvPr/>
          </p:nvSpPr>
          <p:spPr bwMode="auto">
            <a:xfrm flipV="1">
              <a:off x="4020456" y="3494360"/>
              <a:ext cx="885373" cy="0"/>
            </a:xfrm>
            <a:prstGeom prst="line">
              <a:avLst/>
            </a:prstGeom>
            <a:noFill/>
            <a:ln w="57150">
              <a:solidFill>
                <a:srgbClr val="808080"/>
              </a:solidFill>
              <a:prstDash val="sysDot"/>
              <a:round/>
              <a:headEnd/>
              <a:tailEnd/>
            </a:ln>
            <a:effectLst/>
            <a:extLst>
              <a:ext uri="{909E8E84-426E-40DD-AFC4-6F175D3DCCD1}">
                <a14:hiddenFill xmlns:a14="http://schemas.microsoft.com/office/drawing/2010/main">
                  <a:noFill/>
                </a14:hiddenFill>
              </a:ext>
            </a:extLst>
          </p:spPr>
          <p:txBody>
            <a:bodyPr/>
            <a:lstStyle/>
            <a:p>
              <a:pPr lvl="0" fontAlgn="base">
                <a:spcBef>
                  <a:spcPct val="0"/>
                </a:spcBef>
                <a:spcAft>
                  <a:spcPct val="0"/>
                </a:spcAft>
              </a:pPr>
              <a:endParaRPr lang="en-GB" sz="2400" b="1" dirty="0">
                <a:solidFill>
                  <a:srgbClr val="000000"/>
                </a:solidFill>
                <a:latin typeface="Segoe UI" pitchFamily="34" charset="0"/>
                <a:ea typeface="Segoe UI" pitchFamily="34" charset="0"/>
                <a:cs typeface="Segoe UI" pitchFamily="34" charset="0"/>
              </a:endParaRPr>
            </a:p>
          </p:txBody>
        </p:sp>
        <p:sp>
          <p:nvSpPr>
            <p:cNvPr id="8" name="Oval 9" descr="&quot;&quot;"/>
            <p:cNvSpPr>
              <a:spLocks noChangeArrowheads="1"/>
            </p:cNvSpPr>
            <p:nvPr/>
          </p:nvSpPr>
          <p:spPr bwMode="auto">
            <a:xfrm>
              <a:off x="493485" y="2623467"/>
              <a:ext cx="3840480" cy="2194560"/>
            </a:xfrm>
            <a:prstGeom prst="ellipse">
              <a:avLst/>
            </a:prstGeom>
            <a:noFill/>
            <a:ln w="9525">
              <a:solidFill>
                <a:srgbClr val="808080"/>
              </a:solidFill>
              <a:round/>
              <a:headEnd/>
              <a:tailEnd/>
            </a:ln>
            <a:effectLst/>
          </p:spPr>
          <p:txBody>
            <a:bodyPr wrap="none" anchor="ctr"/>
            <a:lstStyle/>
            <a:p>
              <a:pPr lvl="0" fontAlgn="base">
                <a:spcBef>
                  <a:spcPct val="0"/>
                </a:spcBef>
                <a:spcAft>
                  <a:spcPct val="0"/>
                </a:spcAft>
                <a:defRPr/>
              </a:pPr>
              <a:endParaRPr lang="en-US" sz="2000" b="1" dirty="0">
                <a:solidFill>
                  <a:srgbClr val="000000"/>
                </a:solidFill>
                <a:latin typeface="Segoe UI" pitchFamily="34" charset="0"/>
                <a:ea typeface="Segoe UI" pitchFamily="34" charset="0"/>
                <a:cs typeface="Segoe UI" pitchFamily="34" charset="0"/>
              </a:endParaRPr>
            </a:p>
          </p:txBody>
        </p:sp>
        <p:sp>
          <p:nvSpPr>
            <p:cNvPr id="9" name="Oval 13" descr="&quot;&quot;"/>
            <p:cNvSpPr>
              <a:spLocks noChangeArrowheads="1"/>
            </p:cNvSpPr>
            <p:nvPr/>
          </p:nvSpPr>
          <p:spPr bwMode="auto">
            <a:xfrm>
              <a:off x="4901024" y="2612571"/>
              <a:ext cx="3840480" cy="2194560"/>
            </a:xfrm>
            <a:prstGeom prst="ellipse">
              <a:avLst/>
            </a:prstGeom>
            <a:noFill/>
            <a:ln w="9525">
              <a:solidFill>
                <a:srgbClr val="808080"/>
              </a:solidFill>
              <a:round/>
              <a:headEnd/>
              <a:tailEnd/>
            </a:ln>
            <a:effectLst/>
          </p:spPr>
          <p:txBody>
            <a:bodyPr wrap="none" anchor="ctr"/>
            <a:lstStyle/>
            <a:p>
              <a:pPr lvl="0" fontAlgn="base">
                <a:spcBef>
                  <a:spcPct val="0"/>
                </a:spcBef>
                <a:spcAft>
                  <a:spcPct val="0"/>
                </a:spcAft>
                <a:defRPr/>
              </a:pPr>
              <a:endParaRPr lang="en-US" sz="2000" b="1" dirty="0">
                <a:solidFill>
                  <a:srgbClr val="000000"/>
                </a:solidFill>
                <a:latin typeface="Segoe UI" pitchFamily="34" charset="0"/>
                <a:ea typeface="Segoe UI" pitchFamily="34" charset="0"/>
                <a:cs typeface="Segoe UI" pitchFamily="34" charset="0"/>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4317" y="3219337"/>
              <a:ext cx="1057783" cy="550047"/>
            </a:xfrm>
            <a:prstGeom prst="rect">
              <a:avLst/>
            </a:prstGeom>
          </p:spPr>
        </p:pic>
        <p:grpSp>
          <p:nvGrpSpPr>
            <p:cNvPr id="11" name="Group 10"/>
            <p:cNvGrpSpPr/>
            <p:nvPr/>
          </p:nvGrpSpPr>
          <p:grpSpPr>
            <a:xfrm>
              <a:off x="7164491" y="2623467"/>
              <a:ext cx="1608933" cy="1656013"/>
              <a:chOff x="6697800" y="2361088"/>
              <a:chExt cx="1608933" cy="1656013"/>
            </a:xfrm>
          </p:grpSpPr>
          <p:sp>
            <p:nvSpPr>
              <p:cNvPr id="24" name="AutoShape 19"/>
              <p:cNvSpPr>
                <a:spLocks noChangeArrowheads="1"/>
              </p:cNvSpPr>
              <p:nvPr/>
            </p:nvSpPr>
            <p:spPr bwMode="auto">
              <a:xfrm>
                <a:off x="6697800" y="3381914"/>
                <a:ext cx="1608933" cy="635187"/>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b="1" dirty="0">
                    <a:solidFill>
                      <a:srgbClr val="000000"/>
                    </a:solidFill>
                    <a:latin typeface="Segoe UI" pitchFamily="34" charset="0"/>
                    <a:ea typeface="Segoe UI" pitchFamily="34" charset="0"/>
                    <a:cs typeface="Segoe UI" pitchFamily="34" charset="0"/>
                  </a:rPr>
                  <a:t>File and print server</a:t>
                </a:r>
              </a:p>
            </p:txBody>
          </p:sp>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22938" y="2361088"/>
                <a:ext cx="558657" cy="992055"/>
              </a:xfrm>
              <a:prstGeom prst="rect">
                <a:avLst/>
              </a:prstGeom>
            </p:spPr>
          </p:pic>
        </p:grpSp>
        <p:grpSp>
          <p:nvGrpSpPr>
            <p:cNvPr id="12" name="Group 11"/>
            <p:cNvGrpSpPr/>
            <p:nvPr/>
          </p:nvGrpSpPr>
          <p:grpSpPr>
            <a:xfrm>
              <a:off x="5988085" y="3547947"/>
              <a:ext cx="1666358" cy="1282960"/>
              <a:chOff x="5737150" y="3503863"/>
              <a:chExt cx="1666358" cy="1282960"/>
            </a:xfrm>
          </p:grpSpPr>
          <p:sp>
            <p:nvSpPr>
              <p:cNvPr id="22" name="AutoShape 18"/>
              <p:cNvSpPr>
                <a:spLocks noChangeArrowheads="1"/>
              </p:cNvSpPr>
              <p:nvPr/>
            </p:nvSpPr>
            <p:spPr bwMode="auto">
              <a:xfrm>
                <a:off x="5737150" y="4301048"/>
                <a:ext cx="1666358" cy="485775"/>
              </a:xfrm>
              <a:prstGeom prst="roundRect">
                <a:avLst>
                  <a:gd name="adj" fmla="val 4167"/>
                </a:avLst>
              </a:prstGeom>
              <a:noFill/>
              <a:ln w="9525" algn="ctr">
                <a:noFill/>
                <a:round/>
                <a:headEnd/>
                <a:tailEnd/>
              </a:ln>
              <a:effectLst/>
            </p:spPr>
            <p:txBody>
              <a:bodyPr lIns="0" tIns="0" rIns="0" bIns="0" anchor="ctr"/>
              <a:lstStyle/>
              <a:p>
                <a:pPr lvl="0" fontAlgn="base">
                  <a:lnSpc>
                    <a:spcPct val="80000"/>
                  </a:lnSpc>
                  <a:spcBef>
                    <a:spcPct val="0"/>
                  </a:spcBef>
                  <a:spcAft>
                    <a:spcPct val="0"/>
                  </a:spcAft>
                </a:pPr>
                <a:r>
                  <a:rPr lang="en-US" sz="1700" b="1" dirty="0">
                    <a:solidFill>
                      <a:srgbClr val="000000"/>
                    </a:solidFill>
                    <a:latin typeface="Segoe UI" pitchFamily="34" charset="0"/>
                    <a:ea typeface="Segoe UI" pitchFamily="34" charset="0"/>
                    <a:cs typeface="Segoe UI" pitchFamily="34" charset="0"/>
                  </a:rPr>
                  <a:t>Workstation 2</a:t>
                </a:r>
              </a:p>
            </p:txBody>
          </p:sp>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02275" y="3503863"/>
                <a:ext cx="814508" cy="919524"/>
              </a:xfrm>
              <a:prstGeom prst="rect">
                <a:avLst/>
              </a:prstGeom>
            </p:spPr>
          </p:pic>
        </p:gr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5107" y="3219337"/>
              <a:ext cx="1057783" cy="550047"/>
            </a:xfrm>
            <a:prstGeom prst="rect">
              <a:avLst/>
            </a:prstGeom>
          </p:spPr>
        </p:pic>
        <p:grpSp>
          <p:nvGrpSpPr>
            <p:cNvPr id="14" name="Group 13"/>
            <p:cNvGrpSpPr/>
            <p:nvPr/>
          </p:nvGrpSpPr>
          <p:grpSpPr>
            <a:xfrm>
              <a:off x="625622" y="2612571"/>
              <a:ext cx="865093" cy="1590778"/>
              <a:chOff x="1050127" y="2346574"/>
              <a:chExt cx="865093" cy="1590778"/>
            </a:xfrm>
          </p:grpSpPr>
          <p:sp>
            <p:nvSpPr>
              <p:cNvPr id="20" name="AutoShape 17"/>
              <p:cNvSpPr>
                <a:spLocks noChangeArrowheads="1"/>
              </p:cNvSpPr>
              <p:nvPr/>
            </p:nvSpPr>
            <p:spPr bwMode="auto">
              <a:xfrm>
                <a:off x="1050127" y="3367400"/>
                <a:ext cx="865093" cy="569952"/>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b="1" dirty="0">
                    <a:solidFill>
                      <a:srgbClr val="000000"/>
                    </a:solidFill>
                    <a:latin typeface="Segoe UI" pitchFamily="34" charset="0"/>
                    <a:ea typeface="Segoe UI" pitchFamily="34" charset="0"/>
                    <a:cs typeface="Segoe UI" pitchFamily="34" charset="0"/>
                  </a:rPr>
                  <a:t>DHCP</a:t>
                </a:r>
              </a:p>
              <a:p>
                <a:pPr lvl="0" algn="ctr" fontAlgn="base">
                  <a:lnSpc>
                    <a:spcPct val="80000"/>
                  </a:lnSpc>
                  <a:spcBef>
                    <a:spcPct val="0"/>
                  </a:spcBef>
                  <a:spcAft>
                    <a:spcPct val="0"/>
                  </a:spcAft>
                </a:pPr>
                <a:r>
                  <a:rPr lang="en-US" b="1" dirty="0">
                    <a:solidFill>
                      <a:srgbClr val="000000"/>
                    </a:solidFill>
                    <a:latin typeface="Segoe UI" pitchFamily="34" charset="0"/>
                    <a:ea typeface="Segoe UI" pitchFamily="34" charset="0"/>
                    <a:cs typeface="Segoe UI" pitchFamily="34" charset="0"/>
                  </a:rPr>
                  <a:t>server</a:t>
                </a:r>
              </a:p>
            </p:txBody>
          </p:sp>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03345" y="2346574"/>
                <a:ext cx="558657" cy="992055"/>
              </a:xfrm>
              <a:prstGeom prst="rect">
                <a:avLst/>
              </a:prstGeom>
              <a:noFill/>
            </p:spPr>
          </p:pic>
        </p:grpSp>
        <p:sp>
          <p:nvSpPr>
            <p:cNvPr id="15" name="AutoShape 17"/>
            <p:cNvSpPr>
              <a:spLocks noChangeArrowheads="1"/>
            </p:cNvSpPr>
            <p:nvPr/>
          </p:nvSpPr>
          <p:spPr bwMode="auto">
            <a:xfrm>
              <a:off x="1783457" y="2744272"/>
              <a:ext cx="1260536" cy="437741"/>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Subnet A</a:t>
              </a:r>
            </a:p>
          </p:txBody>
        </p:sp>
        <p:grpSp>
          <p:nvGrpSpPr>
            <p:cNvPr id="16" name="Group 15"/>
            <p:cNvGrpSpPr/>
            <p:nvPr/>
          </p:nvGrpSpPr>
          <p:grpSpPr>
            <a:xfrm>
              <a:off x="1732138" y="3547947"/>
              <a:ext cx="1652341" cy="1243739"/>
              <a:chOff x="1685123" y="3459698"/>
              <a:chExt cx="1652341" cy="1243739"/>
            </a:xfrm>
          </p:grpSpPr>
          <p:sp>
            <p:nvSpPr>
              <p:cNvPr id="18" name="AutoShape 16"/>
              <p:cNvSpPr>
                <a:spLocks noChangeArrowheads="1"/>
              </p:cNvSpPr>
              <p:nvPr/>
            </p:nvSpPr>
            <p:spPr bwMode="auto">
              <a:xfrm>
                <a:off x="1685123" y="4256883"/>
                <a:ext cx="1652341" cy="446554"/>
              </a:xfrm>
              <a:prstGeom prst="roundRect">
                <a:avLst>
                  <a:gd name="adj" fmla="val 4167"/>
                </a:avLst>
              </a:prstGeom>
              <a:noFill/>
              <a:ln w="9525" algn="ctr">
                <a:noFill/>
                <a:round/>
                <a:headEnd/>
                <a:tailEnd/>
              </a:ln>
              <a:effectLst/>
            </p:spPr>
            <p:txBody>
              <a:bodyPr lIns="0" tIns="0" rIns="0" bIns="0" anchor="ctr"/>
              <a:lstStyle/>
              <a:p>
                <a:pPr lvl="0" fontAlgn="base">
                  <a:lnSpc>
                    <a:spcPct val="80000"/>
                  </a:lnSpc>
                  <a:spcBef>
                    <a:spcPct val="0"/>
                  </a:spcBef>
                  <a:spcAft>
                    <a:spcPct val="0"/>
                  </a:spcAft>
                </a:pPr>
                <a:r>
                  <a:rPr lang="en-US" sz="1700" b="1" dirty="0">
                    <a:solidFill>
                      <a:srgbClr val="000000"/>
                    </a:solidFill>
                    <a:latin typeface="Segoe UI" pitchFamily="34" charset="0"/>
                    <a:ea typeface="Segoe UI" pitchFamily="34" charset="0"/>
                    <a:cs typeface="Segoe UI" pitchFamily="34" charset="0"/>
                  </a:rPr>
                  <a:t>Workstation 1</a:t>
                </a:r>
              </a:p>
            </p:txBody>
          </p:sp>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87927" y="3459698"/>
                <a:ext cx="814508" cy="919524"/>
              </a:xfrm>
              <a:prstGeom prst="rect">
                <a:avLst/>
              </a:prstGeom>
            </p:spPr>
          </p:pic>
        </p:grpSp>
        <p:sp>
          <p:nvSpPr>
            <p:cNvPr id="17" name="AutoShape 17"/>
            <p:cNvSpPr>
              <a:spLocks noChangeArrowheads="1"/>
            </p:cNvSpPr>
            <p:nvPr/>
          </p:nvSpPr>
          <p:spPr bwMode="auto">
            <a:xfrm>
              <a:off x="6190996" y="2744272"/>
              <a:ext cx="1260536" cy="437741"/>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Subnet B</a:t>
              </a:r>
            </a:p>
          </p:txBody>
        </p:sp>
      </p:grpSp>
    </p:spTree>
    <p:extLst>
      <p:ext uri="{BB962C8B-B14F-4D97-AF65-F5344CB8AC3E}">
        <p14:creationId xmlns:p14="http://schemas.microsoft.com/office/powerpoint/2010/main" val="36740774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Options DHCP</a:t>
            </a:r>
            <a:endParaRPr lang="en-CA" dirty="0"/>
          </a:p>
        </p:txBody>
      </p:sp>
      <p:sp>
        <p:nvSpPr>
          <p:cNvPr id="4" name="Content Placeholder 3"/>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fr-BE" sz="3000" kern="0" dirty="0" smtClean="0">
                <a:solidFill>
                  <a:srgbClr val="000000"/>
                </a:solidFill>
              </a:rPr>
              <a:t>On peut </a:t>
            </a:r>
            <a:r>
              <a:rPr lang="fr-BE" sz="3000" kern="0" dirty="0">
                <a:solidFill>
                  <a:srgbClr val="000000"/>
                </a:solidFill>
              </a:rPr>
              <a:t>configurer de nombreuses propriétés facultatives </a:t>
            </a:r>
            <a:r>
              <a:rPr lang="fr-BE" sz="3000" kern="0" dirty="0" smtClean="0">
                <a:solidFill>
                  <a:srgbClr val="000000"/>
                </a:solidFill>
              </a:rPr>
              <a:t>(options) concernant une étendue, comme par exemple :</a:t>
            </a:r>
          </a:p>
          <a:p>
            <a:pPr marL="0" indent="0">
              <a:buNone/>
            </a:pPr>
            <a:endParaRPr lang="fr-FR" sz="1200" kern="0" dirty="0" smtClean="0">
              <a:solidFill>
                <a:srgbClr val="000000"/>
              </a:solidFill>
            </a:endParaRPr>
          </a:p>
          <a:p>
            <a:pPr lvl="1"/>
            <a:r>
              <a:rPr lang="fr-FR" sz="2600" kern="0" dirty="0" smtClean="0">
                <a:solidFill>
                  <a:srgbClr val="000000"/>
                </a:solidFill>
              </a:rPr>
              <a:t>Option 003 - Router (Default Gateway)</a:t>
            </a:r>
          </a:p>
          <a:p>
            <a:pPr lvl="1"/>
            <a:r>
              <a:rPr lang="fr-FR" sz="2600" kern="0" dirty="0" smtClean="0">
                <a:solidFill>
                  <a:srgbClr val="000000"/>
                </a:solidFill>
              </a:rPr>
              <a:t>Option XXX - DNS Name</a:t>
            </a:r>
          </a:p>
          <a:p>
            <a:pPr lvl="1"/>
            <a:r>
              <a:rPr lang="fr-FR" sz="2600" kern="0" dirty="0" smtClean="0">
                <a:solidFill>
                  <a:srgbClr val="000000"/>
                </a:solidFill>
              </a:rPr>
              <a:t>Option 006 - DNS Servers (IP)</a:t>
            </a:r>
          </a:p>
          <a:p>
            <a:pPr lvl="1"/>
            <a:r>
              <a:rPr lang="fr-FR" sz="2600" kern="0" dirty="0">
                <a:solidFill>
                  <a:srgbClr val="000000"/>
                </a:solidFill>
              </a:rPr>
              <a:t>Option XXX - WINS </a:t>
            </a:r>
            <a:r>
              <a:rPr lang="fr-FR" sz="2600" kern="0" dirty="0" smtClean="0">
                <a:solidFill>
                  <a:srgbClr val="000000"/>
                </a:solidFill>
              </a:rPr>
              <a:t>Servers</a:t>
            </a:r>
          </a:p>
          <a:p>
            <a:pPr lvl="1"/>
            <a:r>
              <a:rPr lang="fr-FR" sz="2600" kern="0" dirty="0" smtClean="0">
                <a:solidFill>
                  <a:srgbClr val="000000"/>
                </a:solidFill>
              </a:rPr>
              <a:t>Option 015 - DNS </a:t>
            </a:r>
            <a:r>
              <a:rPr lang="fr-FR" sz="2600" kern="0" dirty="0" err="1" smtClean="0">
                <a:solidFill>
                  <a:srgbClr val="000000"/>
                </a:solidFill>
              </a:rPr>
              <a:t>Suffix</a:t>
            </a:r>
            <a:endParaRPr lang="fr-FR" sz="2600" kern="0" dirty="0" smtClean="0">
              <a:solidFill>
                <a:srgbClr val="000000"/>
              </a:solidFill>
            </a:endParaRPr>
          </a:p>
          <a:p>
            <a:pPr lvl="0"/>
            <a:endParaRPr lang="fr-FR" kern="0" dirty="0" smtClean="0">
              <a:solidFill>
                <a:srgbClr val="000000"/>
              </a:solidFill>
            </a:endParaRPr>
          </a:p>
          <a:p>
            <a:pPr lvl="0"/>
            <a:endParaRPr lang="fr-FR" kern="0" dirty="0">
              <a:solidFill>
                <a:srgbClr val="000000"/>
              </a:solidFill>
            </a:endParaRPr>
          </a:p>
        </p:txBody>
      </p:sp>
    </p:spTree>
    <p:extLst>
      <p:ext uri="{BB962C8B-B14F-4D97-AF65-F5344CB8AC3E}">
        <p14:creationId xmlns:p14="http://schemas.microsoft.com/office/powerpoint/2010/main" val="17039443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1f4572d8-a643-4f66-b942-286f1eb3c5c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Application des options DHCP</a:t>
            </a:r>
            <a:endParaRPr lang="en-CA"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fr-FR" kern="0" dirty="0" smtClean="0">
                <a:solidFill>
                  <a:srgbClr val="000000"/>
                </a:solidFill>
              </a:rPr>
              <a:t>Différents niveaux d’application sont possibles : </a:t>
            </a:r>
          </a:p>
          <a:p>
            <a:pPr lvl="1">
              <a:spcBef>
                <a:spcPct val="40000"/>
              </a:spcBef>
              <a:buClr>
                <a:srgbClr val="006699"/>
              </a:buClr>
            </a:pPr>
            <a:r>
              <a:rPr lang="fr-FR" sz="2700" kern="0" dirty="0" smtClean="0">
                <a:solidFill>
                  <a:srgbClr val="000000"/>
                </a:solidFill>
              </a:rPr>
              <a:t>Server : pour tous les clients DHCP</a:t>
            </a:r>
          </a:p>
          <a:p>
            <a:pPr lvl="1">
              <a:spcBef>
                <a:spcPct val="40000"/>
              </a:spcBef>
              <a:buClr>
                <a:srgbClr val="006699"/>
              </a:buClr>
            </a:pPr>
            <a:r>
              <a:rPr lang="fr-FR" sz="2700" kern="0" dirty="0" smtClean="0">
                <a:solidFill>
                  <a:srgbClr val="000000"/>
                </a:solidFill>
              </a:rPr>
              <a:t>Scope : pour les clients DHCP d’une étendue</a:t>
            </a:r>
          </a:p>
          <a:p>
            <a:pPr lvl="1">
              <a:spcBef>
                <a:spcPct val="40000"/>
              </a:spcBef>
              <a:buClr>
                <a:srgbClr val="006699"/>
              </a:buClr>
            </a:pPr>
            <a:r>
              <a:rPr lang="fr-FR" sz="2700" kern="0" dirty="0" smtClean="0">
                <a:solidFill>
                  <a:srgbClr val="000000"/>
                </a:solidFill>
              </a:rPr>
              <a:t>Class : pour les clients d’une classe </a:t>
            </a:r>
          </a:p>
          <a:p>
            <a:pPr lvl="2">
              <a:spcBef>
                <a:spcPct val="40000"/>
              </a:spcBef>
              <a:buClr>
                <a:srgbClr val="006699"/>
              </a:buClr>
            </a:pPr>
            <a:r>
              <a:rPr lang="fr-FR" sz="2300" u="sng" kern="0" dirty="0" smtClean="0">
                <a:solidFill>
                  <a:srgbClr val="000000"/>
                </a:solidFill>
              </a:rPr>
              <a:t>Exemple</a:t>
            </a:r>
            <a:r>
              <a:rPr lang="fr-FR" sz="2300" kern="0" dirty="0" smtClean="0">
                <a:solidFill>
                  <a:srgbClr val="000000"/>
                </a:solidFill>
              </a:rPr>
              <a:t> : classe « Salle de laboratoire » et classe « Salle de cours » </a:t>
            </a:r>
          </a:p>
          <a:p>
            <a:pPr lvl="1">
              <a:spcBef>
                <a:spcPct val="40000"/>
              </a:spcBef>
              <a:buClr>
                <a:srgbClr val="006699"/>
              </a:buClr>
            </a:pPr>
            <a:r>
              <a:rPr lang="fr-FR" sz="2700" kern="0" dirty="0" smtClean="0">
                <a:solidFill>
                  <a:srgbClr val="000000"/>
                </a:solidFill>
              </a:rPr>
              <a:t>Clients réservés</a:t>
            </a:r>
            <a:r>
              <a:rPr lang="fr-FR" sz="2700" kern="0" dirty="0" smtClean="0">
                <a:solidFill>
                  <a:srgbClr val="000000"/>
                </a:solidFill>
              </a:rPr>
              <a:t> : pour les adresses IP réservées</a:t>
            </a:r>
          </a:p>
          <a:p>
            <a:pPr lvl="0"/>
            <a:endParaRPr lang="fr-FR" kern="0" dirty="0" smtClean="0">
              <a:solidFill>
                <a:srgbClr val="000000"/>
              </a:solidFill>
            </a:endParaRPr>
          </a:p>
          <a:p>
            <a:pPr lvl="0"/>
            <a:endParaRPr lang="fr-FR" kern="0" dirty="0">
              <a:solidFill>
                <a:srgbClr val="000000"/>
              </a:solidFill>
            </a:endParaRPr>
          </a:p>
        </p:txBody>
      </p:sp>
    </p:spTree>
    <p:extLst>
      <p:ext uri="{BB962C8B-B14F-4D97-AF65-F5344CB8AC3E}">
        <p14:creationId xmlns:p14="http://schemas.microsoft.com/office/powerpoint/2010/main" val="1441346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fd57aff7-b33c-463f-a8b0-170bd9f4ff8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Creating and Configuring a DHCP Scope</a:t>
            </a:r>
            <a:endParaRPr lang="en-CA" dirty="0"/>
          </a:p>
        </p:txBody>
      </p:sp>
      <p:sp>
        <p:nvSpPr>
          <p:cNvPr id="4" name="Rectangle 3"/>
          <p:cNvSpPr txBox="1">
            <a:spLocks noChangeArrowheads="1"/>
          </p:cNvSpPr>
          <p:nvPr/>
        </p:nvSpPr>
        <p:spPr>
          <a:xfrm>
            <a:off x="458788" y="992188"/>
            <a:ext cx="7751762" cy="4386262"/>
          </a:xfrm>
          <a:prstGeom prst="rect">
            <a:avLst/>
          </a:prstGeom>
        </p:spPr>
        <p:txBody>
          <a:bodyPr/>
          <a:lstStyle>
            <a:lvl1pPr marL="174625" indent="-174625" algn="l" rtl="0" eaLnBrk="1" fontAlgn="base" hangingPunct="1">
              <a:lnSpc>
                <a:spcPct val="90000"/>
              </a:lnSpc>
              <a:spcBef>
                <a:spcPct val="70000"/>
              </a:spcBef>
              <a:spcAft>
                <a:spcPct val="0"/>
              </a:spcAft>
              <a:buClr>
                <a:schemeClr val="hlink"/>
              </a:buClr>
              <a:buSzPct val="90000"/>
              <a:buFont typeface="Arial" pitchFamily="34" charset="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sz="2400">
                <a:solidFill>
                  <a:schemeClr val="tx1"/>
                </a:solidFill>
                <a:latin typeface="+mn-lt"/>
                <a:ea typeface="Segoe UI" pitchFamily="34" charset="0"/>
                <a:cs typeface="Segoe UI" pitchFamily="34" charset="0"/>
              </a:defRPr>
            </a:lvl2pPr>
            <a:lvl3pPr marL="854075" indent="-173038" algn="l" rtl="0" eaLnBrk="1" fontAlgn="base" hangingPunct="1">
              <a:lnSpc>
                <a:spcPct val="90000"/>
              </a:lnSpc>
              <a:spcBef>
                <a:spcPct val="70000"/>
              </a:spcBef>
              <a:spcAft>
                <a:spcPct val="0"/>
              </a:spcAft>
              <a:buClr>
                <a:schemeClr val="bg2"/>
              </a:buClr>
              <a:buSzPct val="80000"/>
              <a:buFont typeface="Arial" pitchFamily="34" charset="0"/>
              <a:buChar char="•"/>
              <a:defRPr sz="2000">
                <a:solidFill>
                  <a:schemeClr val="tx1"/>
                </a:solidFill>
                <a:latin typeface="+mn-lt"/>
                <a:ea typeface="Segoe UI" pitchFamily="34" charset="0"/>
                <a:cs typeface="Segoe UI" pitchFamily="34" charset="0"/>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ea typeface="Segoe UI" pitchFamily="34" charset="0"/>
                <a:cs typeface="Segoe UI" pitchFamily="34" charset="0"/>
              </a:defRPr>
            </a:lvl4pPr>
            <a:lvl5pPr marL="1544638" indent="-168275" algn="l" rtl="0" eaLnBrk="1" fontAlgn="base" hangingPunct="1">
              <a:lnSpc>
                <a:spcPct val="90000"/>
              </a:lnSpc>
              <a:spcBef>
                <a:spcPct val="70000"/>
              </a:spcBef>
              <a:spcAft>
                <a:spcPct val="0"/>
              </a:spcAft>
              <a:buClr>
                <a:srgbClr val="2D4A6D"/>
              </a:buClr>
              <a:buSzPct val="90000"/>
              <a:buFont typeface="Arial" pitchFamily="34" charset="0"/>
              <a:buChar char="•"/>
              <a:defRPr sz="1600">
                <a:solidFill>
                  <a:schemeClr val="tx1"/>
                </a:solidFill>
                <a:latin typeface="+mn-lt"/>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120000"/>
              </a:lnSpc>
              <a:buClr>
                <a:srgbClr val="006699"/>
              </a:buClr>
              <a:buNone/>
            </a:pPr>
            <a:r>
              <a:rPr lang="en-US" sz="2600" kern="0" dirty="0">
                <a:solidFill>
                  <a:srgbClr val="000000"/>
                </a:solidFill>
              </a:rPr>
              <a:t>In this demonstration, you will see how to </a:t>
            </a:r>
            <a:r>
              <a:rPr lang="en-CA" sz="2600" kern="0" dirty="0">
                <a:solidFill>
                  <a:srgbClr val="000000"/>
                </a:solidFill>
              </a:rPr>
              <a:t>configure scope and scope options in DHCP</a:t>
            </a:r>
          </a:p>
          <a:p>
            <a:pPr lvl="0">
              <a:lnSpc>
                <a:spcPct val="120000"/>
              </a:lnSpc>
              <a:buClr>
                <a:srgbClr val="006699"/>
              </a:buClr>
              <a:buFontTx/>
              <a:buChar char="•"/>
            </a:pPr>
            <a:endParaRPr lang="en-US" sz="2600" kern="0" dirty="0">
              <a:solidFill>
                <a:srgbClr val="000000"/>
              </a:solidFill>
            </a:endParaRPr>
          </a:p>
        </p:txBody>
      </p:sp>
    </p:spTree>
    <p:extLst>
      <p:ext uri="{BB962C8B-B14F-4D97-AF65-F5344CB8AC3E}">
        <p14:creationId xmlns:p14="http://schemas.microsoft.com/office/powerpoint/2010/main" val="12819888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9225781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3: Managing a DHCP Database</a:t>
            </a:r>
            <a:endParaRPr lang="en-CA" dirty="0"/>
          </a:p>
        </p:txBody>
      </p:sp>
      <p:sp>
        <p:nvSpPr>
          <p:cNvPr id="3" name="Text Placeholder 2"/>
          <p:cNvSpPr>
            <a:spLocks noGrp="1"/>
          </p:cNvSpPr>
          <p:nvPr>
            <p:ph type="body" idx="1"/>
          </p:nvPr>
        </p:nvSpPr>
        <p:spPr/>
        <p:txBody>
          <a:bodyPr/>
          <a:lstStyle/>
          <a:p>
            <a:r>
              <a:rPr lang="en-CA" dirty="0" smtClean="0"/>
              <a:t>What Is a DHCP Database?
Backing Up and Restoring a DHCP Database
Reconciling a DHCP Database
Moving a DHCP Database</a:t>
            </a:r>
            <a:endParaRPr lang="en-CA" dirty="0"/>
          </a:p>
        </p:txBody>
      </p:sp>
    </p:spTree>
    <p:extLst>
      <p:ext uri="{BB962C8B-B14F-4D97-AF65-F5344CB8AC3E}">
        <p14:creationId xmlns:p14="http://schemas.microsoft.com/office/powerpoint/2010/main" val="39116774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64a1db65-2ce3-4673-98cf-c745d7485c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DHCP Database</a:t>
            </a:r>
            <a:endParaRPr lang="en-CA" dirty="0"/>
          </a:p>
        </p:txBody>
      </p:sp>
      <p:sp>
        <p:nvSpPr>
          <p:cNvPr id="4" name="Rounded Rectangle 844808"/>
          <p:cNvSpPr>
            <a:spLocks noChangeArrowheads="1"/>
          </p:cNvSpPr>
          <p:nvPr/>
        </p:nvSpPr>
        <p:spPr bwMode="auto">
          <a:xfrm>
            <a:off x="876905" y="2804671"/>
            <a:ext cx="8044258" cy="1341751"/>
          </a:xfrm>
          <a:prstGeom prst="roundRect">
            <a:avLst>
              <a:gd name="adj" fmla="val 4167"/>
            </a:avLst>
          </a:prstGeom>
          <a:noFill/>
          <a:ln w="9525" algn="ctr">
            <a:noFill/>
            <a:round/>
            <a:headEnd/>
            <a:tailEnd/>
          </a:ln>
          <a:effectLst/>
        </p:spPr>
        <p:txBody>
          <a:bodyPr wrap="square" lIns="0" tIns="0" rIns="0" bIns="0" anchor="ctr"/>
          <a:lstStyle/>
          <a:p>
            <a:pPr lvl="0" fontAlgn="base">
              <a:lnSpc>
                <a:spcPct val="110000"/>
              </a:lnSpc>
              <a:spcBef>
                <a:spcPct val="40000"/>
              </a:spcBef>
              <a:spcAft>
                <a:spcPct val="0"/>
              </a:spcAft>
              <a:buClr>
                <a:srgbClr val="006699"/>
              </a:buClr>
              <a:tabLst>
                <a:tab pos="446088" algn="l"/>
              </a:tabLst>
            </a:pPr>
            <a:r>
              <a:rPr lang="fr-FR" sz="2600" dirty="0" smtClean="0">
                <a:solidFill>
                  <a:srgbClr val="000000"/>
                </a:solidFill>
                <a:latin typeface="Segoe UI" pitchFamily="34" charset="0"/>
                <a:ea typeface="Segoe UI" pitchFamily="34" charset="0"/>
                <a:cs typeface="Segoe UI" pitchFamily="34" charset="0"/>
              </a:rPr>
              <a:t>Windows Server 2012 </a:t>
            </a:r>
            <a:r>
              <a:rPr lang="fr-FR" sz="2600" dirty="0" smtClean="0">
                <a:solidFill>
                  <a:srgbClr val="000000"/>
                </a:solidFill>
                <a:latin typeface="Segoe UI" pitchFamily="34" charset="0"/>
                <a:ea typeface="Segoe UI" pitchFamily="34" charset="0"/>
                <a:cs typeface="Segoe UI" pitchFamily="34" charset="0"/>
              </a:rPr>
              <a:t>sauvegarde</a:t>
            </a:r>
            <a:r>
              <a:rPr lang="fr-FR" sz="2600" dirty="0" smtClean="0">
                <a:solidFill>
                  <a:srgbClr val="000000"/>
                </a:solidFill>
                <a:latin typeface="Segoe UI" pitchFamily="34" charset="0"/>
                <a:ea typeface="Segoe UI" pitchFamily="34" charset="0"/>
                <a:cs typeface="Segoe UI" pitchFamily="34" charset="0"/>
              </a:rPr>
              <a:t> la base de données DHCP dans le dossier suivant :     	</a:t>
            </a:r>
            <a:r>
              <a:rPr lang="fr-FR" sz="2600" dirty="0" smtClean="0">
                <a:solidFill>
                  <a:srgbClr val="000000"/>
                </a:solidFill>
                <a:latin typeface="Courier New" panose="02070309020205020404" pitchFamily="49" charset="0"/>
                <a:ea typeface="Segoe UI" pitchFamily="34" charset="0"/>
                <a:cs typeface="Courier New" panose="02070309020205020404" pitchFamily="49" charset="0"/>
              </a:rPr>
              <a:t>%</a:t>
            </a:r>
            <a:r>
              <a:rPr lang="fr-FR" sz="2600" dirty="0" err="1" smtClean="0">
                <a:solidFill>
                  <a:srgbClr val="000000"/>
                </a:solidFill>
                <a:latin typeface="Courier New" panose="02070309020205020404" pitchFamily="49" charset="0"/>
                <a:ea typeface="Segoe UI" pitchFamily="34" charset="0"/>
                <a:cs typeface="Courier New" panose="02070309020205020404" pitchFamily="49" charset="0"/>
              </a:rPr>
              <a:t>Systemroot</a:t>
            </a:r>
            <a:r>
              <a:rPr lang="fr-FR" sz="2600" dirty="0" smtClean="0">
                <a:solidFill>
                  <a:srgbClr val="000000"/>
                </a:solidFill>
                <a:latin typeface="Courier New" panose="02070309020205020404" pitchFamily="49" charset="0"/>
                <a:ea typeface="Segoe UI" pitchFamily="34" charset="0"/>
                <a:cs typeface="Courier New" panose="02070309020205020404" pitchFamily="49" charset="0"/>
              </a:rPr>
              <a:t>%\System32\</a:t>
            </a:r>
            <a:r>
              <a:rPr lang="fr-FR" sz="2600" dirty="0" err="1" smtClean="0">
                <a:solidFill>
                  <a:srgbClr val="000000"/>
                </a:solidFill>
                <a:latin typeface="Courier New" panose="02070309020205020404" pitchFamily="49" charset="0"/>
                <a:ea typeface="Segoe UI" pitchFamily="34" charset="0"/>
                <a:cs typeface="Courier New" panose="02070309020205020404" pitchFamily="49" charset="0"/>
              </a:rPr>
              <a:t>Dhcp</a:t>
            </a:r>
            <a:endParaRPr lang="fr-FR" sz="2600" dirty="0">
              <a:solidFill>
                <a:srgbClr val="000000"/>
              </a:solidFill>
              <a:latin typeface="Courier New" panose="02070309020205020404" pitchFamily="49" charset="0"/>
              <a:ea typeface="Segoe UI" pitchFamily="34" charset="0"/>
              <a:cs typeface="Courier New" panose="02070309020205020404" pitchFamily="49" charset="0"/>
            </a:endParaRPr>
          </a:p>
        </p:txBody>
      </p:sp>
      <p:sp>
        <p:nvSpPr>
          <p:cNvPr id="5" name="Rounded Rectangle 844812"/>
          <p:cNvSpPr>
            <a:spLocks noChangeArrowheads="1"/>
          </p:cNvSpPr>
          <p:nvPr/>
        </p:nvSpPr>
        <p:spPr bwMode="auto">
          <a:xfrm>
            <a:off x="892145" y="4459861"/>
            <a:ext cx="8305643" cy="403411"/>
          </a:xfrm>
          <a:prstGeom prst="roundRect">
            <a:avLst>
              <a:gd name="adj" fmla="val 4167"/>
            </a:avLst>
          </a:prstGeom>
          <a:noFill/>
          <a:ln w="9525" algn="ctr">
            <a:noFill/>
            <a:round/>
            <a:headEnd/>
            <a:tailEnd/>
          </a:ln>
          <a:effectLst/>
        </p:spPr>
        <p:txBody>
          <a:bodyPr wrap="square" lIns="0" tIns="0" rIns="0" bIns="0" anchor="ctr"/>
          <a:lstStyle/>
          <a:p>
            <a:pPr lvl="0" fontAlgn="base">
              <a:lnSpc>
                <a:spcPct val="90000"/>
              </a:lnSpc>
              <a:spcBef>
                <a:spcPct val="40000"/>
              </a:spcBef>
              <a:spcAft>
                <a:spcPct val="0"/>
              </a:spcAft>
              <a:buClr>
                <a:srgbClr val="006699"/>
              </a:buClr>
            </a:pPr>
            <a:r>
              <a:rPr lang="fr-FR" sz="2600" dirty="0" smtClean="0">
                <a:solidFill>
                  <a:srgbClr val="000000"/>
                </a:solidFill>
                <a:latin typeface="Segoe UI" pitchFamily="34" charset="0"/>
                <a:ea typeface="Segoe UI" pitchFamily="34" charset="0"/>
                <a:cs typeface="Segoe UI" pitchFamily="34" charset="0"/>
              </a:rPr>
              <a:t>Le dossier</a:t>
            </a:r>
            <a:r>
              <a:rPr lang="fr-FR" sz="2600" dirty="0" smtClean="0">
                <a:solidFill>
                  <a:srgbClr val="000000"/>
                </a:solidFill>
                <a:latin typeface="Segoe UI" pitchFamily="34" charset="0"/>
                <a:ea typeface="Segoe UI" pitchFamily="34" charset="0"/>
                <a:cs typeface="Segoe UI" pitchFamily="34" charset="0"/>
              </a:rPr>
              <a:t> </a:t>
            </a:r>
            <a:r>
              <a:rPr lang="fr-FR" sz="2600" dirty="0" err="1" smtClean="0">
                <a:solidFill>
                  <a:srgbClr val="000000"/>
                </a:solidFill>
                <a:latin typeface="Segoe UI" pitchFamily="34" charset="0"/>
                <a:ea typeface="Segoe UI" pitchFamily="34" charset="0"/>
                <a:cs typeface="Segoe UI" pitchFamily="34" charset="0"/>
              </a:rPr>
              <a:t>Dhcp</a:t>
            </a:r>
            <a:r>
              <a:rPr lang="fr-FR" sz="2600" dirty="0" smtClean="0">
                <a:solidFill>
                  <a:srgbClr val="000000"/>
                </a:solidFill>
                <a:latin typeface="Segoe UI" pitchFamily="34" charset="0"/>
                <a:ea typeface="Segoe UI" pitchFamily="34" charset="0"/>
                <a:cs typeface="Segoe UI" pitchFamily="34" charset="0"/>
              </a:rPr>
              <a:t> inclue les fichiers suivants :</a:t>
            </a:r>
            <a:endParaRPr lang="fr-FR" sz="2600" dirty="0">
              <a:solidFill>
                <a:srgbClr val="000000"/>
              </a:solidFill>
              <a:latin typeface="Segoe UI" pitchFamily="34" charset="0"/>
              <a:ea typeface="Segoe UI" pitchFamily="34" charset="0"/>
              <a:cs typeface="Segoe UI" pitchFamily="34" charset="0"/>
            </a:endParaRPr>
          </a:p>
        </p:txBody>
      </p:sp>
      <p:sp>
        <p:nvSpPr>
          <p:cNvPr id="6" name="AutoShape 10"/>
          <p:cNvSpPr>
            <a:spLocks noChangeArrowheads="1"/>
          </p:cNvSpPr>
          <p:nvPr/>
        </p:nvSpPr>
        <p:spPr bwMode="auto">
          <a:xfrm>
            <a:off x="838806" y="779682"/>
            <a:ext cx="7287555" cy="885349"/>
          </a:xfrm>
          <a:prstGeom prst="roundRect">
            <a:avLst>
              <a:gd name="adj" fmla="val 16667"/>
            </a:avLst>
          </a:prstGeom>
          <a:noFill/>
          <a:ln w="9525" algn="ctr">
            <a:noFill/>
            <a:round/>
            <a:headEnd/>
            <a:tailEnd/>
          </a:ln>
          <a:effectLst/>
        </p:spPr>
        <p:txBody>
          <a:bodyPr wrap="square" lIns="0" tIns="0" rIns="0" bIns="0" anchor="ctr">
            <a:spAutoFit/>
          </a:bodyPr>
          <a:lstStyle/>
          <a:p>
            <a:pPr lvl="0" fontAlgn="base">
              <a:spcBef>
                <a:spcPct val="0"/>
              </a:spcBef>
              <a:spcAft>
                <a:spcPct val="0"/>
              </a:spcAft>
              <a:defRPr/>
            </a:pPr>
            <a:r>
              <a:rPr lang="fr-FR" sz="2600" i="1" dirty="0" smtClean="0">
                <a:solidFill>
                  <a:srgbClr val="000000"/>
                </a:solidFill>
                <a:latin typeface="Segoe UI" pitchFamily="34" charset="0"/>
                <a:ea typeface="Segoe UI" pitchFamily="34" charset="0"/>
                <a:cs typeface="Segoe UI" pitchFamily="34" charset="0"/>
              </a:rPr>
              <a:t>DHCP </a:t>
            </a:r>
            <a:r>
              <a:rPr lang="fr-FR" sz="2600" i="1" dirty="0" err="1" smtClean="0">
                <a:solidFill>
                  <a:srgbClr val="000000"/>
                </a:solidFill>
                <a:latin typeface="Segoe UI" pitchFamily="34" charset="0"/>
                <a:ea typeface="Segoe UI" pitchFamily="34" charset="0"/>
                <a:cs typeface="Segoe UI" pitchFamily="34" charset="0"/>
              </a:rPr>
              <a:t>database</a:t>
            </a:r>
            <a:r>
              <a:rPr lang="fr-FR" sz="2600" dirty="0" smtClean="0">
                <a:solidFill>
                  <a:srgbClr val="000000"/>
                </a:solidFill>
                <a:latin typeface="Segoe UI" pitchFamily="34" charset="0"/>
                <a:ea typeface="Segoe UI" pitchFamily="34" charset="0"/>
                <a:cs typeface="Segoe UI" pitchFamily="34" charset="0"/>
              </a:rPr>
              <a:t> est une base de données dynamique qui contient les éléments suivants :</a:t>
            </a:r>
            <a:endParaRPr lang="fr-FR" sz="2600" dirty="0">
              <a:solidFill>
                <a:srgbClr val="000000"/>
              </a:solidFill>
              <a:latin typeface="Segoe UI" pitchFamily="34" charset="0"/>
              <a:ea typeface="Segoe UI" pitchFamily="34" charset="0"/>
              <a:cs typeface="Segoe UI" pitchFamily="34" charset="0"/>
            </a:endParaRPr>
          </a:p>
        </p:txBody>
      </p:sp>
      <p:sp>
        <p:nvSpPr>
          <p:cNvPr id="7" name="AutoShape 10"/>
          <p:cNvSpPr>
            <a:spLocks noChangeArrowheads="1"/>
          </p:cNvSpPr>
          <p:nvPr/>
        </p:nvSpPr>
        <p:spPr bwMode="auto">
          <a:xfrm>
            <a:off x="1169264" y="1711526"/>
            <a:ext cx="3698175" cy="973884"/>
          </a:xfrm>
          <a:prstGeom prst="roundRect">
            <a:avLst>
              <a:gd name="adj" fmla="val 16667"/>
            </a:avLst>
          </a:prstGeom>
          <a:noFill/>
          <a:ln>
            <a:noFill/>
            <a:headEnd/>
            <a:tailEnd/>
          </a:ln>
          <a:effectLst/>
        </p:spPr>
        <p:style>
          <a:lnRef idx="1">
            <a:schemeClr val="accent2"/>
          </a:lnRef>
          <a:fillRef idx="2">
            <a:schemeClr val="accent2"/>
          </a:fillRef>
          <a:effectRef idx="1">
            <a:schemeClr val="accent2"/>
          </a:effectRef>
          <a:fontRef idx="minor">
            <a:schemeClr val="dk1"/>
          </a:fontRef>
        </p:style>
        <p:txBody>
          <a:bodyPr wrap="square" lIns="0" tIns="0" rIns="0" bIns="0" anchor="ctr">
            <a:spAutoFit/>
          </a:bodyPr>
          <a:lstStyle/>
          <a:p>
            <a:pPr marL="269875" lvl="1" indent="-234950" fontAlgn="base">
              <a:lnSpc>
                <a:spcPct val="90000"/>
              </a:lnSpc>
              <a:spcBef>
                <a:spcPct val="40000"/>
              </a:spcBef>
              <a:spcAft>
                <a:spcPct val="0"/>
              </a:spcAft>
              <a:buClr>
                <a:srgbClr val="006699"/>
              </a:buClr>
              <a:buFontTx/>
              <a:buChar char="•"/>
            </a:pPr>
            <a:r>
              <a:rPr lang="fr-FR" sz="2600" dirty="0" smtClean="0">
                <a:solidFill>
                  <a:srgbClr val="000000"/>
                </a:solidFill>
                <a:latin typeface="Segoe UI" pitchFamily="34" charset="0"/>
                <a:ea typeface="Segoe UI" pitchFamily="34" charset="0"/>
                <a:cs typeface="Segoe UI" pitchFamily="34" charset="0"/>
              </a:rPr>
              <a:t>Etendues</a:t>
            </a:r>
            <a:endParaRPr lang="fr-FR" sz="2600" dirty="0" smtClean="0">
              <a:solidFill>
                <a:srgbClr val="000000"/>
              </a:solidFill>
              <a:latin typeface="Segoe UI" pitchFamily="34" charset="0"/>
              <a:ea typeface="Segoe UI" pitchFamily="34" charset="0"/>
              <a:cs typeface="Segoe UI" pitchFamily="34" charset="0"/>
            </a:endParaRPr>
          </a:p>
          <a:p>
            <a:pPr marL="269875" lvl="1" indent="-234950" fontAlgn="base">
              <a:lnSpc>
                <a:spcPct val="90000"/>
              </a:lnSpc>
              <a:spcBef>
                <a:spcPct val="40000"/>
              </a:spcBef>
              <a:spcAft>
                <a:spcPct val="0"/>
              </a:spcAft>
              <a:buClr>
                <a:srgbClr val="006699"/>
              </a:buClr>
              <a:buFontTx/>
              <a:buChar char="•"/>
            </a:pPr>
            <a:r>
              <a:rPr lang="fr-FR" sz="2600" dirty="0" smtClean="0">
                <a:solidFill>
                  <a:srgbClr val="000000"/>
                </a:solidFill>
                <a:latin typeface="Segoe UI" pitchFamily="34" charset="0"/>
                <a:ea typeface="Segoe UI" pitchFamily="34" charset="0"/>
                <a:cs typeface="Segoe UI" pitchFamily="34" charset="0"/>
              </a:rPr>
              <a:t>Adresses IP attribuées</a:t>
            </a:r>
            <a:endParaRPr lang="fr-FR" sz="2600" dirty="0">
              <a:solidFill>
                <a:srgbClr val="000000"/>
              </a:solidFill>
              <a:latin typeface="Segoe UI" pitchFamily="34" charset="0"/>
              <a:ea typeface="Segoe UI" pitchFamily="34" charset="0"/>
              <a:cs typeface="Segoe UI" pitchFamily="34" charset="0"/>
            </a:endParaRPr>
          </a:p>
        </p:txBody>
      </p:sp>
      <p:sp>
        <p:nvSpPr>
          <p:cNvPr id="8" name="AutoShape 10"/>
          <p:cNvSpPr>
            <a:spLocks noChangeArrowheads="1"/>
          </p:cNvSpPr>
          <p:nvPr/>
        </p:nvSpPr>
        <p:spPr bwMode="auto">
          <a:xfrm>
            <a:off x="5014993" y="1711526"/>
            <a:ext cx="2858594" cy="973884"/>
          </a:xfrm>
          <a:prstGeom prst="roundRect">
            <a:avLst>
              <a:gd name="adj" fmla="val 16667"/>
            </a:avLst>
          </a:prstGeom>
          <a:noFill/>
          <a:ln>
            <a:noFill/>
            <a:headEnd/>
            <a:tailEnd/>
          </a:ln>
          <a:effectLst/>
        </p:spPr>
        <p:style>
          <a:lnRef idx="1">
            <a:schemeClr val="accent2"/>
          </a:lnRef>
          <a:fillRef idx="2">
            <a:schemeClr val="accent2"/>
          </a:fillRef>
          <a:effectRef idx="1">
            <a:schemeClr val="accent2"/>
          </a:effectRef>
          <a:fontRef idx="minor">
            <a:schemeClr val="dk1"/>
          </a:fontRef>
        </p:style>
        <p:txBody>
          <a:bodyPr wrap="square" lIns="0" tIns="0" rIns="0" bIns="0" anchor="ctr">
            <a:spAutoFit/>
          </a:bodyPr>
          <a:lstStyle/>
          <a:p>
            <a:pPr marL="269875" lvl="1" indent="-234950" fontAlgn="base">
              <a:lnSpc>
                <a:spcPct val="90000"/>
              </a:lnSpc>
              <a:spcBef>
                <a:spcPct val="40000"/>
              </a:spcBef>
              <a:spcAft>
                <a:spcPct val="0"/>
              </a:spcAft>
              <a:buClr>
                <a:srgbClr val="006699"/>
              </a:buClr>
              <a:buFontTx/>
              <a:buChar char="•"/>
            </a:pPr>
            <a:r>
              <a:rPr lang="fr-FR" sz="2600" dirty="0" smtClean="0">
                <a:solidFill>
                  <a:srgbClr val="000000"/>
                </a:solidFill>
                <a:latin typeface="Segoe UI" pitchFamily="34" charset="0"/>
                <a:ea typeface="Segoe UI" pitchFamily="34" charset="0"/>
                <a:cs typeface="Segoe UI" pitchFamily="34" charset="0"/>
              </a:rPr>
              <a:t>Réservations </a:t>
            </a:r>
          </a:p>
          <a:p>
            <a:pPr marL="34925" lvl="1" fontAlgn="base">
              <a:lnSpc>
                <a:spcPct val="90000"/>
              </a:lnSpc>
              <a:spcBef>
                <a:spcPct val="40000"/>
              </a:spcBef>
              <a:spcAft>
                <a:spcPct val="0"/>
              </a:spcAft>
              <a:buClr>
                <a:srgbClr val="006699"/>
              </a:buClr>
            </a:pPr>
            <a:endParaRPr lang="fr-FR" sz="2600" dirty="0">
              <a:solidFill>
                <a:srgbClr val="000000"/>
              </a:solidFill>
              <a:latin typeface="Segoe UI" pitchFamily="34" charset="0"/>
              <a:ea typeface="Segoe UI" pitchFamily="34" charset="0"/>
              <a:cs typeface="Segoe UI" pitchFamily="34" charset="0"/>
            </a:endParaRPr>
          </a:p>
        </p:txBody>
      </p:sp>
      <p:sp>
        <p:nvSpPr>
          <p:cNvPr id="9" name="AutoShape 10"/>
          <p:cNvSpPr>
            <a:spLocks noChangeArrowheads="1"/>
          </p:cNvSpPr>
          <p:nvPr/>
        </p:nvSpPr>
        <p:spPr bwMode="auto">
          <a:xfrm>
            <a:off x="1127320" y="4879158"/>
            <a:ext cx="3740119" cy="1549360"/>
          </a:xfrm>
          <a:prstGeom prst="roundRect">
            <a:avLst>
              <a:gd name="adj" fmla="val 16667"/>
            </a:avLst>
          </a:prstGeom>
          <a:noFill/>
          <a:ln>
            <a:noFill/>
            <a:headEnd/>
            <a:tailEnd/>
          </a:ln>
          <a:effectLst/>
        </p:spPr>
        <p:style>
          <a:lnRef idx="1">
            <a:schemeClr val="accent2"/>
          </a:lnRef>
          <a:fillRef idx="2">
            <a:schemeClr val="accent2"/>
          </a:fillRef>
          <a:effectRef idx="1">
            <a:schemeClr val="accent2"/>
          </a:effectRef>
          <a:fontRef idx="minor">
            <a:schemeClr val="dk1"/>
          </a:fontRef>
        </p:style>
        <p:txBody>
          <a:bodyPr wrap="square" lIns="0" tIns="0" rIns="0" bIns="0" anchor="ctr">
            <a:spAutoFit/>
          </a:bodyPr>
          <a:lstStyle/>
          <a:p>
            <a:pPr marL="265113" lvl="1" indent="-234950" fontAlgn="base">
              <a:lnSpc>
                <a:spcPct val="90000"/>
              </a:lnSpc>
              <a:spcBef>
                <a:spcPct val="40000"/>
              </a:spcBef>
              <a:spcAft>
                <a:spcPct val="0"/>
              </a:spcAft>
              <a:buClr>
                <a:srgbClr val="006699"/>
              </a:buClr>
              <a:buFontTx/>
              <a:buChar char="•"/>
            </a:pPr>
            <a:r>
              <a:rPr lang="en-US" sz="2600" dirty="0">
                <a:solidFill>
                  <a:srgbClr val="000000"/>
                </a:solidFill>
                <a:latin typeface="Segoe UI" pitchFamily="34" charset="0"/>
                <a:ea typeface="Segoe UI" pitchFamily="34" charset="0"/>
                <a:cs typeface="Segoe UI" pitchFamily="34" charset="0"/>
              </a:rPr>
              <a:t>Dhcp.mdb</a:t>
            </a:r>
          </a:p>
          <a:p>
            <a:pPr marL="265113" lvl="1" indent="-234950" fontAlgn="base">
              <a:lnSpc>
                <a:spcPct val="90000"/>
              </a:lnSpc>
              <a:spcBef>
                <a:spcPct val="40000"/>
              </a:spcBef>
              <a:spcAft>
                <a:spcPct val="0"/>
              </a:spcAft>
              <a:buClr>
                <a:srgbClr val="006699"/>
              </a:buClr>
              <a:buFontTx/>
              <a:buChar char="•"/>
            </a:pPr>
            <a:r>
              <a:rPr lang="en-US" sz="2600" dirty="0">
                <a:solidFill>
                  <a:srgbClr val="000000"/>
                </a:solidFill>
                <a:latin typeface="Segoe UI" pitchFamily="34" charset="0"/>
                <a:ea typeface="Segoe UI" pitchFamily="34" charset="0"/>
                <a:cs typeface="Segoe UI" pitchFamily="34" charset="0"/>
              </a:rPr>
              <a:t>temp.edb</a:t>
            </a:r>
          </a:p>
          <a:p>
            <a:pPr marL="265113" lvl="1" indent="-234950" fontAlgn="base">
              <a:lnSpc>
                <a:spcPct val="90000"/>
              </a:lnSpc>
              <a:spcBef>
                <a:spcPct val="40000"/>
              </a:spcBef>
              <a:spcAft>
                <a:spcPct val="0"/>
              </a:spcAft>
              <a:buClr>
                <a:srgbClr val="006699"/>
              </a:buClr>
              <a:buFontTx/>
              <a:buChar char="•"/>
            </a:pPr>
            <a:r>
              <a:rPr lang="en-US" sz="2600" dirty="0">
                <a:solidFill>
                  <a:srgbClr val="000000"/>
                </a:solidFill>
                <a:latin typeface="Segoe UI" pitchFamily="34" charset="0"/>
                <a:ea typeface="Segoe UI" pitchFamily="34" charset="0"/>
                <a:cs typeface="Segoe UI" pitchFamily="34" charset="0"/>
              </a:rPr>
              <a:t>J50.log and J50*.log</a:t>
            </a:r>
            <a:endParaRPr lang="en-CA" sz="2600" b="1" dirty="0">
              <a:solidFill>
                <a:srgbClr val="000000"/>
              </a:solidFill>
              <a:latin typeface="Segoe UI" pitchFamily="34" charset="0"/>
              <a:ea typeface="Segoe UI" pitchFamily="34" charset="0"/>
              <a:cs typeface="Segoe UI" pitchFamily="34" charset="0"/>
            </a:endParaRPr>
          </a:p>
        </p:txBody>
      </p:sp>
      <p:sp>
        <p:nvSpPr>
          <p:cNvPr id="10" name="AutoShape 10"/>
          <p:cNvSpPr>
            <a:spLocks noChangeArrowheads="1"/>
          </p:cNvSpPr>
          <p:nvPr/>
        </p:nvSpPr>
        <p:spPr bwMode="auto">
          <a:xfrm>
            <a:off x="4905855" y="4863272"/>
            <a:ext cx="2858594" cy="973884"/>
          </a:xfrm>
          <a:prstGeom prst="roundRect">
            <a:avLst>
              <a:gd name="adj" fmla="val 16667"/>
            </a:avLst>
          </a:prstGeom>
          <a:noFill/>
          <a:ln>
            <a:noFill/>
            <a:headEnd/>
            <a:tailEnd/>
          </a:ln>
          <a:effectLst/>
        </p:spPr>
        <p:style>
          <a:lnRef idx="1">
            <a:schemeClr val="accent2"/>
          </a:lnRef>
          <a:fillRef idx="2">
            <a:schemeClr val="accent2"/>
          </a:fillRef>
          <a:effectRef idx="1">
            <a:schemeClr val="accent2"/>
          </a:effectRef>
          <a:fontRef idx="minor">
            <a:schemeClr val="dk1"/>
          </a:fontRef>
        </p:style>
        <p:txBody>
          <a:bodyPr wrap="square" lIns="0" tIns="0" rIns="0" bIns="0" anchor="ctr">
            <a:spAutoFit/>
          </a:bodyPr>
          <a:lstStyle/>
          <a:p>
            <a:pPr marL="265113" lvl="1" indent="-234950" fontAlgn="base">
              <a:lnSpc>
                <a:spcPct val="90000"/>
              </a:lnSpc>
              <a:spcBef>
                <a:spcPct val="40000"/>
              </a:spcBef>
              <a:spcAft>
                <a:spcPct val="0"/>
              </a:spcAft>
              <a:buClr>
                <a:srgbClr val="006699"/>
              </a:buClr>
              <a:buFontTx/>
              <a:buChar char="•"/>
            </a:pPr>
            <a:r>
              <a:rPr lang="en-US" sz="2600" dirty="0">
                <a:solidFill>
                  <a:srgbClr val="000000"/>
                </a:solidFill>
                <a:latin typeface="Segoe UI" pitchFamily="34" charset="0"/>
                <a:ea typeface="Segoe UI" pitchFamily="34" charset="0"/>
                <a:cs typeface="Segoe UI" pitchFamily="34" charset="0"/>
              </a:rPr>
              <a:t>J50Res#####.jrs</a:t>
            </a:r>
          </a:p>
          <a:p>
            <a:pPr marL="265113" lvl="1" indent="-234950" fontAlgn="base">
              <a:lnSpc>
                <a:spcPct val="90000"/>
              </a:lnSpc>
              <a:spcBef>
                <a:spcPct val="40000"/>
              </a:spcBef>
              <a:spcAft>
                <a:spcPct val="0"/>
              </a:spcAft>
              <a:buClr>
                <a:srgbClr val="006699"/>
              </a:buClr>
              <a:buFontTx/>
              <a:buChar char="•"/>
            </a:pPr>
            <a:r>
              <a:rPr lang="en-US" sz="2600" dirty="0">
                <a:solidFill>
                  <a:srgbClr val="000000"/>
                </a:solidFill>
                <a:latin typeface="Segoe UI" pitchFamily="34" charset="0"/>
                <a:ea typeface="Segoe UI" pitchFamily="34" charset="0"/>
                <a:cs typeface="Segoe UI" pitchFamily="34" charset="0"/>
              </a:rPr>
              <a:t>J50.chk</a:t>
            </a:r>
          </a:p>
        </p:txBody>
      </p:sp>
    </p:spTree>
    <p:extLst>
      <p:ext uri="{BB962C8B-B14F-4D97-AF65-F5344CB8AC3E}">
        <p14:creationId xmlns:p14="http://schemas.microsoft.com/office/powerpoint/2010/main" val="3812509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4" y="0"/>
            <a:ext cx="8482013" cy="741363"/>
          </a:xfrm>
        </p:spPr>
        <p:txBody>
          <a:bodyPr/>
          <a:lstStyle/>
          <a:p>
            <a:r>
              <a:rPr lang="fr-FR" dirty="0" smtClean="0"/>
              <a:t>Sauvegarde et restauration de la base de données</a:t>
            </a:r>
            <a:endParaRPr lang="fr-FR" sz="2800" dirty="0"/>
          </a:p>
        </p:txBody>
      </p:sp>
      <p:sp>
        <p:nvSpPr>
          <p:cNvPr id="8" name="AutoShape 8" descr="&quot;&quot;"/>
          <p:cNvSpPr>
            <a:spLocks noChangeArrowheads="1"/>
          </p:cNvSpPr>
          <p:nvPr/>
        </p:nvSpPr>
        <p:spPr bwMode="auto">
          <a:xfrm>
            <a:off x="1040515" y="1333500"/>
            <a:ext cx="1031875" cy="469900"/>
          </a:xfrm>
          <a:prstGeom prst="roundRect">
            <a:avLst>
              <a:gd name="adj" fmla="val 12208"/>
            </a:avLst>
          </a:prstGeom>
          <a:solidFill>
            <a:schemeClr val="accent1"/>
          </a:solidFill>
          <a:ln w="9525" algn="ctr">
            <a:noFill/>
            <a:round/>
            <a:headEnd/>
            <a:tailEnd/>
          </a:ln>
        </p:spPr>
        <p:txBody>
          <a:bodyPr lIns="36000" rIns="36000" anchor="ctr"/>
          <a:lstStyle/>
          <a:p>
            <a:pPr algn="ctr">
              <a:lnSpc>
                <a:spcPct val="85000"/>
              </a:lnSpc>
            </a:pPr>
            <a:r>
              <a:rPr lang="en-US" b="1" dirty="0">
                <a:solidFill>
                  <a:srgbClr val="000000"/>
                </a:solidFill>
                <a:latin typeface="Segoe UI" pitchFamily="34" charset="0"/>
                <a:ea typeface="Segoe UI" pitchFamily="34" charset="0"/>
                <a:cs typeface="Segoe UI" pitchFamily="34" charset="0"/>
              </a:rPr>
              <a:t>DHCP </a:t>
            </a:r>
            <a:r>
              <a:rPr lang="en-US" b="1" dirty="0" smtClean="0">
                <a:solidFill>
                  <a:srgbClr val="000000"/>
                </a:solidFill>
                <a:latin typeface="Segoe UI" pitchFamily="34" charset="0"/>
                <a:ea typeface="Segoe UI" pitchFamily="34" charset="0"/>
                <a:cs typeface="Segoe UI" pitchFamily="34" charset="0"/>
              </a:rPr>
              <a:t>server</a:t>
            </a:r>
            <a:endParaRPr lang="en-US" b="1" dirty="0">
              <a:solidFill>
                <a:srgbClr val="000000"/>
              </a:solidFill>
              <a:latin typeface="Segoe UI" pitchFamily="34" charset="0"/>
              <a:ea typeface="Segoe UI" pitchFamily="34" charset="0"/>
              <a:cs typeface="Segoe UI" pitchFamily="34" charset="0"/>
            </a:endParaRPr>
          </a:p>
        </p:txBody>
      </p:sp>
      <p:grpSp>
        <p:nvGrpSpPr>
          <p:cNvPr id="42" name="Group 41"/>
          <p:cNvGrpSpPr/>
          <p:nvPr/>
        </p:nvGrpSpPr>
        <p:grpSpPr>
          <a:xfrm>
            <a:off x="2547938" y="3613388"/>
            <a:ext cx="1172754" cy="1052275"/>
            <a:chOff x="2547938" y="3613388"/>
            <a:chExt cx="1172754" cy="1052275"/>
          </a:xfrm>
        </p:grpSpPr>
        <p:pic>
          <p:nvPicPr>
            <p:cNvPr id="39" name="Picture 3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7938" y="3613388"/>
              <a:ext cx="1172754" cy="771812"/>
            </a:xfrm>
            <a:prstGeom prst="rect">
              <a:avLst/>
            </a:prstGeom>
          </p:spPr>
        </p:pic>
        <p:sp>
          <p:nvSpPr>
            <p:cNvPr id="16" name="Text Box 14" descr="&quot;&quot;"/>
            <p:cNvSpPr txBox="1">
              <a:spLocks noChangeArrowheads="1"/>
            </p:cNvSpPr>
            <p:nvPr/>
          </p:nvSpPr>
          <p:spPr bwMode="auto">
            <a:xfrm>
              <a:off x="2749346" y="4419600"/>
              <a:ext cx="769938" cy="246063"/>
            </a:xfrm>
            <a:prstGeom prst="rect">
              <a:avLst/>
            </a:prstGeom>
            <a:noFill/>
            <a:ln w="9525" algn="ctr">
              <a:noFill/>
              <a:miter lim="800000"/>
              <a:headEnd/>
              <a:tailEnd/>
            </a:ln>
            <a:extLst/>
          </p:spPr>
          <p:txBody>
            <a:bodyPr wrap="square" lIns="0" tIns="0" rIns="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ctr"/>
              <a:r>
                <a:rPr lang="en-US" sz="1600" dirty="0">
                  <a:solidFill>
                    <a:srgbClr val="000000"/>
                  </a:solidFill>
                </a:rPr>
                <a:t>DHCP</a:t>
              </a:r>
            </a:p>
          </p:txBody>
        </p:sp>
      </p:grpSp>
      <p:sp>
        <p:nvSpPr>
          <p:cNvPr id="12" name="AutoShape 18" descr="&quot;&quot;"/>
          <p:cNvSpPr>
            <a:spLocks noChangeArrowheads="1"/>
          </p:cNvSpPr>
          <p:nvPr/>
        </p:nvSpPr>
        <p:spPr bwMode="auto">
          <a:xfrm>
            <a:off x="6770728" y="1412776"/>
            <a:ext cx="1604963" cy="469900"/>
          </a:xfrm>
          <a:prstGeom prst="roundRect">
            <a:avLst>
              <a:gd name="adj" fmla="val 12208"/>
            </a:avLst>
          </a:prstGeom>
          <a:solidFill>
            <a:schemeClr val="accent1"/>
          </a:solidFill>
          <a:ln w="9525" algn="ctr">
            <a:noFill/>
            <a:round/>
            <a:headEnd/>
            <a:tailEnd/>
          </a:ln>
        </p:spPr>
        <p:txBody>
          <a:bodyPr anchor="ctr"/>
          <a:lstStyle/>
          <a:p>
            <a:pPr algn="ctr">
              <a:lnSpc>
                <a:spcPct val="85000"/>
              </a:lnSpc>
            </a:pPr>
            <a:r>
              <a:rPr lang="en-US" b="1" dirty="0">
                <a:solidFill>
                  <a:srgbClr val="000000"/>
                </a:solidFill>
                <a:latin typeface="Segoe UI" pitchFamily="34" charset="0"/>
                <a:ea typeface="Segoe UI" pitchFamily="34" charset="0"/>
                <a:cs typeface="Segoe UI" pitchFamily="34" charset="0"/>
              </a:rPr>
              <a:t>Offline </a:t>
            </a:r>
            <a:r>
              <a:rPr lang="en-US" b="1" dirty="0" smtClean="0">
                <a:solidFill>
                  <a:srgbClr val="000000"/>
                </a:solidFill>
                <a:latin typeface="Segoe UI" pitchFamily="34" charset="0"/>
                <a:ea typeface="Segoe UI" pitchFamily="34" charset="0"/>
                <a:cs typeface="Segoe UI" pitchFamily="34" charset="0"/>
              </a:rPr>
              <a:t>storage</a:t>
            </a:r>
            <a:endParaRPr lang="en-US" b="1" dirty="0">
              <a:solidFill>
                <a:srgbClr val="000000"/>
              </a:solidFill>
              <a:latin typeface="Segoe UI" pitchFamily="34" charset="0"/>
              <a:ea typeface="Segoe UI" pitchFamily="34" charset="0"/>
              <a:cs typeface="Segoe UI" pitchFamily="34" charset="0"/>
            </a:endParaRPr>
          </a:p>
        </p:txBody>
      </p:sp>
      <p:sp>
        <p:nvSpPr>
          <p:cNvPr id="20" name="&quot;The DHCP..." descr="Frame 2 of 6. It depicts the DHCP server getting backed up to the backup database. &#10;An arrow labeled backup points from the primary DHCP database to the backup DHCP database."/>
          <p:cNvSpPr>
            <a:spLocks noChangeArrowheads="1"/>
          </p:cNvSpPr>
          <p:nvPr/>
        </p:nvSpPr>
        <p:spPr bwMode="auto">
          <a:xfrm>
            <a:off x="939800" y="5095875"/>
            <a:ext cx="7086600" cy="931863"/>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a:lnSpc>
                <a:spcPct val="90000"/>
              </a:lnSpc>
              <a:spcBef>
                <a:spcPct val="40000"/>
              </a:spcBef>
              <a:buClr>
                <a:srgbClr val="8DACD0"/>
              </a:buClr>
              <a:buSzPct val="70000"/>
              <a:buFont typeface="Wingdings" pitchFamily="2" charset="2"/>
              <a:buNone/>
            </a:pPr>
            <a:r>
              <a:rPr lang="en-US" sz="2000" dirty="0" smtClean="0">
                <a:solidFill>
                  <a:srgbClr val="000000"/>
                </a:solidFill>
                <a:latin typeface="Segoe UI" pitchFamily="34" charset="0"/>
                <a:ea typeface="Segoe UI" pitchFamily="34" charset="0"/>
                <a:cs typeface="Segoe UI" pitchFamily="34" charset="0"/>
              </a:rPr>
              <a:t>The </a:t>
            </a:r>
            <a:r>
              <a:rPr lang="en-US" sz="2000" dirty="0">
                <a:solidFill>
                  <a:srgbClr val="000000"/>
                </a:solidFill>
                <a:latin typeface="Segoe UI" pitchFamily="34" charset="0"/>
                <a:ea typeface="Segoe UI" pitchFamily="34" charset="0"/>
                <a:cs typeface="Segoe UI" pitchFamily="34" charset="0"/>
              </a:rPr>
              <a:t>DHCP service automatically backs up the DHCP database to the backup directory on the local drive</a:t>
            </a:r>
          </a:p>
        </p:txBody>
      </p:sp>
      <p:sp>
        <p:nvSpPr>
          <p:cNvPr id="21" name="&quot;If the original..." descr="Frame 3 of 6. It depicts how, if the primary database becomes corrupted, it can be restored from the backup database.&#10;An X mark appears over the primary database.&#10;An arrow points from the backup database to the primary database. This arrow is labelled restore.&#10;The X mark on the primary database disappears."/>
          <p:cNvSpPr>
            <a:spLocks noChangeArrowheads="1"/>
          </p:cNvSpPr>
          <p:nvPr/>
        </p:nvSpPr>
        <p:spPr bwMode="auto">
          <a:xfrm>
            <a:off x="939800" y="5095875"/>
            <a:ext cx="7086600" cy="931863"/>
          </a:xfrm>
          <a:prstGeom prst="roundRect">
            <a:avLst>
              <a:gd name="adj" fmla="val 16667"/>
            </a:avLst>
          </a:prstGeom>
          <a:solidFill>
            <a:schemeClr val="accent1"/>
          </a:solidFill>
          <a:ln w="9525" algn="ctr">
            <a:noFill/>
            <a:round/>
            <a:headEnd/>
            <a:tailEnd/>
          </a:ln>
        </p:spPr>
        <p:txBody>
          <a:bodyPr anchor="ctr"/>
          <a:lstStyle/>
          <a:p>
            <a:pPr>
              <a:lnSpc>
                <a:spcPct val="90000"/>
              </a:lnSpc>
              <a:spcBef>
                <a:spcPct val="40000"/>
              </a:spcBef>
              <a:buClr>
                <a:srgbClr val="8DACD0"/>
              </a:buClr>
              <a:buSzPct val="70000"/>
              <a:buFont typeface="Wingdings" pitchFamily="2" charset="2"/>
              <a:buNone/>
            </a:pPr>
            <a:r>
              <a:rPr lang="en-US" sz="2000" dirty="0" smtClean="0">
                <a:solidFill>
                  <a:srgbClr val="000000"/>
                </a:solidFill>
                <a:latin typeface="Segoe UI" pitchFamily="34" charset="0"/>
                <a:ea typeface="Segoe UI" pitchFamily="34" charset="0"/>
                <a:cs typeface="Segoe UI" pitchFamily="34" charset="0"/>
              </a:rPr>
              <a:t>If </a:t>
            </a:r>
            <a:r>
              <a:rPr lang="en-US" sz="2000" dirty="0">
                <a:solidFill>
                  <a:srgbClr val="000000"/>
                </a:solidFill>
                <a:latin typeface="Segoe UI" pitchFamily="34" charset="0"/>
                <a:ea typeface="Segoe UI" pitchFamily="34" charset="0"/>
                <a:cs typeface="Segoe UI" pitchFamily="34" charset="0"/>
              </a:rPr>
              <a:t>the original database is unable to load, the DHCP service automatically restores from the backup directory on the local drive</a:t>
            </a:r>
          </a:p>
        </p:txBody>
      </p:sp>
      <p:sp>
        <p:nvSpPr>
          <p:cNvPr id="22" name="&quot;The administrator ..." descr="Frame 4 of 6. It shows an arrow from the backup database to a backup media, representing how the administrator can copy the backup DHCP database to a backup media."/>
          <p:cNvSpPr>
            <a:spLocks noChangeArrowheads="1"/>
          </p:cNvSpPr>
          <p:nvPr/>
        </p:nvSpPr>
        <p:spPr bwMode="auto">
          <a:xfrm>
            <a:off x="939800" y="5095875"/>
            <a:ext cx="7086600" cy="931863"/>
          </a:xfrm>
          <a:prstGeom prst="roundRect">
            <a:avLst>
              <a:gd name="adj" fmla="val 16667"/>
            </a:avLst>
          </a:prstGeom>
          <a:solidFill>
            <a:schemeClr val="accent1"/>
          </a:solidFill>
          <a:ln w="9525" algn="ctr">
            <a:noFill/>
            <a:round/>
            <a:headEnd/>
            <a:tailEnd/>
          </a:ln>
          <a:effectLst/>
        </p:spPr>
        <p:txBody>
          <a:bodyPr anchor="ctr"/>
          <a:lstStyle/>
          <a:p>
            <a:pPr>
              <a:buClr>
                <a:srgbClr val="8DACD0"/>
              </a:buClr>
              <a:buSzPct val="70000"/>
              <a:buFont typeface="Wingdings" pitchFamily="2" charset="2"/>
              <a:buNone/>
            </a:pPr>
            <a:r>
              <a:rPr lang="en-US" sz="2000" dirty="0" smtClean="0">
                <a:solidFill>
                  <a:srgbClr val="000000"/>
                </a:solidFill>
                <a:latin typeface="Segoe UI" pitchFamily="34" charset="0"/>
                <a:ea typeface="Segoe UI" pitchFamily="34" charset="0"/>
                <a:cs typeface="Segoe UI" pitchFamily="34" charset="0"/>
              </a:rPr>
              <a:t>The </a:t>
            </a:r>
            <a:r>
              <a:rPr lang="en-US" sz="2000" dirty="0">
                <a:solidFill>
                  <a:srgbClr val="000000"/>
                </a:solidFill>
                <a:latin typeface="Segoe UI" pitchFamily="34" charset="0"/>
                <a:ea typeface="Segoe UI" pitchFamily="34" charset="0"/>
                <a:cs typeface="Segoe UI" pitchFamily="34" charset="0"/>
              </a:rPr>
              <a:t>administrator moves a copy of the backed up </a:t>
            </a:r>
            <a:endParaRPr lang="en-US" sz="2000" dirty="0" smtClean="0">
              <a:solidFill>
                <a:srgbClr val="000000"/>
              </a:solidFill>
              <a:latin typeface="Segoe UI" pitchFamily="34" charset="0"/>
              <a:ea typeface="Segoe UI" pitchFamily="34" charset="0"/>
              <a:cs typeface="Segoe UI" pitchFamily="34" charset="0"/>
            </a:endParaRPr>
          </a:p>
          <a:p>
            <a:pPr>
              <a:buClr>
                <a:srgbClr val="8DACD0"/>
              </a:buClr>
              <a:buSzPct val="70000"/>
              <a:buFont typeface="Wingdings" pitchFamily="2" charset="2"/>
              <a:buNone/>
            </a:pPr>
            <a:r>
              <a:rPr lang="en-US" sz="2000" dirty="0" smtClean="0">
                <a:solidFill>
                  <a:srgbClr val="000000"/>
                </a:solidFill>
                <a:latin typeface="Segoe UI" pitchFamily="34" charset="0"/>
                <a:ea typeface="Segoe UI" pitchFamily="34" charset="0"/>
                <a:cs typeface="Segoe UI" pitchFamily="34" charset="0"/>
              </a:rPr>
              <a:t>DHCP </a:t>
            </a:r>
            <a:r>
              <a:rPr lang="en-US" sz="2000" dirty="0">
                <a:solidFill>
                  <a:srgbClr val="000000"/>
                </a:solidFill>
                <a:latin typeface="Segoe UI" pitchFamily="34" charset="0"/>
                <a:ea typeface="Segoe UI" pitchFamily="34" charset="0"/>
                <a:cs typeface="Segoe UI" pitchFamily="34" charset="0"/>
              </a:rPr>
              <a:t>database to an offline storage location</a:t>
            </a:r>
          </a:p>
        </p:txBody>
      </p:sp>
      <p:sp>
        <p:nvSpPr>
          <p:cNvPr id="23" name="&quot;In the event ..." descr="Frame 5 of 6. It shows an X mark over the DHCP server which represents that the DHCP server is not available. It also shows an arrow from the backup media to the primary database which represents that the primary database can be restored from the backup media."/>
          <p:cNvSpPr>
            <a:spLocks noChangeArrowheads="1"/>
          </p:cNvSpPr>
          <p:nvPr/>
        </p:nvSpPr>
        <p:spPr bwMode="auto">
          <a:xfrm>
            <a:off x="939800" y="5095875"/>
            <a:ext cx="7086600" cy="931863"/>
          </a:xfrm>
          <a:prstGeom prst="roundRect">
            <a:avLst>
              <a:gd name="adj" fmla="val 16667"/>
            </a:avLst>
          </a:prstGeom>
          <a:solidFill>
            <a:schemeClr val="accent1"/>
          </a:solidFill>
          <a:ln w="9525" algn="ctr">
            <a:noFill/>
            <a:round/>
            <a:headEnd/>
            <a:tailEnd/>
          </a:ln>
          <a:effectLst/>
        </p:spPr>
        <p:txBody>
          <a:bodyPr anchor="ctr"/>
          <a:lstStyle/>
          <a:p>
            <a:pPr>
              <a:lnSpc>
                <a:spcPct val="90000"/>
              </a:lnSpc>
              <a:spcBef>
                <a:spcPct val="40000"/>
              </a:spcBef>
              <a:buClr>
                <a:srgbClr val="8DACD0"/>
              </a:buClr>
              <a:buSzPct val="70000"/>
            </a:pPr>
            <a:r>
              <a:rPr lang="en-US" sz="2000" dirty="0" smtClean="0">
                <a:solidFill>
                  <a:srgbClr val="000000"/>
                </a:solidFill>
                <a:latin typeface="Segoe UI" pitchFamily="34" charset="0"/>
                <a:ea typeface="Segoe UI" pitchFamily="34" charset="0"/>
                <a:cs typeface="Segoe UI" pitchFamily="34" charset="0"/>
              </a:rPr>
              <a:t>In </a:t>
            </a:r>
            <a:r>
              <a:rPr lang="en-US" sz="2000" dirty="0">
                <a:solidFill>
                  <a:srgbClr val="000000"/>
                </a:solidFill>
                <a:latin typeface="Segoe UI" pitchFamily="34" charset="0"/>
                <a:ea typeface="Segoe UI" pitchFamily="34" charset="0"/>
                <a:cs typeface="Segoe UI" pitchFamily="34" charset="0"/>
              </a:rPr>
              <a:t>the event that the server hardware fails, the administrator </a:t>
            </a:r>
            <a:r>
              <a:rPr lang="en-CA" sz="2000" dirty="0">
                <a:solidFill>
                  <a:srgbClr val="000000"/>
                </a:solidFill>
                <a:latin typeface="Segoe UI" pitchFamily="34" charset="0"/>
                <a:ea typeface="Segoe UI" pitchFamily="34" charset="0"/>
                <a:cs typeface="Segoe UI" pitchFamily="34" charset="0"/>
              </a:rPr>
              <a:t>can restore the DHCP database only from an offline storage </a:t>
            </a:r>
            <a:r>
              <a:rPr lang="en-CA" sz="2000" dirty="0" smtClean="0">
                <a:solidFill>
                  <a:srgbClr val="000000"/>
                </a:solidFill>
                <a:latin typeface="Segoe UI" pitchFamily="34" charset="0"/>
                <a:ea typeface="Segoe UI" pitchFamily="34" charset="0"/>
                <a:cs typeface="Segoe UI" pitchFamily="34" charset="0"/>
              </a:rPr>
              <a:t>location</a:t>
            </a:r>
            <a:endParaRPr lang="en-US" sz="2000" dirty="0">
              <a:solidFill>
                <a:srgbClr val="000000"/>
              </a:solidFill>
              <a:latin typeface="Segoe UI" pitchFamily="34" charset="0"/>
              <a:ea typeface="Segoe UI" pitchFamily="34" charset="0"/>
              <a:cs typeface="Segoe UI" pitchFamily="34" charset="0"/>
            </a:endParaRPr>
          </a:p>
        </p:txBody>
      </p:sp>
      <p:grpSp>
        <p:nvGrpSpPr>
          <p:cNvPr id="25" name="backup"/>
          <p:cNvGrpSpPr>
            <a:grpSpLocks/>
          </p:cNvGrpSpPr>
          <p:nvPr/>
        </p:nvGrpSpPr>
        <p:grpSpPr bwMode="auto">
          <a:xfrm>
            <a:off x="2195163" y="2665413"/>
            <a:ext cx="844905" cy="884237"/>
            <a:chOff x="1461" y="1679"/>
            <a:chExt cx="454" cy="557"/>
          </a:xfrm>
        </p:grpSpPr>
        <p:sp>
          <p:nvSpPr>
            <p:cNvPr id="26" name="Line 22" descr="&quot;&quot;"/>
            <p:cNvSpPr>
              <a:spLocks noChangeShapeType="1"/>
            </p:cNvSpPr>
            <p:nvPr/>
          </p:nvSpPr>
          <p:spPr bwMode="auto">
            <a:xfrm>
              <a:off x="1915" y="1679"/>
              <a:ext cx="0" cy="557"/>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sp>
          <p:nvSpPr>
            <p:cNvPr id="27" name="&quot;backup&quot;" descr="&quot;&quot;"/>
            <p:cNvSpPr txBox="1">
              <a:spLocks noChangeArrowheads="1"/>
            </p:cNvSpPr>
            <p:nvPr/>
          </p:nvSpPr>
          <p:spPr bwMode="auto">
            <a:xfrm>
              <a:off x="1461" y="1872"/>
              <a:ext cx="416" cy="140"/>
            </a:xfrm>
            <a:prstGeom prst="rect">
              <a:avLst/>
            </a:prstGeom>
            <a:solidFill>
              <a:schemeClr val="bg1">
                <a:alpha val="82000"/>
              </a:schemeClr>
            </a:solidFill>
            <a:ln w="9525" algn="ctr">
              <a:noFill/>
              <a:miter lim="800000"/>
              <a:headEnd/>
              <a:tailEnd/>
            </a:ln>
            <a:extLst/>
          </p:spPr>
          <p:txBody>
            <a:bodyPr wrap="square" lIns="0" tIns="0" rIns="0" bIns="0">
              <a:spAutoFit/>
            </a:bodyPr>
            <a:lstStyle>
              <a:lvl1pPr marL="342900" indent="-3429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r">
                <a:lnSpc>
                  <a:spcPct val="90000"/>
                </a:lnSpc>
                <a:spcBef>
                  <a:spcPct val="40000"/>
                </a:spcBef>
                <a:buClr>
                  <a:srgbClr val="8DACD0"/>
                </a:buClr>
                <a:buSzPct val="70000"/>
                <a:buFont typeface="Wingdings" pitchFamily="2" charset="2"/>
                <a:buNone/>
              </a:pPr>
              <a:r>
                <a:rPr lang="en-US" sz="1600" dirty="0">
                  <a:solidFill>
                    <a:srgbClr val="000000"/>
                  </a:solidFill>
                  <a:latin typeface="Segoe UI" pitchFamily="34" charset="0"/>
                  <a:ea typeface="Segoe UI" pitchFamily="34" charset="0"/>
                  <a:cs typeface="Segoe UI" pitchFamily="34" charset="0"/>
                </a:rPr>
                <a:t>Back up</a:t>
              </a:r>
            </a:p>
          </p:txBody>
        </p:sp>
      </p:grpSp>
      <p:grpSp>
        <p:nvGrpSpPr>
          <p:cNvPr id="28" name="restore"/>
          <p:cNvGrpSpPr>
            <a:grpSpLocks/>
          </p:cNvGrpSpPr>
          <p:nvPr/>
        </p:nvGrpSpPr>
        <p:grpSpPr bwMode="auto">
          <a:xfrm>
            <a:off x="3286125" y="2665413"/>
            <a:ext cx="866775" cy="884237"/>
            <a:chOff x="2070" y="1679"/>
            <a:chExt cx="546" cy="557"/>
          </a:xfrm>
        </p:grpSpPr>
        <p:sp>
          <p:nvSpPr>
            <p:cNvPr id="29" name="Text Box 26" descr="&quot;&quot;"/>
            <p:cNvSpPr txBox="1">
              <a:spLocks noChangeArrowheads="1"/>
            </p:cNvSpPr>
            <p:nvPr/>
          </p:nvSpPr>
          <p:spPr bwMode="auto">
            <a:xfrm>
              <a:off x="2159" y="1888"/>
              <a:ext cx="457" cy="140"/>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marL="342900" indent="-3429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r">
                <a:lnSpc>
                  <a:spcPct val="90000"/>
                </a:lnSpc>
                <a:spcBef>
                  <a:spcPct val="40000"/>
                </a:spcBef>
                <a:buClr>
                  <a:srgbClr val="8DACD0"/>
                </a:buClr>
                <a:buSzPct val="70000"/>
                <a:buFont typeface="Wingdings" pitchFamily="2" charset="2"/>
                <a:buNone/>
              </a:pPr>
              <a:r>
                <a:rPr lang="en-US" sz="1600" dirty="0">
                  <a:solidFill>
                    <a:srgbClr val="000000"/>
                  </a:solidFill>
                  <a:latin typeface="Segoe UI" pitchFamily="34" charset="0"/>
                  <a:ea typeface="Segoe UI" pitchFamily="34" charset="0"/>
                  <a:cs typeface="Segoe UI" pitchFamily="34" charset="0"/>
                </a:rPr>
                <a:t>Restore</a:t>
              </a:r>
            </a:p>
          </p:txBody>
        </p:sp>
        <p:sp>
          <p:nvSpPr>
            <p:cNvPr id="30" name="&quot;restore&quot;" descr="&quot;&quot;"/>
            <p:cNvSpPr>
              <a:spLocks noChangeShapeType="1"/>
            </p:cNvSpPr>
            <p:nvPr/>
          </p:nvSpPr>
          <p:spPr bwMode="auto">
            <a:xfrm flipV="1">
              <a:off x="2070" y="1679"/>
              <a:ext cx="0" cy="557"/>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dirty="0">
                <a:solidFill>
                  <a:srgbClr val="000000"/>
                </a:solidFill>
              </a:endParaRPr>
            </a:p>
          </p:txBody>
        </p:sp>
      </p:grpSp>
      <p:grpSp>
        <p:nvGrpSpPr>
          <p:cNvPr id="31" name="Group 28"/>
          <p:cNvGrpSpPr>
            <a:grpSpLocks/>
          </p:cNvGrpSpPr>
          <p:nvPr/>
        </p:nvGrpSpPr>
        <p:grpSpPr bwMode="auto">
          <a:xfrm>
            <a:off x="3789363" y="2652713"/>
            <a:ext cx="2519362" cy="1778000"/>
            <a:chOff x="2387" y="1671"/>
            <a:chExt cx="1587" cy="1120"/>
          </a:xfrm>
        </p:grpSpPr>
        <p:sp>
          <p:nvSpPr>
            <p:cNvPr id="32" name="Arc 29" descr="&quot;&quot;"/>
            <p:cNvSpPr>
              <a:spLocks/>
            </p:cNvSpPr>
            <p:nvPr/>
          </p:nvSpPr>
          <p:spPr bwMode="auto">
            <a:xfrm flipV="1">
              <a:off x="2387" y="1671"/>
              <a:ext cx="1587" cy="938"/>
            </a:xfrm>
            <a:custGeom>
              <a:avLst/>
              <a:gdLst>
                <a:gd name="T0" fmla="*/ 0 w 19353"/>
                <a:gd name="T1" fmla="*/ 0 h 21600"/>
                <a:gd name="T2" fmla="*/ 1 w 19353"/>
                <a:gd name="T3" fmla="*/ 0 h 21600"/>
                <a:gd name="T4" fmla="*/ 0 w 19353"/>
                <a:gd name="T5" fmla="*/ 0 h 21600"/>
                <a:gd name="T6" fmla="*/ 0 60000 65536"/>
                <a:gd name="T7" fmla="*/ 0 60000 65536"/>
                <a:gd name="T8" fmla="*/ 0 60000 65536"/>
                <a:gd name="T9" fmla="*/ 0 w 19353"/>
                <a:gd name="T10" fmla="*/ 0 h 21600"/>
                <a:gd name="T11" fmla="*/ 19353 w 19353"/>
                <a:gd name="T12" fmla="*/ 21600 h 21600"/>
              </a:gdLst>
              <a:ahLst/>
              <a:cxnLst>
                <a:cxn ang="T6">
                  <a:pos x="T0" y="T1"/>
                </a:cxn>
                <a:cxn ang="T7">
                  <a:pos x="T2" y="T3"/>
                </a:cxn>
                <a:cxn ang="T8">
                  <a:pos x="T4" y="T5"/>
                </a:cxn>
              </a:cxnLst>
              <a:rect l="T9" t="T10" r="T11" b="T12"/>
              <a:pathLst>
                <a:path w="19353" h="21600" fill="none" extrusionOk="0">
                  <a:moveTo>
                    <a:pt x="0" y="39"/>
                  </a:moveTo>
                  <a:cubicBezTo>
                    <a:pt x="433" y="13"/>
                    <a:pt x="868" y="-1"/>
                    <a:pt x="1303" y="0"/>
                  </a:cubicBezTo>
                  <a:cubicBezTo>
                    <a:pt x="8574" y="0"/>
                    <a:pt x="15358" y="3659"/>
                    <a:pt x="19353" y="9735"/>
                  </a:cubicBezTo>
                </a:path>
                <a:path w="19353" h="21600" stroke="0" extrusionOk="0">
                  <a:moveTo>
                    <a:pt x="0" y="39"/>
                  </a:moveTo>
                  <a:cubicBezTo>
                    <a:pt x="433" y="13"/>
                    <a:pt x="868" y="-1"/>
                    <a:pt x="1303" y="0"/>
                  </a:cubicBezTo>
                  <a:cubicBezTo>
                    <a:pt x="8574" y="0"/>
                    <a:pt x="15358" y="3659"/>
                    <a:pt x="19353" y="9735"/>
                  </a:cubicBezTo>
                  <a:lnTo>
                    <a:pt x="1303" y="21600"/>
                  </a:lnTo>
                  <a:close/>
                </a:path>
              </a:pathLst>
            </a:custGeom>
            <a:noFill/>
            <a:ln w="38100">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sz="2000" dirty="0">
                <a:solidFill>
                  <a:srgbClr val="000000"/>
                </a:solidFill>
              </a:endParaRPr>
            </a:p>
          </p:txBody>
        </p:sp>
        <p:sp>
          <p:nvSpPr>
            <p:cNvPr id="33" name="&quot;backup&quot;" descr="&quot;&quot;"/>
            <p:cNvSpPr txBox="1">
              <a:spLocks noChangeArrowheads="1"/>
            </p:cNvSpPr>
            <p:nvPr/>
          </p:nvSpPr>
          <p:spPr bwMode="auto">
            <a:xfrm>
              <a:off x="2939" y="2651"/>
              <a:ext cx="692" cy="140"/>
            </a:xfrm>
            <a:prstGeom prst="rect">
              <a:avLst/>
            </a:prstGeom>
            <a:noFill/>
            <a:ln w="38100" algn="ctr">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342900" indent="-3429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nSpc>
                  <a:spcPct val="90000"/>
                </a:lnSpc>
                <a:spcBef>
                  <a:spcPct val="40000"/>
                </a:spcBef>
                <a:buClr>
                  <a:srgbClr val="8DACD0"/>
                </a:buClr>
                <a:buSzPct val="70000"/>
                <a:buFont typeface="Wingdings" pitchFamily="2" charset="2"/>
                <a:buNone/>
              </a:pPr>
              <a:r>
                <a:rPr lang="en-US" sz="1600" dirty="0">
                  <a:solidFill>
                    <a:srgbClr val="000000"/>
                  </a:solidFill>
                  <a:latin typeface="Segoe UI" pitchFamily="34" charset="0"/>
                  <a:ea typeface="Segoe UI" pitchFamily="34" charset="0"/>
                  <a:cs typeface="Segoe UI" pitchFamily="34" charset="0"/>
                </a:rPr>
                <a:t>Back up</a:t>
              </a:r>
            </a:p>
          </p:txBody>
        </p:sp>
      </p:grpSp>
      <p:grpSp>
        <p:nvGrpSpPr>
          <p:cNvPr id="34" name="restore" descr="&quot;&quot;"/>
          <p:cNvGrpSpPr>
            <a:grpSpLocks/>
          </p:cNvGrpSpPr>
          <p:nvPr/>
        </p:nvGrpSpPr>
        <p:grpSpPr bwMode="auto">
          <a:xfrm>
            <a:off x="3776663" y="1692276"/>
            <a:ext cx="2424112" cy="1808163"/>
            <a:chOff x="2379" y="1066"/>
            <a:chExt cx="1527" cy="1139"/>
          </a:xfrm>
        </p:grpSpPr>
        <p:sp>
          <p:nvSpPr>
            <p:cNvPr id="35" name="&quot;restore&quot;" descr="&quot;&quot;"/>
            <p:cNvSpPr txBox="1">
              <a:spLocks noChangeArrowheads="1"/>
            </p:cNvSpPr>
            <p:nvPr/>
          </p:nvSpPr>
          <p:spPr bwMode="auto">
            <a:xfrm>
              <a:off x="2939" y="1066"/>
              <a:ext cx="457" cy="140"/>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marL="342900" indent="-3429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r">
                <a:lnSpc>
                  <a:spcPct val="90000"/>
                </a:lnSpc>
                <a:spcBef>
                  <a:spcPct val="40000"/>
                </a:spcBef>
                <a:buClr>
                  <a:srgbClr val="8DACD0"/>
                </a:buClr>
                <a:buSzPct val="70000"/>
                <a:buFont typeface="Wingdings" pitchFamily="2" charset="2"/>
                <a:buNone/>
              </a:pPr>
              <a:r>
                <a:rPr lang="en-US" sz="1600" dirty="0">
                  <a:solidFill>
                    <a:srgbClr val="000000"/>
                  </a:solidFill>
                  <a:latin typeface="Segoe UI" pitchFamily="34" charset="0"/>
                  <a:ea typeface="Segoe UI" pitchFamily="34" charset="0"/>
                  <a:cs typeface="Segoe UI" pitchFamily="34" charset="0"/>
                </a:rPr>
                <a:t>Restore</a:t>
              </a:r>
            </a:p>
          </p:txBody>
        </p:sp>
        <p:sp>
          <p:nvSpPr>
            <p:cNvPr id="36" name="Arc 33" descr="&quot;&quot;"/>
            <p:cNvSpPr>
              <a:spLocks/>
            </p:cNvSpPr>
            <p:nvPr/>
          </p:nvSpPr>
          <p:spPr bwMode="auto">
            <a:xfrm flipH="1">
              <a:off x="2379" y="1267"/>
              <a:ext cx="1527" cy="938"/>
            </a:xfrm>
            <a:custGeom>
              <a:avLst/>
              <a:gdLst>
                <a:gd name="T0" fmla="*/ 0 w 18620"/>
                <a:gd name="T1" fmla="*/ 0 h 21600"/>
                <a:gd name="T2" fmla="*/ 1 w 18620"/>
                <a:gd name="T3" fmla="*/ 0 h 21600"/>
                <a:gd name="T4" fmla="*/ 1 w 18620"/>
                <a:gd name="T5" fmla="*/ 0 h 21600"/>
                <a:gd name="T6" fmla="*/ 0 60000 65536"/>
                <a:gd name="T7" fmla="*/ 0 60000 65536"/>
                <a:gd name="T8" fmla="*/ 0 60000 65536"/>
                <a:gd name="T9" fmla="*/ 0 w 18620"/>
                <a:gd name="T10" fmla="*/ 0 h 21600"/>
                <a:gd name="T11" fmla="*/ 18620 w 18620"/>
                <a:gd name="T12" fmla="*/ 21600 h 21600"/>
              </a:gdLst>
              <a:ahLst/>
              <a:cxnLst>
                <a:cxn ang="T6">
                  <a:pos x="T0" y="T1"/>
                </a:cxn>
                <a:cxn ang="T7">
                  <a:pos x="T2" y="T3"/>
                </a:cxn>
                <a:cxn ang="T8">
                  <a:pos x="T4" y="T5"/>
                </a:cxn>
              </a:cxnLst>
              <a:rect l="T9" t="T10" r="T11" b="T12"/>
              <a:pathLst>
                <a:path w="18620" h="21600" fill="none" extrusionOk="0">
                  <a:moveTo>
                    <a:pt x="0" y="4072"/>
                  </a:moveTo>
                  <a:cubicBezTo>
                    <a:pt x="3676" y="1424"/>
                    <a:pt x="8092" y="-1"/>
                    <a:pt x="12623" y="0"/>
                  </a:cubicBezTo>
                  <a:cubicBezTo>
                    <a:pt x="14651" y="0"/>
                    <a:pt x="16670" y="285"/>
                    <a:pt x="18619" y="849"/>
                  </a:cubicBezTo>
                </a:path>
                <a:path w="18620" h="21600" stroke="0" extrusionOk="0">
                  <a:moveTo>
                    <a:pt x="0" y="4072"/>
                  </a:moveTo>
                  <a:cubicBezTo>
                    <a:pt x="3676" y="1424"/>
                    <a:pt x="8092" y="-1"/>
                    <a:pt x="12623" y="0"/>
                  </a:cubicBezTo>
                  <a:cubicBezTo>
                    <a:pt x="14651" y="0"/>
                    <a:pt x="16670" y="285"/>
                    <a:pt x="18619" y="849"/>
                  </a:cubicBezTo>
                  <a:lnTo>
                    <a:pt x="12623" y="21600"/>
                  </a:lnTo>
                  <a:close/>
                </a:path>
              </a:pathLst>
            </a:custGeom>
            <a:noFill/>
            <a:ln w="38100">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sz="2000" dirty="0">
                <a:solidFill>
                  <a:srgbClr val="000000"/>
                </a:solidFill>
              </a:endParaRPr>
            </a:p>
          </p:txBody>
        </p:sp>
      </p:grpSp>
      <p:pic>
        <p:nvPicPr>
          <p:cNvPr id="38" name="frame 1 alt-text is here" descr="This is frame 1 of 6 frames of an animated slide. On the left is a DHCP server with a primary DHCP database and a backup DHCP database; on the right is an external hard disk and a CD/DVD which act as external backup for the DHCP database.&#10;There are no moving graphics on this frame.&#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667" y="1868639"/>
            <a:ext cx="1303635" cy="2314975"/>
          </a:xfrm>
          <a:prstGeom prst="rect">
            <a:avLst/>
          </a:prstGeom>
        </p:spPr>
      </p:pic>
      <p:pic>
        <p:nvPicPr>
          <p:cNvPr id="40" name="stop serve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27485" y="3300342"/>
            <a:ext cx="720080" cy="720080"/>
          </a:xfrm>
          <a:prstGeom prst="rect">
            <a:avLst/>
          </a:prstGeom>
        </p:spPr>
      </p:pic>
      <p:grpSp>
        <p:nvGrpSpPr>
          <p:cNvPr id="41" name="Group 40"/>
          <p:cNvGrpSpPr/>
          <p:nvPr/>
        </p:nvGrpSpPr>
        <p:grpSpPr>
          <a:xfrm>
            <a:off x="6770728" y="2016213"/>
            <a:ext cx="1808302" cy="2440375"/>
            <a:chOff x="6770728" y="2016213"/>
            <a:chExt cx="1808302" cy="2440375"/>
          </a:xfrm>
        </p:grpSpPr>
        <p:pic>
          <p:nvPicPr>
            <p:cNvPr id="37" name="Picture 3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70728" y="2016213"/>
              <a:ext cx="1255672" cy="2133424"/>
            </a:xfrm>
            <a:prstGeom prst="rect">
              <a:avLst/>
            </a:prstGeom>
          </p:spPr>
        </p:pic>
        <p:pic>
          <p:nvPicPr>
            <p:cNvPr id="3" name="Picture 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948264" y="2770188"/>
              <a:ext cx="1630766" cy="1686400"/>
            </a:xfrm>
            <a:prstGeom prst="rect">
              <a:avLst/>
            </a:prstGeom>
          </p:spPr>
        </p:pic>
      </p:grpSp>
      <p:grpSp>
        <p:nvGrpSpPr>
          <p:cNvPr id="53" name="Group 52"/>
          <p:cNvGrpSpPr/>
          <p:nvPr/>
        </p:nvGrpSpPr>
        <p:grpSpPr>
          <a:xfrm>
            <a:off x="2547938" y="1634839"/>
            <a:ext cx="1172754" cy="1032161"/>
            <a:chOff x="2547938" y="3613388"/>
            <a:chExt cx="1172754" cy="1032161"/>
          </a:xfrm>
        </p:grpSpPr>
        <p:pic>
          <p:nvPicPr>
            <p:cNvPr id="54" name="Picture 5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7938" y="3613388"/>
              <a:ext cx="1172754" cy="771812"/>
            </a:xfrm>
            <a:prstGeom prst="rect">
              <a:avLst/>
            </a:prstGeom>
          </p:spPr>
        </p:pic>
        <p:sp>
          <p:nvSpPr>
            <p:cNvPr id="55" name="Text Box 14" descr="&quot;&quot;"/>
            <p:cNvSpPr txBox="1">
              <a:spLocks noChangeArrowheads="1"/>
            </p:cNvSpPr>
            <p:nvPr/>
          </p:nvSpPr>
          <p:spPr bwMode="auto">
            <a:xfrm>
              <a:off x="2749346" y="4399486"/>
              <a:ext cx="769938" cy="246063"/>
            </a:xfrm>
            <a:prstGeom prst="rect">
              <a:avLst/>
            </a:prstGeom>
            <a:noFill/>
            <a:ln w="9525" algn="ctr">
              <a:noFill/>
              <a:miter lim="800000"/>
              <a:headEnd/>
              <a:tailEnd/>
            </a:ln>
            <a:extLst/>
          </p:spPr>
          <p:txBody>
            <a:bodyPr wrap="square" lIns="0" tIns="0" rIns="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ctr"/>
              <a:r>
                <a:rPr lang="en-US" sz="1600" dirty="0">
                  <a:solidFill>
                    <a:srgbClr val="000000"/>
                  </a:solidFill>
                </a:rPr>
                <a:t>DHCP</a:t>
              </a:r>
            </a:p>
          </p:txBody>
        </p:sp>
      </p:grpSp>
      <p:pic>
        <p:nvPicPr>
          <p:cNvPr id="56" name="stop database"/>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88596" y="1408855"/>
            <a:ext cx="720080" cy="720080"/>
          </a:xfrm>
          <a:prstGeom prst="rect">
            <a:avLst/>
          </a:prstGeom>
        </p:spPr>
      </p:pic>
      <p:pic>
        <p:nvPicPr>
          <p:cNvPr id="57" name="Start button ALT TEXT IS HERE" descr="Illustration that is the first frame of a build slide. It shows a DHCP Server with a DHCP database and a backup DHCP database. It also shows tape media and CD/DVD media, which act as backup to the database.&#10;Arrows point between the two databases and the backup media; these arrows represent backing up and restoring data.&#10;The frames of the build slide demonstrate how data is backed up and then, if the primary database becomes corrupt, how you can restore the dat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7125" y="587692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58125" y="587692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112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par>
                          <p:cTn id="12" fill="hold">
                            <p:stCondLst>
                              <p:cond delay="500"/>
                            </p:stCondLst>
                            <p:childTnLst>
                              <p:par>
                                <p:cTn id="13" presetID="22" presetClass="entr" presetSubtype="1"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up)">
                                      <p:cBhvr>
                                        <p:cTn id="15" dur="10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20"/>
                                        </p:tgtEl>
                                      </p:cBhvr>
                                    </p:animEffect>
                                    <p:set>
                                      <p:cBhvr>
                                        <p:cTn id="20" dur="1" fill="hold">
                                          <p:stCondLst>
                                            <p:cond delay="499"/>
                                          </p:stCondLst>
                                        </p:cTn>
                                        <p:tgtEl>
                                          <p:spTgt spid="20"/>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25"/>
                                        </p:tgtEl>
                                      </p:cBhvr>
                                    </p:animEffect>
                                    <p:set>
                                      <p:cBhvr>
                                        <p:cTn id="23" dur="1" fill="hold">
                                          <p:stCondLst>
                                            <p:cond delay="499"/>
                                          </p:stCondLst>
                                        </p:cTn>
                                        <p:tgtEl>
                                          <p:spTgt spid="25"/>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fade">
                                      <p:cBhvr>
                                        <p:cTn id="26" dur="500"/>
                                        <p:tgtEl>
                                          <p:spTgt spid="56"/>
                                        </p:tgtEl>
                                      </p:cBhvr>
                                    </p:animEffect>
                                  </p:childTnLst>
                                </p:cTn>
                              </p:par>
                              <p:par>
                                <p:cTn id="27" presetID="10"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1000"/>
                                        <p:tgtEl>
                                          <p:spTgt spid="21"/>
                                        </p:tgtEl>
                                      </p:cBhvr>
                                    </p:animEffect>
                                  </p:childTnLst>
                                </p:cTn>
                              </p:par>
                            </p:childTnLst>
                          </p:cTn>
                        </p:par>
                        <p:par>
                          <p:cTn id="30" fill="hold">
                            <p:stCondLst>
                              <p:cond delay="1000"/>
                            </p:stCondLst>
                            <p:childTnLst>
                              <p:par>
                                <p:cTn id="31" presetID="22" presetClass="entr" presetSubtype="4" fill="hold" nodeType="afterEffect">
                                  <p:stCondLst>
                                    <p:cond delay="750"/>
                                  </p:stCondLst>
                                  <p:childTnLst>
                                    <p:set>
                                      <p:cBhvr>
                                        <p:cTn id="32" dur="1" fill="hold">
                                          <p:stCondLst>
                                            <p:cond delay="0"/>
                                          </p:stCondLst>
                                        </p:cTn>
                                        <p:tgtEl>
                                          <p:spTgt spid="28"/>
                                        </p:tgtEl>
                                        <p:attrNameLst>
                                          <p:attrName>style.visibility</p:attrName>
                                        </p:attrNameLst>
                                      </p:cBhvr>
                                      <p:to>
                                        <p:strVal val="visible"/>
                                      </p:to>
                                    </p:set>
                                    <p:animEffect transition="in" filter="wipe(down)">
                                      <p:cBhvr>
                                        <p:cTn id="33" dur="10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1000"/>
                                        <p:tgtEl>
                                          <p:spTgt spid="28"/>
                                        </p:tgtEl>
                                      </p:cBhvr>
                                    </p:animEffect>
                                    <p:set>
                                      <p:cBhvr>
                                        <p:cTn id="38" dur="1" fill="hold">
                                          <p:stCondLst>
                                            <p:cond delay="999"/>
                                          </p:stCondLst>
                                        </p:cTn>
                                        <p:tgtEl>
                                          <p:spTgt spid="28"/>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56"/>
                                        </p:tgtEl>
                                      </p:cBhvr>
                                    </p:animEffect>
                                    <p:set>
                                      <p:cBhvr>
                                        <p:cTn id="41" dur="1" fill="hold">
                                          <p:stCondLst>
                                            <p:cond delay="499"/>
                                          </p:stCondLst>
                                        </p:cTn>
                                        <p:tgtEl>
                                          <p:spTgt spid="56"/>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1000"/>
                                        <p:tgtEl>
                                          <p:spTgt spid="21"/>
                                        </p:tgtEl>
                                      </p:cBhvr>
                                    </p:animEffect>
                                    <p:set>
                                      <p:cBhvr>
                                        <p:cTn id="44" dur="1" fill="hold">
                                          <p:stCondLst>
                                            <p:cond delay="999"/>
                                          </p:stCondLst>
                                        </p:cTn>
                                        <p:tgtEl>
                                          <p:spTgt spid="21"/>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par>
                          <p:cTn id="48" fill="hold">
                            <p:stCondLst>
                              <p:cond delay="1000"/>
                            </p:stCondLst>
                            <p:childTnLst>
                              <p:par>
                                <p:cTn id="49" presetID="22" presetClass="entr" presetSubtype="8" fill="hold"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left)">
                                      <p:cBhvr>
                                        <p:cTn id="51" dur="10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1000"/>
                                        <p:tgtEl>
                                          <p:spTgt spid="31"/>
                                        </p:tgtEl>
                                      </p:cBhvr>
                                    </p:animEffect>
                                    <p:set>
                                      <p:cBhvr>
                                        <p:cTn id="56" dur="1" fill="hold">
                                          <p:stCondLst>
                                            <p:cond delay="999"/>
                                          </p:stCondLst>
                                        </p:cTn>
                                        <p:tgtEl>
                                          <p:spTgt spid="31"/>
                                        </p:tgtEl>
                                        <p:attrNameLst>
                                          <p:attrName>style.visibility</p:attrName>
                                        </p:attrNameLst>
                                      </p:cBhvr>
                                      <p:to>
                                        <p:strVal val="hidden"/>
                                      </p:to>
                                    </p:set>
                                  </p:childTnLst>
                                </p:cTn>
                              </p:par>
                              <p:par>
                                <p:cTn id="57" presetID="10"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500"/>
                                        <p:tgtEl>
                                          <p:spTgt spid="40"/>
                                        </p:tgtEl>
                                      </p:cBhvr>
                                    </p:animEffect>
                                  </p:childTnLst>
                                </p:cTn>
                              </p:par>
                              <p:par>
                                <p:cTn id="60" presetID="10" presetClass="exit" presetSubtype="0" fill="hold" nodeType="withEffect">
                                  <p:stCondLst>
                                    <p:cond delay="0"/>
                                  </p:stCondLst>
                                  <p:childTnLst>
                                    <p:animEffect transition="out" filter="fade">
                                      <p:cBhvr>
                                        <p:cTn id="61" dur="1000"/>
                                        <p:tgtEl>
                                          <p:spTgt spid="22"/>
                                        </p:tgtEl>
                                      </p:cBhvr>
                                    </p:animEffect>
                                    <p:set>
                                      <p:cBhvr>
                                        <p:cTn id="62" dur="1" fill="hold">
                                          <p:stCondLst>
                                            <p:cond delay="999"/>
                                          </p:stCondLst>
                                        </p:cTn>
                                        <p:tgtEl>
                                          <p:spTgt spid="22"/>
                                        </p:tgtEl>
                                        <p:attrNameLst>
                                          <p:attrName>style.visibility</p:attrName>
                                        </p:attrNameLst>
                                      </p:cBhvr>
                                      <p:to>
                                        <p:strVal val="hidden"/>
                                      </p:to>
                                    </p:set>
                                  </p:childTnLst>
                                </p:cTn>
                              </p:par>
                              <p:par>
                                <p:cTn id="63" presetID="10"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1000"/>
                                        <p:tgtEl>
                                          <p:spTgt spid="23"/>
                                        </p:tgtEl>
                                      </p:cBhvr>
                                    </p:animEffect>
                                  </p:childTnLst>
                                </p:cTn>
                              </p:par>
                            </p:childTnLst>
                          </p:cTn>
                        </p:par>
                        <p:par>
                          <p:cTn id="66" fill="hold">
                            <p:stCondLst>
                              <p:cond delay="1000"/>
                            </p:stCondLst>
                            <p:childTnLst>
                              <p:par>
                                <p:cTn id="67" presetID="22" presetClass="entr" presetSubtype="2"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right)">
                                      <p:cBhvr>
                                        <p:cTn id="69" dur="1000"/>
                                        <p:tgtEl>
                                          <p:spTgt spid="3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500"/>
                                        <p:tgtEl>
                                          <p:spTgt spid="34"/>
                                        </p:tgtEl>
                                      </p:cBhvr>
                                    </p:animEffect>
                                    <p:set>
                                      <p:cBhvr>
                                        <p:cTn id="74" dur="1" fill="hold">
                                          <p:stCondLst>
                                            <p:cond delay="499"/>
                                          </p:stCondLst>
                                        </p:cTn>
                                        <p:tgtEl>
                                          <p:spTgt spid="34"/>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500"/>
                                        <p:tgtEl>
                                          <p:spTgt spid="23"/>
                                        </p:tgtEl>
                                      </p:cBhvr>
                                    </p:animEffect>
                                    <p:set>
                                      <p:cBhvr>
                                        <p:cTn id="77" dur="1" fill="hold">
                                          <p:stCondLst>
                                            <p:cond delay="499"/>
                                          </p:stCondLst>
                                        </p:cTn>
                                        <p:tgtEl>
                                          <p:spTgt spid="23"/>
                                        </p:tgtEl>
                                        <p:attrNameLst>
                                          <p:attrName>style.visibility</p:attrName>
                                        </p:attrNameLst>
                                      </p:cBhvr>
                                      <p:to>
                                        <p:strVal val="hidden"/>
                                      </p:to>
                                    </p:set>
                                  </p:childTnLst>
                                </p:cTn>
                              </p:par>
                              <p:par>
                                <p:cTn id="78" presetID="1" presetClass="entr" presetSubtype="0" fill="hold" nodeType="withEffect">
                                  <p:stCondLst>
                                    <p:cond delay="0"/>
                                  </p:stCondLst>
                                  <p:childTnLst>
                                    <p:set>
                                      <p:cBhvr>
                                        <p:cTn id="79" dur="1" fill="hold">
                                          <p:stCondLst>
                                            <p:cond delay="0"/>
                                          </p:stCondLst>
                                        </p:cTn>
                                        <p:tgtEl>
                                          <p:spTgt spid="25"/>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28"/>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500"/>
                                        <p:tgtEl>
                                          <p:spTgt spid="40"/>
                                        </p:tgtEl>
                                      </p:cBhvr>
                                    </p:animEffect>
                                    <p:set>
                                      <p:cBhvr>
                                        <p:cTn id="88" dur="1" fill="hold">
                                          <p:stCondLst>
                                            <p:cond delay="499"/>
                                          </p:stCondLst>
                                        </p:cTn>
                                        <p:tgtEl>
                                          <p:spTgt spid="40"/>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57"/>
                                        </p:tgtEl>
                                      </p:cBhvr>
                                    </p:animEffect>
                                    <p:set>
                                      <p:cBhvr>
                                        <p:cTn id="91" dur="1" fill="hold">
                                          <p:stCondLst>
                                            <p:cond delay="499"/>
                                          </p:stCondLst>
                                        </p:cTn>
                                        <p:tgtEl>
                                          <p:spTgt spid="57"/>
                                        </p:tgtEl>
                                        <p:attrNameLst>
                                          <p:attrName>style.visibility</p:attrName>
                                        </p:attrNameLst>
                                      </p:cBhvr>
                                      <p:to>
                                        <p:strVal val="hidden"/>
                                      </p:to>
                                    </p:set>
                                  </p:childTnLst>
                                </p:cTn>
                              </p:par>
                              <p:par>
                                <p:cTn id="92" presetID="10" presetClass="entr" presetSubtype="0" fill="hold" nodeType="withEffect">
                                  <p:stCondLst>
                                    <p:cond delay="0"/>
                                  </p:stCondLst>
                                  <p:childTnLst>
                                    <p:set>
                                      <p:cBhvr>
                                        <p:cTn id="93" dur="1" fill="hold">
                                          <p:stCondLst>
                                            <p:cond delay="0"/>
                                          </p:stCondLst>
                                        </p:cTn>
                                        <p:tgtEl>
                                          <p:spTgt spid="58"/>
                                        </p:tgtEl>
                                        <p:attrNameLst>
                                          <p:attrName>style.visibility</p:attrName>
                                        </p:attrNameLst>
                                      </p:cBhvr>
                                      <p:to>
                                        <p:strVal val="visible"/>
                                      </p:to>
                                    </p:set>
                                    <p:animEffect transition="in" filter="fade">
                                      <p:cBhvr>
                                        <p:cTn id="9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dfeb66f8-ff89-494c-a6ac-a750721a164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Concilier une base de données DHCP</a:t>
            </a:r>
            <a:endParaRPr lang="en-CA" dirty="0"/>
          </a:p>
        </p:txBody>
      </p:sp>
      <p:graphicFrame>
        <p:nvGraphicFramePr>
          <p:cNvPr id="4" name="Group 37" descr="&quot;&quot;"/>
          <p:cNvGraphicFramePr>
            <a:graphicFrameLocks noGrp="1"/>
          </p:cNvGraphicFramePr>
          <p:nvPr>
            <p:extLst>
              <p:ext uri="{D42A27DB-BD31-4B8C-83A1-F6EECF244321}">
                <p14:modId xmlns:p14="http://schemas.microsoft.com/office/powerpoint/2010/main" val="448527785"/>
              </p:ext>
            </p:extLst>
          </p:nvPr>
        </p:nvGraphicFramePr>
        <p:xfrm>
          <a:off x="614021" y="4294409"/>
          <a:ext cx="7947207" cy="1551865"/>
        </p:xfrm>
        <a:graphic>
          <a:graphicData uri="http://schemas.openxmlformats.org/drawingml/2006/table">
            <a:tbl>
              <a:tblPr>
                <a:tableStyleId>{E8B1032C-EA38-4F05-BA0D-38AFFFC7BED3}</a:tableStyleId>
              </a:tblPr>
              <a:tblGrid>
                <a:gridCol w="2578028"/>
                <a:gridCol w="2757990"/>
                <a:gridCol w="2611189"/>
              </a:tblGrid>
              <a:tr h="594769">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fr-FR" sz="1900" b="1" u="none" strike="noStrike" cap="none" normalizeH="0" baseline="0" noProof="0" dirty="0" err="1" smtClean="0">
                          <a:ln>
                            <a:noFill/>
                          </a:ln>
                          <a:effectLst/>
                          <a:latin typeface="Segoe UI" panose="020B0502040204020203" pitchFamily="34" charset="0"/>
                          <a:cs typeface="Segoe UI" panose="020B0502040204020203" pitchFamily="34" charset="0"/>
                        </a:rPr>
                        <a:t>Registry</a:t>
                      </a:r>
                      <a:endParaRPr kumimoji="0" lang="fr-FR" sz="1900" b="1" i="0" u="none" strike="noStrike" cap="none" normalizeH="0" baseline="0" noProof="0" dirty="0" smtClean="0">
                        <a:ln>
                          <a:noFill/>
                        </a:ln>
                        <a:solidFill>
                          <a:schemeClr val="tx1"/>
                        </a:solidFill>
                        <a:effectLst/>
                        <a:latin typeface="Segoe UI" panose="020B0502040204020203" pitchFamily="34" charset="0"/>
                        <a:ea typeface="Segoe UI" pitchFamily="34" charset="0"/>
                        <a:cs typeface="Segoe UI" panose="020B0502040204020203" pitchFamily="34" charset="0"/>
                      </a:endParaRPr>
                    </a:p>
                  </a:txBody>
                  <a:tcPr marL="18000" marR="18000" marT="18000" marB="18000"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fr-FR" sz="1900" b="1" u="none" strike="noStrike" cap="none" normalizeH="0" baseline="0" noProof="0" dirty="0" smtClean="0">
                          <a:ln>
                            <a:noFill/>
                          </a:ln>
                          <a:effectLst/>
                          <a:latin typeface="Segoe UI" panose="020B0502040204020203" pitchFamily="34" charset="0"/>
                          <a:cs typeface="Segoe UI" panose="020B0502040204020203" pitchFamily="34" charset="0"/>
                        </a:rPr>
                        <a:t>DHCP </a:t>
                      </a:r>
                      <a:r>
                        <a:rPr kumimoji="0" lang="fr-FR" sz="1900" b="1" u="none" strike="noStrike" cap="none" normalizeH="0" baseline="0" noProof="0" dirty="0" err="1" smtClean="0">
                          <a:ln>
                            <a:noFill/>
                          </a:ln>
                          <a:effectLst/>
                          <a:latin typeface="Segoe UI" panose="020B0502040204020203" pitchFamily="34" charset="0"/>
                          <a:cs typeface="Segoe UI" panose="020B0502040204020203" pitchFamily="34" charset="0"/>
                        </a:rPr>
                        <a:t>database</a:t>
                      </a:r>
                      <a:endParaRPr kumimoji="0" lang="fr-FR" sz="1900" b="1" i="0" u="none" strike="noStrike" cap="none" normalizeH="0" baseline="0" noProof="0" dirty="0" smtClean="0">
                        <a:ln>
                          <a:noFill/>
                        </a:ln>
                        <a:solidFill>
                          <a:schemeClr val="tx1"/>
                        </a:solidFill>
                        <a:effectLst/>
                        <a:latin typeface="Segoe UI" panose="020B0502040204020203" pitchFamily="34" charset="0"/>
                        <a:ea typeface="Segoe UI" pitchFamily="34" charset="0"/>
                        <a:cs typeface="Segoe UI" panose="020B0502040204020203" pitchFamily="34" charset="0"/>
                      </a:endParaRPr>
                    </a:p>
                  </a:txBody>
                  <a:tcPr marL="18000" marR="18000" marT="18000" marB="18000"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fr-FR" sz="1900" b="1" u="none" strike="noStrike" cap="none" normalizeH="0" baseline="0" noProof="0" dirty="0" smtClean="0">
                          <a:ln>
                            <a:noFill/>
                          </a:ln>
                          <a:effectLst/>
                          <a:latin typeface="Segoe UI" panose="020B0502040204020203" pitchFamily="34" charset="0"/>
                          <a:cs typeface="Segoe UI" panose="020B0502040204020203" pitchFamily="34" charset="0"/>
                        </a:rPr>
                        <a:t>Après réconciliation</a:t>
                      </a:r>
                      <a:endParaRPr kumimoji="0" lang="fr-FR" sz="1900" b="1" i="0" u="none" strike="noStrike" cap="none" normalizeH="0" baseline="0" noProof="0" dirty="0" smtClean="0">
                        <a:ln>
                          <a:noFill/>
                        </a:ln>
                        <a:solidFill>
                          <a:schemeClr val="tx1"/>
                        </a:solidFill>
                        <a:effectLst/>
                        <a:latin typeface="Segoe UI" panose="020B0502040204020203" pitchFamily="34" charset="0"/>
                        <a:ea typeface="Segoe UI" pitchFamily="34" charset="0"/>
                        <a:cs typeface="Segoe UI" panose="020B0502040204020203" pitchFamily="34" charset="0"/>
                      </a:endParaRPr>
                    </a:p>
                  </a:txBody>
                  <a:tcPr marL="18000" marR="18000" marT="18000" marB="18000" anchor="ctr" horzOverflow="overflow">
                    <a:solidFill>
                      <a:schemeClr val="accent2">
                        <a:lumMod val="60000"/>
                        <a:lumOff val="40000"/>
                      </a:schemeClr>
                    </a:solidFill>
                  </a:tcPr>
                </a:tc>
              </a:tr>
              <a:tr h="957096">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fr-FR" sz="1900" u="none" strike="noStrike" cap="none" normalizeH="0" baseline="0" noProof="0" dirty="0" smtClean="0">
                          <a:ln>
                            <a:noFill/>
                          </a:ln>
                          <a:effectLst/>
                          <a:latin typeface="Segoe UI" panose="020B0502040204020203" pitchFamily="34" charset="0"/>
                          <a:cs typeface="Segoe UI" panose="020B0502040204020203" pitchFamily="34" charset="0"/>
                        </a:rPr>
                        <a:t>Un client a l’adresse  IP 192.168.1.34</a:t>
                      </a:r>
                      <a:endParaRPr kumimoji="0" lang="fr-FR" sz="1900" b="0" i="0" u="none" strike="noStrike" cap="none" normalizeH="0" baseline="0" noProof="0" dirty="0" smtClean="0">
                        <a:ln>
                          <a:noFill/>
                        </a:ln>
                        <a:solidFill>
                          <a:schemeClr val="tx1"/>
                        </a:solidFill>
                        <a:effectLst/>
                        <a:latin typeface="Segoe UI" panose="020B0502040204020203" pitchFamily="34" charset="0"/>
                        <a:ea typeface="Segoe UI" pitchFamily="34" charset="0"/>
                        <a:cs typeface="Segoe UI" panose="020B0502040204020203" pitchFamily="34" charset="0"/>
                      </a:endParaRPr>
                    </a:p>
                  </a:txBody>
                  <a:tcPr marR="18288" marT="18288" marB="18288" anchor="ctr" horzOverflow="overflow"/>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fr-FR" sz="1900" u="none" strike="noStrike" cap="none" normalizeH="0" baseline="0" noProof="0" dirty="0" smtClean="0">
                          <a:ln>
                            <a:noFill/>
                          </a:ln>
                          <a:effectLst/>
                          <a:latin typeface="Segoe UI" panose="020B0502040204020203" pitchFamily="34" charset="0"/>
                          <a:cs typeface="Segoe UI" panose="020B0502040204020203" pitchFamily="34" charset="0"/>
                        </a:rPr>
                        <a:t>L’adresse IP 192.168.1.34 </a:t>
                      </a:r>
                      <a:r>
                        <a:rPr kumimoji="0" lang="fr-FR" sz="1900" b="0" i="0" u="none" strike="noStrike" cap="none" normalizeH="0" baseline="0" noProof="0" dirty="0" smtClean="0">
                          <a:ln>
                            <a:noFill/>
                          </a:ln>
                          <a:solidFill>
                            <a:schemeClr val="tx1"/>
                          </a:solidFill>
                          <a:effectLst/>
                          <a:latin typeface="Segoe UI" panose="020B0502040204020203" pitchFamily="34" charset="0"/>
                          <a:ea typeface="+mn-ea"/>
                          <a:cs typeface="Segoe UI" panose="020B0502040204020203" pitchFamily="34" charset="0"/>
                        </a:rPr>
                        <a:t>est disponible</a:t>
                      </a:r>
                      <a:endParaRPr kumimoji="0" lang="fr-FR" sz="1900" b="0" i="0" u="none" strike="noStrike" cap="none" normalizeH="0" baseline="0" noProof="0" dirty="0" smtClean="0">
                        <a:ln>
                          <a:noFill/>
                        </a:ln>
                        <a:solidFill>
                          <a:schemeClr val="tx1"/>
                        </a:solidFill>
                        <a:effectLst/>
                        <a:latin typeface="Segoe UI" panose="020B0502040204020203" pitchFamily="34" charset="0"/>
                        <a:ea typeface="Segoe UI" pitchFamily="34" charset="0"/>
                        <a:cs typeface="Segoe UI" panose="020B0502040204020203" pitchFamily="34" charset="0"/>
                      </a:endParaRPr>
                    </a:p>
                  </a:txBody>
                  <a:tcPr marR="18288" marT="18288" marB="18288" anchor="ctr" horzOverflow="overflow"/>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fr-FR" sz="1900" u="none" strike="noStrike" cap="none" normalizeH="0" baseline="0" noProof="0" dirty="0" smtClean="0">
                          <a:ln>
                            <a:noFill/>
                          </a:ln>
                          <a:effectLst/>
                          <a:latin typeface="Segoe UI" panose="020B0502040204020203" pitchFamily="34" charset="0"/>
                          <a:cs typeface="Segoe UI" panose="020B0502040204020203" pitchFamily="34" charset="0"/>
                        </a:rPr>
                        <a:t>Attribution enregistrée dans la base de données DHCP</a:t>
                      </a:r>
                      <a:endParaRPr kumimoji="0" lang="fr-FR" sz="1900" b="0" i="0" u="none" strike="noStrike" cap="none" normalizeH="0" baseline="0" noProof="0" dirty="0" smtClean="0">
                        <a:ln>
                          <a:noFill/>
                        </a:ln>
                        <a:solidFill>
                          <a:schemeClr val="tx1"/>
                        </a:solidFill>
                        <a:effectLst/>
                        <a:latin typeface="Segoe UI" panose="020B0502040204020203" pitchFamily="34" charset="0"/>
                        <a:ea typeface="Segoe UI" pitchFamily="34" charset="0"/>
                        <a:cs typeface="Segoe UI" panose="020B0502040204020203" pitchFamily="34" charset="0"/>
                      </a:endParaRPr>
                    </a:p>
                  </a:txBody>
                  <a:tcPr marR="18288" marT="18288" marB="18288" anchor="ctr" horzOverflow="overflow"/>
                </a:tc>
              </a:tr>
            </a:tbl>
          </a:graphicData>
        </a:graphic>
      </p:graphicFrame>
      <p:grpSp>
        <p:nvGrpSpPr>
          <p:cNvPr id="5" name="Group 4" descr="An illustration of a DHCP server, with a DHCP database and the server's registry. There are arrows that illustrate how, when you are reconciling scopes, the detailed entries in the DHCP database are compared to the summary entries in the server's registry to find inconsistencies. The table is an example."/>
          <p:cNvGrpSpPr/>
          <p:nvPr/>
        </p:nvGrpSpPr>
        <p:grpSpPr>
          <a:xfrm>
            <a:off x="678416" y="1195947"/>
            <a:ext cx="7947207" cy="2415113"/>
            <a:chOff x="678416" y="1195947"/>
            <a:chExt cx="7947207" cy="2415113"/>
          </a:xfrm>
        </p:grpSpPr>
        <p:cxnSp>
          <p:nvCxnSpPr>
            <p:cNvPr id="6" name="Straight Arrow Connector 5"/>
            <p:cNvCxnSpPr/>
            <p:nvPr/>
          </p:nvCxnSpPr>
          <p:spPr bwMode="auto">
            <a:xfrm>
              <a:off x="5870841" y="1720098"/>
              <a:ext cx="648945" cy="0"/>
            </a:xfrm>
            <a:prstGeom prst="straightConnector1">
              <a:avLst/>
            </a:prstGeom>
            <a:gradFill rotWithShape="1">
              <a:gsLst>
                <a:gs pos="0">
                  <a:srgbClr val="E4CD9A"/>
                </a:gs>
                <a:gs pos="100000">
                  <a:srgbClr val="EEEFD7"/>
                </a:gs>
              </a:gsLst>
              <a:lin ang="2700000" scaled="1"/>
            </a:gradFill>
            <a:ln w="57150" cap="flat" cmpd="sng" algn="ctr">
              <a:solidFill>
                <a:srgbClr val="0070C0"/>
              </a:solidFill>
              <a:prstDash val="solid"/>
              <a:round/>
              <a:headEnd type="none" w="med" len="med"/>
              <a:tailEnd type="arrow"/>
            </a:ln>
            <a:effectLst/>
          </p:spPr>
        </p:cxnSp>
        <p:cxnSp>
          <p:nvCxnSpPr>
            <p:cNvPr id="7" name="Straight Arrow Connector 6"/>
            <p:cNvCxnSpPr/>
            <p:nvPr/>
          </p:nvCxnSpPr>
          <p:spPr bwMode="auto">
            <a:xfrm>
              <a:off x="5870841" y="3013761"/>
              <a:ext cx="648945" cy="0"/>
            </a:xfrm>
            <a:prstGeom prst="straightConnector1">
              <a:avLst/>
            </a:prstGeom>
            <a:gradFill rotWithShape="1">
              <a:gsLst>
                <a:gs pos="0">
                  <a:srgbClr val="E4CD9A"/>
                </a:gs>
                <a:gs pos="100000">
                  <a:srgbClr val="EEEFD7"/>
                </a:gs>
              </a:gsLst>
              <a:lin ang="2700000" scaled="1"/>
            </a:gradFill>
            <a:ln w="57150" cap="flat" cmpd="sng" algn="ctr">
              <a:solidFill>
                <a:srgbClr val="0070C0"/>
              </a:solidFill>
              <a:prstDash val="solid"/>
              <a:round/>
              <a:headEnd type="none" w="med" len="med"/>
              <a:tailEnd type="arrow"/>
            </a:ln>
            <a:effectLst/>
          </p:spPr>
        </p:cxnSp>
        <p:sp>
          <p:nvSpPr>
            <p:cNvPr id="8" name="AutoShape 31"/>
            <p:cNvSpPr>
              <a:spLocks noChangeArrowheads="1"/>
            </p:cNvSpPr>
            <p:nvPr/>
          </p:nvSpPr>
          <p:spPr bwMode="auto">
            <a:xfrm>
              <a:off x="3766794" y="2522776"/>
              <a:ext cx="2173322" cy="981970"/>
            </a:xfrm>
            <a:prstGeom prst="roundRect">
              <a:avLst>
                <a:gd name="adj" fmla="val 1056"/>
              </a:avLst>
            </a:prstGeom>
            <a:ln>
              <a:headEnd/>
              <a:tailEnd/>
            </a:ln>
          </p:spPr>
          <p:style>
            <a:lnRef idx="2">
              <a:schemeClr val="accent2"/>
            </a:lnRef>
            <a:fillRef idx="1">
              <a:schemeClr val="lt1"/>
            </a:fillRef>
            <a:effectRef idx="0">
              <a:schemeClr val="accent2"/>
            </a:effectRef>
            <a:fontRef idx="minor">
              <a:schemeClr val="dk1"/>
            </a:fontRef>
          </p:style>
          <p:txBody>
            <a:bodyPr wrap="square" lIns="182880" tIns="0" rIns="0" bIns="0" anchor="ctr"/>
            <a:lstStyle/>
            <a:p>
              <a:pPr lvl="0" fontAlgn="base">
                <a:lnSpc>
                  <a:spcPct val="85000"/>
                </a:lnSpc>
                <a:spcBef>
                  <a:spcPct val="0"/>
                </a:spcBef>
                <a:spcAft>
                  <a:spcPct val="0"/>
                </a:spcAft>
              </a:pPr>
              <a:r>
                <a:rPr lang="fr-FR" sz="2200" dirty="0" smtClean="0">
                  <a:solidFill>
                    <a:srgbClr val="000000"/>
                  </a:solidFill>
                  <a:latin typeface="Segoe UI" pitchFamily="34" charset="0"/>
                  <a:ea typeface="Segoe UI" pitchFamily="34" charset="0"/>
                  <a:cs typeface="Segoe UI" pitchFamily="34" charset="0"/>
                </a:rPr>
                <a:t>Résumé des infos sur </a:t>
              </a:r>
              <a:r>
                <a:rPr lang="fr-FR" sz="2200" dirty="0">
                  <a:solidFill>
                    <a:srgbClr val="000000"/>
                  </a:solidFill>
                  <a:latin typeface="Segoe UI" pitchFamily="34" charset="0"/>
                  <a:ea typeface="Segoe UI" pitchFamily="34" charset="0"/>
                  <a:cs typeface="Segoe UI" pitchFamily="34" charset="0"/>
                </a:rPr>
                <a:t>les IP distribuées</a:t>
              </a:r>
              <a:endParaRPr lang="fr-FR" sz="2200" dirty="0">
                <a:solidFill>
                  <a:srgbClr val="000000"/>
                </a:solidFill>
                <a:latin typeface="Segoe UI" pitchFamily="34" charset="0"/>
                <a:ea typeface="Segoe UI" pitchFamily="34" charset="0"/>
                <a:cs typeface="Segoe UI" pitchFamily="34" charset="0"/>
              </a:endParaRPr>
            </a:p>
          </p:txBody>
        </p:sp>
        <p:sp>
          <p:nvSpPr>
            <p:cNvPr id="9" name="AutoShape 32"/>
            <p:cNvSpPr>
              <a:spLocks noChangeArrowheads="1"/>
            </p:cNvSpPr>
            <p:nvPr/>
          </p:nvSpPr>
          <p:spPr bwMode="auto">
            <a:xfrm>
              <a:off x="3766794" y="1195947"/>
              <a:ext cx="2173322" cy="1048302"/>
            </a:xfrm>
            <a:prstGeom prst="roundRect">
              <a:avLst>
                <a:gd name="adj" fmla="val 2954"/>
              </a:avLst>
            </a:prstGeom>
            <a:ln>
              <a:headEnd/>
              <a:tailEnd/>
            </a:ln>
          </p:spPr>
          <p:style>
            <a:lnRef idx="2">
              <a:schemeClr val="accent2"/>
            </a:lnRef>
            <a:fillRef idx="1">
              <a:schemeClr val="lt1"/>
            </a:fillRef>
            <a:effectRef idx="0">
              <a:schemeClr val="accent2"/>
            </a:effectRef>
            <a:fontRef idx="minor">
              <a:schemeClr val="dk1"/>
            </a:fontRef>
          </p:style>
          <p:txBody>
            <a:bodyPr wrap="square" lIns="182880" tIns="0" rIns="0" bIns="0" anchor="ctr"/>
            <a:lstStyle/>
            <a:p>
              <a:pPr lvl="0" fontAlgn="base">
                <a:lnSpc>
                  <a:spcPct val="85000"/>
                </a:lnSpc>
                <a:spcBef>
                  <a:spcPct val="0"/>
                </a:spcBef>
                <a:spcAft>
                  <a:spcPct val="0"/>
                </a:spcAft>
              </a:pPr>
              <a:r>
                <a:rPr lang="fr-FR" sz="2200" dirty="0" smtClean="0">
                  <a:solidFill>
                    <a:srgbClr val="000000"/>
                  </a:solidFill>
                  <a:latin typeface="Segoe UI" pitchFamily="34" charset="0"/>
                  <a:ea typeface="Segoe UI" pitchFamily="34" charset="0"/>
                  <a:cs typeface="Segoe UI" pitchFamily="34" charset="0"/>
                </a:rPr>
                <a:t>Infos détaillées sur les IP distribuées</a:t>
              </a:r>
              <a:endParaRPr lang="fr-FR" sz="2200" dirty="0">
                <a:solidFill>
                  <a:srgbClr val="000000"/>
                </a:solidFill>
                <a:latin typeface="Segoe UI" pitchFamily="34" charset="0"/>
                <a:ea typeface="Segoe UI" pitchFamily="34" charset="0"/>
                <a:cs typeface="Segoe UI" pitchFamily="34" charset="0"/>
              </a:endParaRPr>
            </a:p>
          </p:txBody>
        </p:sp>
        <p:sp>
          <p:nvSpPr>
            <p:cNvPr id="10" name="AutoShape 33"/>
            <p:cNvSpPr>
              <a:spLocks noChangeArrowheads="1"/>
            </p:cNvSpPr>
            <p:nvPr/>
          </p:nvSpPr>
          <p:spPr bwMode="auto">
            <a:xfrm>
              <a:off x="6533641" y="1357741"/>
              <a:ext cx="2091982" cy="2022309"/>
            </a:xfrm>
            <a:prstGeom prst="roundRect">
              <a:avLst>
                <a:gd name="adj" fmla="val 2542"/>
              </a:avLst>
            </a:prstGeom>
            <a:ln>
              <a:headEnd/>
              <a:tailEnd/>
            </a:ln>
          </p:spPr>
          <p:style>
            <a:lnRef idx="2">
              <a:schemeClr val="accent2"/>
            </a:lnRef>
            <a:fillRef idx="1">
              <a:schemeClr val="lt1"/>
            </a:fillRef>
            <a:effectRef idx="0">
              <a:schemeClr val="accent2"/>
            </a:effectRef>
            <a:fontRef idx="minor">
              <a:schemeClr val="dk1"/>
            </a:fontRef>
          </p:style>
          <p:txBody>
            <a:bodyPr wrap="square" lIns="182880" tIns="0" rIns="0" bIns="0" anchor="ctr"/>
            <a:lstStyle/>
            <a:p>
              <a:pPr lvl="0" fontAlgn="base">
                <a:lnSpc>
                  <a:spcPct val="85000"/>
                </a:lnSpc>
                <a:spcBef>
                  <a:spcPct val="0"/>
                </a:spcBef>
                <a:spcAft>
                  <a:spcPct val="0"/>
                </a:spcAft>
              </a:pPr>
              <a:r>
                <a:rPr lang="fr-BE" sz="2200" dirty="0">
                  <a:solidFill>
                    <a:srgbClr val="000000"/>
                  </a:solidFill>
                  <a:latin typeface="Segoe UI" pitchFamily="34" charset="0"/>
                  <a:ea typeface="Segoe UI" pitchFamily="34" charset="0"/>
                  <a:cs typeface="Segoe UI" pitchFamily="34" charset="0"/>
                </a:rPr>
                <a:t>Compare et réconcilie les incohérences dans la base de données DHCP</a:t>
              </a:r>
              <a:endParaRPr lang="en-US" sz="2200" dirty="0">
                <a:solidFill>
                  <a:srgbClr val="000000"/>
                </a:solidFill>
                <a:latin typeface="Segoe UI" pitchFamily="34" charset="0"/>
                <a:ea typeface="Segoe UI" pitchFamily="34" charset="0"/>
                <a:cs typeface="Segoe UI" pitchFamily="34" charset="0"/>
              </a:endParaRPr>
            </a:p>
          </p:txBody>
        </p:sp>
        <p:grpSp>
          <p:nvGrpSpPr>
            <p:cNvPr id="11" name="Group 10" descr="A DHCP server with a DHCP database and the server's registry."/>
            <p:cNvGrpSpPr/>
            <p:nvPr/>
          </p:nvGrpSpPr>
          <p:grpSpPr>
            <a:xfrm>
              <a:off x="678416" y="1274768"/>
              <a:ext cx="2615859" cy="2336292"/>
              <a:chOff x="589378" y="916914"/>
              <a:chExt cx="2615859" cy="2336292"/>
            </a:xfrm>
          </p:grpSpPr>
          <p:sp>
            <p:nvSpPr>
              <p:cNvPr id="14" name="AutoShape 26" descr="&quot;&quot;"/>
              <p:cNvSpPr>
                <a:spLocks noChangeArrowheads="1"/>
              </p:cNvSpPr>
              <p:nvPr/>
            </p:nvSpPr>
            <p:spPr bwMode="auto">
              <a:xfrm>
                <a:off x="589378" y="2563426"/>
                <a:ext cx="1084860" cy="673100"/>
              </a:xfrm>
              <a:prstGeom prst="roundRect">
                <a:avLst>
                  <a:gd name="adj" fmla="val 4167"/>
                </a:avLst>
              </a:prstGeom>
              <a:noFill/>
              <a:ln w="9525">
                <a:noFill/>
                <a:round/>
                <a:headEnd/>
                <a:tailEnd/>
              </a:ln>
              <a:effectLst/>
            </p:spPr>
            <p:txBody>
              <a:bodyPr wrap="square" lIns="0" tIns="0" rIns="0" bIns="0" anchor="ctr"/>
              <a:lstStyle/>
              <a:p>
                <a:pPr lvl="0" algn="ctr" fontAlgn="base">
                  <a:lnSpc>
                    <a:spcPct val="85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DHCP server</a:t>
                </a:r>
              </a:p>
            </p:txBody>
          </p:sp>
          <p:sp>
            <p:nvSpPr>
              <p:cNvPr id="15" name="Text Box 29" descr="&quot;&quot;"/>
              <p:cNvSpPr txBox="1">
                <a:spLocks noChangeArrowheads="1"/>
              </p:cNvSpPr>
              <p:nvPr/>
            </p:nvSpPr>
            <p:spPr bwMode="auto">
              <a:xfrm>
                <a:off x="1695214" y="1600263"/>
                <a:ext cx="1510023"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ts val="2200"/>
                  </a:lnSpc>
                  <a:spcBef>
                    <a:spcPct val="0"/>
                  </a:spcBef>
                  <a:spcAft>
                    <a:spcPct val="0"/>
                  </a:spcAft>
                </a:pPr>
                <a:r>
                  <a:rPr lang="en-US" sz="2000" dirty="0">
                    <a:solidFill>
                      <a:srgbClr val="000000"/>
                    </a:solidFill>
                    <a:latin typeface="Segoe UI" pitchFamily="34" charset="0"/>
                    <a:ea typeface="Segoe UI" pitchFamily="34" charset="0"/>
                    <a:cs typeface="Segoe UI" pitchFamily="34" charset="0"/>
                  </a:rPr>
                  <a:t>DHCP database</a:t>
                </a:r>
              </a:p>
            </p:txBody>
          </p:sp>
          <p:sp>
            <p:nvSpPr>
              <p:cNvPr id="16" name="Text Box 30" descr="&quot;&quot;"/>
              <p:cNvSpPr txBox="1">
                <a:spLocks noChangeArrowheads="1"/>
              </p:cNvSpPr>
              <p:nvPr/>
            </p:nvSpPr>
            <p:spPr bwMode="auto">
              <a:xfrm>
                <a:off x="1897706" y="2945429"/>
                <a:ext cx="11050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sz="2000" dirty="0">
                    <a:solidFill>
                      <a:srgbClr val="000000"/>
                    </a:solidFill>
                    <a:latin typeface="Segoe UI" pitchFamily="34" charset="0"/>
                    <a:ea typeface="Segoe UI" pitchFamily="34" charset="0"/>
                    <a:cs typeface="Segoe UI" pitchFamily="34" charset="0"/>
                  </a:rPr>
                  <a:t>Registry</a:t>
                </a: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082" y="916914"/>
                <a:ext cx="969452" cy="1721538"/>
              </a:xfrm>
              <a:prstGeom prst="rect">
                <a:avLst/>
              </a:prstGeom>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6346" y="969480"/>
                <a:ext cx="927758" cy="610576"/>
              </a:xfrm>
              <a:prstGeom prst="rect">
                <a:avLst/>
              </a:prstGeom>
            </p:spPr>
          </p:pic>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6346" y="2343208"/>
                <a:ext cx="927758" cy="610576"/>
              </a:xfrm>
              <a:prstGeom prst="rect">
                <a:avLst/>
              </a:prstGeom>
            </p:spPr>
          </p:pic>
        </p:grpSp>
        <p:cxnSp>
          <p:nvCxnSpPr>
            <p:cNvPr id="12" name="Straight Arrow Connector 11"/>
            <p:cNvCxnSpPr/>
            <p:nvPr/>
          </p:nvCxnSpPr>
          <p:spPr bwMode="auto">
            <a:xfrm>
              <a:off x="3091782" y="1632622"/>
              <a:ext cx="648945" cy="0"/>
            </a:xfrm>
            <a:prstGeom prst="straightConnector1">
              <a:avLst/>
            </a:prstGeom>
            <a:gradFill rotWithShape="1">
              <a:gsLst>
                <a:gs pos="0">
                  <a:srgbClr val="E4CD9A"/>
                </a:gs>
                <a:gs pos="100000">
                  <a:srgbClr val="EEEFD7"/>
                </a:gs>
              </a:gsLst>
              <a:lin ang="2700000" scaled="1"/>
            </a:gradFill>
            <a:ln w="57150" cap="flat" cmpd="sng" algn="ctr">
              <a:solidFill>
                <a:srgbClr val="0070C0"/>
              </a:solidFill>
              <a:prstDash val="solid"/>
              <a:round/>
              <a:headEnd type="none" w="med" len="med"/>
              <a:tailEnd type="arrow"/>
            </a:ln>
            <a:effectLst/>
          </p:spPr>
        </p:cxnSp>
        <p:cxnSp>
          <p:nvCxnSpPr>
            <p:cNvPr id="13" name="Straight Arrow Connector 12"/>
            <p:cNvCxnSpPr/>
            <p:nvPr/>
          </p:nvCxnSpPr>
          <p:spPr bwMode="auto">
            <a:xfrm>
              <a:off x="3091782" y="3013761"/>
              <a:ext cx="648945" cy="0"/>
            </a:xfrm>
            <a:prstGeom prst="straightConnector1">
              <a:avLst/>
            </a:prstGeom>
            <a:gradFill rotWithShape="1">
              <a:gsLst>
                <a:gs pos="0">
                  <a:srgbClr val="E4CD9A"/>
                </a:gs>
                <a:gs pos="100000">
                  <a:srgbClr val="EEEFD7"/>
                </a:gs>
              </a:gsLst>
              <a:lin ang="2700000" scaled="1"/>
            </a:gradFill>
            <a:ln w="57150" cap="flat" cmpd="sng" algn="ctr">
              <a:solidFill>
                <a:srgbClr val="0070C0"/>
              </a:solidFill>
              <a:prstDash val="solid"/>
              <a:round/>
              <a:headEnd type="none" w="med" len="med"/>
              <a:tailEnd type="arrow"/>
            </a:ln>
            <a:effectLst/>
          </p:spPr>
        </p:cxnSp>
      </p:grpSp>
      <p:sp>
        <p:nvSpPr>
          <p:cNvPr id="20" name="TextBox 19"/>
          <p:cNvSpPr txBox="1"/>
          <p:nvPr/>
        </p:nvSpPr>
        <p:spPr>
          <a:xfrm>
            <a:off x="736120" y="3879273"/>
            <a:ext cx="2558155" cy="369332"/>
          </a:xfrm>
          <a:prstGeom prst="rect">
            <a:avLst/>
          </a:prstGeom>
          <a:noFill/>
        </p:spPr>
        <p:txBody>
          <a:bodyPr wrap="square" rtlCol="0">
            <a:spAutoFit/>
          </a:bodyPr>
          <a:lstStyle/>
          <a:p>
            <a:pPr lvl="0" fontAlgn="base">
              <a:spcBef>
                <a:spcPct val="0"/>
              </a:spcBef>
              <a:spcAft>
                <a:spcPct val="0"/>
              </a:spcAft>
            </a:pPr>
            <a:r>
              <a:rPr lang="en-US" b="1" dirty="0">
                <a:solidFill>
                  <a:srgbClr val="000000"/>
                </a:solidFill>
                <a:latin typeface="Segoe" pitchFamily="34" charset="0"/>
                <a:cs typeface="Arial" charset="0"/>
              </a:rPr>
              <a:t>Example:</a:t>
            </a:r>
            <a:endParaRPr lang="en-CA" b="1" dirty="0">
              <a:solidFill>
                <a:srgbClr val="000000"/>
              </a:solidFill>
              <a:latin typeface="Verdana" pitchFamily="34" charset="0"/>
              <a:cs typeface="Arial" charset="0"/>
            </a:endParaRPr>
          </a:p>
        </p:txBody>
      </p:sp>
    </p:spTree>
    <p:extLst>
      <p:ext uri="{BB962C8B-B14F-4D97-AF65-F5344CB8AC3E}">
        <p14:creationId xmlns:p14="http://schemas.microsoft.com/office/powerpoint/2010/main" val="590905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68d9485b-cc72-4118-a8e2-d50f53a79cc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Déplacer la base de données DHCP</a:t>
            </a:r>
            <a:endParaRPr lang="fr-FR" dirty="0"/>
          </a:p>
        </p:txBody>
      </p:sp>
      <p:grpSp>
        <p:nvGrpSpPr>
          <p:cNvPr id="4" name="Group 3" descr="Illustration of an old DHCP server with a DHCP database, a new DHCP server also with a DHCP database, and a CD/DVD (which serves as backup media) situated between the two servers."/>
          <p:cNvGrpSpPr/>
          <p:nvPr/>
        </p:nvGrpSpPr>
        <p:grpSpPr>
          <a:xfrm>
            <a:off x="611560" y="1036290"/>
            <a:ext cx="8019025" cy="4727491"/>
            <a:chOff x="337694" y="900674"/>
            <a:chExt cx="8019025" cy="4727491"/>
          </a:xfrm>
        </p:grpSpPr>
        <p:sp>
          <p:nvSpPr>
            <p:cNvPr id="5" name="Line 24" descr="&quot;&quot;"/>
            <p:cNvSpPr>
              <a:spLocks noChangeShapeType="1"/>
            </p:cNvSpPr>
            <p:nvPr/>
          </p:nvSpPr>
          <p:spPr bwMode="auto">
            <a:xfrm flipV="1">
              <a:off x="2845638" y="1487926"/>
              <a:ext cx="728414" cy="0"/>
            </a:xfrm>
            <a:prstGeom prst="line">
              <a:avLst/>
            </a:prstGeom>
            <a:noFill/>
            <a:ln w="76200">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b="1" dirty="0">
                <a:solidFill>
                  <a:srgbClr val="000000"/>
                </a:solidFill>
                <a:latin typeface="Verdana" pitchFamily="34" charset="0"/>
                <a:cs typeface="Arial" charset="0"/>
              </a:endParaRPr>
            </a:p>
          </p:txBody>
        </p:sp>
        <p:sp>
          <p:nvSpPr>
            <p:cNvPr id="6" name="frame 5 alt-text, red arrow" descr="This is the 5th of 6 frames.&#10;An arrow appears pointing from the backup CD\DVD to the new DHCP server. This represents that a new database has been made from the backup media.&#10;"/>
            <p:cNvSpPr>
              <a:spLocks noChangeShapeType="1"/>
            </p:cNvSpPr>
            <p:nvPr/>
          </p:nvSpPr>
          <p:spPr bwMode="auto">
            <a:xfrm>
              <a:off x="4762267" y="2085591"/>
              <a:ext cx="789172" cy="687730"/>
            </a:xfrm>
            <a:prstGeom prst="line">
              <a:avLst/>
            </a:prstGeom>
            <a:noFill/>
            <a:ln w="76200">
              <a:solidFill>
                <a:srgbClr val="CC0000"/>
              </a:solidFill>
              <a:round/>
              <a:headEnd/>
              <a:tailEnd type="triangle" w="med" len="me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b="1" dirty="0">
                <a:solidFill>
                  <a:srgbClr val="000000"/>
                </a:solidFill>
                <a:latin typeface="Verdana" pitchFamily="34" charset="0"/>
                <a:cs typeface="Arial" charset="0"/>
              </a:endParaRPr>
            </a:p>
          </p:txBody>
        </p:sp>
        <p:grpSp>
          <p:nvGrpSpPr>
            <p:cNvPr id="7" name="Group 6"/>
            <p:cNvGrpSpPr/>
            <p:nvPr/>
          </p:nvGrpSpPr>
          <p:grpSpPr>
            <a:xfrm>
              <a:off x="3633502" y="900674"/>
              <a:ext cx="1421172" cy="2171663"/>
              <a:chOff x="4095038" y="1013540"/>
              <a:chExt cx="1421172" cy="2171663"/>
            </a:xfrm>
          </p:grpSpPr>
          <p:sp>
            <p:nvSpPr>
              <p:cNvPr id="22" name="TextBox 21" descr="&quot;&quot;"/>
              <p:cNvSpPr txBox="1">
                <a:spLocks noChangeArrowheads="1"/>
              </p:cNvSpPr>
              <p:nvPr/>
            </p:nvSpPr>
            <p:spPr bwMode="auto">
              <a:xfrm>
                <a:off x="4095038" y="2538872"/>
                <a:ext cx="105129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dirty="0">
                    <a:solidFill>
                      <a:srgbClr val="000000"/>
                    </a:solidFill>
                    <a:latin typeface="Segoe UI" pitchFamily="34" charset="0"/>
                    <a:ea typeface="Segoe UI" pitchFamily="34" charset="0"/>
                    <a:cs typeface="Segoe UI" pitchFamily="34" charset="0"/>
                  </a:rPr>
                  <a:t>Backup</a:t>
                </a:r>
              </a:p>
              <a:p>
                <a:pPr lvl="0" algn="ctr" fontAlgn="base">
                  <a:spcBef>
                    <a:spcPct val="0"/>
                  </a:spcBef>
                  <a:spcAft>
                    <a:spcPct val="0"/>
                  </a:spcAft>
                </a:pPr>
                <a:r>
                  <a:rPr lang="en-US" dirty="0">
                    <a:solidFill>
                      <a:srgbClr val="000000"/>
                    </a:solidFill>
                    <a:latin typeface="Segoe UI" pitchFamily="34" charset="0"/>
                    <a:ea typeface="Segoe UI" pitchFamily="34" charset="0"/>
                    <a:cs typeface="Segoe UI" pitchFamily="34" charset="0"/>
                  </a:rPr>
                  <a:t>media</a:t>
                </a:r>
              </a:p>
            </p:txBody>
          </p:sp>
          <p:grpSp>
            <p:nvGrpSpPr>
              <p:cNvPr id="23" name="Group 22"/>
              <p:cNvGrpSpPr/>
              <p:nvPr/>
            </p:nvGrpSpPr>
            <p:grpSpPr>
              <a:xfrm>
                <a:off x="4136342" y="1013540"/>
                <a:ext cx="1379868" cy="1662824"/>
                <a:chOff x="4242206" y="1013540"/>
                <a:chExt cx="1379868" cy="1662824"/>
              </a:xfrm>
            </p:grpSpPr>
            <p:pic>
              <p:nvPicPr>
                <p:cNvPr id="24" name="Picture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2206" y="1013540"/>
                  <a:ext cx="839566" cy="1426448"/>
                </a:xfrm>
                <a:prstGeom prst="rect">
                  <a:avLst/>
                </a:prstGeom>
              </p:spPr>
            </p:pic>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12067" y="1425077"/>
                  <a:ext cx="1210007" cy="1251287"/>
                </a:xfrm>
                <a:prstGeom prst="rect">
                  <a:avLst/>
                </a:prstGeom>
              </p:spPr>
            </p:pic>
          </p:grpSp>
        </p:grpSp>
        <p:grpSp>
          <p:nvGrpSpPr>
            <p:cNvPr id="8" name="Group 7"/>
            <p:cNvGrpSpPr/>
            <p:nvPr/>
          </p:nvGrpSpPr>
          <p:grpSpPr>
            <a:xfrm>
              <a:off x="337694" y="981776"/>
              <a:ext cx="1865718" cy="2846157"/>
              <a:chOff x="827584" y="2420247"/>
              <a:chExt cx="1865718" cy="2846157"/>
            </a:xfrm>
          </p:grpSpPr>
          <p:grpSp>
            <p:nvGrpSpPr>
              <p:cNvPr id="18" name="Group 17"/>
              <p:cNvGrpSpPr/>
              <p:nvPr/>
            </p:nvGrpSpPr>
            <p:grpSpPr>
              <a:xfrm>
                <a:off x="878077" y="2420247"/>
                <a:ext cx="1528763" cy="2846157"/>
                <a:chOff x="878077" y="2420247"/>
                <a:chExt cx="1528763" cy="2846157"/>
              </a:xfrm>
            </p:grpSpPr>
            <p:sp>
              <p:nvSpPr>
                <p:cNvPr id="20" name="TextBox 12" descr="&quot;&quot;"/>
                <p:cNvSpPr txBox="1">
                  <a:spLocks noChangeArrowheads="1"/>
                </p:cNvSpPr>
                <p:nvPr/>
              </p:nvSpPr>
              <p:spPr bwMode="auto">
                <a:xfrm>
                  <a:off x="878077" y="4625054"/>
                  <a:ext cx="15287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dirty="0">
                      <a:solidFill>
                        <a:srgbClr val="000000"/>
                      </a:solidFill>
                      <a:latin typeface="Segoe UI" pitchFamily="34" charset="0"/>
                      <a:ea typeface="Segoe UI" pitchFamily="34" charset="0"/>
                      <a:cs typeface="Segoe UI" pitchFamily="34" charset="0"/>
                    </a:rPr>
                    <a:t>Old DHCP server</a:t>
                  </a:r>
                </a:p>
              </p:txBody>
            </p:sp>
            <p:pic>
              <p:nvPicPr>
                <p:cNvPr id="21" name="Picture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4" y="2420247"/>
                  <a:ext cx="1222896" cy="2171601"/>
                </a:xfrm>
                <a:prstGeom prst="rect">
                  <a:avLst/>
                </a:prstGeom>
              </p:spPr>
            </p:pic>
          </p:grpSp>
          <p:sp>
            <p:nvSpPr>
              <p:cNvPr id="19" name="Multiply 18"/>
              <p:cNvSpPr/>
              <p:nvPr/>
            </p:nvSpPr>
            <p:spPr bwMode="auto">
              <a:xfrm>
                <a:off x="827584" y="2562225"/>
                <a:ext cx="1865718" cy="1865718"/>
              </a:xfrm>
              <a:prstGeom prst="mathMultiply">
                <a:avLst>
                  <a:gd name="adj1" fmla="val 7184"/>
                </a:avLst>
              </a:prstGeom>
              <a:solidFill>
                <a:srgbClr val="FF0000"/>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grpSp>
        <p:grpSp>
          <p:nvGrpSpPr>
            <p:cNvPr id="9" name="Group 8"/>
            <p:cNvGrpSpPr/>
            <p:nvPr/>
          </p:nvGrpSpPr>
          <p:grpSpPr>
            <a:xfrm>
              <a:off x="6670794" y="2910355"/>
              <a:ext cx="1685925" cy="2717810"/>
              <a:chOff x="6853238" y="3400012"/>
              <a:chExt cx="1685925" cy="2717810"/>
            </a:xfrm>
          </p:grpSpPr>
          <p:sp>
            <p:nvSpPr>
              <p:cNvPr id="16" name="TextBox 15" descr="&quot;&quot;"/>
              <p:cNvSpPr txBox="1">
                <a:spLocks noChangeArrowheads="1"/>
              </p:cNvSpPr>
              <p:nvPr/>
            </p:nvSpPr>
            <p:spPr bwMode="auto">
              <a:xfrm>
                <a:off x="6853238" y="5476472"/>
                <a:ext cx="1685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dirty="0">
                    <a:solidFill>
                      <a:srgbClr val="000000"/>
                    </a:solidFill>
                    <a:latin typeface="Segoe UI" pitchFamily="34" charset="0"/>
                    <a:ea typeface="Segoe UI" pitchFamily="34" charset="0"/>
                    <a:cs typeface="Segoe UI" pitchFamily="34" charset="0"/>
                  </a:rPr>
                  <a:t>New DHCP Server</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11940" y="3400012"/>
                <a:ext cx="1168520" cy="2075040"/>
              </a:xfrm>
              <a:prstGeom prst="rect">
                <a:avLst/>
              </a:prstGeom>
            </p:spPr>
          </p:pic>
        </p:grpSp>
        <p:grpSp>
          <p:nvGrpSpPr>
            <p:cNvPr id="10" name="Group 9"/>
            <p:cNvGrpSpPr/>
            <p:nvPr/>
          </p:nvGrpSpPr>
          <p:grpSpPr>
            <a:xfrm>
              <a:off x="1596292" y="944721"/>
              <a:ext cx="1426346" cy="1583696"/>
              <a:chOff x="5622075" y="3210374"/>
              <a:chExt cx="1426346" cy="1583696"/>
            </a:xfrm>
          </p:grpSpPr>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22075" y="3210374"/>
                <a:ext cx="1426346" cy="938706"/>
              </a:xfrm>
              <a:prstGeom prst="rect">
                <a:avLst/>
              </a:prstGeom>
            </p:spPr>
          </p:pic>
          <p:sp>
            <p:nvSpPr>
              <p:cNvPr id="15" name="Text Box 29" descr="&quot;&quot;"/>
              <p:cNvSpPr txBox="1">
                <a:spLocks noChangeArrowheads="1"/>
              </p:cNvSpPr>
              <p:nvPr/>
            </p:nvSpPr>
            <p:spPr bwMode="auto">
              <a:xfrm>
                <a:off x="5914335" y="4209295"/>
                <a:ext cx="10483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sz="1600" dirty="0">
                    <a:solidFill>
                      <a:srgbClr val="000000"/>
                    </a:solidFill>
                    <a:latin typeface="Segoe UI" pitchFamily="34" charset="0"/>
                    <a:ea typeface="Segoe UI" pitchFamily="34" charset="0"/>
                    <a:cs typeface="Segoe UI" pitchFamily="34" charset="0"/>
                  </a:rPr>
                  <a:t>DHCP</a:t>
                </a:r>
              </a:p>
              <a:p>
                <a:pPr lvl="0" algn="ctr" fontAlgn="base">
                  <a:spcBef>
                    <a:spcPct val="0"/>
                  </a:spcBef>
                  <a:spcAft>
                    <a:spcPct val="0"/>
                  </a:spcAft>
                </a:pPr>
                <a:r>
                  <a:rPr lang="en-US" sz="1600" dirty="0">
                    <a:solidFill>
                      <a:srgbClr val="000000"/>
                    </a:solidFill>
                    <a:latin typeface="Segoe UI" pitchFamily="34" charset="0"/>
                    <a:ea typeface="Segoe UI" pitchFamily="34" charset="0"/>
                    <a:cs typeface="Segoe UI" pitchFamily="34" charset="0"/>
                  </a:rPr>
                  <a:t>database</a:t>
                </a:r>
              </a:p>
            </p:txBody>
          </p:sp>
        </p:grpSp>
        <p:grpSp>
          <p:nvGrpSpPr>
            <p:cNvPr id="11" name="Group 10"/>
            <p:cNvGrpSpPr/>
            <p:nvPr/>
          </p:nvGrpSpPr>
          <p:grpSpPr>
            <a:xfrm>
              <a:off x="5551439" y="2652519"/>
              <a:ext cx="1426346" cy="1509956"/>
              <a:chOff x="5474595" y="3210374"/>
              <a:chExt cx="1426346" cy="1509956"/>
            </a:xfrm>
          </p:grpSpPr>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74595" y="3210374"/>
                <a:ext cx="1426346" cy="938706"/>
              </a:xfrm>
              <a:prstGeom prst="rect">
                <a:avLst/>
              </a:prstGeom>
            </p:spPr>
          </p:pic>
          <p:sp>
            <p:nvSpPr>
              <p:cNvPr id="13" name="Text Box 29" descr="&quot;&quot;"/>
              <p:cNvSpPr txBox="1">
                <a:spLocks noChangeArrowheads="1"/>
              </p:cNvSpPr>
              <p:nvPr/>
            </p:nvSpPr>
            <p:spPr bwMode="auto">
              <a:xfrm>
                <a:off x="5681090" y="4135555"/>
                <a:ext cx="10723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sz="1600" dirty="0">
                    <a:solidFill>
                      <a:srgbClr val="000000"/>
                    </a:solidFill>
                    <a:latin typeface="Segoe UI" pitchFamily="34" charset="0"/>
                    <a:ea typeface="Segoe UI" pitchFamily="34" charset="0"/>
                    <a:cs typeface="Segoe UI" pitchFamily="34" charset="0"/>
                  </a:rPr>
                  <a:t>DHCP</a:t>
                </a:r>
              </a:p>
              <a:p>
                <a:pPr lvl="0" algn="ctr" fontAlgn="base">
                  <a:spcBef>
                    <a:spcPct val="0"/>
                  </a:spcBef>
                  <a:spcAft>
                    <a:spcPct val="0"/>
                  </a:spcAft>
                </a:pPr>
                <a:r>
                  <a:rPr lang="en-US" sz="1600" dirty="0">
                    <a:solidFill>
                      <a:srgbClr val="000000"/>
                    </a:solidFill>
                    <a:latin typeface="Segoe UI" pitchFamily="34" charset="0"/>
                    <a:ea typeface="Segoe UI" pitchFamily="34" charset="0"/>
                    <a:cs typeface="Segoe UI" pitchFamily="34" charset="0"/>
                  </a:rPr>
                  <a:t>Database</a:t>
                </a:r>
              </a:p>
            </p:txBody>
          </p:sp>
        </p:grpSp>
      </p:grpSp>
      <p:sp>
        <p:nvSpPr>
          <p:cNvPr id="26" name="TextBox 25"/>
          <p:cNvSpPr txBox="1"/>
          <p:nvPr/>
        </p:nvSpPr>
        <p:spPr>
          <a:xfrm>
            <a:off x="917472" y="4057802"/>
            <a:ext cx="5300084" cy="2108269"/>
          </a:xfrm>
          <a:prstGeom prst="rect">
            <a:avLst/>
          </a:prstGeom>
          <a:noFill/>
        </p:spPr>
        <p:txBody>
          <a:bodyPr wrap="square" rtlCol="0">
            <a:spAutoFit/>
          </a:bodyPr>
          <a:lstStyle/>
          <a:p>
            <a:pPr lvl="0" fontAlgn="base">
              <a:spcBef>
                <a:spcPct val="0"/>
              </a:spcBef>
              <a:spcAft>
                <a:spcPts val="600"/>
              </a:spcAft>
            </a:pPr>
            <a:r>
              <a:rPr lang="en-US" b="1" dirty="0">
                <a:solidFill>
                  <a:srgbClr val="000000"/>
                </a:solidFill>
                <a:latin typeface="Segoe UI" pitchFamily="34" charset="0"/>
                <a:ea typeface="Segoe UI" pitchFamily="34" charset="0"/>
                <a:cs typeface="Segoe UI" pitchFamily="34" charset="0"/>
              </a:rPr>
              <a:t>Steps for moving a DHCP database:</a:t>
            </a:r>
            <a:endParaRPr lang="en-CA" b="1" dirty="0">
              <a:solidFill>
                <a:srgbClr val="000000"/>
              </a:solidFill>
              <a:latin typeface="Segoe UI" pitchFamily="34" charset="0"/>
              <a:ea typeface="Segoe UI" pitchFamily="34" charset="0"/>
              <a:cs typeface="Segoe UI" pitchFamily="34" charset="0"/>
            </a:endParaRPr>
          </a:p>
          <a:p>
            <a:pPr marL="342900" lvl="1" indent="-342900" fontAlgn="base">
              <a:spcBef>
                <a:spcPct val="0"/>
              </a:spcBef>
              <a:spcAft>
                <a:spcPct val="0"/>
              </a:spcAft>
              <a:buFont typeface="+mj-lt"/>
              <a:buAutoNum type="arabicPeriod"/>
            </a:pPr>
            <a:r>
              <a:rPr lang="en-US" dirty="0">
                <a:solidFill>
                  <a:srgbClr val="000000"/>
                </a:solidFill>
                <a:latin typeface="Segoe UI" pitchFamily="34" charset="0"/>
                <a:ea typeface="Segoe UI" pitchFamily="34" charset="0"/>
                <a:cs typeface="Segoe UI" pitchFamily="34" charset="0"/>
              </a:rPr>
              <a:t>Back up the DHCP database on the old server</a:t>
            </a:r>
            <a:endParaRPr lang="en-CA" dirty="0">
              <a:solidFill>
                <a:srgbClr val="000000"/>
              </a:solidFill>
              <a:latin typeface="Segoe UI" pitchFamily="34" charset="0"/>
              <a:ea typeface="Segoe UI" pitchFamily="34" charset="0"/>
              <a:cs typeface="Segoe UI" pitchFamily="34" charset="0"/>
            </a:endParaRPr>
          </a:p>
          <a:p>
            <a:pPr marL="342900" lvl="1" indent="-342900" fontAlgn="base">
              <a:spcBef>
                <a:spcPct val="0"/>
              </a:spcBef>
              <a:spcAft>
                <a:spcPct val="0"/>
              </a:spcAft>
              <a:buFont typeface="+mj-lt"/>
              <a:buAutoNum type="arabicPeriod"/>
            </a:pPr>
            <a:r>
              <a:rPr lang="en-US" dirty="0">
                <a:solidFill>
                  <a:srgbClr val="000000"/>
                </a:solidFill>
                <a:latin typeface="Segoe UI" pitchFamily="34" charset="0"/>
                <a:ea typeface="Segoe UI" pitchFamily="34" charset="0"/>
                <a:cs typeface="Segoe UI" pitchFamily="34" charset="0"/>
              </a:rPr>
              <a:t>Stop the old DHCP server service</a:t>
            </a:r>
            <a:endParaRPr lang="en-CA" dirty="0">
              <a:solidFill>
                <a:srgbClr val="000000"/>
              </a:solidFill>
              <a:latin typeface="Segoe UI" pitchFamily="34" charset="0"/>
              <a:ea typeface="Segoe UI" pitchFamily="34" charset="0"/>
              <a:cs typeface="Segoe UI" pitchFamily="34" charset="0"/>
            </a:endParaRPr>
          </a:p>
          <a:p>
            <a:pPr marL="342900" lvl="1" indent="-342900" fontAlgn="base">
              <a:spcBef>
                <a:spcPct val="0"/>
              </a:spcBef>
              <a:spcAft>
                <a:spcPct val="0"/>
              </a:spcAft>
              <a:buFont typeface="+mj-lt"/>
              <a:buAutoNum type="arabicPeriod"/>
            </a:pPr>
            <a:r>
              <a:rPr lang="en-US" dirty="0">
                <a:solidFill>
                  <a:srgbClr val="000000"/>
                </a:solidFill>
                <a:latin typeface="Segoe UI" pitchFamily="34" charset="0"/>
                <a:ea typeface="Segoe UI" pitchFamily="34" charset="0"/>
                <a:cs typeface="Segoe UI" pitchFamily="34" charset="0"/>
              </a:rPr>
              <a:t>Copy the DHCP database to the new server and, if necessary, install the DHCP server role</a:t>
            </a:r>
            <a:endParaRPr lang="en-CA" dirty="0">
              <a:solidFill>
                <a:srgbClr val="000000"/>
              </a:solidFill>
              <a:latin typeface="Segoe UI" pitchFamily="34" charset="0"/>
              <a:ea typeface="Segoe UI" pitchFamily="34" charset="0"/>
              <a:cs typeface="Segoe UI" pitchFamily="34" charset="0"/>
            </a:endParaRPr>
          </a:p>
          <a:p>
            <a:pPr marL="342900" lvl="1" indent="-342900" fontAlgn="base">
              <a:spcBef>
                <a:spcPct val="0"/>
              </a:spcBef>
              <a:spcAft>
                <a:spcPct val="0"/>
              </a:spcAft>
              <a:buFont typeface="+mj-lt"/>
              <a:buAutoNum type="arabicPeriod"/>
            </a:pPr>
            <a:r>
              <a:rPr lang="en-US" dirty="0">
                <a:solidFill>
                  <a:srgbClr val="000000"/>
                </a:solidFill>
                <a:latin typeface="Segoe UI" pitchFamily="34" charset="0"/>
                <a:ea typeface="Segoe UI" pitchFamily="34" charset="0"/>
                <a:cs typeface="Segoe UI" pitchFamily="34" charset="0"/>
              </a:rPr>
              <a:t>Restore the database</a:t>
            </a:r>
            <a:endParaRPr lang="en-CA" dirty="0">
              <a:solidFill>
                <a:srgbClr val="000000"/>
              </a:solidFill>
              <a:latin typeface="Segoe UI" pitchFamily="34" charset="0"/>
              <a:ea typeface="Segoe UI" pitchFamily="34" charset="0"/>
              <a:cs typeface="Segoe UI" pitchFamily="34" charset="0"/>
            </a:endParaRPr>
          </a:p>
          <a:p>
            <a:pPr marL="342900" lvl="1" indent="-342900" fontAlgn="base">
              <a:spcBef>
                <a:spcPct val="0"/>
              </a:spcBef>
              <a:spcAft>
                <a:spcPct val="0"/>
              </a:spcAft>
              <a:buFont typeface="+mj-lt"/>
              <a:buAutoNum type="arabicPeriod"/>
            </a:pPr>
            <a:r>
              <a:rPr lang="en-US" dirty="0">
                <a:solidFill>
                  <a:srgbClr val="000000"/>
                </a:solidFill>
                <a:latin typeface="Segoe UI" pitchFamily="34" charset="0"/>
                <a:ea typeface="Segoe UI" pitchFamily="34" charset="0"/>
                <a:cs typeface="Segoe UI" pitchFamily="34" charset="0"/>
              </a:rPr>
              <a:t>Start the DHCP </a:t>
            </a:r>
            <a:r>
              <a:rPr lang="en-CA" dirty="0">
                <a:solidFill>
                  <a:srgbClr val="000000"/>
                </a:solidFill>
                <a:latin typeface="Segoe UI" pitchFamily="34" charset="0"/>
                <a:ea typeface="Segoe UI" pitchFamily="34" charset="0"/>
                <a:cs typeface="Segoe UI" pitchFamily="34" charset="0"/>
              </a:rPr>
              <a:t>Server </a:t>
            </a:r>
            <a:r>
              <a:rPr lang="en-US" dirty="0">
                <a:solidFill>
                  <a:srgbClr val="000000"/>
                </a:solidFill>
                <a:latin typeface="Segoe UI" pitchFamily="34" charset="0"/>
                <a:ea typeface="Segoe UI" pitchFamily="34" charset="0"/>
                <a:cs typeface="Segoe UI" pitchFamily="34" charset="0"/>
              </a:rPr>
              <a:t>service</a:t>
            </a:r>
            <a:endParaRPr lang="en-CA"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8622682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08242787-ac7e-4723-84ba-58b3438f78c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4: Securing and Monitoring DHCP</a:t>
            </a:r>
            <a:endParaRPr lang="en-CA" dirty="0"/>
          </a:p>
        </p:txBody>
      </p:sp>
      <p:sp>
        <p:nvSpPr>
          <p:cNvPr id="3" name="Text Placeholder 2"/>
          <p:cNvSpPr>
            <a:spLocks noGrp="1"/>
          </p:cNvSpPr>
          <p:nvPr>
            <p:ph type="body" idx="1"/>
          </p:nvPr>
        </p:nvSpPr>
        <p:spPr/>
        <p:txBody>
          <a:bodyPr/>
          <a:lstStyle/>
          <a:p>
            <a:r>
              <a:rPr lang="en-CA" dirty="0" smtClean="0"/>
              <a:t>Preventing an Unauthorized Computer from Obtaining a Lease
Restricting Unauthorized, NonMicrosoft DHCP Servers from Leasing IP Addresses
Delegating DHCP Administration
What Are DHCP Statistics?
What Is DHCP Audit Logging?
Discussion: Common DHCP Issues</a:t>
            </a:r>
            <a:endParaRPr lang="en-CA" dirty="0"/>
          </a:p>
        </p:txBody>
      </p:sp>
    </p:spTree>
    <p:extLst>
      <p:ext uri="{BB962C8B-B14F-4D97-AF65-F5344CB8AC3E}">
        <p14:creationId xmlns:p14="http://schemas.microsoft.com/office/powerpoint/2010/main" val="42652950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90bdc78b-d27a-44fb-9310-597d8ba57b7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Empêcher un utilisateur non autorisé d’obtenir une adresse IP</a:t>
            </a:r>
            <a:endParaRPr lang="fr-FR" dirty="0"/>
          </a:p>
        </p:txBody>
      </p:sp>
      <p:sp>
        <p:nvSpPr>
          <p:cNvPr id="4" name="AutoShape 6"/>
          <p:cNvSpPr>
            <a:spLocks noChangeArrowheads="1"/>
          </p:cNvSpPr>
          <p:nvPr/>
        </p:nvSpPr>
        <p:spPr bwMode="auto">
          <a:xfrm>
            <a:off x="1273175" y="2782888"/>
            <a:ext cx="6584950" cy="739775"/>
          </a:xfrm>
          <a:prstGeom prst="roundRect">
            <a:avLst>
              <a:gd name="adj" fmla="val 4167"/>
            </a:avLst>
          </a:prstGeom>
          <a:noFill/>
          <a:ln w="9525" algn="ctr">
            <a:noFill/>
            <a:round/>
            <a:headEnd/>
            <a:tailEnd/>
          </a:ln>
          <a:effectLst/>
        </p:spPr>
        <p:txBody>
          <a:bodyPr wrap="none" anchor="ctr"/>
          <a:lstStyle/>
          <a:p>
            <a:pPr marL="228600" lvl="0" indent="-228600" fontAlgn="base">
              <a:lnSpc>
                <a:spcPct val="90000"/>
              </a:lnSpc>
              <a:spcBef>
                <a:spcPct val="40000"/>
              </a:spcBef>
              <a:spcAft>
                <a:spcPct val="0"/>
              </a:spcAft>
              <a:buClr>
                <a:srgbClr val="006699"/>
              </a:buClr>
              <a:buFontTx/>
              <a:buChar char="•"/>
            </a:pPr>
            <a:endParaRPr lang="en-US" sz="2400" dirty="0">
              <a:solidFill>
                <a:srgbClr val="000000"/>
              </a:solidFill>
              <a:latin typeface="Segoe UI" pitchFamily="34" charset="0"/>
              <a:ea typeface="Segoe UI" pitchFamily="34" charset="0"/>
              <a:cs typeface="Segoe UI" pitchFamily="34" charset="0"/>
            </a:endParaRPr>
          </a:p>
        </p:txBody>
      </p:sp>
      <p:sp>
        <p:nvSpPr>
          <p:cNvPr id="5"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228600" indent="-228600">
              <a:spcBef>
                <a:spcPct val="40000"/>
              </a:spcBef>
              <a:buClr>
                <a:srgbClr val="006699"/>
              </a:buClr>
              <a:buFontTx/>
              <a:buChar char="•"/>
            </a:pPr>
            <a:r>
              <a:rPr lang="fr-FR" kern="0" dirty="0" smtClean="0">
                <a:solidFill>
                  <a:srgbClr val="000000"/>
                </a:solidFill>
              </a:rPr>
              <a:t>Empêcher l’accès physique au réseau</a:t>
            </a:r>
          </a:p>
          <a:p>
            <a:pPr marL="228600" indent="-228600">
              <a:spcBef>
                <a:spcPct val="40000"/>
              </a:spcBef>
              <a:buClr>
                <a:srgbClr val="006699"/>
              </a:buClr>
              <a:buFontTx/>
              <a:buChar char="•"/>
            </a:pPr>
            <a:r>
              <a:rPr lang="fr-FR" kern="0" dirty="0" smtClean="0">
                <a:solidFill>
                  <a:srgbClr val="000000"/>
                </a:solidFill>
              </a:rPr>
              <a:t>Activer la surveillance de chaque serveur DHCP du réseau</a:t>
            </a:r>
          </a:p>
          <a:p>
            <a:pPr marL="228600" indent="-228600">
              <a:spcBef>
                <a:spcPct val="40000"/>
              </a:spcBef>
              <a:buClr>
                <a:srgbClr val="006699"/>
              </a:buClr>
              <a:buFontTx/>
              <a:buChar char="•"/>
            </a:pPr>
            <a:r>
              <a:rPr lang="fr-FR" kern="0" dirty="0" smtClean="0">
                <a:solidFill>
                  <a:srgbClr val="000000"/>
                </a:solidFill>
              </a:rPr>
              <a:t>Consulter régulièrement les fichier journaux</a:t>
            </a:r>
          </a:p>
          <a:p>
            <a:pPr marL="228600" indent="-228600">
              <a:spcBef>
                <a:spcPct val="40000"/>
              </a:spcBef>
              <a:buClr>
                <a:srgbClr val="006699"/>
              </a:buClr>
              <a:buFontTx/>
              <a:buChar char="•"/>
            </a:pPr>
            <a:r>
              <a:rPr lang="fr-FR" kern="0" dirty="0" smtClean="0">
                <a:solidFill>
                  <a:srgbClr val="000000"/>
                </a:solidFill>
              </a:rPr>
              <a:t>Utiliser la norme 802.1X (</a:t>
            </a:r>
            <a:r>
              <a:rPr lang="fr-BE" kern="0" dirty="0" smtClean="0">
                <a:solidFill>
                  <a:srgbClr val="000000"/>
                </a:solidFill>
              </a:rPr>
              <a:t>c</a:t>
            </a:r>
            <a:r>
              <a:rPr lang="fr-BE" kern="0" dirty="0" smtClean="0">
                <a:solidFill>
                  <a:srgbClr val="000000"/>
                </a:solidFill>
              </a:rPr>
              <a:t>ontrôle </a:t>
            </a:r>
            <a:r>
              <a:rPr lang="fr-BE" kern="0" dirty="0">
                <a:solidFill>
                  <a:srgbClr val="000000"/>
                </a:solidFill>
              </a:rPr>
              <a:t>d'accès au réseau basé sur </a:t>
            </a:r>
            <a:r>
              <a:rPr lang="fr-BE" kern="0" dirty="0" smtClean="0">
                <a:solidFill>
                  <a:srgbClr val="000000"/>
                </a:solidFill>
              </a:rPr>
              <a:t>les ports)</a:t>
            </a:r>
            <a:endParaRPr lang="fr-FR" kern="0" dirty="0" smtClean="0">
              <a:solidFill>
                <a:srgbClr val="000000"/>
              </a:solidFill>
            </a:endParaRPr>
          </a:p>
          <a:p>
            <a:pPr marL="228600" indent="-228600">
              <a:spcBef>
                <a:spcPct val="40000"/>
              </a:spcBef>
              <a:buClr>
                <a:srgbClr val="006699"/>
              </a:buClr>
              <a:buFontTx/>
              <a:buChar char="•"/>
            </a:pPr>
            <a:r>
              <a:rPr lang="fr-FR" kern="0" dirty="0" smtClean="0">
                <a:solidFill>
                  <a:srgbClr val="000000"/>
                </a:solidFill>
              </a:rPr>
              <a:t>Configurer le </a:t>
            </a:r>
            <a:r>
              <a:rPr lang="fr-FR" kern="0" dirty="0">
                <a:solidFill>
                  <a:srgbClr val="000000"/>
                </a:solidFill>
              </a:rPr>
              <a:t>NAP (Network Access </a:t>
            </a:r>
            <a:r>
              <a:rPr lang="fr-FR" kern="0" dirty="0" smtClean="0">
                <a:solidFill>
                  <a:srgbClr val="000000"/>
                </a:solidFill>
              </a:rPr>
              <a:t>Protection)</a:t>
            </a:r>
            <a:endParaRPr lang="fr-FR" kern="0" dirty="0">
              <a:solidFill>
                <a:srgbClr val="000000"/>
              </a:solidFill>
            </a:endParaRPr>
          </a:p>
        </p:txBody>
      </p:sp>
    </p:spTree>
    <p:extLst>
      <p:ext uri="{BB962C8B-B14F-4D97-AF65-F5344CB8AC3E}">
        <p14:creationId xmlns:p14="http://schemas.microsoft.com/office/powerpoint/2010/main" val="26903770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c1bd7e92-d6c1-42eb-a35e-3db704da77e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Limiter les serveurs DHCP non autorisés</a:t>
            </a:r>
            <a:endParaRPr lang="fr-FR" dirty="0"/>
          </a:p>
        </p:txBody>
      </p:sp>
      <p:sp>
        <p:nvSpPr>
          <p:cNvPr id="4" name="AutoShape 130"/>
          <p:cNvSpPr>
            <a:spLocks noChangeArrowheads="1"/>
          </p:cNvSpPr>
          <p:nvPr/>
        </p:nvSpPr>
        <p:spPr bwMode="auto">
          <a:xfrm>
            <a:off x="1539878" y="2131536"/>
            <a:ext cx="1491118" cy="578765"/>
          </a:xfrm>
          <a:prstGeom prst="roundRect">
            <a:avLst>
              <a:gd name="adj" fmla="val 4167"/>
            </a:avLst>
          </a:prstGeom>
          <a:noFill/>
          <a:ln w="9525" algn="ctr">
            <a:noFill/>
            <a:round/>
            <a:headEnd/>
            <a:tailEnd/>
          </a:ln>
          <a:effectLst/>
        </p:spPr>
        <p:txBody>
          <a:bodyPr wrap="square" lIns="0" tIns="0" rIns="0" bIns="0" anchor="ctr"/>
          <a:lstStyle/>
          <a:p>
            <a:pPr lvl="0" algn="ctr" fontAlgn="base">
              <a:spcBef>
                <a:spcPct val="0"/>
              </a:spcBef>
              <a:spcAft>
                <a:spcPct val="0"/>
              </a:spcAft>
            </a:pPr>
            <a:r>
              <a:rPr lang="en-US" sz="1900" b="1" dirty="0">
                <a:solidFill>
                  <a:srgbClr val="000000"/>
                </a:solidFill>
                <a:latin typeface="Segoe UI" pitchFamily="34" charset="0"/>
                <a:ea typeface="Segoe UI" pitchFamily="34" charset="0"/>
                <a:cs typeface="Segoe UI" pitchFamily="34" charset="0"/>
              </a:rPr>
              <a:t>DHCP clients</a:t>
            </a:r>
          </a:p>
        </p:txBody>
      </p:sp>
      <p:sp>
        <p:nvSpPr>
          <p:cNvPr id="5" name="AutoShape 131"/>
          <p:cNvSpPr>
            <a:spLocks noChangeArrowheads="1"/>
          </p:cNvSpPr>
          <p:nvPr/>
        </p:nvSpPr>
        <p:spPr bwMode="auto">
          <a:xfrm>
            <a:off x="6289940" y="2958989"/>
            <a:ext cx="1683452" cy="671407"/>
          </a:xfrm>
          <a:prstGeom prst="roundRect">
            <a:avLst>
              <a:gd name="adj" fmla="val 4167"/>
            </a:avLst>
          </a:prstGeom>
          <a:noFill/>
          <a:ln w="9525">
            <a:noFill/>
            <a:round/>
            <a:headEnd/>
            <a:tailEnd/>
          </a:ln>
          <a:effectLst/>
        </p:spPr>
        <p:txBody>
          <a:bodyPr wrap="square" lIns="0" tIns="0" rIns="0" bIns="0" anchor="ctr"/>
          <a:lstStyle/>
          <a:p>
            <a:pPr lvl="0" fontAlgn="base">
              <a:spcBef>
                <a:spcPct val="0"/>
              </a:spcBef>
              <a:spcAft>
                <a:spcPct val="0"/>
              </a:spcAft>
            </a:pPr>
            <a:r>
              <a:rPr lang="en-US" sz="1900" b="1" dirty="0">
                <a:solidFill>
                  <a:srgbClr val="000000"/>
                </a:solidFill>
                <a:latin typeface="Segoe UI" pitchFamily="34" charset="0"/>
                <a:ea typeface="Segoe UI" pitchFamily="34" charset="0"/>
                <a:cs typeface="Segoe UI" pitchFamily="34" charset="0"/>
              </a:rPr>
              <a:t>Unauthorized DHCP server</a:t>
            </a:r>
          </a:p>
        </p:txBody>
      </p:sp>
      <p:sp>
        <p:nvSpPr>
          <p:cNvPr id="6" name="AutoShape 132"/>
          <p:cNvSpPr>
            <a:spLocks noChangeArrowheads="1"/>
          </p:cNvSpPr>
          <p:nvPr/>
        </p:nvSpPr>
        <p:spPr bwMode="auto">
          <a:xfrm>
            <a:off x="4613540" y="4111117"/>
            <a:ext cx="1900237" cy="720445"/>
          </a:xfrm>
          <a:prstGeom prst="roundRect">
            <a:avLst>
              <a:gd name="adj" fmla="val 4167"/>
            </a:avLst>
          </a:prstGeom>
          <a:noFill/>
          <a:ln w="9525" algn="ctr">
            <a:noFill/>
            <a:round/>
            <a:headEnd/>
            <a:tailEnd/>
          </a:ln>
          <a:effectLst/>
          <a:extLst/>
        </p:spPr>
        <p:txBody>
          <a:bodyPr wrap="square" lIns="0" tIns="0" rIns="0" bIns="0" anchor="ctr"/>
          <a:lstStyle/>
          <a:p>
            <a:pPr lvl="0" fontAlgn="base">
              <a:spcBef>
                <a:spcPct val="0"/>
              </a:spcBef>
              <a:spcAft>
                <a:spcPct val="0"/>
              </a:spcAft>
            </a:pPr>
            <a:r>
              <a:rPr lang="en-US" sz="1900" b="1" dirty="0">
                <a:solidFill>
                  <a:srgbClr val="000000"/>
                </a:solidFill>
                <a:latin typeface="Segoe UI" pitchFamily="34" charset="0"/>
                <a:ea typeface="Segoe UI" pitchFamily="34" charset="0"/>
                <a:cs typeface="Segoe UI" pitchFamily="34" charset="0"/>
              </a:rPr>
              <a:t>Legitimate DHCP server</a:t>
            </a:r>
          </a:p>
        </p:txBody>
      </p:sp>
      <p:sp>
        <p:nvSpPr>
          <p:cNvPr id="7" name="AutoShape 4"/>
          <p:cNvSpPr>
            <a:spLocks noChangeArrowheads="1"/>
          </p:cNvSpPr>
          <p:nvPr/>
        </p:nvSpPr>
        <p:spPr bwMode="auto">
          <a:xfrm>
            <a:off x="717932" y="5080691"/>
            <a:ext cx="7791216" cy="1154235"/>
          </a:xfrm>
          <a:prstGeom prst="roundRect">
            <a:avLst>
              <a:gd name="adj" fmla="val 4167"/>
            </a:avLst>
          </a:prstGeom>
          <a:noFill/>
          <a:ln w="9525" algn="ctr">
            <a:noFill/>
            <a:round/>
            <a:headEnd/>
            <a:tailEnd/>
          </a:ln>
          <a:effectLst/>
        </p:spPr>
        <p:txBody>
          <a:bodyPr anchor="ctr"/>
          <a:lstStyle/>
          <a:p>
            <a:pPr lvl="0" fontAlgn="base">
              <a:spcBef>
                <a:spcPct val="0"/>
              </a:spcBef>
              <a:spcAft>
                <a:spcPct val="0"/>
              </a:spcAft>
              <a:defRPr/>
            </a:pPr>
            <a:r>
              <a:rPr lang="fr-FR" sz="2000" dirty="0" smtClean="0">
                <a:solidFill>
                  <a:srgbClr val="000000"/>
                </a:solidFill>
                <a:latin typeface="Segoe UI" pitchFamily="34" charset="0"/>
                <a:ea typeface="Segoe UI" pitchFamily="34" charset="0"/>
                <a:cs typeface="Segoe UI" pitchFamily="34" charset="0"/>
              </a:rPr>
              <a:t>Pour localiser un serveur DHCP : </a:t>
            </a:r>
            <a:r>
              <a:rPr lang="fr-FR" sz="2000" b="1" dirty="0" err="1" smtClean="0">
                <a:solidFill>
                  <a:srgbClr val="000000"/>
                </a:solidFill>
                <a:latin typeface="Segoe UI" pitchFamily="34" charset="0"/>
                <a:ea typeface="Segoe UI" pitchFamily="34" charset="0"/>
                <a:cs typeface="Segoe UI" pitchFamily="34" charset="0"/>
              </a:rPr>
              <a:t>ipconfig</a:t>
            </a:r>
            <a:r>
              <a:rPr lang="fr-FR" sz="2000" b="1" dirty="0" smtClean="0">
                <a:solidFill>
                  <a:srgbClr val="000000"/>
                </a:solidFill>
                <a:latin typeface="Segoe UI" pitchFamily="34" charset="0"/>
                <a:ea typeface="Segoe UI" pitchFamily="34" charset="0"/>
                <a:cs typeface="Segoe UI" pitchFamily="34" charset="0"/>
              </a:rPr>
              <a:t> /all</a:t>
            </a:r>
            <a:endParaRPr lang="en-US" sz="2000" b="1" dirty="0">
              <a:solidFill>
                <a:srgbClr val="000000"/>
              </a:solidFill>
              <a:latin typeface="Segoe UI" pitchFamily="34" charset="0"/>
              <a:ea typeface="Segoe UI" pitchFamily="34" charset="0"/>
              <a:cs typeface="Segoe UI" pitchFamily="34" charset="0"/>
            </a:endParaRPr>
          </a:p>
        </p:txBody>
      </p:sp>
      <p:grpSp>
        <p:nvGrpSpPr>
          <p:cNvPr id="8" name="Group 7" descr="An illustration of a network with multiple DHCP clients and two DHCP servers. One DHCP server is marked with a green check mark, which indicates that it is a legitimate DHCP Server. The other DHCP server is marked with a red X, which indicates that it is an unauthorized DHCP server."/>
          <p:cNvGrpSpPr/>
          <p:nvPr/>
        </p:nvGrpSpPr>
        <p:grpSpPr>
          <a:xfrm>
            <a:off x="1122896" y="564692"/>
            <a:ext cx="5509015" cy="4281110"/>
            <a:chOff x="1122896" y="315302"/>
            <a:chExt cx="5509015" cy="4281110"/>
          </a:xfrm>
        </p:grpSpPr>
        <p:sp>
          <p:nvSpPr>
            <p:cNvPr id="9" name="AutoShape 2" descr="80/20 rule"/>
            <p:cNvSpPr>
              <a:spLocks noChangeAspect="1" noChangeArrowheads="1"/>
            </p:cNvSpPr>
            <p:nvPr/>
          </p:nvSpPr>
          <p:spPr bwMode="auto">
            <a:xfrm>
              <a:off x="4361128" y="315302"/>
              <a:ext cx="252412" cy="205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fontAlgn="base">
                <a:spcBef>
                  <a:spcPct val="0"/>
                </a:spcBef>
                <a:spcAft>
                  <a:spcPct val="0"/>
                </a:spcAft>
              </a:pPr>
              <a:endParaRPr lang="en-US" sz="2000" b="1" dirty="0">
                <a:solidFill>
                  <a:srgbClr val="000000"/>
                </a:solidFill>
                <a:latin typeface="Segoe UI" pitchFamily="34" charset="0"/>
                <a:ea typeface="Segoe UI" pitchFamily="34" charset="0"/>
                <a:cs typeface="Segoe UI" pitchFamily="34" charset="0"/>
              </a:endParaRPr>
            </a:p>
          </p:txBody>
        </p:sp>
        <p:sp>
          <p:nvSpPr>
            <p:cNvPr id="10" name="AutoShape 4" descr="80/20 rule"/>
            <p:cNvSpPr>
              <a:spLocks noChangeAspect="1" noChangeArrowheads="1"/>
            </p:cNvSpPr>
            <p:nvPr/>
          </p:nvSpPr>
          <p:spPr bwMode="auto">
            <a:xfrm>
              <a:off x="4361128" y="315302"/>
              <a:ext cx="252412" cy="205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fontAlgn="base">
                <a:spcBef>
                  <a:spcPct val="0"/>
                </a:spcBef>
                <a:spcAft>
                  <a:spcPct val="0"/>
                </a:spcAft>
              </a:pPr>
              <a:endParaRPr lang="en-US" sz="2000" b="1" dirty="0">
                <a:solidFill>
                  <a:srgbClr val="000000"/>
                </a:solidFill>
                <a:latin typeface="Segoe UI" pitchFamily="34" charset="0"/>
                <a:ea typeface="Segoe UI" pitchFamily="34" charset="0"/>
                <a:cs typeface="Segoe UI" pitchFamily="34" charset="0"/>
              </a:endParaRPr>
            </a:p>
          </p:txBody>
        </p:sp>
        <p:sp>
          <p:nvSpPr>
            <p:cNvPr id="11" name="AutoShape 6" descr="80/20 rule"/>
            <p:cNvSpPr>
              <a:spLocks noChangeAspect="1" noChangeArrowheads="1"/>
            </p:cNvSpPr>
            <p:nvPr/>
          </p:nvSpPr>
          <p:spPr bwMode="auto">
            <a:xfrm>
              <a:off x="4361128" y="315302"/>
              <a:ext cx="252412" cy="205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fontAlgn="base">
                <a:spcBef>
                  <a:spcPct val="0"/>
                </a:spcBef>
                <a:spcAft>
                  <a:spcPct val="0"/>
                </a:spcAft>
              </a:pPr>
              <a:endParaRPr lang="en-US" sz="2000" b="1" dirty="0">
                <a:solidFill>
                  <a:srgbClr val="000000"/>
                </a:solidFill>
                <a:latin typeface="Segoe UI" pitchFamily="34" charset="0"/>
                <a:ea typeface="Segoe UI" pitchFamily="34" charset="0"/>
                <a:cs typeface="Segoe UI" pitchFamily="34" charset="0"/>
              </a:endParaRPr>
            </a:p>
          </p:txBody>
        </p:sp>
        <p:grpSp>
          <p:nvGrpSpPr>
            <p:cNvPr id="12" name="Group 11"/>
            <p:cNvGrpSpPr/>
            <p:nvPr/>
          </p:nvGrpSpPr>
          <p:grpSpPr>
            <a:xfrm>
              <a:off x="1190891" y="1450612"/>
              <a:ext cx="5397499" cy="2507185"/>
              <a:chOff x="1167079" y="1236986"/>
              <a:chExt cx="5397499" cy="2507185"/>
            </a:xfrm>
          </p:grpSpPr>
          <p:sp>
            <p:nvSpPr>
              <p:cNvPr id="22" name="Line 66" descr="&quot;&quot;"/>
              <p:cNvSpPr>
                <a:spLocks noChangeShapeType="1"/>
              </p:cNvSpPr>
              <p:nvPr/>
            </p:nvSpPr>
            <p:spPr bwMode="auto">
              <a:xfrm flipH="1" flipV="1">
                <a:off x="3910279" y="1463296"/>
                <a:ext cx="2654299" cy="575689"/>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23" name="Line 66" descr="&quot;&quot;"/>
              <p:cNvSpPr>
                <a:spLocks noChangeShapeType="1"/>
              </p:cNvSpPr>
              <p:nvPr/>
            </p:nvSpPr>
            <p:spPr bwMode="auto">
              <a:xfrm flipH="1" flipV="1">
                <a:off x="1167079" y="2487502"/>
                <a:ext cx="3800474" cy="89156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24" name="Line 66" descr="&quot;&quot;"/>
              <p:cNvSpPr>
                <a:spLocks noChangeShapeType="1"/>
              </p:cNvSpPr>
              <p:nvPr/>
            </p:nvSpPr>
            <p:spPr bwMode="auto">
              <a:xfrm flipH="1">
                <a:off x="3092716" y="1684819"/>
                <a:ext cx="1904999" cy="1264874"/>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25" name="Line 66" descr="&quot;&quot;"/>
              <p:cNvSpPr>
                <a:spLocks noChangeShapeType="1"/>
              </p:cNvSpPr>
              <p:nvPr/>
            </p:nvSpPr>
            <p:spPr bwMode="auto">
              <a:xfrm flipH="1">
                <a:off x="1624279" y="2759620"/>
                <a:ext cx="665162" cy="380146"/>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26" name="Line 66" descr="&quot;&quot;"/>
              <p:cNvSpPr>
                <a:spLocks noChangeShapeType="1"/>
              </p:cNvSpPr>
              <p:nvPr/>
            </p:nvSpPr>
            <p:spPr bwMode="auto">
              <a:xfrm flipH="1">
                <a:off x="2837129" y="3000288"/>
                <a:ext cx="519112" cy="41706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27" name="Line 66" descr="&quot;&quot;"/>
              <p:cNvSpPr>
                <a:spLocks noChangeShapeType="1"/>
              </p:cNvSpPr>
              <p:nvPr/>
            </p:nvSpPr>
            <p:spPr bwMode="auto">
              <a:xfrm flipH="1">
                <a:off x="4183328" y="3306593"/>
                <a:ext cx="482600" cy="43757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28" name="Line 66" descr="&quot;&quot;"/>
              <p:cNvSpPr>
                <a:spLocks noChangeShapeType="1"/>
              </p:cNvSpPr>
              <p:nvPr/>
            </p:nvSpPr>
            <p:spPr bwMode="auto">
              <a:xfrm flipH="1">
                <a:off x="5807340" y="1976082"/>
                <a:ext cx="482600" cy="436211"/>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29" name="Line 66" descr="&quot;&quot;"/>
              <p:cNvSpPr>
                <a:spLocks noChangeShapeType="1"/>
              </p:cNvSpPr>
              <p:nvPr/>
            </p:nvSpPr>
            <p:spPr bwMode="auto">
              <a:xfrm flipH="1">
                <a:off x="3683397" y="1538504"/>
                <a:ext cx="638175" cy="43757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30" name="Line 66" descr="&quot;&quot;"/>
              <p:cNvSpPr>
                <a:spLocks noChangeShapeType="1"/>
              </p:cNvSpPr>
              <p:nvPr/>
            </p:nvSpPr>
            <p:spPr bwMode="auto">
              <a:xfrm flipH="1">
                <a:off x="4764353" y="1236986"/>
                <a:ext cx="482600" cy="41364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31" name="Line 66" descr="&quot;&quot;"/>
              <p:cNvSpPr>
                <a:spLocks noChangeShapeType="1"/>
              </p:cNvSpPr>
              <p:nvPr/>
            </p:nvSpPr>
            <p:spPr bwMode="auto">
              <a:xfrm flipH="1">
                <a:off x="6032765" y="1478337"/>
                <a:ext cx="481012" cy="43757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gr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2896" y="2855978"/>
              <a:ext cx="833964" cy="941488"/>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84502" y="2484026"/>
              <a:ext cx="518652" cy="921015"/>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08389" y="3237886"/>
              <a:ext cx="795459" cy="898019"/>
            </a:xfrm>
            <a:prstGeom prst="rect">
              <a:avLst/>
            </a:prstGeom>
          </p:spPr>
        </p:pic>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96244" y="3675397"/>
              <a:ext cx="518652" cy="921015"/>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45104" y="4055910"/>
              <a:ext cx="432048" cy="430527"/>
            </a:xfrm>
            <a:prstGeom prst="rect">
              <a:avLst/>
            </a:prstGeom>
          </p:spPr>
        </p:pic>
        <p:pic>
          <p:nvPicPr>
            <p:cNvPr id="18" name="Picture 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26773" y="2871277"/>
              <a:ext cx="454867" cy="454867"/>
            </a:xfrm>
            <a:prstGeom prst="rect">
              <a:avLst/>
            </a:prstGeom>
          </p:spPr>
        </p:pic>
        <p:pic>
          <p:nvPicPr>
            <p:cNvPr id="19" name="Picture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665928" y="978143"/>
              <a:ext cx="717281" cy="809761"/>
            </a:xfrm>
            <a:prstGeom prst="rect">
              <a:avLst/>
            </a:prstGeom>
          </p:spPr>
        </p:pic>
        <p:pic>
          <p:nvPicPr>
            <p:cNvPr id="20" name="Picture 1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14630" y="1275118"/>
              <a:ext cx="717281" cy="809761"/>
            </a:xfrm>
            <a:prstGeom prst="rect">
              <a:avLst/>
            </a:prstGeom>
          </p:spPr>
        </p:pic>
        <p:pic>
          <p:nvPicPr>
            <p:cNvPr id="21" name="Picture 2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03848" y="1752130"/>
              <a:ext cx="717281" cy="809761"/>
            </a:xfrm>
            <a:prstGeom prst="rect">
              <a:avLst/>
            </a:prstGeom>
          </p:spPr>
        </p:pic>
      </p:grpSp>
    </p:spTree>
    <p:extLst>
      <p:ext uri="{BB962C8B-B14F-4D97-AF65-F5344CB8AC3E}">
        <p14:creationId xmlns:p14="http://schemas.microsoft.com/office/powerpoint/2010/main" val="189916627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f5f293a3-aa46-4e43-895a-aecc6f74add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Delegating DHCP Administration</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dirty="0">
                <a:solidFill>
                  <a:srgbClr val="000000"/>
                </a:solidFill>
              </a:rPr>
              <a:t>To delegate who can administer the DHCP service:</a:t>
            </a:r>
          </a:p>
          <a:p>
            <a:pPr lvl="1"/>
            <a:r>
              <a:rPr lang="en-US" sz="2600" kern="0" dirty="0">
                <a:solidFill>
                  <a:srgbClr val="000000"/>
                </a:solidFill>
              </a:rPr>
              <a:t>Limit the membership of the DHCP Administrators group</a:t>
            </a:r>
          </a:p>
          <a:p>
            <a:pPr lvl="1"/>
            <a:r>
              <a:rPr lang="en-US" sz="2600" kern="0" dirty="0">
                <a:solidFill>
                  <a:srgbClr val="000000"/>
                </a:solidFill>
              </a:rPr>
              <a:t>Add users to the DHCP Users group if they need read-only access to the DHCP console</a:t>
            </a:r>
          </a:p>
          <a:p>
            <a:pPr lvl="0">
              <a:buNone/>
            </a:pPr>
            <a:endParaRPr lang="en-US" kern="0" dirty="0">
              <a:solidFill>
                <a:srgbClr val="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225586271"/>
              </p:ext>
            </p:extLst>
          </p:nvPr>
        </p:nvGraphicFramePr>
        <p:xfrm>
          <a:off x="708604" y="3647440"/>
          <a:ext cx="8067474" cy="2103120"/>
        </p:xfrm>
        <a:graphic>
          <a:graphicData uri="http://schemas.openxmlformats.org/drawingml/2006/table">
            <a:tbl>
              <a:tblPr firstRow="1" bandRow="1">
                <a:tableStyleId>{21E4AEA4-8DFA-4A89-87EB-49C32662AFE0}</a:tableStyleId>
              </a:tblPr>
              <a:tblGrid>
                <a:gridCol w="3538276"/>
                <a:gridCol w="4529198"/>
              </a:tblGrid>
              <a:tr h="566657">
                <a:tc>
                  <a:txBody>
                    <a:bodyPr/>
                    <a:lstStyle/>
                    <a:p>
                      <a:r>
                        <a:rPr lang="en-US" sz="2400" b="1" dirty="0" smtClean="0">
                          <a:solidFill>
                            <a:schemeClr val="tx1"/>
                          </a:solidFill>
                          <a:latin typeface="Segoe UI" pitchFamily="34" charset="0"/>
                          <a:ea typeface="Segoe UI" pitchFamily="34" charset="0"/>
                          <a:cs typeface="Segoe UI" pitchFamily="34" charset="0"/>
                        </a:rPr>
                        <a:t>Account</a:t>
                      </a:r>
                      <a:endParaRPr lang="en-IN" sz="2400" b="1" dirty="0">
                        <a:solidFill>
                          <a:schemeClr val="tx1"/>
                        </a:solidFill>
                        <a:latin typeface="Segoe UI" pitchFamily="34" charset="0"/>
                        <a:ea typeface="Segoe UI" pitchFamily="34" charset="0"/>
                        <a:cs typeface="Segoe UI" pitchFamily="34" charset="0"/>
                      </a:endParaRPr>
                    </a:p>
                  </a:txBody>
                  <a:tcPr marL="137160" marR="137160" marT="137160" marB="137160"/>
                </a:tc>
                <a:tc>
                  <a:txBody>
                    <a:bodyPr/>
                    <a:lstStyle/>
                    <a:p>
                      <a:r>
                        <a:rPr lang="en-US" sz="2400" b="1" dirty="0" smtClean="0">
                          <a:solidFill>
                            <a:schemeClr val="tx1"/>
                          </a:solidFill>
                          <a:latin typeface="Segoe UI" pitchFamily="34" charset="0"/>
                          <a:ea typeface="Segoe UI" pitchFamily="34" charset="0"/>
                          <a:cs typeface="Segoe UI" pitchFamily="34" charset="0"/>
                        </a:rPr>
                        <a:t>Permissions</a:t>
                      </a:r>
                      <a:endParaRPr lang="en-IN" sz="2400" b="1" dirty="0">
                        <a:solidFill>
                          <a:schemeClr val="tx1"/>
                        </a:solidFill>
                        <a:latin typeface="Segoe UI" pitchFamily="34" charset="0"/>
                        <a:ea typeface="Segoe UI" pitchFamily="34" charset="0"/>
                        <a:cs typeface="Segoe UI" pitchFamily="34" charset="0"/>
                      </a:endParaRPr>
                    </a:p>
                  </a:txBody>
                  <a:tcPr marL="137160" marR="137160" marT="137160" marB="137160"/>
                </a:tc>
              </a:tr>
              <a:tr h="563447">
                <a:tc>
                  <a:txBody>
                    <a:bodyPr/>
                    <a:lstStyle/>
                    <a:p>
                      <a:r>
                        <a:rPr lang="en-US" sz="2100" dirty="0" smtClean="0">
                          <a:latin typeface="Segoe UI" pitchFamily="34" charset="0"/>
                          <a:ea typeface="Segoe UI" pitchFamily="34" charset="0"/>
                          <a:cs typeface="Segoe UI" pitchFamily="34" charset="0"/>
                        </a:rPr>
                        <a:t>DHCP Administrators</a:t>
                      </a:r>
                      <a:r>
                        <a:rPr lang="en-US" sz="2100" baseline="0" dirty="0" smtClean="0">
                          <a:latin typeface="Segoe UI" pitchFamily="34" charset="0"/>
                          <a:ea typeface="Segoe UI" pitchFamily="34" charset="0"/>
                          <a:cs typeface="Segoe UI" pitchFamily="34" charset="0"/>
                        </a:rPr>
                        <a:t> group</a:t>
                      </a:r>
                      <a:endParaRPr lang="en-IN" sz="2100" dirty="0">
                        <a:latin typeface="Segoe UI" pitchFamily="34" charset="0"/>
                        <a:ea typeface="Segoe UI" pitchFamily="34" charset="0"/>
                        <a:cs typeface="Segoe UI" pitchFamily="34" charset="0"/>
                      </a:endParaRPr>
                    </a:p>
                  </a:txBody>
                  <a:tcPr/>
                </a:tc>
                <a:tc>
                  <a:txBody>
                    <a:bodyPr/>
                    <a:lstStyle/>
                    <a:p>
                      <a:r>
                        <a:rPr lang="en-US" sz="2100" dirty="0" smtClean="0">
                          <a:latin typeface="Segoe UI" pitchFamily="34" charset="0"/>
                          <a:ea typeface="Segoe UI" pitchFamily="34" charset="0"/>
                          <a:cs typeface="Segoe UI" pitchFamily="34" charset="0"/>
                        </a:rPr>
                        <a:t>Can view and modify any data about the DHCP server</a:t>
                      </a:r>
                      <a:endParaRPr lang="en-IN" sz="2100" dirty="0">
                        <a:latin typeface="Segoe UI" pitchFamily="34" charset="0"/>
                        <a:ea typeface="Segoe UI" pitchFamily="34" charset="0"/>
                        <a:cs typeface="Segoe UI" pitchFamily="34" charset="0"/>
                      </a:endParaRPr>
                    </a:p>
                  </a:txBody>
                  <a:tcPr/>
                </a:tc>
              </a:tr>
              <a:tr h="482167">
                <a:tc>
                  <a:txBody>
                    <a:bodyPr/>
                    <a:lstStyle/>
                    <a:p>
                      <a:r>
                        <a:rPr lang="en-US" sz="2100" dirty="0" smtClean="0">
                          <a:latin typeface="Segoe UI" pitchFamily="34" charset="0"/>
                          <a:ea typeface="Segoe UI" pitchFamily="34" charset="0"/>
                          <a:cs typeface="Segoe UI" pitchFamily="34" charset="0"/>
                        </a:rPr>
                        <a:t>DHCP</a:t>
                      </a:r>
                      <a:r>
                        <a:rPr lang="en-US" sz="2100" baseline="0" dirty="0" smtClean="0">
                          <a:latin typeface="Segoe UI" pitchFamily="34" charset="0"/>
                          <a:ea typeface="Segoe UI" pitchFamily="34" charset="0"/>
                          <a:cs typeface="Segoe UI" pitchFamily="34" charset="0"/>
                        </a:rPr>
                        <a:t> Users group</a:t>
                      </a:r>
                      <a:endParaRPr lang="en-IN" sz="2100" dirty="0">
                        <a:latin typeface="Segoe UI" pitchFamily="34" charset="0"/>
                        <a:ea typeface="Segoe UI" pitchFamily="34" charset="0"/>
                        <a:cs typeface="Segoe UI" pitchFamily="34" charset="0"/>
                      </a:endParaRPr>
                    </a:p>
                  </a:txBody>
                  <a:tcPr/>
                </a:tc>
                <a:tc>
                  <a:txBody>
                    <a:bodyPr/>
                    <a:lstStyle/>
                    <a:p>
                      <a:r>
                        <a:rPr lang="en-US" sz="2100" dirty="0" smtClean="0">
                          <a:latin typeface="Segoe UI" pitchFamily="34" charset="0"/>
                          <a:ea typeface="Segoe UI" pitchFamily="34" charset="0"/>
                          <a:cs typeface="Segoe UI" pitchFamily="34" charset="0"/>
                        </a:rPr>
                        <a:t>Has read-only DHCP console access to</a:t>
                      </a:r>
                      <a:r>
                        <a:rPr lang="en-US" sz="2100" baseline="0" dirty="0" smtClean="0">
                          <a:latin typeface="Segoe UI" pitchFamily="34" charset="0"/>
                          <a:ea typeface="Segoe UI" pitchFamily="34" charset="0"/>
                          <a:cs typeface="Segoe UI" pitchFamily="34" charset="0"/>
                        </a:rPr>
                        <a:t> the server</a:t>
                      </a:r>
                      <a:endParaRPr lang="en-IN" sz="2100" dirty="0">
                        <a:latin typeface="Segoe UI" pitchFamily="34" charset="0"/>
                        <a:ea typeface="Segoe UI" pitchFamily="34" charset="0"/>
                        <a:cs typeface="Segoe UI" pitchFamily="34" charset="0"/>
                      </a:endParaRPr>
                    </a:p>
                  </a:txBody>
                  <a:tcPr/>
                </a:tc>
              </a:tr>
            </a:tbl>
          </a:graphicData>
        </a:graphic>
      </p:graphicFrame>
    </p:spTree>
    <p:extLst>
      <p:ext uri="{BB962C8B-B14F-4D97-AF65-F5344CB8AC3E}">
        <p14:creationId xmlns:p14="http://schemas.microsoft.com/office/powerpoint/2010/main" val="26053581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8b2ab659-43b3-4168-8275-7061fd15b76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Statistiques DHCP</a:t>
            </a:r>
            <a:endParaRPr lang="fr-FR" dirty="0"/>
          </a:p>
        </p:txBody>
      </p:sp>
      <p:sp>
        <p:nvSpPr>
          <p:cNvPr id="5" name="Freeform 5"/>
          <p:cNvSpPr>
            <a:spLocks/>
          </p:cNvSpPr>
          <p:nvPr/>
        </p:nvSpPr>
        <p:spPr bwMode="auto">
          <a:xfrm>
            <a:off x="2081213" y="2163763"/>
            <a:ext cx="1493837" cy="2970212"/>
          </a:xfrm>
          <a:custGeom>
            <a:avLst/>
            <a:gdLst>
              <a:gd name="T0" fmla="*/ 0 w 1104"/>
              <a:gd name="T1" fmla="*/ 2147483647 h 1872"/>
              <a:gd name="T2" fmla="*/ 2147483647 w 1104"/>
              <a:gd name="T3" fmla="*/ 0 h 1872"/>
              <a:gd name="T4" fmla="*/ 2147483647 w 1104"/>
              <a:gd name="T5" fmla="*/ 2147483647 h 1872"/>
              <a:gd name="T6" fmla="*/ 0 w 1104"/>
              <a:gd name="T7" fmla="*/ 2147483647 h 1872"/>
              <a:gd name="T8" fmla="*/ 0 60000 65536"/>
              <a:gd name="T9" fmla="*/ 0 60000 65536"/>
              <a:gd name="T10" fmla="*/ 0 60000 65536"/>
              <a:gd name="T11" fmla="*/ 0 60000 65536"/>
              <a:gd name="T12" fmla="*/ 0 w 1104"/>
              <a:gd name="T13" fmla="*/ 0 h 1872"/>
              <a:gd name="T14" fmla="*/ 1104 w 1104"/>
              <a:gd name="T15" fmla="*/ 1872 h 1872"/>
            </a:gdLst>
            <a:ahLst/>
            <a:cxnLst>
              <a:cxn ang="T8">
                <a:pos x="T0" y="T1"/>
              </a:cxn>
              <a:cxn ang="T9">
                <a:pos x="T2" y="T3"/>
              </a:cxn>
              <a:cxn ang="T10">
                <a:pos x="T4" y="T5"/>
              </a:cxn>
              <a:cxn ang="T11">
                <a:pos x="T6" y="T7"/>
              </a:cxn>
            </a:cxnLst>
            <a:rect l="T12" t="T13" r="T14" b="T15"/>
            <a:pathLst>
              <a:path w="1104" h="1872">
                <a:moveTo>
                  <a:pt x="0" y="1872"/>
                </a:moveTo>
                <a:lnTo>
                  <a:pt x="1104" y="0"/>
                </a:lnTo>
                <a:lnTo>
                  <a:pt x="1104" y="1824"/>
                </a:lnTo>
                <a:lnTo>
                  <a:pt x="0" y="1872"/>
                </a:lnTo>
                <a:close/>
              </a:path>
            </a:pathLst>
          </a:custGeom>
          <a:noFill/>
          <a:ln>
            <a:noFill/>
          </a:ln>
          <a:effectLst/>
          <a:extLst/>
        </p:spPr>
        <p:txBody>
          <a:bodyPr anchor="ctr"/>
          <a:lstStyle/>
          <a:p>
            <a:pPr lvl="0" fontAlgn="base">
              <a:spcBef>
                <a:spcPct val="0"/>
              </a:spcBef>
              <a:spcAft>
                <a:spcPct val="0"/>
              </a:spcAft>
            </a:pPr>
            <a:endParaRPr lang="en-US" sz="2000" b="1" dirty="0">
              <a:solidFill>
                <a:srgbClr val="000000"/>
              </a:solidFill>
              <a:latin typeface="Segoe UI" pitchFamily="34" charset="0"/>
              <a:ea typeface="Segoe UI" pitchFamily="34" charset="0"/>
              <a:cs typeface="Segoe UI" pitchFamily="34" charset="0"/>
            </a:endParaRPr>
          </a:p>
        </p:txBody>
      </p:sp>
      <p:sp>
        <p:nvSpPr>
          <p:cNvPr id="6" name="AutoShape 7"/>
          <p:cNvSpPr>
            <a:spLocks noChangeArrowheads="1"/>
          </p:cNvSpPr>
          <p:nvPr/>
        </p:nvSpPr>
        <p:spPr bwMode="auto">
          <a:xfrm>
            <a:off x="785263" y="4627740"/>
            <a:ext cx="1017325" cy="699308"/>
          </a:xfrm>
          <a:prstGeom prst="roundRect">
            <a:avLst>
              <a:gd name="adj" fmla="val 4167"/>
            </a:avLst>
          </a:prstGeom>
          <a:noFill/>
          <a:ln w="9525">
            <a:noFill/>
            <a:round/>
            <a:headEnd/>
            <a:tailEnd/>
          </a:ln>
          <a:effectLst/>
        </p:spPr>
        <p:txBody>
          <a:bodyPr wrap="square" lIns="0" tIns="0" rIns="0" bIns="0" anchor="ctr"/>
          <a:lstStyle/>
          <a:p>
            <a:pPr lvl="0" algn="ctr" fontAlgn="base">
              <a:lnSpc>
                <a:spcPct val="85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DHCP Server</a:t>
            </a:r>
          </a:p>
        </p:txBody>
      </p:sp>
      <p:pic>
        <p:nvPicPr>
          <p:cNvPr id="7" name="Picture 2" descr="Screen shot of the Server Statistics window, with the Description and Details columns populated. This window lists the following statistics:&#10;• Start Time&#10;• Up Time&#10;• Discovers&#10;• Offers&#10;• Delayed Offers&#10;• Requests&#10;• Acks&#10;• Nacks&#10;• Declines&#10;• Releases&#10;• Total Scopes&#10;• Scopes with delay configured&#10;• Total Addresses&#10;• In Use (number and percentage)&#10;• Available (number and percentage)&#10;"/>
          <p:cNvPicPr>
            <a:picLocks noChangeAspect="1" noChangeArrowheads="1"/>
          </p:cNvPicPr>
          <p:nvPr/>
        </p:nvPicPr>
        <p:blipFill rotWithShape="1">
          <a:blip r:embed="rId3"/>
          <a:srcRect l="3063" t="10555" r="19011" b="16126"/>
          <a:stretch/>
        </p:blipFill>
        <p:spPr bwMode="auto">
          <a:xfrm>
            <a:off x="2828131" y="1781793"/>
            <a:ext cx="5509440" cy="3928248"/>
          </a:xfrm>
          <a:prstGeom prst="rect">
            <a:avLst/>
          </a:prstGeom>
          <a:noFill/>
          <a:ln w="41275">
            <a:solidFill>
              <a:srgbClr val="79E9EF"/>
            </a:solidFill>
            <a:miter lim="800000"/>
            <a:headEnd/>
            <a:tailEnd/>
          </a:ln>
          <a:effectLst/>
        </p:spPr>
      </p:pic>
      <p:pic>
        <p:nvPicPr>
          <p:cNvPr id="9" name="Picture 8" descr="DHCP Serve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278" y="2163763"/>
            <a:ext cx="1359296" cy="2413817"/>
          </a:xfrm>
          <a:prstGeom prst="rect">
            <a:avLst/>
          </a:prstGeom>
        </p:spPr>
      </p:pic>
    </p:spTree>
    <p:extLst>
      <p:ext uri="{BB962C8B-B14F-4D97-AF65-F5344CB8AC3E}">
        <p14:creationId xmlns:p14="http://schemas.microsoft.com/office/powerpoint/2010/main" val="32440215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b718a2f3-06a0-4624-b272-6c70a1420a5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DHCP </a:t>
            </a:r>
            <a:r>
              <a:rPr lang="en-CA" dirty="0" smtClean="0"/>
              <a:t>Audit </a:t>
            </a:r>
            <a:r>
              <a:rPr lang="en-CA" dirty="0" smtClean="0"/>
              <a:t>Logging</a:t>
            </a:r>
            <a:endParaRPr lang="en-CA" dirty="0"/>
          </a:p>
        </p:txBody>
      </p:sp>
      <p:grpSp>
        <p:nvGrpSpPr>
          <p:cNvPr id="4" name="Group 3" descr="Screen shots of two windows. One is a File Explorer window, opened to the path C:\Windows\System32\dhcp, with the file name DhcpSrvLog Mon circled. The other is a Notepad window showing the content of the DhcpSrvLog Mon log file."/>
          <p:cNvGrpSpPr/>
          <p:nvPr/>
        </p:nvGrpSpPr>
        <p:grpSpPr>
          <a:xfrm>
            <a:off x="512135" y="1079204"/>
            <a:ext cx="8125886" cy="5133240"/>
            <a:chOff x="533400" y="1142999"/>
            <a:chExt cx="8125886" cy="5133240"/>
          </a:xfrm>
        </p:grpSpPr>
        <p:pic>
          <p:nvPicPr>
            <p:cNvPr id="5" name="Windows Explorer screen shot"/>
            <p:cNvPicPr>
              <a:picLocks noChangeAspect="1" noChangeArrowheads="1"/>
            </p:cNvPicPr>
            <p:nvPr/>
          </p:nvPicPr>
          <p:blipFill>
            <a:blip r:embed="rId3" cstate="print"/>
            <a:srcRect/>
            <a:stretch>
              <a:fillRect/>
            </a:stretch>
          </p:blipFill>
          <p:spPr bwMode="auto">
            <a:xfrm>
              <a:off x="533400" y="1142999"/>
              <a:ext cx="5581306" cy="3507653"/>
            </a:xfrm>
            <a:prstGeom prst="rect">
              <a:avLst/>
            </a:prstGeom>
            <a:noFill/>
          </p:spPr>
        </p:pic>
        <p:sp>
          <p:nvSpPr>
            <p:cNvPr id="6" name="Oval 8" descr="red circle around the file name "/>
            <p:cNvSpPr>
              <a:spLocks noChangeArrowheads="1"/>
            </p:cNvSpPr>
            <p:nvPr/>
          </p:nvSpPr>
          <p:spPr bwMode="auto">
            <a:xfrm>
              <a:off x="1779492" y="2573500"/>
              <a:ext cx="1116108" cy="206818"/>
            </a:xfrm>
            <a:prstGeom prst="roundRect">
              <a:avLst/>
            </a:prstGeom>
            <a:noFill/>
            <a:ln w="38100" algn="ctr">
              <a:solidFill>
                <a:srgbClr val="CC0000"/>
              </a:solidFill>
              <a:round/>
              <a:headEnd/>
              <a:tailEnd/>
            </a:ln>
            <a:extLst/>
          </p:spPr>
          <p:txBody>
            <a:bodyPr wrap="none" anchor="ctr"/>
            <a:lstStyle/>
            <a:p>
              <a:pPr lvl="0" fontAlgn="base">
                <a:spcBef>
                  <a:spcPct val="0"/>
                </a:spcBef>
                <a:spcAft>
                  <a:spcPct val="0"/>
                </a:spcAft>
              </a:pPr>
              <a:endParaRPr lang="en-US" b="1" dirty="0">
                <a:solidFill>
                  <a:srgbClr val="000000"/>
                </a:solidFill>
                <a:latin typeface="Verdana" pitchFamily="34" charset="0"/>
                <a:cs typeface="Arial" charset="0"/>
              </a:endParaRPr>
            </a:p>
          </p:txBody>
        </p:sp>
        <p:pic>
          <p:nvPicPr>
            <p:cNvPr id="7" name="DhcpSrvLog-Mon screenshot"/>
            <p:cNvPicPr>
              <a:picLocks noChangeAspect="1" noChangeArrowheads="1"/>
            </p:cNvPicPr>
            <p:nvPr/>
          </p:nvPicPr>
          <p:blipFill>
            <a:blip r:embed="rId4" cstate="print"/>
            <a:srcRect/>
            <a:stretch>
              <a:fillRect/>
            </a:stretch>
          </p:blipFill>
          <p:spPr bwMode="auto">
            <a:xfrm>
              <a:off x="3124200" y="1981200"/>
              <a:ext cx="5535086" cy="4295039"/>
            </a:xfrm>
            <a:prstGeom prst="rect">
              <a:avLst/>
            </a:prstGeom>
            <a:noFill/>
          </p:spPr>
        </p:pic>
      </p:grpSp>
    </p:spTree>
    <p:extLst>
      <p:ext uri="{BB962C8B-B14F-4D97-AF65-F5344CB8AC3E}">
        <p14:creationId xmlns:p14="http://schemas.microsoft.com/office/powerpoint/2010/main" val="30316764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cf01fdd4-4c33-43fc-8bd5-ee8243e3dff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Discussion: Common DHCP Issues</a:t>
            </a:r>
            <a:endParaRPr lang="en-CA" dirty="0"/>
          </a:p>
        </p:txBody>
      </p:sp>
      <p:sp>
        <p:nvSpPr>
          <p:cNvPr id="4" name="AutoShape 6"/>
          <p:cNvSpPr>
            <a:spLocks noChangeArrowheads="1"/>
          </p:cNvSpPr>
          <p:nvPr/>
        </p:nvSpPr>
        <p:spPr bwMode="auto">
          <a:xfrm>
            <a:off x="6797525" y="5844225"/>
            <a:ext cx="1580500" cy="485754"/>
          </a:xfrm>
          <a:prstGeom prst="roundRect">
            <a:avLst>
              <a:gd name="adj" fmla="val 4167"/>
            </a:avLst>
          </a:prstGeom>
          <a:noFill/>
          <a:ln w="9525">
            <a:noFill/>
            <a:round/>
            <a:headEnd/>
            <a:tailEnd/>
          </a:ln>
          <a:effectLst/>
        </p:spPr>
        <p:txBody>
          <a:bodyPr/>
          <a:lstStyle/>
          <a:p>
            <a:pPr lvl="0" algn="r" fontAlgn="base">
              <a:spcBef>
                <a:spcPct val="0"/>
              </a:spcBef>
              <a:spcAft>
                <a:spcPct val="0"/>
              </a:spcAft>
              <a:defRPr/>
            </a:pPr>
            <a:r>
              <a:rPr lang="en-US" sz="2000" b="1" dirty="0">
                <a:solidFill>
                  <a:srgbClr val="000000"/>
                </a:solidFill>
                <a:latin typeface="Segoe UI" pitchFamily="34" charset="0"/>
                <a:ea typeface="Segoe UI" pitchFamily="34" charset="0"/>
                <a:cs typeface="Segoe UI" pitchFamily="34" charset="0"/>
              </a:rPr>
              <a:t>10</a:t>
            </a:r>
            <a:r>
              <a:rPr lang="en-US" sz="2000" dirty="0">
                <a:solidFill>
                  <a:srgbClr val="000000"/>
                </a:solidFill>
                <a:latin typeface="Segoe UI" pitchFamily="34" charset="0"/>
                <a:ea typeface="Segoe UI" pitchFamily="34" charset="0"/>
                <a:cs typeface="Segoe UI" pitchFamily="34" charset="0"/>
              </a:rPr>
              <a:t> </a:t>
            </a:r>
            <a:r>
              <a:rPr lang="en-US" sz="2000" b="1" dirty="0">
                <a:solidFill>
                  <a:srgbClr val="000000"/>
                </a:solidFill>
                <a:latin typeface="Segoe UI" pitchFamily="34" charset="0"/>
                <a:ea typeface="Segoe UI" pitchFamily="34" charset="0"/>
                <a:cs typeface="Segoe UI" pitchFamily="34" charset="0"/>
              </a:rPr>
              <a:t>minutes</a:t>
            </a:r>
          </a:p>
        </p:txBody>
      </p:sp>
      <p:sp>
        <p:nvSpPr>
          <p:cNvPr id="5" name="Content Placeholder 2"/>
          <p:cNvSpPr txBox="1">
            <a:spLocks/>
          </p:cNvSpPr>
          <p:nvPr/>
        </p:nvSpPr>
        <p:spPr>
          <a:xfrm>
            <a:off x="458788" y="1021215"/>
            <a:ext cx="8119156" cy="3706381"/>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dirty="0">
                <a:solidFill>
                  <a:srgbClr val="000000"/>
                </a:solidFill>
              </a:rPr>
              <a:t>Common issues that can occur when you do not configure DHCP properly:</a:t>
            </a:r>
          </a:p>
          <a:p>
            <a:pPr lvl="1"/>
            <a:r>
              <a:rPr lang="en-US" sz="2600" kern="0" dirty="0">
                <a:solidFill>
                  <a:srgbClr val="000000"/>
                </a:solidFill>
              </a:rPr>
              <a:t>Address conflicts</a:t>
            </a:r>
          </a:p>
          <a:p>
            <a:pPr lvl="1"/>
            <a:r>
              <a:rPr lang="en-US" sz="2600" kern="0" dirty="0">
                <a:solidFill>
                  <a:srgbClr val="000000"/>
                </a:solidFill>
              </a:rPr>
              <a:t>Failure to obtain a DHCP address</a:t>
            </a:r>
          </a:p>
          <a:p>
            <a:pPr lvl="1"/>
            <a:r>
              <a:rPr lang="en-US" sz="2600" kern="0" dirty="0">
                <a:solidFill>
                  <a:srgbClr val="000000"/>
                </a:solidFill>
              </a:rPr>
              <a:t>Address obtained from an incorrect scope</a:t>
            </a:r>
          </a:p>
          <a:p>
            <a:pPr lvl="1"/>
            <a:r>
              <a:rPr lang="en-US" sz="2600" kern="0" dirty="0">
                <a:solidFill>
                  <a:srgbClr val="000000"/>
                </a:solidFill>
              </a:rPr>
              <a:t>DHCP database suffered data corruption or loss</a:t>
            </a:r>
          </a:p>
          <a:p>
            <a:pPr lvl="1"/>
            <a:r>
              <a:rPr lang="en-US" sz="2600" kern="0" dirty="0">
                <a:solidFill>
                  <a:srgbClr val="000000"/>
                </a:solidFill>
              </a:rPr>
              <a:t>DHCP server has exhausted its IP address pool</a:t>
            </a:r>
            <a:endParaRPr lang="en-CA" sz="2600" kern="0" dirty="0">
              <a:solidFill>
                <a:srgbClr val="000000"/>
              </a:solidFill>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45419" y="4657703"/>
            <a:ext cx="1042110" cy="1186522"/>
          </a:xfrm>
          <a:prstGeom prst="rect">
            <a:avLst/>
          </a:prstGeom>
        </p:spPr>
      </p:pic>
    </p:spTree>
    <p:extLst>
      <p:ext uri="{BB962C8B-B14F-4D97-AF65-F5344CB8AC3E}">
        <p14:creationId xmlns:p14="http://schemas.microsoft.com/office/powerpoint/2010/main" val="16194007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1261d3c9-7b09-4bd5-98dd-1c1e29d1354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Implementing DHCP</a:t>
            </a:r>
            <a:endParaRPr lang="en-CA" dirty="0"/>
          </a:p>
        </p:txBody>
      </p:sp>
      <p:sp>
        <p:nvSpPr>
          <p:cNvPr id="3" name="Text Placeholder 2"/>
          <p:cNvSpPr>
            <a:spLocks noGrp="1"/>
          </p:cNvSpPr>
          <p:nvPr>
            <p:ph type="body" idx="1"/>
          </p:nvPr>
        </p:nvSpPr>
        <p:spPr/>
        <p:txBody>
          <a:bodyPr/>
          <a:lstStyle/>
          <a:p>
            <a:r>
              <a:rPr lang="fr-FR" dirty="0" smtClean="0"/>
              <a:t>Exercise 1: Implementing DHCP
Exercise 2: Implementing a DHCP Relay Agent (Optional Exercise)</a:t>
            </a:r>
            <a:endParaRPr lang="en-CA" dirty="0"/>
          </a:p>
        </p:txBody>
      </p:sp>
      <p:sp>
        <p:nvSpPr>
          <p:cNvPr id="4" name="TextBox 3"/>
          <p:cNvSpPr txBox="1"/>
          <p:nvPr/>
        </p:nvSpPr>
        <p:spPr>
          <a:xfrm>
            <a:off x="458788" y="3318421"/>
            <a:ext cx="2920287" cy="461665"/>
          </a:xfrm>
          <a:prstGeom prst="rect">
            <a:avLst/>
          </a:prstGeom>
          <a:noFill/>
        </p:spPr>
        <p:txBody>
          <a:bodyPr vert="horz" wrap="none" rtlCol="0">
            <a:spAutoFit/>
          </a:bodyPr>
          <a:lstStyle/>
          <a:p>
            <a:r>
              <a:rPr lang="en-CA" sz="2400" b="1" dirty="0" smtClean="0">
                <a:latin typeface="Segoe UI" panose="020B0502040204020203" pitchFamily="34" charset="0"/>
              </a:rPr>
              <a:t>Logon</a:t>
            </a:r>
            <a:r>
              <a:rPr lang="en-CA" sz="2400" dirty="0" smtClean="0">
                <a:latin typeface="Segoe UI" panose="020B0502040204020203" pitchFamily="34" charset="0"/>
              </a:rPr>
              <a:t> </a:t>
            </a:r>
            <a:r>
              <a:rPr lang="en-CA" sz="2400" b="1" dirty="0" smtClean="0">
                <a:latin typeface="Segoe UI" panose="020B0502040204020203" pitchFamily="34" charset="0"/>
              </a:rPr>
              <a:t>Information</a:t>
            </a:r>
            <a:endParaRPr lang="en-CA" sz="2400" b="1" dirty="0">
              <a:latin typeface="Segoe UI" panose="020B0502040204020203" pitchFamily="34" charset="0"/>
            </a:endParaRPr>
          </a:p>
        </p:txBody>
      </p:sp>
      <p:sp>
        <p:nvSpPr>
          <p:cNvPr id="5" name="TextBox 4"/>
          <p:cNvSpPr txBox="1"/>
          <p:nvPr/>
        </p:nvSpPr>
        <p:spPr>
          <a:xfrm>
            <a:off x="458788" y="3801021"/>
            <a:ext cx="5724644" cy="2246769"/>
          </a:xfrm>
          <a:prstGeom prst="rect">
            <a:avLst/>
          </a:prstGeom>
          <a:noFill/>
        </p:spPr>
        <p:txBody>
          <a:bodyPr vert="horz" wrap="none" rtlCol="0">
            <a:spAutoFit/>
          </a:bodyPr>
          <a:lstStyle/>
          <a:p>
            <a:pPr>
              <a:tabLst>
                <a:tab pos="2112963" algn="l"/>
              </a:tabLst>
            </a:pPr>
            <a:r>
              <a:rPr lang="en-US" sz="2000" b="0" i="0" u="none" strike="noStrike" baseline="0" dirty="0" smtClean="0">
                <a:latin typeface="Segoe UI" panose="020B0502040204020203" pitchFamily="34" charset="0"/>
              </a:rPr>
              <a:t>Virtual machines	</a:t>
            </a:r>
            <a:r>
              <a:rPr lang="en-US" sz="2000" b="1" i="0" u="none" strike="noStrike" baseline="0" dirty="0" smtClean="0">
                <a:latin typeface="Segoe UI" panose="020B0502040204020203" pitchFamily="34" charset="0"/>
              </a:rPr>
              <a:t>20410D‑LON‑DC1</a:t>
            </a:r>
          </a:p>
          <a:p>
            <a:pPr>
              <a:tabLst>
                <a:tab pos="2112963" algn="l"/>
              </a:tabLst>
            </a:pPr>
            <a:r>
              <a:rPr lang="en-US" sz="2000" b="1" i="0" u="none" strike="noStrike" baseline="0" dirty="0" smtClean="0">
                <a:latin typeface="Segoe UI" panose="020B0502040204020203" pitchFamily="34" charset="0"/>
              </a:rPr>
              <a:t>	20410D‑LON‑SVR1</a:t>
            </a:r>
          </a:p>
          <a:p>
            <a:pPr>
              <a:tabLst>
                <a:tab pos="2112963" algn="l"/>
              </a:tabLst>
            </a:pPr>
            <a:r>
              <a:rPr lang="en-US" sz="2000" b="1" i="0" u="none" strike="noStrike" baseline="0" dirty="0" smtClean="0">
                <a:latin typeface="Segoe UI" panose="020B0502040204020203" pitchFamily="34" charset="0"/>
              </a:rPr>
              <a:t>	20410D‑LON‑RTR</a:t>
            </a:r>
          </a:p>
          <a:p>
            <a:pPr>
              <a:tabLst>
                <a:tab pos="2112963" algn="l"/>
              </a:tabLst>
            </a:pPr>
            <a:r>
              <a:rPr lang="en-US" sz="2000" b="1" i="0" u="none" strike="noStrike" baseline="0" dirty="0" smtClean="0">
                <a:latin typeface="Segoe UI" panose="020B0502040204020203" pitchFamily="34" charset="0"/>
              </a:rPr>
              <a:t>	20410D‑LON‑CL1</a:t>
            </a:r>
          </a:p>
          <a:p>
            <a:pPr>
              <a:tabLst>
                <a:tab pos="2112963" algn="l"/>
              </a:tabLst>
            </a:pPr>
            <a:r>
              <a:rPr lang="en-US" sz="2000" b="1" i="0" u="none" strike="noStrike" baseline="0" dirty="0" smtClean="0">
                <a:latin typeface="Segoe UI" panose="020B0502040204020203" pitchFamily="34" charset="0"/>
              </a:rPr>
              <a:t>	20410D‑LON‑CL2</a:t>
            </a:r>
          </a:p>
          <a:p>
            <a:pPr>
              <a:tabLst>
                <a:tab pos="2112963" algn="l"/>
              </a:tabLst>
            </a:pPr>
            <a:r>
              <a:rPr lang="en-US" sz="2000" b="0" i="0" u="none" strike="noStrike" baseline="0" dirty="0" smtClean="0">
                <a:latin typeface="Segoe UI" panose="020B0502040204020203" pitchFamily="34" charset="0"/>
              </a:rPr>
              <a:t>User name	</a:t>
            </a:r>
            <a:r>
              <a:rPr lang="en-US" sz="2000" b="1" i="0" u="none" strike="noStrike" baseline="0" dirty="0" smtClean="0">
                <a:latin typeface="Segoe UI" panose="020B0502040204020203" pitchFamily="34" charset="0"/>
              </a:rPr>
              <a:t>Adatum\Administrator	</a:t>
            </a:r>
            <a:endParaRPr lang="en-US" sz="2000" b="0" i="0" u="none" strike="noStrike" baseline="0" dirty="0" smtClean="0">
              <a:latin typeface="Segoe UI" panose="020B0502040204020203" pitchFamily="34" charset="0"/>
            </a:endParaRPr>
          </a:p>
          <a:p>
            <a:pPr>
              <a:tabLst>
                <a:tab pos="2112963" algn="l"/>
              </a:tabLst>
            </a:pPr>
            <a:r>
              <a:rPr lang="en-US" sz="2000" b="0" i="0" u="none" strike="noStrike" baseline="0" dirty="0" smtClean="0">
                <a:latin typeface="Segoe UI" panose="020B0502040204020203" pitchFamily="34" charset="0"/>
              </a:rPr>
              <a:t>Password	</a:t>
            </a:r>
            <a:r>
              <a:rPr lang="en-US" sz="2000" b="1" i="0" u="none" strike="noStrike" baseline="0" dirty="0" smtClean="0">
                <a:latin typeface="Segoe UI" panose="020B0502040204020203" pitchFamily="34" charset="0"/>
              </a:rPr>
              <a:t>Pa$$w0rd</a:t>
            </a:r>
            <a:endParaRPr lang="en-US" sz="2000" b="1" dirty="0">
              <a:solidFill>
                <a:srgbClr val="000000"/>
              </a:solidFill>
              <a:latin typeface="Segoe UI" panose="020B0502040204020203" pitchFamily="34" charset="0"/>
            </a:endParaRP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panose="020B0502040204020203" pitchFamily="34" charset="0"/>
              </a:rPr>
              <a:t>Estimated Time: 60 minutes</a:t>
            </a:r>
            <a:endParaRPr lang="en-CA" sz="2000" b="1" dirty="0">
              <a:latin typeface="Segoe UI" panose="020B0502040204020203" pitchFamily="34" charset="0"/>
            </a:endParaRPr>
          </a:p>
        </p:txBody>
      </p:sp>
    </p:spTree>
    <p:extLst>
      <p:ext uri="{BB962C8B-B14F-4D97-AF65-F5344CB8AC3E}">
        <p14:creationId xmlns:p14="http://schemas.microsoft.com/office/powerpoint/2010/main" val="269633524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4" name="TextBox 3"/>
          <p:cNvSpPr txBox="1"/>
          <p:nvPr/>
        </p:nvSpPr>
        <p:spPr>
          <a:xfrm>
            <a:off x="458788" y="1021215"/>
            <a:ext cx="8119156" cy="4729500"/>
          </a:xfrm>
          <a:prstGeom prst="rect">
            <a:avLst/>
          </a:prstGeom>
          <a:noFill/>
        </p:spPr>
        <p:txBody>
          <a:bodyPr vert="horz" wrap="square" rtlCol="0">
            <a:spAutoFit/>
          </a:bodyPr>
          <a:lstStyle/>
          <a:p>
            <a:pPr>
              <a:spcBef>
                <a:spcPts val="600"/>
              </a:spcBef>
              <a:spcAft>
                <a:spcPts val="1000"/>
              </a:spcAft>
            </a:pPr>
            <a:r>
              <a:rPr lang="en-US" sz="2400" dirty="0" smtClean="0">
                <a:effectLst/>
                <a:latin typeface="Segoe UI" panose="020B0502040204020203" pitchFamily="34" charset="0"/>
                <a:ea typeface="Times New Roman" panose="02020603050405020304" pitchFamily="18" charset="0"/>
                <a:cs typeface="Times New Roman" panose="02020603050405020304" pitchFamily="18" charset="0"/>
              </a:rPr>
              <a:t>A. Datum Corporation has an IT office and data center in London, which supports the London location and other locations as well. A. Datum has recently deployed a Windows 2012 Server infrastructure with Windows 8 clients.</a:t>
            </a:r>
            <a:endParaRPr lang="en-CA" sz="2400" dirty="0" smtClean="0">
              <a:effectLst/>
              <a:latin typeface="Segoe UI" panose="020B0502040204020203" pitchFamily="34" charset="0"/>
              <a:ea typeface="Times New Roman" panose="02020603050405020304" pitchFamily="18" charset="0"/>
              <a:cs typeface="Times New Roman" panose="02020603050405020304" pitchFamily="18" charset="0"/>
            </a:endParaRPr>
          </a:p>
          <a:p>
            <a:pPr lvl="0">
              <a:spcBef>
                <a:spcPts val="600"/>
              </a:spcBef>
              <a:spcAft>
                <a:spcPts val="1000"/>
              </a:spcAft>
            </a:pPr>
            <a:r>
              <a:rPr lang="en-US" sz="2400" dirty="0" smtClean="0">
                <a:effectLst/>
                <a:latin typeface="Segoe UI" panose="020B0502040204020203" pitchFamily="34" charset="0"/>
                <a:ea typeface="Times New Roman" panose="02020603050405020304" pitchFamily="18" charset="0"/>
                <a:cs typeface="Times New Roman" panose="02020603050405020304" pitchFamily="18" charset="0"/>
              </a:rPr>
              <a:t>You have recently accepted a promotion to the server support team. One of your first assignments is to configure the infrastructure service for a new branch office. As part of this assignment, you need to configure a DHCP server that will provide IP addresses and configuration to client computers. Servers are configured with </a:t>
            </a:r>
            <a:r>
              <a:rPr lang="en-US" sz="2400" dirty="0">
                <a:solidFill>
                  <a:srgbClr val="000000"/>
                </a:solidFill>
                <a:latin typeface="Segoe UI" pitchFamily="34" charset="0"/>
                <a:ea typeface="Times New Roman" panose="02020603050405020304" pitchFamily="18" charset="0"/>
                <a:cs typeface="Times New Roman" panose="02020603050405020304" pitchFamily="18" charset="0"/>
              </a:rPr>
              <a:t>static IP addresses and do not use DHCP</a:t>
            </a:r>
            <a:r>
              <a:rPr lang="en-US" sz="2400" dirty="0" smtClean="0">
                <a:solidFill>
                  <a:srgbClr val="000000"/>
                </a:solidFill>
                <a:latin typeface="Segoe UI" pitchFamily="34" charset="0"/>
                <a:ea typeface="Times New Roman" panose="02020603050405020304" pitchFamily="18" charset="0"/>
                <a:cs typeface="Times New Roman" panose="02020603050405020304" pitchFamily="18" charset="0"/>
              </a:rPr>
              <a:t>.</a:t>
            </a:r>
            <a:endParaRPr lang="en-CA" sz="2400" dirty="0">
              <a:solidFill>
                <a:srgbClr val="000000"/>
              </a:solidFill>
              <a:latin typeface="Segoe UI"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3910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c130e194-b3ef-4e0d-82d1-4287073eaea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Review</a:t>
            </a:r>
            <a:endParaRPr lang="en-CA" dirty="0"/>
          </a:p>
        </p:txBody>
      </p:sp>
      <p:sp>
        <p:nvSpPr>
          <p:cNvPr id="3" name="Text Placeholder 2"/>
          <p:cNvSpPr>
            <a:spLocks noGrp="1"/>
          </p:cNvSpPr>
          <p:nvPr>
            <p:ph type="body" idx="1"/>
          </p:nvPr>
        </p:nvSpPr>
        <p:spPr/>
        <p:txBody>
          <a:bodyPr/>
          <a:lstStyle/>
          <a:p>
            <a:r>
              <a:rPr lang="en-CA" dirty="0" smtClean="0"/>
              <a:t>What purpose does the DHCP scope have?
How should you configure a computer to receive an IP address from the DHCP server?
Why do you need MAC address for a DHCP server reservation?
What information do you need to configure on a DHCP relay agent?</a:t>
            </a:r>
            <a:endParaRPr lang="en-CA" dirty="0"/>
          </a:p>
        </p:txBody>
      </p:sp>
    </p:spTree>
    <p:extLst>
      <p:ext uri="{BB962C8B-B14F-4D97-AF65-F5344CB8AC3E}">
        <p14:creationId xmlns:p14="http://schemas.microsoft.com/office/powerpoint/2010/main" val="359614672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Review and Takeaways</a:t>
            </a:r>
            <a:endParaRPr lang="en-CA" dirty="0"/>
          </a:p>
        </p:txBody>
      </p:sp>
      <p:sp>
        <p:nvSpPr>
          <p:cNvPr id="3" name="Text Placeholder 2"/>
          <p:cNvSpPr>
            <a:spLocks noGrp="1"/>
          </p:cNvSpPr>
          <p:nvPr>
            <p:ph type="body" idx="1"/>
          </p:nvPr>
        </p:nvSpPr>
        <p:spPr/>
        <p:txBody>
          <a:bodyPr/>
          <a:lstStyle/>
          <a:p>
            <a:r>
              <a:rPr lang="en-CA" dirty="0"/>
              <a:t>Review Questions
</a:t>
            </a:r>
            <a:r>
              <a:rPr lang="en-CA" dirty="0" smtClean="0"/>
              <a:t>Best Practices</a:t>
            </a:r>
          </a:p>
          <a:p>
            <a:r>
              <a:rPr lang="en-CA" dirty="0"/>
              <a:t>Tools</a:t>
            </a:r>
          </a:p>
          <a:p>
            <a:endParaRPr lang="en-CA" dirty="0"/>
          </a:p>
        </p:txBody>
      </p:sp>
    </p:spTree>
    <p:extLst>
      <p:ext uri="{BB962C8B-B14F-4D97-AF65-F5344CB8AC3E}">
        <p14:creationId xmlns:p14="http://schemas.microsoft.com/office/powerpoint/2010/main" val="34090376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2470490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902</TotalTime>
  <Words>5316</Words>
  <Application>Microsoft Office PowerPoint</Application>
  <PresentationFormat>Affichage à l'écran (4:3)</PresentationFormat>
  <Paragraphs>648</Paragraphs>
  <Slides>36</Slides>
  <Notes>36</Notes>
  <HiddenSlides>3</HiddenSlides>
  <MMClips>0</MMClips>
  <ScaleCrop>false</ScaleCrop>
  <HeadingPairs>
    <vt:vector size="6" baseType="variant">
      <vt:variant>
        <vt:lpstr>Polices utilisées</vt:lpstr>
      </vt:variant>
      <vt:variant>
        <vt:i4>14</vt:i4>
      </vt:variant>
      <vt:variant>
        <vt:lpstr>Thème</vt:lpstr>
      </vt:variant>
      <vt:variant>
        <vt:i4>40</vt:i4>
      </vt:variant>
      <vt:variant>
        <vt:lpstr>Titres des diapositives</vt:lpstr>
      </vt:variant>
      <vt:variant>
        <vt:i4>36</vt:i4>
      </vt:variant>
    </vt:vector>
  </HeadingPairs>
  <TitlesOfParts>
    <vt:vector size="90" baseType="lpstr">
      <vt:lpstr>Lucida Sans Typewriter</vt:lpstr>
      <vt:lpstr>Symbol</vt:lpstr>
      <vt:lpstr>Segoe UI Light</vt:lpstr>
      <vt:lpstr>Segoe UI</vt:lpstr>
      <vt:lpstr>Arial</vt:lpstr>
      <vt:lpstr>Verdana</vt:lpstr>
      <vt:lpstr>Segoe</vt:lpstr>
      <vt:lpstr>Calibri</vt:lpstr>
      <vt:lpstr>Times New Roman</vt:lpstr>
      <vt:lpstr>Segoe-Bold</vt:lpstr>
      <vt:lpstr>Wingdings</vt:lpstr>
      <vt:lpstr>Courier New</vt:lpstr>
      <vt:lpstr>Segoe Light</vt:lpstr>
      <vt:lpstr>Gulim</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33_Presentation1</vt:lpstr>
      <vt:lpstr>34_Presentation1</vt:lpstr>
      <vt:lpstr>35_Presentation1</vt:lpstr>
      <vt:lpstr>36_Presentation1</vt:lpstr>
      <vt:lpstr>37_Presentation1</vt:lpstr>
      <vt:lpstr>38_Presentation1</vt:lpstr>
      <vt:lpstr>39_Presentation1</vt:lpstr>
      <vt:lpstr>Module 6</vt:lpstr>
      <vt:lpstr>Module Overview</vt:lpstr>
      <vt:lpstr>Lesson 1: Overview of the DHCP Server Role</vt:lpstr>
      <vt:lpstr>Avantages d’une configuration IP automatique (DHCP)</vt:lpstr>
      <vt:lpstr>Attribution des adresses IP</vt:lpstr>
      <vt:lpstr>Génération d’un bail</vt:lpstr>
      <vt:lpstr>Renouvellement d’un bail</vt:lpstr>
      <vt:lpstr>Demonstration: Installing the DHCP Server Role</vt:lpstr>
      <vt:lpstr>Présentation PowerPoint</vt:lpstr>
      <vt:lpstr>Interactions entre le serveur DHCP et le serveur DNS</vt:lpstr>
      <vt:lpstr>DHCP Relay</vt:lpstr>
      <vt:lpstr>DHCP Server Authorization</vt:lpstr>
      <vt:lpstr>Lesson 2: Configuring DHCP Scopes</vt:lpstr>
      <vt:lpstr>Etendue DHCP</vt:lpstr>
      <vt:lpstr>Réservation DHCP</vt:lpstr>
      <vt:lpstr>Options DHCP</vt:lpstr>
      <vt:lpstr>Application des options DHCP</vt:lpstr>
      <vt:lpstr>Demonstration: Creating and Configuring a DHCP Scope</vt:lpstr>
      <vt:lpstr>Présentation PowerPoint</vt:lpstr>
      <vt:lpstr>Lesson 3: Managing a DHCP Database</vt:lpstr>
      <vt:lpstr>DHCP Database</vt:lpstr>
      <vt:lpstr>Sauvegarde et restauration de la base de données</vt:lpstr>
      <vt:lpstr>Concilier une base de données DHCP</vt:lpstr>
      <vt:lpstr>Déplacer la base de données DHCP</vt:lpstr>
      <vt:lpstr>Lesson 4: Securing and Monitoring DHCP</vt:lpstr>
      <vt:lpstr>Empêcher un utilisateur non autorisé d’obtenir une adresse IP</vt:lpstr>
      <vt:lpstr>Limiter les serveurs DHCP non autorisés</vt:lpstr>
      <vt:lpstr>Delegating DHCP Administration</vt:lpstr>
      <vt:lpstr>Statistiques DHCP</vt:lpstr>
      <vt:lpstr>DHCP Audit Logging</vt:lpstr>
      <vt:lpstr>Discussion: Common DHCP Issues</vt:lpstr>
      <vt:lpstr>Lab: Implementing DHCP</vt:lpstr>
      <vt:lpstr>Lab Scenario</vt:lpstr>
      <vt:lpstr>Lab Review</vt:lpstr>
      <vt:lpstr>Module Review and Takeaways</vt:lpstr>
      <vt:lpstr>Présentation PowerPoint</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dc:title>
  <dc:creator>Karin Carlson</dc:creator>
  <cp:lastModifiedBy>Sergio Rodrigues</cp:lastModifiedBy>
  <cp:revision>55</cp:revision>
  <dcterms:created xsi:type="dcterms:W3CDTF">2014-02-23T19:24:33Z</dcterms:created>
  <dcterms:modified xsi:type="dcterms:W3CDTF">2017-06-12T05:16:00Z</dcterms:modified>
</cp:coreProperties>
</file>