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Default Extension="wdp" ContentType="image/vnd.ms-photo"/>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90" r:id="rId12"/>
    <p:sldId id="266" r:id="rId13"/>
    <p:sldId id="267" r:id="rId14"/>
    <p:sldId id="268" r:id="rId15"/>
    <p:sldId id="269" r:id="rId16"/>
    <p:sldId id="270" r:id="rId17"/>
    <p:sldId id="291" r:id="rId18"/>
    <p:sldId id="271" r:id="rId19"/>
    <p:sldId id="272" r:id="rId20"/>
    <p:sldId id="273" r:id="rId21"/>
    <p:sldId id="274" r:id="rId22"/>
    <p:sldId id="275" r:id="rId23"/>
    <p:sldId id="276" r:id="rId24"/>
    <p:sldId id="292" r:id="rId25"/>
    <p:sldId id="293" r:id="rId26"/>
    <p:sldId id="277" r:id="rId27"/>
    <p:sldId id="278" r:id="rId28"/>
    <p:sldId id="279" r:id="rId29"/>
    <p:sldId id="280" r:id="rId30"/>
    <p:sldId id="281" r:id="rId31"/>
    <p:sldId id="295" r:id="rId32"/>
    <p:sldId id="282" r:id="rId33"/>
    <p:sldId id="283" r:id="rId34"/>
    <p:sldId id="284" r:id="rId35"/>
    <p:sldId id="285" r:id="rId36"/>
    <p:sldId id="296" r:id="rId37"/>
    <p:sldId id="286" r:id="rId38"/>
    <p:sldId id="288" r:id="rId39"/>
    <p:sldId id="289" r:id="rId40"/>
    <p:sldId id="297" r:id="rId41"/>
  </p:sldIdLst>
  <p:sldSz cx="9144000" cy="6858000" type="screen4x3"/>
  <p:notesSz cx="6858000" cy="9144000"/>
  <p:embeddedFontLst>
    <p:embeddedFont>
      <p:font typeface="Segoe Light" charset="0"/>
      <p:regular r:id="rId43"/>
      <p:italic r:id="rId44"/>
    </p:embeddedFont>
    <p:embeddedFont>
      <p:font typeface="Segoe UI" pitchFamily="34" charset="0"/>
      <p:regular r:id="rId45"/>
      <p:bold r:id="rId46"/>
      <p:italic r:id="rId47"/>
      <p:boldItalic r:id="rId48"/>
    </p:embeddedFont>
    <p:embeddedFont>
      <p:font typeface="Verdana" pitchFamily="34" charset="0"/>
      <p:regular r:id="rId49"/>
      <p:bold r:id="rId50"/>
      <p:italic r:id="rId51"/>
      <p:boldItalic r:id="rId52"/>
    </p:embeddedFont>
    <p:embeddedFont>
      <p:font typeface="Calibri" pitchFamily="34" charset="0"/>
      <p:regular r:id="rId53"/>
      <p:bold r:id="rId54"/>
      <p:italic r:id="rId55"/>
      <p:boldItalic r:id="rId56"/>
    </p:embeddedFont>
    <p:embeddedFont>
      <p:font typeface="Gulim" charset="-127"/>
      <p:regular r:id="rId57"/>
    </p:embeddedFont>
    <p:embeddedFont>
      <p:font typeface="Segoe UI Light" pitchFamily="34" charset="0"/>
      <p:regular r:id="rId58"/>
      <p:italic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80" autoAdjust="0"/>
    <p:restoredTop sz="84383" autoAdjust="0"/>
  </p:normalViewPr>
  <p:slideViewPr>
    <p:cSldViewPr>
      <p:cViewPr varScale="1">
        <p:scale>
          <a:sx n="74" d="100"/>
          <a:sy n="74" d="100"/>
        </p:scale>
        <p:origin x="-1968" y="-67"/>
      </p:cViewPr>
      <p:guideLst>
        <p:guide orient="horz" pos="2160"/>
        <p:guide pos="2880"/>
      </p:guideLst>
    </p:cSldViewPr>
  </p:slideViewPr>
  <p:notesTextViewPr>
    <p:cViewPr>
      <p:scale>
        <a:sx n="1" d="1"/>
        <a:sy n="1" d="1"/>
      </p:scale>
      <p:origin x="0" y="0"/>
    </p:cViewPr>
  </p:notesTextViewPr>
  <p:sorterViewPr>
    <p:cViewPr>
      <p:scale>
        <a:sx n="150" d="100"/>
        <a:sy n="150" d="100"/>
      </p:scale>
      <p:origin x="0" y="9588"/>
    </p:cViewPr>
  </p:sorterViewPr>
  <p:notesViewPr>
    <p:cSldViewPr>
      <p:cViewPr varScale="1">
        <p:scale>
          <a:sx n="64" d="100"/>
          <a:sy n="64" d="100"/>
        </p:scale>
        <p:origin x="1656" y="77"/>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12.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 Id="rId57" Type="http://schemas.openxmlformats.org/officeDocument/2006/relationships/font" Target="fonts/font15.fntdata"/><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font" Target="fonts/font10.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font" Target="fonts/font14.fntdata"/><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59"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BBE7EF-9A97-4022-BC78-360D2FED3E57}" type="datetimeFigureOut">
              <a:rPr lang="en-CA" smtClean="0"/>
              <a:pPr/>
              <a:t>2017-06-21</a:t>
            </a:fld>
            <a:endParaRPr lang="en-CA" dirty="0"/>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870CA0F-3212-4A57-85F5-8924A78C96D3}" type="slidenum">
              <a:rPr lang="en-CA" smtClean="0"/>
              <a:pPr/>
              <a:t>‹N°›</a:t>
            </a:fld>
            <a:endParaRPr lang="en-CA" dirty="0"/>
          </a:p>
        </p:txBody>
      </p:sp>
    </p:spTree>
    <p:extLst>
      <p:ext uri="{BB962C8B-B14F-4D97-AF65-F5344CB8AC3E}">
        <p14:creationId xmlns:p14="http://schemas.microsoft.com/office/powerpoint/2010/main" xmlns="" val="2095733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b="1" dirty="0">
                <a:latin typeface="Arial"/>
                <a:ea typeface="Calibri"/>
                <a:cs typeface="Times New Roman"/>
              </a:rPr>
              <a:t>Presentation: </a:t>
            </a:r>
            <a:r>
              <a:rPr lang="en-CA" sz="1000" dirty="0">
                <a:latin typeface="Arial"/>
                <a:ea typeface="Calibri"/>
                <a:cs typeface="Times New Roman"/>
              </a:rPr>
              <a:t>80 minutes</a:t>
            </a:r>
          </a:p>
          <a:p>
            <a:pPr>
              <a:lnSpc>
                <a:spcPct val="115000"/>
              </a:lnSpc>
              <a:spcAft>
                <a:spcPts val="1000"/>
              </a:spcAft>
            </a:pPr>
            <a:r>
              <a:rPr lang="en-CA" sz="1000" b="1" dirty="0">
                <a:latin typeface="Arial"/>
                <a:ea typeface="Calibri"/>
                <a:cs typeface="Times New Roman"/>
              </a:rPr>
              <a:t>Lab:</a:t>
            </a:r>
            <a:r>
              <a:rPr lang="en-CA" sz="1000" dirty="0">
                <a:latin typeface="Arial"/>
                <a:ea typeface="Calibri"/>
                <a:cs typeface="Times New Roman"/>
              </a:rPr>
              <a:t> 60 minutes</a:t>
            </a:r>
          </a:p>
          <a:p>
            <a:pPr>
              <a:lnSpc>
                <a:spcPct val="115000"/>
              </a:lnSpc>
              <a:spcAft>
                <a:spcPts val="1000"/>
              </a:spcAft>
            </a:pPr>
            <a:r>
              <a:rPr lang="en-CA" sz="1000" dirty="0">
                <a:latin typeface="Arial"/>
                <a:ea typeface="Calibri"/>
                <a:cs typeface="Segoe UI"/>
              </a:rPr>
              <a:t>After completing this module students should be able to:</a:t>
            </a:r>
            <a:endParaRPr lang="en-CA" sz="1000" dirty="0">
              <a:latin typeface="Arial"/>
              <a:ea typeface="Calibri"/>
              <a:cs typeface="Times New Roman"/>
            </a:endParaRPr>
          </a:p>
          <a:p>
            <a:pPr marL="342900" lvl="0" indent="-342900">
              <a:lnSpc>
                <a:spcPct val="115000"/>
              </a:lnSpc>
              <a:spcAft>
                <a:spcPts val="995"/>
              </a:spcAft>
              <a:buFont typeface="Symbol"/>
              <a:buChar char=""/>
            </a:pPr>
            <a:r>
              <a:rPr lang="en-US" sz="1000" dirty="0" smtClean="0">
                <a:solidFill>
                  <a:srgbClr val="000000"/>
                </a:solidFill>
                <a:effectLst/>
                <a:latin typeface="Arial"/>
                <a:ea typeface="Times New Roman"/>
                <a:cs typeface="Segoe UI"/>
              </a:rPr>
              <a:t>Secure files and folders.</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solidFill>
                  <a:srgbClr val="000000"/>
                </a:solidFill>
                <a:effectLst/>
                <a:latin typeface="Arial"/>
                <a:ea typeface="Times New Roman"/>
                <a:cs typeface="Segoe UI"/>
              </a:rPr>
              <a:t>Protect shared </a:t>
            </a:r>
            <a:r>
              <a:rPr lang="en-CA" sz="1000" dirty="0" smtClean="0">
                <a:solidFill>
                  <a:srgbClr val="000000"/>
                </a:solidFill>
                <a:effectLst/>
                <a:latin typeface="Arial"/>
                <a:ea typeface="Times New Roman"/>
                <a:cs typeface="Segoe UI"/>
              </a:rPr>
              <a:t>files and folders </a:t>
            </a:r>
            <a:r>
              <a:rPr lang="en-US" sz="1000" dirty="0" smtClean="0">
                <a:solidFill>
                  <a:srgbClr val="000000"/>
                </a:solidFill>
                <a:effectLst/>
                <a:latin typeface="Arial"/>
                <a:ea typeface="Times New Roman"/>
                <a:cs typeface="Segoe UI"/>
              </a:rPr>
              <a:t>by using shadow copies.</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solidFill>
                  <a:srgbClr val="000000"/>
                </a:solidFill>
                <a:effectLst/>
                <a:latin typeface="Arial"/>
                <a:ea typeface="Times New Roman"/>
                <a:cs typeface="Segoe UI"/>
              </a:rPr>
              <a:t>Configure the Work Folders role service.</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solidFill>
                  <a:srgbClr val="000000"/>
                </a:solidFill>
                <a:effectLst/>
                <a:latin typeface="Arial"/>
                <a:ea typeface="Times New Roman"/>
                <a:cs typeface="Segoe UI"/>
              </a:rPr>
              <a:t>Configure network printing.</a:t>
            </a:r>
            <a:endParaRPr lang="en-CA" sz="1000" dirty="0" smtClean="0">
              <a:effectLst/>
              <a:latin typeface="Arial"/>
              <a:ea typeface="Times New Roman"/>
              <a:cs typeface="Times New Roman"/>
            </a:endParaRPr>
          </a:p>
          <a:p>
            <a:pPr>
              <a:lnSpc>
                <a:spcPct val="115000"/>
              </a:lnSpc>
              <a:spcAft>
                <a:spcPts val="995"/>
              </a:spcAft>
            </a:pPr>
            <a:r>
              <a:rPr lang="en-CA" sz="1000" b="1" dirty="0">
                <a:latin typeface="Arial"/>
                <a:ea typeface="Calibri"/>
                <a:cs typeface="Times New Roman"/>
              </a:rPr>
              <a:t>Required Materials</a:t>
            </a:r>
            <a:endParaRPr lang="en-CA" sz="1000" dirty="0">
              <a:latin typeface="Arial"/>
              <a:ea typeface="Calibri"/>
              <a:cs typeface="Times New Roman"/>
            </a:endParaRPr>
          </a:p>
          <a:p>
            <a:pPr>
              <a:lnSpc>
                <a:spcPct val="115000"/>
              </a:lnSpc>
              <a:spcAft>
                <a:spcPts val="995"/>
              </a:spcAft>
            </a:pPr>
            <a:r>
              <a:rPr lang="en-CA" sz="1000" dirty="0">
                <a:latin typeface="Arial"/>
                <a:ea typeface="Calibri"/>
                <a:cs typeface="Segoe UI"/>
              </a:rPr>
              <a:t>To teach this module, you need the Microsoft</a:t>
            </a:r>
            <a:r>
              <a:rPr lang="en-CA" sz="1000" baseline="30000" dirty="0">
                <a:latin typeface="Arial"/>
                <a:ea typeface="Calibri"/>
                <a:cs typeface="Segoe UI"/>
              </a:rPr>
              <a:t>®</a:t>
            </a:r>
            <a:r>
              <a:rPr lang="en-CA" sz="1000" dirty="0">
                <a:latin typeface="Arial"/>
                <a:ea typeface="Calibri"/>
                <a:cs typeface="Segoe UI"/>
              </a:rPr>
              <a:t> Office PowerPoint</a:t>
            </a:r>
            <a:r>
              <a:rPr lang="en-CA" sz="1000" baseline="30000" dirty="0">
                <a:latin typeface="Arial"/>
                <a:ea typeface="Calibri"/>
                <a:cs typeface="Segoe UI"/>
              </a:rPr>
              <a:t>®</a:t>
            </a:r>
            <a:r>
              <a:rPr lang="en-CA" sz="1000" dirty="0">
                <a:latin typeface="Arial"/>
                <a:ea typeface="Calibri"/>
                <a:cs typeface="Segoe UI"/>
              </a:rPr>
              <a:t> file 20410D_10.pptx.</a:t>
            </a:r>
            <a:endParaRPr lang="en-CA" sz="1000" dirty="0">
              <a:latin typeface="Arial"/>
              <a:ea typeface="Calibri"/>
              <a:cs typeface="Times New Roman"/>
            </a:endParaRPr>
          </a:p>
          <a:p>
            <a:pPr>
              <a:lnSpc>
                <a:spcPct val="115000"/>
              </a:lnSpc>
              <a:spcAft>
                <a:spcPts val="995"/>
              </a:spcAft>
            </a:pPr>
            <a:r>
              <a:rPr lang="en-CA" sz="1000" b="1" dirty="0">
                <a:latin typeface="Arial"/>
                <a:ea typeface="Calibri"/>
                <a:cs typeface="Times New Roman"/>
              </a:rPr>
              <a:t>Important: </a:t>
            </a:r>
            <a:r>
              <a:rPr lang="en-CA" sz="1000" dirty="0">
                <a:latin typeface="Arial"/>
                <a:ea typeface="Calibri"/>
                <a:cs typeface="Times New Roman"/>
              </a:rPr>
              <a:t>We recommend that you use Office PowerPoint 2007 or a newer version to display the slides for this course. If you use PowerPoint Viewer or an older version of Office PowerPoint, all the features of the slides might not display correctly.</a:t>
            </a:r>
          </a:p>
          <a:p>
            <a:pPr>
              <a:lnSpc>
                <a:spcPct val="115000"/>
              </a:lnSpc>
              <a:spcAft>
                <a:spcPts val="995"/>
              </a:spcAft>
            </a:pPr>
            <a:r>
              <a:rPr lang="en-CA" sz="1000" b="1" dirty="0">
                <a:latin typeface="Arial"/>
                <a:ea typeface="Calibri"/>
                <a:cs typeface="Times New Roman"/>
              </a:rPr>
              <a:t>Preparation </a:t>
            </a:r>
            <a:r>
              <a:rPr lang="en-CA" sz="1000" b="1" dirty="0" smtClean="0">
                <a:latin typeface="Arial"/>
                <a:ea typeface="Calibri"/>
                <a:cs typeface="Times New Roman"/>
              </a:rPr>
              <a:t>Tasks</a:t>
            </a:r>
            <a:endParaRPr lang="en-CA" sz="1000" dirty="0">
              <a:latin typeface="Arial"/>
              <a:ea typeface="Calibri"/>
              <a:cs typeface="Times New Roman"/>
            </a:endParaRPr>
          </a:p>
          <a:p>
            <a:pPr>
              <a:lnSpc>
                <a:spcPct val="115000"/>
              </a:lnSpc>
              <a:spcAft>
                <a:spcPts val="995"/>
              </a:spcAft>
            </a:pPr>
            <a:r>
              <a:rPr lang="en-CA" sz="1000" dirty="0">
                <a:latin typeface="Arial"/>
                <a:cs typeface="Times New Roman"/>
              </a:rPr>
              <a:t>To prepare for this module:</a:t>
            </a:r>
            <a:endParaRPr lang="en-CA" sz="1000" dirty="0">
              <a:latin typeface="Arial"/>
              <a:ea typeface="Calibri"/>
              <a:cs typeface="Times New Roman"/>
            </a:endParaRPr>
          </a:p>
          <a:p>
            <a:pPr marL="342900" lvl="0" indent="-342900">
              <a:lnSpc>
                <a:spcPct val="115000"/>
              </a:lnSpc>
              <a:spcAft>
                <a:spcPts val="995"/>
              </a:spcAft>
              <a:buFont typeface="Symbol"/>
              <a:buChar char=""/>
            </a:pPr>
            <a:r>
              <a:rPr lang="en-US" sz="1000" dirty="0" smtClean="0">
                <a:effectLst/>
                <a:latin typeface="Arial"/>
                <a:cs typeface="Times New Roman"/>
              </a:rPr>
              <a:t>Read all of the materials for this module.</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cs typeface="Times New Roman"/>
              </a:rPr>
              <a:t>Practice performing the demonstrations and the lab exercises.</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Gulim"/>
                <a:cs typeface="Times New Roman"/>
              </a:rPr>
              <a:t>Work through the Module Review and Takeaways section, and determine how you will use this section to reinforce student learning and promote knowledge transfer to on-the-job performance.</a:t>
            </a: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1</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444275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Provide a brief overview of the module contents.</a:t>
            </a:r>
          </a:p>
        </p:txBody>
      </p:sp>
      <p:sp>
        <p:nvSpPr>
          <p:cNvPr id="4" name="Slide Number Placeholder 3"/>
          <p:cNvSpPr>
            <a:spLocks noGrp="1"/>
          </p:cNvSpPr>
          <p:nvPr>
            <p:ph type="sldNum" sz="quarter" idx="10"/>
          </p:nvPr>
        </p:nvSpPr>
        <p:spPr/>
        <p:txBody>
          <a:bodyPr/>
          <a:lstStyle/>
          <a:p>
            <a:fld id="{9870CA0F-3212-4A57-85F5-8924A78C96D3}" type="slidenum">
              <a:rPr lang="en-CA" smtClean="0"/>
              <a:pPr/>
              <a:t>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30398145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Briefly describe the lesson content.</a:t>
            </a:r>
          </a:p>
        </p:txBody>
      </p:sp>
      <p:sp>
        <p:nvSpPr>
          <p:cNvPr id="4" name="Slide Number Placeholder 3"/>
          <p:cNvSpPr>
            <a:spLocks noGrp="1"/>
          </p:cNvSpPr>
          <p:nvPr>
            <p:ph type="sldNum" sz="quarter" idx="10"/>
          </p:nvPr>
        </p:nvSpPr>
        <p:spPr/>
        <p:txBody>
          <a:bodyPr/>
          <a:lstStyle/>
          <a:p>
            <a:fld id="{9870CA0F-3212-4A57-85F5-8924A78C96D3}" type="slidenum">
              <a:rPr lang="en-CA" smtClean="0"/>
              <a:pPr/>
              <a:t>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1794448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This topic introduces the key concepts about file sharing permissions. It also touches briefly on topics that you will discuss later in this lesson, such as permissions types and inheritance.</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First, identify specifically what file permissions are, and explain how you assign them.</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The examples in the handbook may be useful in illustrating the basic concepts of file permissions.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Reinforce the precedence rules, which the handbook lists as:</a:t>
            </a:r>
            <a:endParaRPr lang="en-CA" sz="1000" dirty="0">
              <a:latin typeface="Arial"/>
              <a:ea typeface="Calibri"/>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Explicit Deny</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Explicit Allow</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Inherited Deny</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Inherited Allow</a:t>
            </a: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3548789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Discuss why shared folders are both necessary and helpful.</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Explain that you can help secure shared folders by assigning permissions. For example, mention that a best practice is to grant only Authenticated Users access to the share.</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3500791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Explain how parent and child permissions work. Use the whiteboard to draw a directory structure and show how permissions propagate downward, and discuss how inheritance is useful to manage a large number of objects.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Explain how blocking clears the permissions from an object and the result of this action. Additionally, explain how blocking and propagating to child objects can create scalable management of a large number of objects</a:t>
            </a:r>
            <a:r>
              <a:rPr lang="en-CA" sz="1000" dirty="0" smtClean="0">
                <a:latin typeface="Arial"/>
                <a:ea typeface="Calibri"/>
                <a:cs typeface="Segoe UI"/>
              </a:rPr>
              <a:t>.</a:t>
            </a:r>
          </a:p>
          <a:p>
            <a:pPr>
              <a:lnSpc>
                <a:spcPct val="115000"/>
              </a:lnSpc>
              <a:spcAft>
                <a:spcPts val="1000"/>
              </a:spcAft>
            </a:pPr>
            <a:endParaRPr lang="en-CA" sz="1000" dirty="0" smtClean="0">
              <a:latin typeface="Arial"/>
              <a:ea typeface="Calibri"/>
              <a:cs typeface="Segoe UI"/>
            </a:endParaRPr>
          </a:p>
          <a:p>
            <a:r>
              <a:rPr lang="en-US" sz="1200" kern="1200" baseline="0" dirty="0" smtClean="0">
                <a:solidFill>
                  <a:schemeClr val="tx1"/>
                </a:solidFill>
                <a:latin typeface="+mn-lt"/>
                <a:ea typeface="+mn-ea"/>
                <a:cs typeface="+mn-cs"/>
              </a:rPr>
              <a:t>To block inheritance on a file or folder, complete the following procedure:</a:t>
            </a:r>
          </a:p>
          <a:p>
            <a:r>
              <a:rPr lang="en-US" sz="1200" kern="1200" baseline="0" dirty="0" smtClean="0">
                <a:solidFill>
                  <a:schemeClr val="tx1"/>
                </a:solidFill>
                <a:latin typeface="+mn-lt"/>
                <a:ea typeface="+mn-ea"/>
                <a:cs typeface="+mn-cs"/>
              </a:rPr>
              <a:t>1. Right-click the file or folder for which you want to block inheritance, and then click </a:t>
            </a:r>
            <a:r>
              <a:rPr lang="en-US" sz="1200" b="1" kern="1200" baseline="0" dirty="0" smtClean="0">
                <a:solidFill>
                  <a:schemeClr val="tx1"/>
                </a:solidFill>
                <a:latin typeface="+mn-lt"/>
                <a:ea typeface="+mn-ea"/>
                <a:cs typeface="+mn-cs"/>
              </a:rPr>
              <a:t>Properties.</a:t>
            </a:r>
          </a:p>
          <a:p>
            <a:r>
              <a:rPr lang="en-US" sz="1200" kern="1200" baseline="0" dirty="0" smtClean="0">
                <a:solidFill>
                  <a:schemeClr val="tx1"/>
                </a:solidFill>
                <a:latin typeface="+mn-lt"/>
                <a:ea typeface="+mn-ea"/>
                <a:cs typeface="+mn-cs"/>
              </a:rPr>
              <a:t>2. In the </a:t>
            </a:r>
            <a:r>
              <a:rPr lang="en-US" sz="1200" b="1" kern="1200" baseline="0" dirty="0" smtClean="0">
                <a:solidFill>
                  <a:schemeClr val="tx1"/>
                </a:solidFill>
                <a:latin typeface="+mn-lt"/>
                <a:ea typeface="+mn-ea"/>
                <a:cs typeface="+mn-cs"/>
              </a:rPr>
              <a:t>Properties dialog box, click the Security tab, and then click Advanced.</a:t>
            </a:r>
          </a:p>
          <a:p>
            <a:r>
              <a:rPr lang="en-US" sz="1200" kern="1200" baseline="0" dirty="0" smtClean="0">
                <a:solidFill>
                  <a:schemeClr val="tx1"/>
                </a:solidFill>
                <a:latin typeface="+mn-lt"/>
                <a:ea typeface="+mn-ea"/>
                <a:cs typeface="+mn-cs"/>
              </a:rPr>
              <a:t>3. In the </a:t>
            </a:r>
            <a:r>
              <a:rPr lang="en-US" sz="1200" b="1" kern="1200" baseline="0" dirty="0" smtClean="0">
                <a:solidFill>
                  <a:schemeClr val="tx1"/>
                </a:solidFill>
                <a:latin typeface="+mn-lt"/>
                <a:ea typeface="+mn-ea"/>
                <a:cs typeface="+mn-cs"/>
              </a:rPr>
              <a:t>Advanced Security Settings dialog box, click Change Permissions.</a:t>
            </a:r>
          </a:p>
          <a:p>
            <a:r>
              <a:rPr lang="en-US" sz="1200" kern="1200" baseline="0" dirty="0" smtClean="0">
                <a:solidFill>
                  <a:schemeClr val="tx1"/>
                </a:solidFill>
                <a:latin typeface="+mn-lt"/>
                <a:ea typeface="+mn-ea"/>
                <a:cs typeface="+mn-cs"/>
              </a:rPr>
              <a:t>4. In the next </a:t>
            </a:r>
            <a:r>
              <a:rPr lang="en-US" sz="1200" b="1" kern="1200" baseline="0" dirty="0" smtClean="0">
                <a:solidFill>
                  <a:schemeClr val="tx1"/>
                </a:solidFill>
                <a:latin typeface="+mn-lt"/>
                <a:ea typeface="+mn-ea"/>
                <a:cs typeface="+mn-cs"/>
              </a:rPr>
              <a:t>Advanced Security Settings dialog box, click Disable inheritance.</a:t>
            </a:r>
          </a:p>
          <a:p>
            <a:r>
              <a:rPr lang="en-US" sz="1200" kern="1200" baseline="0" dirty="0" smtClean="0">
                <a:solidFill>
                  <a:schemeClr val="tx1"/>
                </a:solidFill>
                <a:latin typeface="+mn-lt"/>
                <a:ea typeface="+mn-ea"/>
                <a:cs typeface="+mn-cs"/>
              </a:rPr>
              <a:t>5. At this point, you are prompted to either convert the inherited permissions into explicit permissions or remove all inherited permissions from the object to start with a blank permissions slate.</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27447505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Describe the key aspects of effective file permissions, and point students to the Effective Access tool.</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Relate the key </a:t>
            </a:r>
            <a:r>
              <a:rPr lang="en-CA" sz="1000" dirty="0" smtClean="0">
                <a:latin typeface="Arial"/>
                <a:ea typeface="Calibri"/>
                <a:cs typeface="Segoe UI"/>
              </a:rPr>
              <a:t>points </a:t>
            </a:r>
            <a:r>
              <a:rPr lang="en-CA" sz="1000" dirty="0">
                <a:latin typeface="Arial"/>
                <a:ea typeface="Calibri"/>
                <a:cs typeface="Segoe UI"/>
              </a:rPr>
              <a:t>for accessing a shared folder, and discuss how shared folder and file permissions apply</a:t>
            </a:r>
            <a:r>
              <a:rPr lang="en-CA" sz="1000" dirty="0" smtClean="0">
                <a:latin typeface="Arial"/>
                <a:ea typeface="Calibri"/>
                <a:cs typeface="Segoe UI"/>
              </a:rPr>
              <a:t>.</a:t>
            </a:r>
          </a:p>
          <a:p>
            <a:pPr>
              <a:lnSpc>
                <a:spcPct val="115000"/>
              </a:lnSpc>
              <a:spcAft>
                <a:spcPts val="1000"/>
              </a:spcAft>
            </a:pPr>
            <a:endParaRPr lang="en-CA" sz="1000" dirty="0" smtClean="0">
              <a:latin typeface="Arial"/>
              <a:ea typeface="Calibri"/>
              <a:cs typeface="Segoe UI"/>
            </a:endParaRPr>
          </a:p>
          <a:p>
            <a:r>
              <a:rPr lang="en-US" sz="1200" kern="1200" baseline="0" dirty="0" smtClean="0">
                <a:solidFill>
                  <a:schemeClr val="tx1"/>
                </a:solidFill>
                <a:latin typeface="+mn-lt"/>
                <a:ea typeface="+mn-ea"/>
                <a:cs typeface="+mn-cs"/>
              </a:rPr>
              <a:t>You can access the Effective Access tool by completing the following procedure:</a:t>
            </a:r>
          </a:p>
          <a:p>
            <a:r>
              <a:rPr lang="en-US" sz="1200" kern="1200" baseline="0" dirty="0" smtClean="0">
                <a:solidFill>
                  <a:schemeClr val="tx1"/>
                </a:solidFill>
                <a:latin typeface="+mn-lt"/>
                <a:ea typeface="+mn-ea"/>
                <a:cs typeface="+mn-cs"/>
              </a:rPr>
              <a:t>1. Right-click the file or folder for which you want to analyze permissions, and then click </a:t>
            </a:r>
            <a:r>
              <a:rPr lang="en-US" sz="1200" b="1" kern="1200" baseline="0" dirty="0" smtClean="0">
                <a:solidFill>
                  <a:schemeClr val="tx1"/>
                </a:solidFill>
                <a:latin typeface="+mn-lt"/>
                <a:ea typeface="+mn-ea"/>
                <a:cs typeface="+mn-cs"/>
              </a:rPr>
              <a:t>Properties.</a:t>
            </a:r>
          </a:p>
          <a:p>
            <a:r>
              <a:rPr lang="en-US" sz="1200" kern="1200" baseline="0" dirty="0" smtClean="0">
                <a:solidFill>
                  <a:schemeClr val="tx1"/>
                </a:solidFill>
                <a:latin typeface="+mn-lt"/>
                <a:ea typeface="+mn-ea"/>
                <a:cs typeface="+mn-cs"/>
              </a:rPr>
              <a:t>2. In the </a:t>
            </a:r>
            <a:r>
              <a:rPr lang="en-US" sz="1200" b="1" kern="1200" baseline="0" dirty="0" smtClean="0">
                <a:solidFill>
                  <a:schemeClr val="tx1"/>
                </a:solidFill>
                <a:latin typeface="+mn-lt"/>
                <a:ea typeface="+mn-ea"/>
                <a:cs typeface="+mn-cs"/>
              </a:rPr>
              <a:t>Properties dialog box, click the Advanced button.</a:t>
            </a:r>
          </a:p>
          <a:p>
            <a:r>
              <a:rPr lang="en-US" sz="1200" kern="1200" baseline="0" dirty="0" smtClean="0">
                <a:solidFill>
                  <a:schemeClr val="tx1"/>
                </a:solidFill>
                <a:latin typeface="+mn-lt"/>
                <a:ea typeface="+mn-ea"/>
                <a:cs typeface="+mn-cs"/>
              </a:rPr>
              <a:t>3. In the </a:t>
            </a:r>
            <a:r>
              <a:rPr lang="en-US" sz="1200" b="1" kern="1200" baseline="0" dirty="0" smtClean="0">
                <a:solidFill>
                  <a:schemeClr val="tx1"/>
                </a:solidFill>
                <a:latin typeface="+mn-lt"/>
                <a:ea typeface="+mn-ea"/>
                <a:cs typeface="+mn-cs"/>
              </a:rPr>
              <a:t>Advanced Security Settings dialog box, click the Effective Access tab.</a:t>
            </a:r>
          </a:p>
          <a:p>
            <a:r>
              <a:rPr lang="en-US" sz="1200" kern="1200" baseline="0" dirty="0" smtClean="0">
                <a:solidFill>
                  <a:schemeClr val="tx1"/>
                </a:solidFill>
                <a:latin typeface="+mn-lt"/>
                <a:ea typeface="+mn-ea"/>
                <a:cs typeface="+mn-cs"/>
              </a:rPr>
              <a:t>4. Choose a user or group to evaluate by using </a:t>
            </a:r>
            <a:r>
              <a:rPr lang="en-US" sz="1200" b="1" kern="1200" baseline="0" dirty="0" smtClean="0">
                <a:solidFill>
                  <a:schemeClr val="tx1"/>
                </a:solidFill>
                <a:latin typeface="+mn-lt"/>
                <a:ea typeface="+mn-ea"/>
                <a:cs typeface="+mn-cs"/>
              </a:rPr>
              <a:t>Select a user.</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7</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31662088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Segoe UI"/>
              </a:rPr>
              <a:t>Introduce access‑based enumeration as defined on the slide. Access‑based enumeration uses the permissions that are set on a shared folder to determine what files and folders are visible to the end user.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Ensure that students understand that access‑based enumeration is applicable only on shared folders and only at the root of the share.</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Ensure students are </a:t>
            </a:r>
            <a:r>
              <a:rPr lang="en-CA" sz="1000" dirty="0" smtClean="0">
                <a:latin typeface="Arial"/>
                <a:ea typeface="Calibri"/>
                <a:cs typeface="Segoe UI"/>
              </a:rPr>
              <a:t>familiar </a:t>
            </a:r>
            <a:r>
              <a:rPr lang="en-CA" sz="1000" dirty="0">
                <a:latin typeface="Arial"/>
                <a:ea typeface="Calibri"/>
                <a:cs typeface="Segoe UI"/>
              </a:rPr>
              <a:t>with the procedure to enable access‑based enumeration on a file share</a:t>
            </a:r>
            <a:r>
              <a:rPr lang="en-CA" sz="1000" dirty="0" smtClean="0">
                <a:latin typeface="Arial"/>
                <a:ea typeface="Calibri"/>
                <a:cs typeface="Segoe UI"/>
              </a:rPr>
              <a:t>.</a:t>
            </a:r>
          </a:p>
          <a:p>
            <a:pPr>
              <a:lnSpc>
                <a:spcPct val="115000"/>
              </a:lnSpc>
              <a:spcAft>
                <a:spcPts val="1000"/>
              </a:spcAft>
            </a:pPr>
            <a:endParaRPr lang="en-CA" sz="1000" dirty="0" smtClean="0">
              <a:latin typeface="Arial"/>
              <a:ea typeface="Calibri"/>
              <a:cs typeface="Segoe UI"/>
            </a:endParaRPr>
          </a:p>
          <a:p>
            <a:r>
              <a:rPr lang="en-US" sz="1200" kern="1200" baseline="0" dirty="0" smtClean="0">
                <a:solidFill>
                  <a:schemeClr val="tx1"/>
                </a:solidFill>
                <a:latin typeface="+mn-lt"/>
                <a:ea typeface="+mn-ea"/>
                <a:cs typeface="+mn-cs"/>
              </a:rPr>
              <a:t>To enable access-based enumeration for a shared folder, you must perform this procedure:</a:t>
            </a:r>
          </a:p>
          <a:p>
            <a:r>
              <a:rPr lang="fr-BE" sz="1200" kern="1200" baseline="0" dirty="0" smtClean="0">
                <a:solidFill>
                  <a:schemeClr val="tx1"/>
                </a:solidFill>
                <a:latin typeface="+mn-lt"/>
                <a:ea typeface="+mn-ea"/>
                <a:cs typeface="+mn-cs"/>
              </a:rPr>
              <a:t>1. Open Server Manager.</a:t>
            </a:r>
          </a:p>
          <a:p>
            <a:r>
              <a:rPr lang="en-US" sz="1200" kern="1200" baseline="0" dirty="0" smtClean="0">
                <a:solidFill>
                  <a:schemeClr val="tx1"/>
                </a:solidFill>
                <a:latin typeface="+mn-lt"/>
                <a:ea typeface="+mn-ea"/>
                <a:cs typeface="+mn-cs"/>
              </a:rPr>
              <a:t>2. In the navigation pane, click </a:t>
            </a:r>
            <a:r>
              <a:rPr lang="en-US" sz="1200" b="1" kern="1200" baseline="0" dirty="0" smtClean="0">
                <a:solidFill>
                  <a:schemeClr val="tx1"/>
                </a:solidFill>
                <a:latin typeface="+mn-lt"/>
                <a:ea typeface="+mn-ea"/>
                <a:cs typeface="+mn-cs"/>
              </a:rPr>
              <a:t>File and Storage Services.</a:t>
            </a:r>
          </a:p>
          <a:p>
            <a:r>
              <a:rPr lang="en-US" sz="1200" kern="1200" baseline="0" dirty="0" smtClean="0">
                <a:solidFill>
                  <a:schemeClr val="tx1"/>
                </a:solidFill>
                <a:latin typeface="+mn-lt"/>
                <a:ea typeface="+mn-ea"/>
                <a:cs typeface="+mn-cs"/>
              </a:rPr>
              <a:t>3. In the navigation pane, click </a:t>
            </a:r>
            <a:r>
              <a:rPr lang="en-US" sz="1200" b="1" kern="1200" baseline="0" dirty="0" smtClean="0">
                <a:solidFill>
                  <a:schemeClr val="tx1"/>
                </a:solidFill>
                <a:latin typeface="+mn-lt"/>
                <a:ea typeface="+mn-ea"/>
                <a:cs typeface="+mn-cs"/>
              </a:rPr>
              <a:t>Shares.</a:t>
            </a:r>
          </a:p>
          <a:p>
            <a:r>
              <a:rPr lang="en-US" sz="1200" kern="1200" baseline="0" dirty="0" smtClean="0">
                <a:solidFill>
                  <a:schemeClr val="tx1"/>
                </a:solidFill>
                <a:latin typeface="+mn-lt"/>
                <a:ea typeface="+mn-ea"/>
                <a:cs typeface="+mn-cs"/>
              </a:rPr>
              <a:t>4. In the Shares pane, right-click the shared folder for which you want to enable access-based enumeration, and then click </a:t>
            </a:r>
            <a:r>
              <a:rPr lang="en-US" sz="1200" b="1" kern="1200" baseline="0" dirty="0" smtClean="0">
                <a:solidFill>
                  <a:schemeClr val="tx1"/>
                </a:solidFill>
                <a:latin typeface="+mn-lt"/>
                <a:ea typeface="+mn-ea"/>
                <a:cs typeface="+mn-cs"/>
              </a:rPr>
              <a:t>Properties.</a:t>
            </a:r>
          </a:p>
          <a:p>
            <a:r>
              <a:rPr lang="en-US" sz="1200" kern="1200" baseline="0" dirty="0" smtClean="0">
                <a:solidFill>
                  <a:schemeClr val="tx1"/>
                </a:solidFill>
                <a:latin typeface="+mn-lt"/>
                <a:ea typeface="+mn-ea"/>
                <a:cs typeface="+mn-cs"/>
              </a:rPr>
              <a:t>5. In the </a:t>
            </a:r>
            <a:r>
              <a:rPr lang="en-US" sz="1200" b="1" kern="1200" baseline="0" dirty="0" smtClean="0">
                <a:solidFill>
                  <a:schemeClr val="tx1"/>
                </a:solidFill>
                <a:latin typeface="+mn-lt"/>
                <a:ea typeface="+mn-ea"/>
                <a:cs typeface="+mn-cs"/>
              </a:rPr>
              <a:t>Properties dialog box, click Settings, and then select Enable access-based enumeration.</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8</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1955425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Introduce the Offline File settings, and explain how they enable clients to maintain offline copies of files and folders that are located on a network share.</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Mention that offline file capabilities have been built into the Windows Server</a:t>
            </a:r>
            <a:r>
              <a:rPr lang="en-CA" sz="1000" baseline="30000" dirty="0">
                <a:latin typeface="Arial"/>
                <a:ea typeface="Calibri"/>
                <a:cs typeface="Segoe UI"/>
              </a:rPr>
              <a:t>®</a:t>
            </a:r>
            <a:r>
              <a:rPr lang="en-CA" sz="1000" dirty="0">
                <a:latin typeface="Arial"/>
                <a:ea typeface="Calibri"/>
                <a:cs typeface="Segoe UI"/>
              </a:rPr>
              <a:t> operating system since Windows Server 2003.</a:t>
            </a:r>
            <a:endParaRPr lang="en-CA" sz="1000" dirty="0">
              <a:latin typeface="Arial"/>
              <a:ea typeface="Calibri"/>
              <a:cs typeface="Times New Roman"/>
            </a:endParaRPr>
          </a:p>
          <a:p>
            <a:pPr>
              <a:lnSpc>
                <a:spcPct val="115000"/>
              </a:lnSpc>
              <a:spcAft>
                <a:spcPts val="400"/>
              </a:spcAft>
            </a:pPr>
            <a:r>
              <a:rPr lang="en-CA" sz="1000" dirty="0">
                <a:latin typeface="Arial"/>
                <a:ea typeface="Calibri"/>
                <a:cs typeface="Segoe UI"/>
              </a:rPr>
              <a:t>Additionally, you might want to mention the client compatibility list:</a:t>
            </a:r>
            <a:endParaRPr lang="en-CA" sz="1000" dirty="0">
              <a:latin typeface="Arial"/>
              <a:ea typeface="Calibri"/>
              <a:cs typeface="Times New Roman"/>
            </a:endParaRPr>
          </a:p>
          <a:p>
            <a:pPr marL="342900" lvl="0" indent="-342900">
              <a:lnSpc>
                <a:spcPct val="115000"/>
              </a:lnSpc>
              <a:spcAft>
                <a:spcPts val="400"/>
              </a:spcAft>
              <a:buFont typeface="Symbol"/>
              <a:buChar char=""/>
            </a:pPr>
            <a:r>
              <a:rPr lang="en-US" sz="1000" dirty="0" smtClean="0">
                <a:effectLst/>
                <a:latin typeface="Arial"/>
                <a:ea typeface="Times New Roman"/>
                <a:cs typeface="Segoe UI"/>
              </a:rPr>
              <a:t>Windows 8.1</a:t>
            </a:r>
            <a:endParaRPr lang="en-CA" sz="1000" dirty="0" smtClean="0">
              <a:effectLst/>
              <a:latin typeface="Arial"/>
              <a:ea typeface="Times New Roman"/>
              <a:cs typeface="Times New Roman"/>
            </a:endParaRPr>
          </a:p>
          <a:p>
            <a:pPr marL="342900" lvl="0" indent="-342900">
              <a:lnSpc>
                <a:spcPct val="115000"/>
              </a:lnSpc>
              <a:spcAft>
                <a:spcPts val="400"/>
              </a:spcAft>
              <a:buFont typeface="Symbol"/>
              <a:buChar char=""/>
            </a:pPr>
            <a:r>
              <a:rPr lang="en-US" sz="1000" dirty="0" smtClean="0">
                <a:effectLst/>
                <a:latin typeface="Arial"/>
                <a:ea typeface="Times New Roman"/>
                <a:cs typeface="Segoe UI"/>
              </a:rPr>
              <a:t>Windows 8</a:t>
            </a:r>
            <a:endParaRPr lang="en-CA" sz="1000" dirty="0" smtClean="0">
              <a:effectLst/>
              <a:latin typeface="Arial"/>
              <a:ea typeface="Times New Roman"/>
              <a:cs typeface="Times New Roman"/>
            </a:endParaRPr>
          </a:p>
          <a:p>
            <a:pPr marL="342900" lvl="0" indent="-342900">
              <a:lnSpc>
                <a:spcPct val="115000"/>
              </a:lnSpc>
              <a:spcAft>
                <a:spcPts val="400"/>
              </a:spcAft>
              <a:buFont typeface="Symbol"/>
              <a:buChar char=""/>
            </a:pPr>
            <a:r>
              <a:rPr lang="en-US" sz="1000" dirty="0" smtClean="0">
                <a:effectLst/>
                <a:latin typeface="Arial"/>
                <a:ea typeface="Times New Roman"/>
                <a:cs typeface="Segoe UI"/>
              </a:rPr>
              <a:t>Windows Server 2012 R2</a:t>
            </a:r>
            <a:endParaRPr lang="en-CA" sz="1000" dirty="0" smtClean="0">
              <a:effectLst/>
              <a:latin typeface="Arial"/>
              <a:ea typeface="Times New Roman"/>
              <a:cs typeface="Times New Roman"/>
            </a:endParaRPr>
          </a:p>
          <a:p>
            <a:pPr marL="342900" lvl="0" indent="-342900">
              <a:lnSpc>
                <a:spcPct val="115000"/>
              </a:lnSpc>
              <a:spcAft>
                <a:spcPts val="400"/>
              </a:spcAft>
              <a:buFont typeface="Symbol"/>
              <a:buChar char=""/>
            </a:pPr>
            <a:r>
              <a:rPr lang="en-US" sz="1000" dirty="0" smtClean="0">
                <a:effectLst/>
                <a:latin typeface="Arial"/>
                <a:ea typeface="Times New Roman"/>
                <a:cs typeface="Segoe UI"/>
              </a:rPr>
              <a:t>Windows Server 2012</a:t>
            </a:r>
            <a:endParaRPr lang="en-CA" sz="1000" dirty="0" smtClean="0">
              <a:effectLst/>
              <a:latin typeface="Arial"/>
              <a:ea typeface="Times New Roman"/>
              <a:cs typeface="Times New Roman"/>
            </a:endParaRPr>
          </a:p>
          <a:p>
            <a:pPr marL="342900" lvl="0" indent="-342900">
              <a:lnSpc>
                <a:spcPct val="115000"/>
              </a:lnSpc>
              <a:spcAft>
                <a:spcPts val="400"/>
              </a:spcAft>
              <a:buFont typeface="Symbol"/>
              <a:buChar char=""/>
            </a:pPr>
            <a:r>
              <a:rPr lang="en-US" sz="1000" dirty="0" smtClean="0">
                <a:effectLst/>
                <a:latin typeface="Arial"/>
                <a:ea typeface="Times New Roman"/>
                <a:cs typeface="Segoe UI"/>
              </a:rPr>
              <a:t>Windows 7</a:t>
            </a:r>
            <a:endParaRPr lang="en-CA" sz="1000" dirty="0" smtClean="0">
              <a:effectLst/>
              <a:latin typeface="Arial"/>
              <a:ea typeface="Times New Roman"/>
              <a:cs typeface="Times New Roman"/>
            </a:endParaRPr>
          </a:p>
          <a:p>
            <a:pPr marL="342900" lvl="0" indent="-342900">
              <a:lnSpc>
                <a:spcPct val="115000"/>
              </a:lnSpc>
              <a:spcAft>
                <a:spcPts val="400"/>
              </a:spcAft>
              <a:buFont typeface="Symbol"/>
              <a:buChar char=""/>
            </a:pPr>
            <a:r>
              <a:rPr lang="en-US" sz="1000" dirty="0" smtClean="0">
                <a:effectLst/>
                <a:latin typeface="Arial"/>
                <a:ea typeface="Times New Roman"/>
                <a:cs typeface="Segoe UI"/>
              </a:rPr>
              <a:t>Windows Server 2008 R2</a:t>
            </a:r>
            <a:endParaRPr lang="en-CA" sz="1000" dirty="0" smtClean="0">
              <a:effectLst/>
              <a:latin typeface="Arial"/>
              <a:ea typeface="Times New Roman"/>
              <a:cs typeface="Times New Roman"/>
            </a:endParaRPr>
          </a:p>
          <a:p>
            <a:pPr marL="342900" lvl="0" indent="-342900">
              <a:lnSpc>
                <a:spcPct val="115000"/>
              </a:lnSpc>
              <a:spcAft>
                <a:spcPts val="400"/>
              </a:spcAft>
              <a:buFont typeface="Symbol"/>
              <a:buChar char=""/>
            </a:pPr>
            <a:r>
              <a:rPr lang="en-US" sz="1000" dirty="0" smtClean="0">
                <a:effectLst/>
                <a:latin typeface="Arial"/>
                <a:ea typeface="Times New Roman"/>
                <a:cs typeface="Segoe UI"/>
              </a:rPr>
              <a:t>Windows Server 2008</a:t>
            </a:r>
            <a:endParaRPr lang="en-CA" sz="1000" dirty="0" smtClean="0">
              <a:effectLst/>
              <a:latin typeface="Arial"/>
              <a:ea typeface="Times New Roman"/>
              <a:cs typeface="Times New Roman"/>
            </a:endParaRPr>
          </a:p>
          <a:p>
            <a:pPr marL="342900" lvl="0" indent="-342900">
              <a:lnSpc>
                <a:spcPct val="115000"/>
              </a:lnSpc>
              <a:spcAft>
                <a:spcPts val="400"/>
              </a:spcAft>
              <a:buFont typeface="Symbol"/>
              <a:buChar char=""/>
            </a:pPr>
            <a:r>
              <a:rPr lang="en-US" sz="1000" dirty="0" smtClean="0">
                <a:effectLst/>
                <a:latin typeface="Arial"/>
                <a:ea typeface="Times New Roman"/>
                <a:cs typeface="Segoe UI"/>
              </a:rPr>
              <a:t>Windows Vista</a:t>
            </a:r>
            <a:r>
              <a:rPr lang="en-US" sz="1000" baseline="30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Windows Server 2003</a:t>
            </a:r>
            <a:endParaRPr lang="en-CA" sz="1000" dirty="0" smtClean="0">
              <a:effectLst/>
              <a:latin typeface="Arial"/>
              <a:ea typeface="Times New Roman"/>
              <a:cs typeface="Times New Roman"/>
            </a:endParaRPr>
          </a:p>
          <a:p>
            <a:pPr>
              <a:lnSpc>
                <a:spcPct val="115000"/>
              </a:lnSpc>
              <a:spcAft>
                <a:spcPts val="1000"/>
              </a:spcAft>
            </a:pPr>
            <a:r>
              <a:rPr lang="en-CA" sz="1000" dirty="0">
                <a:latin typeface="Arial"/>
                <a:ea typeface="Calibri"/>
                <a:cs typeface="Segoe UI"/>
              </a:rPr>
              <a:t>Introduce the Always Offline mode to students. Explain its primary purpose, and mention the Windows operating system versions that are compatible.</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9</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5062663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b="1" dirty="0" smtClean="0">
                <a:latin typeface="Arial"/>
                <a:ea typeface="Calibri"/>
                <a:cs typeface="Times New Roman"/>
              </a:rPr>
              <a:t>Preparation </a:t>
            </a:r>
            <a:r>
              <a:rPr lang="en-CA" sz="1000" b="1" dirty="0">
                <a:latin typeface="Arial"/>
                <a:ea typeface="Calibri"/>
                <a:cs typeface="Times New Roman"/>
              </a:rPr>
              <a:t>Steps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You need the virtual machines </a:t>
            </a:r>
            <a:r>
              <a:rPr lang="en-CA" sz="1000" dirty="0">
                <a:latin typeface="Arial"/>
                <a:ea typeface="Calibri"/>
                <a:cs typeface="Times New Roman"/>
              </a:rPr>
              <a:t>20410D‑LON‑DC1 and</a:t>
            </a:r>
            <a:r>
              <a:rPr lang="en-CA" sz="1000" b="1" dirty="0">
                <a:latin typeface="Arial"/>
                <a:ea typeface="Calibri"/>
                <a:cs typeface="Times New Roman"/>
              </a:rPr>
              <a:t> </a:t>
            </a:r>
            <a:r>
              <a:rPr lang="en-CA" sz="1000" dirty="0">
                <a:latin typeface="Arial"/>
                <a:ea typeface="Calibri"/>
                <a:cs typeface="Times New Roman"/>
              </a:rPr>
              <a:t>20410D‑LON‑SVR1</a:t>
            </a:r>
            <a:r>
              <a:rPr lang="en-CA" sz="1000" dirty="0">
                <a:latin typeface="Arial"/>
                <a:ea typeface="Calibri"/>
                <a:cs typeface="Segoe UI"/>
              </a:rPr>
              <a:t> for this demonstration</a:t>
            </a:r>
            <a:r>
              <a:rPr lang="en-CA" sz="1000" dirty="0">
                <a:latin typeface="Arial"/>
                <a:ea typeface="Calibri"/>
                <a:cs typeface="Times New Roman"/>
              </a:rPr>
              <a:t>;</a:t>
            </a:r>
            <a:r>
              <a:rPr lang="en-CA" sz="1000" dirty="0">
                <a:latin typeface="Arial"/>
                <a:ea typeface="Calibri"/>
                <a:cs typeface="Segoe UI"/>
              </a:rPr>
              <a:t> start them now.</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Demonstration Steps</a:t>
            </a:r>
            <a:endParaRPr lang="en-CA" sz="1000" dirty="0">
              <a:latin typeface="Arial"/>
              <a:ea typeface="Calibri"/>
              <a:cs typeface="Times New Roman"/>
            </a:endParaRPr>
          </a:p>
          <a:p>
            <a:pPr>
              <a:lnSpc>
                <a:spcPts val="1300"/>
              </a:lnSpc>
              <a:spcBef>
                <a:spcPts val="900"/>
              </a:spcBef>
              <a:spcAft>
                <a:spcPts val="300"/>
              </a:spcAft>
            </a:pPr>
            <a:r>
              <a:rPr lang="en-US" sz="1000" b="1" dirty="0" smtClean="0">
                <a:effectLst/>
                <a:latin typeface="Arial"/>
                <a:ea typeface="Times New Roman"/>
                <a:cs typeface="Segoe UI"/>
              </a:rPr>
              <a:t>Create a shared folder</a:t>
            </a:r>
            <a:endParaRPr lang="en-CA" sz="1000" b="1" dirty="0" smtClean="0">
              <a:effectLst/>
              <a:latin typeface="Arial"/>
              <a:ea typeface="Times New Roman"/>
              <a:cs typeface="Segoe UI"/>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Sign in to LON‑SVR1 as </a:t>
            </a:r>
            <a:r>
              <a:rPr lang="en-US" sz="1000" b="1" dirty="0" smtClean="0">
                <a:effectLst/>
                <a:latin typeface="Arial"/>
                <a:ea typeface="Times New Roman"/>
                <a:cs typeface="Times New Roman"/>
              </a:rPr>
              <a:t>Adatum\Administrator</a:t>
            </a:r>
            <a:r>
              <a:rPr lang="en-US" sz="1000" dirty="0" smtClean="0">
                <a:effectLst/>
                <a:latin typeface="Arial"/>
                <a:ea typeface="Times New Roman"/>
                <a:cs typeface="Segoe UI"/>
              </a:rPr>
              <a:t> with the password </a:t>
            </a:r>
            <a:r>
              <a:rPr lang="en-US" sz="1000" b="1" dirty="0" smtClean="0">
                <a:effectLst/>
                <a:latin typeface="Arial"/>
                <a:ea typeface="Times New Roman"/>
                <a:cs typeface="Times New Roman"/>
              </a:rPr>
              <a:t>Pa$$w0rd</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On the taskbar, click the </a:t>
            </a:r>
            <a:r>
              <a:rPr lang="en-US" sz="1000" b="1" dirty="0" smtClean="0">
                <a:effectLst/>
                <a:latin typeface="Arial"/>
                <a:ea typeface="Times New Roman"/>
                <a:cs typeface="Times New Roman"/>
              </a:rPr>
              <a:t>File Explorer </a:t>
            </a:r>
            <a:r>
              <a:rPr lang="en-US" sz="1000" dirty="0" smtClean="0">
                <a:effectLst/>
                <a:latin typeface="Arial"/>
                <a:ea typeface="Times New Roman"/>
                <a:cs typeface="Times New Roman"/>
              </a:rPr>
              <a:t>icon.</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solidFill>
                  <a:srgbClr val="000000"/>
                </a:solidFill>
                <a:effectLst/>
                <a:latin typeface="Arial"/>
                <a:ea typeface="Times New Roman"/>
                <a:cs typeface="Segoe UI"/>
              </a:rPr>
              <a:t>In File Explorer, in the navigation pane,</a:t>
            </a:r>
            <a:r>
              <a:rPr lang="en-US" sz="1000" dirty="0" smtClean="0">
                <a:effectLst/>
                <a:latin typeface="Arial"/>
                <a:ea typeface="Times New Roman"/>
                <a:cs typeface="Segoe UI"/>
              </a:rPr>
              <a:t> expand </a:t>
            </a:r>
            <a:r>
              <a:rPr lang="en-US" sz="1000" b="1" dirty="0" smtClean="0">
                <a:effectLst/>
                <a:latin typeface="Arial"/>
                <a:ea typeface="Times New Roman"/>
                <a:cs typeface="Times New Roman"/>
              </a:rPr>
              <a:t>This PC</a:t>
            </a:r>
            <a:r>
              <a:rPr lang="en-US" sz="1000" dirty="0" smtClean="0">
                <a:effectLst/>
                <a:latin typeface="Arial"/>
                <a:ea typeface="Times New Roman"/>
                <a:cs typeface="Times New Roman"/>
              </a:rPr>
              <a:t>,</a:t>
            </a:r>
            <a:r>
              <a:rPr lang="en-US" sz="1000" dirty="0" smtClean="0">
                <a:effectLst/>
                <a:latin typeface="Arial"/>
                <a:ea typeface="Times New Roman"/>
                <a:cs typeface="Segoe UI"/>
              </a:rPr>
              <a:t> and then click</a:t>
            </a:r>
            <a:r>
              <a:rPr lang="en-US" sz="1000" dirty="0" smtClean="0">
                <a:solidFill>
                  <a:srgbClr val="000000"/>
                </a:solidFill>
                <a:effectLst/>
                <a:latin typeface="Arial"/>
                <a:ea typeface="Times New Roman"/>
                <a:cs typeface="Segoe UI"/>
              </a:rPr>
              <a:t> </a:t>
            </a:r>
            <a:r>
              <a:rPr lang="en-US" sz="1000" b="1" dirty="0" smtClean="0">
                <a:effectLst/>
                <a:latin typeface="Arial"/>
                <a:ea typeface="Times New Roman"/>
                <a:cs typeface="Times New Roman"/>
              </a:rPr>
              <a:t>Allfiles (E:)</a:t>
            </a:r>
            <a:r>
              <a:rPr lang="en-US" sz="1000" dirty="0" smtClean="0">
                <a:solidFill>
                  <a:srgbClr val="000000"/>
                </a:solidFill>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solidFill>
                  <a:srgbClr val="000000"/>
                </a:solidFill>
                <a:effectLst/>
                <a:latin typeface="Arial"/>
                <a:ea typeface="Times New Roman"/>
                <a:cs typeface="Segoe UI"/>
              </a:rPr>
              <a:t>On the menu toolbar, click </a:t>
            </a:r>
            <a:r>
              <a:rPr lang="en-US" sz="1000" b="1" dirty="0" smtClean="0">
                <a:effectLst/>
                <a:latin typeface="Arial"/>
                <a:ea typeface="Times New Roman"/>
                <a:cs typeface="Times New Roman"/>
              </a:rPr>
              <a:t>Home</a:t>
            </a:r>
            <a:r>
              <a:rPr lang="en-US" sz="1000" dirty="0" smtClean="0">
                <a:solidFill>
                  <a:srgbClr val="000000"/>
                </a:solidFill>
                <a:effectLst/>
                <a:latin typeface="Arial"/>
                <a:ea typeface="Times New Roman"/>
                <a:cs typeface="Segoe UI"/>
              </a:rPr>
              <a:t>, </a:t>
            </a:r>
            <a:r>
              <a:rPr lang="en-US" sz="1000" dirty="0" smtClean="0">
                <a:effectLst/>
                <a:latin typeface="Arial"/>
                <a:ea typeface="Times New Roman"/>
                <a:cs typeface="Segoe UI"/>
              </a:rPr>
              <a:t>click</a:t>
            </a:r>
            <a:r>
              <a:rPr lang="en-US" sz="1000" dirty="0" smtClean="0">
                <a:solidFill>
                  <a:srgbClr val="000000"/>
                </a:solidFill>
                <a:effectLst/>
                <a:latin typeface="Arial"/>
                <a:ea typeface="Times New Roman"/>
                <a:cs typeface="Segoe UI"/>
              </a:rPr>
              <a:t> </a:t>
            </a:r>
            <a:r>
              <a:rPr lang="en-US" sz="1000" b="1" dirty="0" smtClean="0">
                <a:effectLst/>
                <a:latin typeface="Arial"/>
                <a:ea typeface="Times New Roman"/>
                <a:cs typeface="Times New Roman"/>
              </a:rPr>
              <a:t>New folder</a:t>
            </a:r>
            <a:r>
              <a:rPr lang="en-US" sz="1000" dirty="0" smtClean="0">
                <a:solidFill>
                  <a:srgbClr val="000000"/>
                </a:solidFill>
                <a:effectLst/>
                <a:latin typeface="Arial"/>
                <a:ea typeface="Times New Roman"/>
                <a:cs typeface="Segoe UI"/>
              </a:rPr>
              <a:t>, type </a:t>
            </a:r>
            <a:r>
              <a:rPr lang="en-US" sz="1000" b="1" dirty="0" smtClean="0">
                <a:effectLst/>
                <a:latin typeface="Arial"/>
                <a:ea typeface="Times New Roman"/>
                <a:cs typeface="Times New Roman"/>
              </a:rPr>
              <a:t>Data</a:t>
            </a:r>
            <a:r>
              <a:rPr lang="en-US" sz="1000" dirty="0" smtClean="0">
                <a:solidFill>
                  <a:srgbClr val="000000"/>
                </a:solidFill>
                <a:effectLst/>
                <a:latin typeface="Arial"/>
                <a:ea typeface="Times New Roman"/>
                <a:cs typeface="Segoe UI"/>
              </a:rPr>
              <a:t>, and then press </a:t>
            </a:r>
            <a:r>
              <a:rPr lang="en-US" sz="1000" dirty="0" smtClean="0">
                <a:effectLst/>
                <a:latin typeface="Arial"/>
                <a:ea typeface="Times New Roman"/>
                <a:cs typeface="Times New Roman"/>
              </a:rPr>
              <a:t>Enter</a:t>
            </a:r>
            <a:r>
              <a:rPr lang="en-US" sz="1000" dirty="0" smtClean="0">
                <a:solidFill>
                  <a:srgbClr val="000000"/>
                </a:solidFill>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Right‑click the </a:t>
            </a:r>
            <a:r>
              <a:rPr lang="en-US" sz="1000" b="1" dirty="0" smtClean="0">
                <a:effectLst/>
                <a:latin typeface="Arial"/>
                <a:ea typeface="Times New Roman"/>
                <a:cs typeface="Times New Roman"/>
              </a:rPr>
              <a:t>Data </a:t>
            </a:r>
            <a:r>
              <a:rPr lang="en-US" sz="1000" dirty="0" smtClean="0">
                <a:effectLst/>
                <a:latin typeface="Arial"/>
                <a:ea typeface="Times New Roman"/>
                <a:cs typeface="Times New Roman"/>
              </a:rPr>
              <a:t>folder, and then click </a:t>
            </a:r>
            <a:r>
              <a:rPr lang="en-US" sz="1000" b="1" dirty="0" smtClean="0">
                <a:effectLst/>
                <a:latin typeface="Arial"/>
                <a:ea typeface="Times New Roman"/>
                <a:cs typeface="Times New Roman"/>
              </a:rPr>
              <a:t>Properties</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In the </a:t>
            </a:r>
            <a:r>
              <a:rPr lang="en-US" sz="1000" b="1" dirty="0" smtClean="0">
                <a:effectLst/>
                <a:latin typeface="Arial"/>
                <a:ea typeface="Times New Roman"/>
                <a:cs typeface="Times New Roman"/>
              </a:rPr>
              <a:t>Data Properties</a:t>
            </a:r>
            <a:r>
              <a:rPr lang="en-US" sz="1000" dirty="0" smtClean="0">
                <a:effectLst/>
                <a:latin typeface="Arial"/>
                <a:ea typeface="Times New Roman"/>
                <a:cs typeface="Times New Roman"/>
              </a:rPr>
              <a:t> dialog box, click the </a:t>
            </a:r>
            <a:r>
              <a:rPr lang="en-US" sz="1000" b="1" dirty="0" smtClean="0">
                <a:effectLst/>
                <a:latin typeface="Arial"/>
                <a:ea typeface="Times New Roman"/>
                <a:cs typeface="Times New Roman"/>
              </a:rPr>
              <a:t>Sharing </a:t>
            </a:r>
            <a:r>
              <a:rPr lang="en-US" sz="1000" dirty="0" smtClean="0">
                <a:effectLst/>
                <a:latin typeface="Arial"/>
                <a:ea typeface="Times New Roman"/>
                <a:cs typeface="Times New Roman"/>
              </a:rPr>
              <a:t>tab, and then click </a:t>
            </a:r>
            <a:r>
              <a:rPr lang="en-US" sz="1000" b="1" dirty="0" smtClean="0">
                <a:effectLst/>
                <a:latin typeface="Arial"/>
                <a:ea typeface="Times New Roman"/>
                <a:cs typeface="Times New Roman"/>
              </a:rPr>
              <a:t>Advanced Sharing</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In the </a:t>
            </a:r>
            <a:r>
              <a:rPr lang="en-US" sz="1000" b="1" dirty="0" smtClean="0">
                <a:effectLst/>
                <a:latin typeface="Arial"/>
                <a:ea typeface="Times New Roman"/>
                <a:cs typeface="Times New Roman"/>
              </a:rPr>
              <a:t>Advanced Sharing</a:t>
            </a:r>
            <a:r>
              <a:rPr lang="en-US" sz="1000" dirty="0" smtClean="0">
                <a:effectLst/>
                <a:latin typeface="Arial"/>
                <a:ea typeface="Times New Roman"/>
                <a:cs typeface="Times New Roman"/>
              </a:rPr>
              <a:t> dialog box, select </a:t>
            </a:r>
            <a:r>
              <a:rPr lang="en-US" sz="1000" b="1" dirty="0" smtClean="0">
                <a:effectLst/>
                <a:latin typeface="Arial"/>
                <a:ea typeface="Times New Roman"/>
                <a:cs typeface="Times New Roman"/>
              </a:rPr>
              <a:t>Share this folder</a:t>
            </a:r>
            <a:r>
              <a:rPr lang="en-US" sz="1000" dirty="0" smtClean="0">
                <a:effectLst/>
                <a:latin typeface="Arial"/>
                <a:ea typeface="Times New Roman"/>
                <a:cs typeface="Times New Roman"/>
              </a:rPr>
              <a:t>, and then click </a:t>
            </a:r>
            <a:r>
              <a:rPr lang="en-US" sz="1000" b="1" dirty="0" smtClean="0">
                <a:effectLst/>
                <a:latin typeface="Arial"/>
                <a:ea typeface="Times New Roman"/>
                <a:cs typeface="Times New Roman"/>
              </a:rPr>
              <a:t>Permissions</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a:lnSpc>
                <a:spcPts val="1300"/>
              </a:lnSpc>
              <a:spcBef>
                <a:spcPts val="900"/>
              </a:spcBef>
              <a:spcAft>
                <a:spcPts val="300"/>
              </a:spcAft>
            </a:pPr>
            <a:r>
              <a:rPr lang="en-US" sz="1000" b="1" dirty="0" smtClean="0">
                <a:effectLst/>
                <a:latin typeface="Arial"/>
                <a:ea typeface="Times New Roman"/>
                <a:cs typeface="Segoe UI"/>
              </a:rPr>
              <a:t>Assign permissions for the shared folder</a:t>
            </a:r>
            <a:endParaRPr lang="en-CA" sz="1000" b="1" dirty="0" smtClean="0">
              <a:effectLst/>
              <a:latin typeface="Arial"/>
              <a:ea typeface="Times New Roman"/>
              <a:cs typeface="Segoe UI"/>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In the </a:t>
            </a:r>
            <a:r>
              <a:rPr lang="en-US" sz="1000" b="1" dirty="0" smtClean="0">
                <a:effectLst/>
                <a:latin typeface="Arial"/>
                <a:ea typeface="Times New Roman"/>
                <a:cs typeface="Times New Roman"/>
              </a:rPr>
              <a:t>Permissions for Data</a:t>
            </a:r>
            <a:r>
              <a:rPr lang="en-US" sz="1000" dirty="0" smtClean="0">
                <a:effectLst/>
                <a:latin typeface="Arial"/>
                <a:ea typeface="Times New Roman"/>
                <a:cs typeface="Times New Roman"/>
              </a:rPr>
              <a:t> dialog box, click </a:t>
            </a:r>
            <a:r>
              <a:rPr lang="en-US" sz="1000" b="1" dirty="0" smtClean="0">
                <a:effectLst/>
                <a:latin typeface="Arial"/>
                <a:ea typeface="Times New Roman"/>
                <a:cs typeface="Times New Roman"/>
              </a:rPr>
              <a:t>Add</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Type </a:t>
            </a:r>
            <a:r>
              <a:rPr lang="en-US" sz="1000" b="1" dirty="0" smtClean="0">
                <a:effectLst/>
                <a:latin typeface="Arial"/>
                <a:ea typeface="Times New Roman"/>
                <a:cs typeface="Times New Roman"/>
              </a:rPr>
              <a:t>Authenticated Users</a:t>
            </a:r>
            <a:r>
              <a:rPr lang="en-US" sz="1000" dirty="0" smtClean="0">
                <a:effectLst/>
                <a:latin typeface="Arial"/>
                <a:ea typeface="Times New Roman"/>
                <a:cs typeface="Times New Roman"/>
              </a:rPr>
              <a:t>, click </a:t>
            </a:r>
            <a:r>
              <a:rPr lang="en-US" sz="1000" b="1" dirty="0" smtClean="0">
                <a:effectLst/>
                <a:latin typeface="Arial"/>
                <a:ea typeface="Times New Roman"/>
                <a:cs typeface="Times New Roman"/>
              </a:rPr>
              <a:t>Check names</a:t>
            </a:r>
            <a:r>
              <a:rPr lang="en-US" sz="1000" dirty="0" smtClean="0">
                <a:effectLst/>
                <a:latin typeface="Arial"/>
                <a:ea typeface="Times New Roman"/>
                <a:cs typeface="Times New Roman"/>
              </a:rPr>
              <a:t>, and then click </a:t>
            </a:r>
            <a:r>
              <a:rPr lang="en-US" sz="1000" b="1" dirty="0" smtClean="0">
                <a:effectLst/>
                <a:latin typeface="Arial"/>
                <a:ea typeface="Times New Roman"/>
                <a:cs typeface="Times New Roman"/>
              </a:rPr>
              <a:t>OK</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solidFill>
                  <a:srgbClr val="000000"/>
                </a:solidFill>
                <a:effectLst/>
                <a:latin typeface="Arial"/>
                <a:ea typeface="Times New Roman"/>
                <a:cs typeface="Segoe UI"/>
              </a:rPr>
              <a:t>In the </a:t>
            </a:r>
            <a:r>
              <a:rPr lang="en-US" sz="1000" b="1" dirty="0" smtClean="0">
                <a:effectLst/>
                <a:latin typeface="Arial"/>
                <a:ea typeface="Times New Roman"/>
                <a:cs typeface="Times New Roman"/>
              </a:rPr>
              <a:t>Permissions for Data</a:t>
            </a:r>
            <a:r>
              <a:rPr lang="en-US" sz="1000" dirty="0" smtClean="0">
                <a:solidFill>
                  <a:srgbClr val="000000"/>
                </a:solidFill>
                <a:effectLst/>
                <a:latin typeface="Arial"/>
                <a:ea typeface="Times New Roman"/>
                <a:cs typeface="Segoe UI"/>
              </a:rPr>
              <a:t> dialog box, </a:t>
            </a:r>
            <a:r>
              <a:rPr lang="en-US" sz="1000" dirty="0" smtClean="0">
                <a:effectLst/>
                <a:latin typeface="Arial"/>
                <a:ea typeface="Times New Roman"/>
                <a:cs typeface="Segoe UI"/>
              </a:rPr>
              <a:t>click</a:t>
            </a:r>
            <a:r>
              <a:rPr lang="en-US" sz="1000" dirty="0" smtClean="0">
                <a:solidFill>
                  <a:srgbClr val="000000"/>
                </a:solidFill>
                <a:effectLst/>
                <a:latin typeface="Arial"/>
                <a:ea typeface="Times New Roman"/>
                <a:cs typeface="Segoe UI"/>
              </a:rPr>
              <a:t> </a:t>
            </a:r>
            <a:r>
              <a:rPr lang="en-US" sz="1000" b="1" dirty="0" smtClean="0">
                <a:effectLst/>
                <a:latin typeface="Arial"/>
                <a:ea typeface="Times New Roman"/>
                <a:cs typeface="Times New Roman"/>
              </a:rPr>
              <a:t>Authenticated Users</a:t>
            </a:r>
            <a:r>
              <a:rPr lang="en-US" sz="1000" dirty="0" smtClean="0">
                <a:solidFill>
                  <a:srgbClr val="000000"/>
                </a:solidFill>
                <a:effectLst/>
                <a:latin typeface="Arial"/>
                <a:ea typeface="Times New Roman"/>
                <a:cs typeface="Segoe UI"/>
              </a:rPr>
              <a:t>, and then under </a:t>
            </a:r>
            <a:r>
              <a:rPr lang="en-US" sz="1000" b="1" dirty="0" smtClean="0">
                <a:effectLst/>
                <a:latin typeface="Arial"/>
                <a:ea typeface="Times New Roman"/>
                <a:cs typeface="Times New Roman"/>
              </a:rPr>
              <a:t>Allow</a:t>
            </a:r>
            <a:r>
              <a:rPr lang="en-US" sz="1000" dirty="0" smtClean="0">
                <a:solidFill>
                  <a:srgbClr val="000000"/>
                </a:solidFill>
                <a:effectLst/>
                <a:latin typeface="Arial"/>
                <a:ea typeface="Times New Roman"/>
                <a:cs typeface="Segoe UI"/>
              </a:rPr>
              <a:t>, </a:t>
            </a:r>
            <a:r>
              <a:rPr lang="en-US" sz="1000" dirty="0" smtClean="0">
                <a:effectLst/>
                <a:latin typeface="Arial"/>
                <a:ea typeface="Times New Roman"/>
                <a:cs typeface="Segoe UI"/>
              </a:rPr>
              <a:t>select</a:t>
            </a:r>
            <a:r>
              <a:rPr lang="en-US" sz="1000" dirty="0" smtClean="0">
                <a:solidFill>
                  <a:srgbClr val="000000"/>
                </a:solidFill>
                <a:effectLst/>
                <a:latin typeface="Arial"/>
                <a:ea typeface="Times New Roman"/>
                <a:cs typeface="Segoe UI"/>
              </a:rPr>
              <a:t> </a:t>
            </a:r>
            <a:r>
              <a:rPr lang="en-US" sz="1000" b="1" dirty="0" smtClean="0">
                <a:effectLst/>
                <a:latin typeface="Arial"/>
                <a:ea typeface="Times New Roman"/>
                <a:cs typeface="Times New Roman"/>
              </a:rPr>
              <a:t>Change </a:t>
            </a:r>
            <a:r>
              <a:rPr lang="en-US" sz="1000" dirty="0" smtClean="0">
                <a:effectLst/>
                <a:latin typeface="Arial"/>
                <a:ea typeface="Times New Roman"/>
                <a:cs typeface="Times New Roman"/>
              </a:rPr>
              <a:t>permission</a:t>
            </a:r>
            <a:r>
              <a:rPr lang="en-US" sz="1000" dirty="0" smtClean="0">
                <a:solidFill>
                  <a:srgbClr val="000000"/>
                </a:solidFill>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solidFill>
                  <a:srgbClr val="000000"/>
                </a:solidFill>
                <a:effectLst/>
                <a:latin typeface="Arial"/>
                <a:ea typeface="Times New Roman"/>
                <a:cs typeface="Segoe UI"/>
              </a:rPr>
              <a:t>Click </a:t>
            </a:r>
            <a:r>
              <a:rPr lang="en-US" sz="1000" b="1" dirty="0" smtClean="0">
                <a:effectLst/>
                <a:latin typeface="Arial"/>
                <a:ea typeface="Times New Roman"/>
                <a:cs typeface="Times New Roman"/>
              </a:rPr>
              <a:t>OK</a:t>
            </a:r>
            <a:r>
              <a:rPr lang="en-US" sz="1000" dirty="0" smtClean="0">
                <a:solidFill>
                  <a:srgbClr val="000000"/>
                </a:solidFill>
                <a:effectLst/>
                <a:latin typeface="Arial"/>
                <a:ea typeface="Times New Roman"/>
                <a:cs typeface="Segoe UI"/>
              </a:rPr>
              <a:t> to close the </a:t>
            </a:r>
            <a:r>
              <a:rPr lang="en-US" sz="1000" b="1" dirty="0" smtClean="0">
                <a:effectLst/>
                <a:latin typeface="Arial"/>
                <a:ea typeface="Times New Roman"/>
                <a:cs typeface="Times New Roman"/>
              </a:rPr>
              <a:t>Permissions for Data</a:t>
            </a:r>
            <a:r>
              <a:rPr lang="en-US" sz="1000" dirty="0" smtClean="0">
                <a:solidFill>
                  <a:srgbClr val="000000"/>
                </a:solidFill>
                <a:effectLst/>
                <a:latin typeface="Arial"/>
                <a:ea typeface="Times New Roman"/>
                <a:cs typeface="Segoe UI"/>
              </a:rPr>
              <a:t> dialog box.</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solidFill>
                  <a:srgbClr val="000000"/>
                </a:solidFill>
                <a:effectLst/>
                <a:latin typeface="Arial"/>
                <a:ea typeface="Times New Roman"/>
                <a:cs typeface="Segoe UI"/>
              </a:rPr>
              <a:t>Click </a:t>
            </a:r>
            <a:r>
              <a:rPr lang="en-US" sz="1000" b="1" dirty="0" smtClean="0">
                <a:effectLst/>
                <a:latin typeface="Arial"/>
                <a:ea typeface="Times New Roman"/>
                <a:cs typeface="Times New Roman"/>
              </a:rPr>
              <a:t>OK</a:t>
            </a:r>
            <a:r>
              <a:rPr lang="en-US" sz="1000" dirty="0" smtClean="0">
                <a:solidFill>
                  <a:srgbClr val="000000"/>
                </a:solidFill>
                <a:effectLst/>
                <a:latin typeface="Arial"/>
                <a:ea typeface="Times New Roman"/>
                <a:cs typeface="Segoe UI"/>
              </a:rPr>
              <a:t> to close the </a:t>
            </a:r>
            <a:r>
              <a:rPr lang="en-US" sz="1000" b="1" dirty="0" smtClean="0">
                <a:effectLst/>
                <a:latin typeface="Arial"/>
                <a:ea typeface="Times New Roman"/>
                <a:cs typeface="Times New Roman"/>
              </a:rPr>
              <a:t>Advanced Sharing</a:t>
            </a:r>
            <a:r>
              <a:rPr lang="en-US" sz="1000" dirty="0" smtClean="0">
                <a:solidFill>
                  <a:srgbClr val="000000"/>
                </a:solidFill>
                <a:effectLst/>
                <a:latin typeface="Arial"/>
                <a:ea typeface="Times New Roman"/>
                <a:cs typeface="Segoe UI"/>
              </a:rPr>
              <a:t> dialog box.</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solidFill>
                  <a:srgbClr val="000000"/>
                </a:solidFill>
                <a:effectLst/>
                <a:latin typeface="Arial"/>
                <a:ea typeface="Times New Roman"/>
                <a:cs typeface="Segoe UI"/>
              </a:rPr>
              <a:t>Click </a:t>
            </a:r>
            <a:r>
              <a:rPr lang="en-US" sz="1000" b="1" dirty="0" smtClean="0">
                <a:effectLst/>
                <a:latin typeface="Arial"/>
                <a:ea typeface="Times New Roman"/>
                <a:cs typeface="Times New Roman"/>
              </a:rPr>
              <a:t>Close</a:t>
            </a:r>
            <a:r>
              <a:rPr lang="en-US" sz="1000" dirty="0" smtClean="0">
                <a:solidFill>
                  <a:srgbClr val="000000"/>
                </a:solidFill>
                <a:effectLst/>
                <a:latin typeface="Arial"/>
                <a:ea typeface="Times New Roman"/>
                <a:cs typeface="Segoe UI"/>
              </a:rPr>
              <a:t> to close the </a:t>
            </a:r>
            <a:r>
              <a:rPr lang="en-US" sz="1000" b="1" dirty="0" smtClean="0">
                <a:effectLst/>
                <a:latin typeface="Arial"/>
                <a:ea typeface="Times New Roman"/>
                <a:cs typeface="Times New Roman"/>
              </a:rPr>
              <a:t>Data Properties</a:t>
            </a:r>
            <a:r>
              <a:rPr lang="en-US" sz="1000" dirty="0" smtClean="0">
                <a:effectLst/>
                <a:latin typeface="Arial"/>
                <a:ea typeface="Times New Roman"/>
                <a:cs typeface="Times New Roman"/>
              </a:rPr>
              <a:t> dialog box</a:t>
            </a:r>
            <a:r>
              <a:rPr lang="en-US" sz="1000" dirty="0" smtClean="0">
                <a:solidFill>
                  <a:srgbClr val="000000"/>
                </a:solidFill>
                <a:effectLst/>
                <a:latin typeface="Arial"/>
                <a:ea typeface="Times New Roman"/>
                <a:cs typeface="Segoe UI"/>
              </a:rPr>
              <a:t>.</a:t>
            </a:r>
            <a:endParaRPr lang="en-CA" sz="1000" dirty="0" smtClean="0">
              <a:effectLst/>
              <a:latin typeface="Arial"/>
              <a:ea typeface="Times New Roman"/>
              <a:cs typeface="Times New Roman"/>
            </a:endParaRPr>
          </a:p>
          <a:p>
            <a:pPr>
              <a:lnSpc>
                <a:spcPts val="1300"/>
              </a:lnSpc>
              <a:spcBef>
                <a:spcPts val="900"/>
              </a:spcBef>
              <a:spcAft>
                <a:spcPts val="300"/>
              </a:spcAft>
            </a:pP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10</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Tree>
    <p:extLst>
      <p:ext uri="{BB962C8B-B14F-4D97-AF65-F5344CB8AC3E}">
        <p14:creationId xmlns:p14="http://schemas.microsoft.com/office/powerpoint/2010/main" xmlns="" val="13684411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lvl="0">
              <a:lnSpc>
                <a:spcPts val="1300"/>
              </a:lnSpc>
              <a:spcBef>
                <a:spcPts val="900"/>
              </a:spcBef>
              <a:spcAft>
                <a:spcPts val="300"/>
              </a:spcAft>
            </a:pPr>
            <a:r>
              <a:rPr lang="en-US" sz="1000" b="1" dirty="0">
                <a:solidFill>
                  <a:prstClr val="black"/>
                </a:solidFill>
                <a:latin typeface="Arial"/>
                <a:ea typeface="Times New Roman"/>
                <a:cs typeface="Segoe UI"/>
              </a:rPr>
              <a:t>Configure access‑based enumeration</a:t>
            </a:r>
            <a:endParaRPr lang="en-CA" sz="1000" b="1" dirty="0">
              <a:solidFill>
                <a:prstClr val="black"/>
              </a:solidFill>
              <a:latin typeface="Arial"/>
              <a:ea typeface="Times New Roman"/>
              <a:cs typeface="Segoe UI"/>
            </a:endParaRPr>
          </a:p>
          <a:p>
            <a:pPr marL="342900" lvl="0" indent="-342900">
              <a:lnSpc>
                <a:spcPct val="115000"/>
              </a:lnSpc>
              <a:spcAft>
                <a:spcPts val="995"/>
              </a:spcAft>
              <a:buFont typeface="+mj-lt"/>
              <a:buAutoNum type="arabicPeriod"/>
            </a:pPr>
            <a:r>
              <a:rPr lang="en-US" sz="1000" dirty="0">
                <a:solidFill>
                  <a:srgbClr val="000000"/>
                </a:solidFill>
                <a:latin typeface="Arial"/>
                <a:ea typeface="Times New Roman"/>
                <a:cs typeface="Segoe UI"/>
              </a:rPr>
              <a:t>On the taskbar, click the </a:t>
            </a:r>
            <a:r>
              <a:rPr lang="en-US" sz="1000" b="1" dirty="0">
                <a:solidFill>
                  <a:prstClr val="black"/>
                </a:solidFill>
                <a:latin typeface="Arial"/>
                <a:ea typeface="Times New Roman"/>
                <a:cs typeface="Times New Roman"/>
              </a:rPr>
              <a:t>Server Manager</a:t>
            </a:r>
            <a:r>
              <a:rPr lang="en-US" sz="1000" dirty="0">
                <a:solidFill>
                  <a:srgbClr val="000000"/>
                </a:solidFill>
                <a:latin typeface="Arial"/>
                <a:ea typeface="Times New Roman"/>
                <a:cs typeface="Segoe UI"/>
              </a:rPr>
              <a:t> icon.</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srgbClr val="000000"/>
                </a:solidFill>
                <a:latin typeface="Arial"/>
                <a:ea typeface="Times New Roman"/>
                <a:cs typeface="Segoe UI"/>
              </a:rPr>
              <a:t>In Server Manager, in the navigation pane,</a:t>
            </a:r>
            <a:r>
              <a:rPr lang="en-US" sz="1000" dirty="0">
                <a:solidFill>
                  <a:prstClr val="black"/>
                </a:solidFill>
                <a:latin typeface="Arial"/>
                <a:ea typeface="Times New Roman"/>
                <a:cs typeface="Segoe UI"/>
              </a:rPr>
              <a:t> click</a:t>
            </a:r>
            <a:r>
              <a:rPr lang="en-US" sz="1000" dirty="0">
                <a:solidFill>
                  <a:srgbClr val="000000"/>
                </a:solidFill>
                <a:latin typeface="Arial"/>
                <a:ea typeface="Times New Roman"/>
                <a:cs typeface="Segoe UI"/>
              </a:rPr>
              <a:t> </a:t>
            </a:r>
            <a:r>
              <a:rPr lang="en-US" sz="1000" b="1" dirty="0">
                <a:solidFill>
                  <a:prstClr val="black"/>
                </a:solidFill>
                <a:latin typeface="Arial"/>
                <a:ea typeface="Times New Roman"/>
                <a:cs typeface="Times New Roman"/>
              </a:rPr>
              <a:t>File and Storage Services</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srgbClr val="000000"/>
                </a:solidFill>
                <a:latin typeface="Arial"/>
                <a:ea typeface="Times New Roman"/>
                <a:cs typeface="Segoe UI"/>
              </a:rPr>
              <a:t>On the </a:t>
            </a:r>
            <a:r>
              <a:rPr lang="en-US" sz="1000" b="1" dirty="0">
                <a:solidFill>
                  <a:prstClr val="black"/>
                </a:solidFill>
                <a:latin typeface="Arial"/>
                <a:ea typeface="Times New Roman"/>
                <a:cs typeface="Times New Roman"/>
              </a:rPr>
              <a:t>File and Storage Services</a:t>
            </a:r>
            <a:r>
              <a:rPr lang="en-US" sz="1000" dirty="0">
                <a:solidFill>
                  <a:srgbClr val="000000"/>
                </a:solidFill>
                <a:latin typeface="Arial"/>
                <a:ea typeface="Times New Roman"/>
                <a:cs typeface="Segoe UI"/>
              </a:rPr>
              <a:t> </a:t>
            </a:r>
            <a:r>
              <a:rPr lang="en-US" sz="1000" dirty="0">
                <a:solidFill>
                  <a:prstClr val="black"/>
                </a:solidFill>
                <a:latin typeface="Arial"/>
                <a:ea typeface="Times New Roman"/>
                <a:cs typeface="Segoe UI"/>
              </a:rPr>
              <a:t>page</a:t>
            </a:r>
            <a:r>
              <a:rPr lang="en-US" sz="1000" dirty="0">
                <a:solidFill>
                  <a:srgbClr val="000000"/>
                </a:solidFill>
                <a:latin typeface="Arial"/>
                <a:ea typeface="Times New Roman"/>
                <a:cs typeface="Segoe UI"/>
              </a:rPr>
              <a:t>, in the navigation pane,</a:t>
            </a:r>
            <a:r>
              <a:rPr lang="en-US" sz="1000" dirty="0">
                <a:solidFill>
                  <a:prstClr val="black"/>
                </a:solidFill>
                <a:latin typeface="Arial"/>
                <a:ea typeface="Times New Roman"/>
                <a:cs typeface="Segoe UI"/>
              </a:rPr>
              <a:t> click</a:t>
            </a:r>
            <a:r>
              <a:rPr lang="en-US" sz="1000" dirty="0">
                <a:solidFill>
                  <a:srgbClr val="000000"/>
                </a:solidFill>
                <a:latin typeface="Arial"/>
                <a:ea typeface="Times New Roman"/>
                <a:cs typeface="Segoe UI"/>
              </a:rPr>
              <a:t> </a:t>
            </a:r>
            <a:r>
              <a:rPr lang="en-US" sz="1000" b="1" dirty="0">
                <a:solidFill>
                  <a:prstClr val="black"/>
                </a:solidFill>
                <a:latin typeface="Arial"/>
                <a:ea typeface="Times New Roman"/>
                <a:cs typeface="Times New Roman"/>
              </a:rPr>
              <a:t>Shares</a:t>
            </a:r>
            <a:r>
              <a:rPr lang="en-US" sz="1000" dirty="0">
                <a:solidFill>
                  <a:srgbClr val="000000"/>
                </a:solidFill>
                <a:latin typeface="Arial"/>
                <a:ea typeface="Times New Roman"/>
                <a:cs typeface="Segoe UI"/>
              </a:rPr>
              <a:t>. You may need to refresh the view to see the Shares.</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srgbClr val="000000"/>
                </a:solidFill>
                <a:latin typeface="Arial"/>
                <a:ea typeface="Times New Roman"/>
                <a:cs typeface="Segoe UI"/>
              </a:rPr>
              <a:t>In the Shares pane, right‑click </a:t>
            </a:r>
            <a:r>
              <a:rPr lang="en-US" sz="1000" b="1" dirty="0">
                <a:solidFill>
                  <a:prstClr val="black"/>
                </a:solidFill>
                <a:latin typeface="Arial"/>
                <a:ea typeface="Times New Roman"/>
                <a:cs typeface="Times New Roman"/>
              </a:rPr>
              <a:t>Data</a:t>
            </a:r>
            <a:r>
              <a:rPr lang="en-US" sz="1000" dirty="0">
                <a:solidFill>
                  <a:srgbClr val="000000"/>
                </a:solidFill>
                <a:latin typeface="Arial"/>
                <a:ea typeface="Times New Roman"/>
                <a:cs typeface="Segoe UI"/>
              </a:rPr>
              <a:t>, and then </a:t>
            </a:r>
            <a:r>
              <a:rPr lang="en-US" sz="1000" dirty="0">
                <a:solidFill>
                  <a:prstClr val="black"/>
                </a:solidFill>
                <a:latin typeface="Arial"/>
                <a:ea typeface="Times New Roman"/>
                <a:cs typeface="Segoe UI"/>
              </a:rPr>
              <a:t>click</a:t>
            </a:r>
            <a:r>
              <a:rPr lang="en-US" sz="1000" dirty="0">
                <a:solidFill>
                  <a:srgbClr val="000000"/>
                </a:solidFill>
                <a:latin typeface="Arial"/>
                <a:ea typeface="Times New Roman"/>
                <a:cs typeface="Segoe UI"/>
              </a:rPr>
              <a:t> </a:t>
            </a:r>
            <a:r>
              <a:rPr lang="en-US" sz="1000" b="1" dirty="0">
                <a:solidFill>
                  <a:prstClr val="black"/>
                </a:solidFill>
                <a:latin typeface="Arial"/>
                <a:ea typeface="Times New Roman"/>
                <a:cs typeface="Times New Roman"/>
              </a:rPr>
              <a:t>Properties</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srgbClr val="000000"/>
                </a:solidFill>
                <a:latin typeface="Arial"/>
                <a:ea typeface="Times New Roman"/>
                <a:cs typeface="Segoe UI"/>
              </a:rPr>
              <a:t>In the </a:t>
            </a:r>
            <a:r>
              <a:rPr lang="en-US" sz="1000" b="1" dirty="0">
                <a:solidFill>
                  <a:prstClr val="black"/>
                </a:solidFill>
                <a:latin typeface="Arial"/>
                <a:ea typeface="Times New Roman"/>
                <a:cs typeface="Times New Roman"/>
              </a:rPr>
              <a:t>Data Properties</a:t>
            </a:r>
            <a:r>
              <a:rPr lang="en-US" sz="1000" dirty="0">
                <a:solidFill>
                  <a:srgbClr val="000000"/>
                </a:solidFill>
                <a:latin typeface="Arial"/>
                <a:ea typeface="Times New Roman"/>
                <a:cs typeface="Segoe UI"/>
              </a:rPr>
              <a:t> dialog box, click </a:t>
            </a:r>
            <a:r>
              <a:rPr lang="en-US" sz="1000" b="1" dirty="0">
                <a:solidFill>
                  <a:prstClr val="black"/>
                </a:solidFill>
                <a:latin typeface="Arial"/>
                <a:ea typeface="Times New Roman"/>
                <a:cs typeface="Times New Roman"/>
              </a:rPr>
              <a:t>Settings</a:t>
            </a:r>
            <a:r>
              <a:rPr lang="en-US" sz="1000" dirty="0">
                <a:solidFill>
                  <a:srgbClr val="000000"/>
                </a:solidFill>
                <a:latin typeface="Arial"/>
                <a:ea typeface="Times New Roman"/>
                <a:cs typeface="Segoe UI"/>
              </a:rPr>
              <a:t>, and then </a:t>
            </a:r>
            <a:r>
              <a:rPr lang="en-US" sz="1000" dirty="0">
                <a:solidFill>
                  <a:prstClr val="black"/>
                </a:solidFill>
                <a:latin typeface="Arial"/>
                <a:ea typeface="Times New Roman"/>
                <a:cs typeface="Segoe UI"/>
              </a:rPr>
              <a:t>select</a:t>
            </a:r>
            <a:r>
              <a:rPr lang="en-US" sz="1000" dirty="0">
                <a:solidFill>
                  <a:srgbClr val="000000"/>
                </a:solidFill>
                <a:latin typeface="Arial"/>
                <a:ea typeface="Times New Roman"/>
                <a:cs typeface="Segoe UI"/>
              </a:rPr>
              <a:t> </a:t>
            </a:r>
            <a:r>
              <a:rPr lang="en-US" sz="1000" b="1" dirty="0">
                <a:solidFill>
                  <a:prstClr val="black"/>
                </a:solidFill>
                <a:latin typeface="Arial"/>
                <a:ea typeface="Times New Roman"/>
                <a:cs typeface="Times New Roman"/>
              </a:rPr>
              <a:t>Enable access‑based enumeration</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srgbClr val="000000"/>
                </a:solidFill>
                <a:latin typeface="Arial"/>
                <a:ea typeface="Times New Roman"/>
                <a:cs typeface="Segoe UI"/>
              </a:rPr>
              <a:t>Click </a:t>
            </a:r>
            <a:r>
              <a:rPr lang="en-US" sz="1000" b="1" dirty="0">
                <a:solidFill>
                  <a:prstClr val="black"/>
                </a:solidFill>
                <a:latin typeface="Arial"/>
                <a:ea typeface="Times New Roman"/>
                <a:cs typeface="Times New Roman"/>
              </a:rPr>
              <a:t>OK</a:t>
            </a:r>
            <a:r>
              <a:rPr lang="en-US" sz="1000" dirty="0">
                <a:solidFill>
                  <a:srgbClr val="000000"/>
                </a:solidFill>
                <a:latin typeface="Arial"/>
                <a:ea typeface="Times New Roman"/>
                <a:cs typeface="Segoe UI"/>
              </a:rPr>
              <a:t> to close the </a:t>
            </a:r>
            <a:r>
              <a:rPr lang="en-US" sz="1000" b="1" dirty="0">
                <a:solidFill>
                  <a:prstClr val="black"/>
                </a:solidFill>
                <a:latin typeface="Arial"/>
                <a:ea typeface="Times New Roman"/>
                <a:cs typeface="Times New Roman"/>
              </a:rPr>
              <a:t>Data Properties</a:t>
            </a:r>
            <a:r>
              <a:rPr lang="en-US" sz="1000" dirty="0">
                <a:solidFill>
                  <a:srgbClr val="000000"/>
                </a:solidFill>
                <a:latin typeface="Arial"/>
                <a:ea typeface="Times New Roman"/>
                <a:cs typeface="Segoe UI"/>
              </a:rPr>
              <a:t> dialog box.</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srgbClr val="000000"/>
                </a:solidFill>
                <a:latin typeface="Arial"/>
                <a:ea typeface="Times New Roman"/>
                <a:cs typeface="Segoe UI"/>
              </a:rPr>
              <a:t>Close Server Manager.</a:t>
            </a:r>
            <a:endParaRPr lang="en-CA" sz="1000" dirty="0">
              <a:solidFill>
                <a:prstClr val="black"/>
              </a:solidFill>
              <a:latin typeface="Arial"/>
              <a:ea typeface="Times New Roman"/>
              <a:cs typeface="Times New Roman"/>
            </a:endParaRPr>
          </a:p>
          <a:p>
            <a:pPr lvl="0">
              <a:lnSpc>
                <a:spcPts val="1300"/>
              </a:lnSpc>
              <a:spcBef>
                <a:spcPts val="900"/>
              </a:spcBef>
              <a:spcAft>
                <a:spcPts val="300"/>
              </a:spcAft>
            </a:pPr>
            <a:r>
              <a:rPr lang="en-US" sz="1000" b="1" dirty="0">
                <a:solidFill>
                  <a:prstClr val="black"/>
                </a:solidFill>
                <a:latin typeface="Arial"/>
                <a:ea typeface="Times New Roman"/>
                <a:cs typeface="Segoe UI"/>
              </a:rPr>
              <a:t>Configure Offline Files</a:t>
            </a:r>
            <a:endParaRPr lang="en-CA" sz="1000" b="1" dirty="0">
              <a:solidFill>
                <a:prstClr val="black"/>
              </a:solidFill>
              <a:latin typeface="Arial"/>
              <a:ea typeface="Times New Roman"/>
              <a:cs typeface="Segoe UI"/>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Times New Roman"/>
              </a:rPr>
              <a:t>In File Explorer, navigate to drive </a:t>
            </a:r>
            <a:r>
              <a:rPr lang="en-US" sz="1000" b="1" dirty="0">
                <a:solidFill>
                  <a:prstClr val="black"/>
                </a:solidFill>
                <a:latin typeface="Arial"/>
                <a:ea typeface="Times New Roman"/>
                <a:cs typeface="Times New Roman"/>
              </a:rPr>
              <a:t>E</a:t>
            </a:r>
            <a:r>
              <a:rPr lang="en-US" sz="1000" dirty="0">
                <a:solidFill>
                  <a:prstClr val="black"/>
                </a:solidFill>
                <a:latin typeface="Arial"/>
                <a:ea typeface="Times New Roman"/>
                <a:cs typeface="Times New Roman"/>
              </a:rPr>
              <a:t>, right‑click the </a:t>
            </a:r>
            <a:r>
              <a:rPr lang="en-US" sz="1000" b="1" dirty="0">
                <a:solidFill>
                  <a:prstClr val="black"/>
                </a:solidFill>
                <a:latin typeface="Arial"/>
                <a:ea typeface="Times New Roman"/>
                <a:cs typeface="Times New Roman"/>
              </a:rPr>
              <a:t>Data </a:t>
            </a:r>
            <a:r>
              <a:rPr lang="en-US" sz="1000" dirty="0">
                <a:solidFill>
                  <a:prstClr val="black"/>
                </a:solidFill>
                <a:latin typeface="Arial"/>
                <a:ea typeface="Times New Roman"/>
                <a:cs typeface="Times New Roman"/>
              </a:rPr>
              <a:t>folder, and then click </a:t>
            </a:r>
            <a:r>
              <a:rPr lang="en-US" sz="1000" b="1" dirty="0">
                <a:solidFill>
                  <a:prstClr val="black"/>
                </a:solidFill>
                <a:latin typeface="Arial"/>
                <a:ea typeface="Times New Roman"/>
                <a:cs typeface="Times New Roman"/>
              </a:rPr>
              <a:t>Properties</a:t>
            </a:r>
            <a:r>
              <a:rPr lang="en-US" sz="1000" dirty="0">
                <a:solidFill>
                  <a:prstClr val="black"/>
                </a:solidFill>
                <a:latin typeface="Arial"/>
                <a:ea typeface="Times New Roman"/>
                <a:cs typeface="Times New Roman"/>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Times New Roman"/>
              </a:rPr>
              <a:t>In the </a:t>
            </a:r>
            <a:r>
              <a:rPr lang="en-US" sz="1000" b="1" dirty="0">
                <a:solidFill>
                  <a:prstClr val="black"/>
                </a:solidFill>
                <a:latin typeface="Arial"/>
                <a:ea typeface="Times New Roman"/>
                <a:cs typeface="Times New Roman"/>
              </a:rPr>
              <a:t>Data Properties</a:t>
            </a:r>
            <a:r>
              <a:rPr lang="en-US" sz="1000" dirty="0">
                <a:solidFill>
                  <a:prstClr val="black"/>
                </a:solidFill>
                <a:latin typeface="Arial"/>
                <a:ea typeface="Times New Roman"/>
                <a:cs typeface="Times New Roman"/>
              </a:rPr>
              <a:t> dialog box, click the </a:t>
            </a:r>
            <a:r>
              <a:rPr lang="en-US" sz="1000" b="1" dirty="0">
                <a:solidFill>
                  <a:prstClr val="black"/>
                </a:solidFill>
                <a:latin typeface="Arial"/>
                <a:ea typeface="Times New Roman"/>
                <a:cs typeface="Times New Roman"/>
              </a:rPr>
              <a:t>Sharing</a:t>
            </a:r>
            <a:r>
              <a:rPr lang="en-US" sz="1000" dirty="0">
                <a:solidFill>
                  <a:prstClr val="black"/>
                </a:solidFill>
                <a:latin typeface="Arial"/>
                <a:ea typeface="Times New Roman"/>
                <a:cs typeface="Times New Roman"/>
              </a:rPr>
              <a:t> tab, click </a:t>
            </a:r>
            <a:r>
              <a:rPr lang="en-US" sz="1000" b="1" dirty="0">
                <a:solidFill>
                  <a:prstClr val="black"/>
                </a:solidFill>
                <a:latin typeface="Arial"/>
                <a:ea typeface="Times New Roman"/>
                <a:cs typeface="Times New Roman"/>
              </a:rPr>
              <a:t>Advanced Sharing</a:t>
            </a:r>
            <a:r>
              <a:rPr lang="en-US" sz="1000" dirty="0">
                <a:solidFill>
                  <a:prstClr val="black"/>
                </a:solidFill>
                <a:latin typeface="Arial"/>
                <a:ea typeface="Times New Roman"/>
                <a:cs typeface="Times New Roman"/>
              </a:rPr>
              <a:t>, and then click </a:t>
            </a:r>
            <a:r>
              <a:rPr lang="en-US" sz="1000" b="1" dirty="0">
                <a:solidFill>
                  <a:prstClr val="black"/>
                </a:solidFill>
                <a:latin typeface="Arial"/>
                <a:ea typeface="Times New Roman"/>
                <a:cs typeface="Times New Roman"/>
              </a:rPr>
              <a:t>Caching</a:t>
            </a:r>
            <a:r>
              <a:rPr lang="en-US" sz="1000" dirty="0">
                <a:solidFill>
                  <a:prstClr val="black"/>
                </a:solidFill>
                <a:latin typeface="Arial"/>
                <a:ea typeface="Times New Roman"/>
                <a:cs typeface="Times New Roman"/>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Times New Roman"/>
              </a:rPr>
              <a:t>In the </a:t>
            </a:r>
            <a:r>
              <a:rPr lang="en-US" sz="1000" b="1" dirty="0">
                <a:solidFill>
                  <a:prstClr val="black"/>
                </a:solidFill>
                <a:latin typeface="Arial"/>
                <a:ea typeface="Times New Roman"/>
                <a:cs typeface="Times New Roman"/>
              </a:rPr>
              <a:t>Offline Settings</a:t>
            </a:r>
            <a:r>
              <a:rPr lang="en-US" sz="1000" dirty="0">
                <a:solidFill>
                  <a:prstClr val="black"/>
                </a:solidFill>
                <a:latin typeface="Arial"/>
                <a:ea typeface="Times New Roman"/>
                <a:cs typeface="Times New Roman"/>
              </a:rPr>
              <a:t> </a:t>
            </a:r>
            <a:r>
              <a:rPr lang="en-US" sz="1000" dirty="0">
                <a:solidFill>
                  <a:srgbClr val="000000"/>
                </a:solidFill>
                <a:latin typeface="Arial"/>
                <a:ea typeface="Times New Roman"/>
                <a:cs typeface="Segoe UI"/>
              </a:rPr>
              <a:t>dialog box</a:t>
            </a:r>
            <a:r>
              <a:rPr lang="en-US" sz="1000" dirty="0">
                <a:solidFill>
                  <a:prstClr val="black"/>
                </a:solidFill>
                <a:latin typeface="Arial"/>
                <a:ea typeface="Times New Roman"/>
                <a:cs typeface="Times New Roman"/>
              </a:rPr>
              <a:t>, select </a:t>
            </a:r>
            <a:r>
              <a:rPr lang="en-US" sz="1000" b="1" dirty="0">
                <a:solidFill>
                  <a:prstClr val="black"/>
                </a:solidFill>
                <a:latin typeface="Arial"/>
                <a:ea typeface="Times New Roman"/>
                <a:cs typeface="Times New Roman"/>
              </a:rPr>
              <a:t>No files or programs from the shared folder are available offline</a:t>
            </a:r>
            <a:r>
              <a:rPr lang="en-US" sz="1000" dirty="0">
                <a:solidFill>
                  <a:prstClr val="black"/>
                </a:solidFill>
                <a:latin typeface="Arial"/>
                <a:ea typeface="Times New Roman"/>
                <a:cs typeface="Times New Roman"/>
              </a:rPr>
              <a:t>, and then click </a:t>
            </a:r>
            <a:r>
              <a:rPr lang="en-US" sz="1000" b="1" dirty="0">
                <a:solidFill>
                  <a:prstClr val="black"/>
                </a:solidFill>
                <a:latin typeface="Arial"/>
                <a:ea typeface="Times New Roman"/>
                <a:cs typeface="Times New Roman"/>
              </a:rPr>
              <a:t>OK</a:t>
            </a:r>
            <a:r>
              <a:rPr lang="en-US" sz="1000" dirty="0">
                <a:solidFill>
                  <a:prstClr val="black"/>
                </a:solidFill>
                <a:latin typeface="Arial"/>
                <a:ea typeface="Times New Roman"/>
                <a:cs typeface="Times New Roman"/>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srgbClr val="000000"/>
                </a:solidFill>
                <a:latin typeface="Arial"/>
                <a:ea typeface="Times New Roman"/>
                <a:cs typeface="Segoe UI"/>
              </a:rPr>
              <a:t>Click </a:t>
            </a:r>
            <a:r>
              <a:rPr lang="en-US" sz="1000" b="1" dirty="0">
                <a:solidFill>
                  <a:prstClr val="black"/>
                </a:solidFill>
                <a:latin typeface="Arial"/>
                <a:ea typeface="Times New Roman"/>
                <a:cs typeface="Times New Roman"/>
              </a:rPr>
              <a:t>OK</a:t>
            </a:r>
            <a:r>
              <a:rPr lang="en-US" sz="1000" dirty="0">
                <a:solidFill>
                  <a:srgbClr val="000000"/>
                </a:solidFill>
                <a:latin typeface="Arial"/>
                <a:ea typeface="Times New Roman"/>
                <a:cs typeface="Segoe UI"/>
              </a:rPr>
              <a:t> to close the </a:t>
            </a:r>
            <a:r>
              <a:rPr lang="en-US" sz="1000" b="1" dirty="0">
                <a:solidFill>
                  <a:prstClr val="black"/>
                </a:solidFill>
                <a:latin typeface="Arial"/>
                <a:ea typeface="Times New Roman"/>
                <a:cs typeface="Times New Roman"/>
              </a:rPr>
              <a:t>Advanced Sharing</a:t>
            </a:r>
            <a:r>
              <a:rPr lang="en-US" sz="1000" dirty="0">
                <a:solidFill>
                  <a:srgbClr val="000000"/>
                </a:solidFill>
                <a:latin typeface="Arial"/>
                <a:ea typeface="Times New Roman"/>
                <a:cs typeface="Segoe UI"/>
              </a:rPr>
              <a:t> dialog box.</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srgbClr val="000000"/>
                </a:solidFill>
                <a:latin typeface="Arial"/>
                <a:ea typeface="Times New Roman"/>
                <a:cs typeface="Segoe UI"/>
              </a:rPr>
              <a:t>Click </a:t>
            </a:r>
            <a:r>
              <a:rPr lang="en-US" sz="1000" b="1" dirty="0">
                <a:solidFill>
                  <a:prstClr val="black"/>
                </a:solidFill>
                <a:latin typeface="Arial"/>
                <a:ea typeface="Times New Roman"/>
                <a:cs typeface="Times New Roman"/>
              </a:rPr>
              <a:t>Close</a:t>
            </a:r>
            <a:r>
              <a:rPr lang="en-US" sz="1000" dirty="0">
                <a:solidFill>
                  <a:srgbClr val="000000"/>
                </a:solidFill>
                <a:latin typeface="Arial"/>
                <a:ea typeface="Times New Roman"/>
                <a:cs typeface="Segoe UI"/>
              </a:rPr>
              <a:t> to close the </a:t>
            </a:r>
            <a:r>
              <a:rPr lang="en-US" sz="1000" b="1" dirty="0">
                <a:solidFill>
                  <a:prstClr val="black"/>
                </a:solidFill>
                <a:latin typeface="Arial"/>
                <a:ea typeface="Times New Roman"/>
                <a:cs typeface="Times New Roman"/>
              </a:rPr>
              <a:t>Data Properties </a:t>
            </a:r>
            <a:r>
              <a:rPr lang="en-US" sz="1000" dirty="0">
                <a:solidFill>
                  <a:srgbClr val="000000"/>
                </a:solidFill>
                <a:latin typeface="Arial"/>
                <a:ea typeface="Times New Roman"/>
                <a:cs typeface="Segoe UI"/>
              </a:rPr>
              <a:t>dialog box</a:t>
            </a:r>
            <a:r>
              <a:rPr lang="en-US" sz="1000" dirty="0" smtClean="0">
                <a:solidFill>
                  <a:srgbClr val="000000"/>
                </a:solidFill>
                <a:latin typeface="Arial"/>
                <a:ea typeface="Times New Roman"/>
                <a:cs typeface="Segoe UI"/>
              </a:rPr>
              <a:t>.</a:t>
            </a:r>
          </a:p>
          <a:p>
            <a:pPr>
              <a:lnSpc>
                <a:spcPct val="115000"/>
              </a:lnSpc>
              <a:spcAft>
                <a:spcPts val="995"/>
              </a:spcAft>
            </a:pPr>
            <a:endParaRPr lang="en-US" sz="1000" dirty="0" smtClean="0">
              <a:solidFill>
                <a:srgbClr val="000000"/>
              </a:solidFill>
              <a:latin typeface="Arial"/>
              <a:cs typeface="Segoe UI"/>
            </a:endParaRPr>
          </a:p>
          <a:p>
            <a:pPr>
              <a:lnSpc>
                <a:spcPct val="115000"/>
              </a:lnSpc>
              <a:spcAft>
                <a:spcPts val="995"/>
              </a:spcAft>
            </a:pPr>
            <a:r>
              <a:rPr lang="en-CA" sz="1000" dirty="0" smtClean="0">
                <a:solidFill>
                  <a:srgbClr val="000000"/>
                </a:solidFill>
                <a:latin typeface="Arial"/>
              </a:rPr>
              <a:t>Leave </a:t>
            </a:r>
            <a:r>
              <a:rPr lang="en-CA" sz="1000" dirty="0">
                <a:solidFill>
                  <a:srgbClr val="000000"/>
                </a:solidFill>
                <a:latin typeface="Arial"/>
              </a:rPr>
              <a:t>all virtual machines in their current state for subsequent demonstrations.</a:t>
            </a:r>
            <a:endParaRPr lang="en-CA" sz="1000" dirty="0">
              <a:latin typeface="Arial"/>
              <a:ea typeface="Calibri"/>
              <a:cs typeface="Times New Roman"/>
            </a:endParaRPr>
          </a:p>
          <a:p>
            <a:pPr marL="342900" lvl="0" indent="-342900">
              <a:lnSpc>
                <a:spcPct val="115000"/>
              </a:lnSpc>
              <a:spcAft>
                <a:spcPts val="995"/>
              </a:spcAft>
              <a:buFont typeface="+mj-lt"/>
              <a:buAutoNum type="arabicPeriod"/>
            </a:pPr>
            <a:endParaRPr lang="en-CA" dirty="0"/>
          </a:p>
        </p:txBody>
      </p:sp>
      <p:sp>
        <p:nvSpPr>
          <p:cNvPr id="4" name="Slide Number Placeholder 3"/>
          <p:cNvSpPr>
            <a:spLocks noGrp="1"/>
          </p:cNvSpPr>
          <p:nvPr>
            <p:ph type="sldNum" sz="quarter" idx="10"/>
          </p:nvPr>
        </p:nvSpPr>
        <p:spPr/>
        <p:txBody>
          <a:bodyPr/>
          <a:lstStyle/>
          <a:p>
            <a:fld id="{9870CA0F-3212-4A57-85F5-8924A78C96D3}" type="slidenum">
              <a:rPr lang="en-CA" smtClean="0"/>
              <a:pPr/>
              <a:t>11</a:t>
            </a:fld>
            <a:endParaRPr lang="en-CA" dirty="0"/>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24822991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Provide a brief overview of the lesson content.</a:t>
            </a:r>
          </a:p>
        </p:txBody>
      </p:sp>
      <p:sp>
        <p:nvSpPr>
          <p:cNvPr id="4" name="Slide Number Placeholder 3"/>
          <p:cNvSpPr>
            <a:spLocks noGrp="1"/>
          </p:cNvSpPr>
          <p:nvPr>
            <p:ph type="sldNum" sz="quarter" idx="10"/>
          </p:nvPr>
        </p:nvSpPr>
        <p:spPr/>
        <p:txBody>
          <a:bodyPr/>
          <a:lstStyle/>
          <a:p>
            <a:fld id="{9870CA0F-3212-4A57-85F5-8924A78C96D3}" type="slidenum">
              <a:rPr lang="en-CA" smtClean="0"/>
              <a:pPr/>
              <a:t>12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22847147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Segoe UI"/>
              </a:rPr>
              <a:t>Describe how shadow copies are based on disk changes rather than copies of files. This is an important distinction between shadow copies and backups.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Some students might be concerned about using too much disk space for shadow copies. However, this should not be a concern because you can control the amount of disk space allocated for shadow copies.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Ensure that students understand why shadow copies are not a suitable replacement for backups, and are not suitable for recovering databases.</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13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20864163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Discuss the default schedule, and whether it is suitable for students’ organizations. For most organizations, the default schedule is acceptable and provides a better ability to restore accidentally deleted or modified files than a server backup provides.</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14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26712777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It is important students understand the general process for restoring a previous version. Explain that you can access previous versions from the file or folder’s </a:t>
            </a:r>
            <a:r>
              <a:rPr lang="en-CA" sz="1000" dirty="0">
                <a:latin typeface="Arial"/>
                <a:ea typeface="Calibri"/>
                <a:cs typeface="Times New Roman"/>
              </a:rPr>
              <a:t>Properties</a:t>
            </a:r>
            <a:r>
              <a:rPr lang="en-CA" sz="1000" dirty="0">
                <a:latin typeface="Arial"/>
                <a:ea typeface="Calibri"/>
                <a:cs typeface="Segoe UI"/>
              </a:rPr>
              <a:t> dialog box. Administrators can do this directly on the file server, and users can perform this over a network.</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15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25938732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b="1" dirty="0" smtClean="0">
                <a:latin typeface="Arial"/>
                <a:ea typeface="Calibri"/>
                <a:cs typeface="Times New Roman"/>
              </a:rPr>
              <a:t>Preparation </a:t>
            </a:r>
            <a:r>
              <a:rPr lang="en-CA" sz="1000" b="1" dirty="0">
                <a:latin typeface="Arial"/>
                <a:ea typeface="Calibri"/>
                <a:cs typeface="Times New Roman"/>
              </a:rPr>
              <a:t>Steps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You need the </a:t>
            </a:r>
            <a:r>
              <a:rPr lang="en-CA" sz="1000" dirty="0">
                <a:latin typeface="Arial"/>
                <a:ea typeface="Calibri"/>
                <a:cs typeface="Times New Roman"/>
              </a:rPr>
              <a:t>20410D‑LON‑SVR1</a:t>
            </a:r>
            <a:r>
              <a:rPr lang="en-CA" sz="1000" dirty="0">
                <a:latin typeface="Arial"/>
                <a:cs typeface="Times New Roman"/>
              </a:rPr>
              <a:t> and </a:t>
            </a:r>
            <a:r>
              <a:rPr lang="en-CA" sz="1000" dirty="0">
                <a:latin typeface="Arial"/>
                <a:ea typeface="Calibri"/>
                <a:cs typeface="Times New Roman"/>
              </a:rPr>
              <a:t>20410D‑LON‑DC1</a:t>
            </a:r>
            <a:r>
              <a:rPr lang="en-CA" sz="1000" b="1" dirty="0">
                <a:latin typeface="Arial"/>
                <a:ea typeface="Calibri"/>
                <a:cs typeface="Times New Roman"/>
              </a:rPr>
              <a:t> </a:t>
            </a:r>
            <a:r>
              <a:rPr lang="en-CA" sz="1000" dirty="0">
                <a:latin typeface="Arial"/>
                <a:ea typeface="Calibri"/>
                <a:cs typeface="Segoe UI"/>
              </a:rPr>
              <a:t>virtual machines to complete this demonstration. They should be running after the previous demonstration.</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Demonstration Steps</a:t>
            </a:r>
            <a:endParaRPr lang="en-CA" sz="1000" dirty="0">
              <a:latin typeface="Arial"/>
              <a:ea typeface="Calibri"/>
              <a:cs typeface="Times New Roman"/>
            </a:endParaRPr>
          </a:p>
          <a:p>
            <a:pPr>
              <a:lnSpc>
                <a:spcPts val="1300"/>
              </a:lnSpc>
              <a:spcBef>
                <a:spcPts val="900"/>
              </a:spcBef>
              <a:spcAft>
                <a:spcPts val="300"/>
              </a:spcAft>
            </a:pPr>
            <a:r>
              <a:rPr lang="en-US" sz="1000" b="1" dirty="0" smtClean="0">
                <a:effectLst/>
                <a:latin typeface="Arial"/>
                <a:ea typeface="Times New Roman"/>
                <a:cs typeface="Segoe UI"/>
              </a:rPr>
              <a:t>Configure shadow copies</a:t>
            </a:r>
            <a:endParaRPr lang="en-CA" sz="1000" b="1" dirty="0" smtClean="0">
              <a:effectLst/>
              <a:latin typeface="Arial"/>
              <a:ea typeface="Times New Roman"/>
              <a:cs typeface="Segoe UI"/>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On LON‑SVR1, on the taskbar, click the </a:t>
            </a:r>
            <a:r>
              <a:rPr lang="en-US" sz="1000" b="1" dirty="0" smtClean="0">
                <a:effectLst/>
                <a:latin typeface="Arial"/>
                <a:ea typeface="Times New Roman"/>
                <a:cs typeface="Times New Roman"/>
              </a:rPr>
              <a:t>File Explorer </a:t>
            </a:r>
            <a:r>
              <a:rPr lang="en-US" sz="1000" dirty="0" smtClean="0">
                <a:effectLst/>
                <a:latin typeface="Arial"/>
                <a:ea typeface="Times New Roman"/>
                <a:cs typeface="Times New Roman"/>
              </a:rPr>
              <a:t>icon.</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In File Explorer, right‑click </a:t>
            </a:r>
            <a:r>
              <a:rPr lang="en-US" sz="1000" b="1" dirty="0" smtClean="0">
                <a:effectLst/>
                <a:latin typeface="Arial"/>
                <a:ea typeface="Times New Roman"/>
                <a:cs typeface="Times New Roman"/>
              </a:rPr>
              <a:t>Local Disk (C:)</a:t>
            </a:r>
            <a:r>
              <a:rPr lang="en-US" sz="1000" dirty="0" smtClean="0">
                <a:effectLst/>
                <a:latin typeface="Arial"/>
                <a:ea typeface="Times New Roman"/>
                <a:cs typeface="Times New Roman"/>
              </a:rPr>
              <a:t>, and then click </a:t>
            </a:r>
            <a:r>
              <a:rPr lang="en-US" sz="1000" b="1" dirty="0" smtClean="0">
                <a:effectLst/>
                <a:latin typeface="Arial"/>
                <a:ea typeface="Times New Roman"/>
                <a:cs typeface="Times New Roman"/>
              </a:rPr>
              <a:t>Configure Shadow Copies</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In the </a:t>
            </a:r>
            <a:r>
              <a:rPr lang="en-US" sz="1000" b="1" dirty="0" smtClean="0">
                <a:effectLst/>
                <a:latin typeface="Arial"/>
                <a:ea typeface="Times New Roman"/>
                <a:cs typeface="Times New Roman"/>
              </a:rPr>
              <a:t>Shadow Copies</a:t>
            </a:r>
            <a:r>
              <a:rPr lang="en-US" sz="1000" dirty="0" smtClean="0">
                <a:effectLst/>
                <a:latin typeface="Arial"/>
                <a:ea typeface="Times New Roman"/>
                <a:cs typeface="Times New Roman"/>
              </a:rPr>
              <a:t> dialog box, click </a:t>
            </a:r>
            <a:r>
              <a:rPr lang="en-US" sz="1000" b="1" dirty="0" smtClean="0">
                <a:effectLst/>
                <a:latin typeface="Arial"/>
                <a:ea typeface="Times New Roman"/>
                <a:cs typeface="Times New Roman"/>
              </a:rPr>
              <a:t>C:\</a:t>
            </a:r>
            <a:r>
              <a:rPr lang="en-US" sz="1000" dirty="0" smtClean="0">
                <a:effectLst/>
                <a:latin typeface="Arial"/>
                <a:ea typeface="Times New Roman"/>
                <a:cs typeface="Times New Roman"/>
              </a:rPr>
              <a:t>, and then click </a:t>
            </a:r>
            <a:r>
              <a:rPr lang="en-US" sz="1000" b="1" dirty="0" smtClean="0">
                <a:effectLst/>
                <a:latin typeface="Arial"/>
                <a:ea typeface="Times New Roman"/>
                <a:cs typeface="Times New Roman"/>
              </a:rPr>
              <a:t>Enable</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In the </a:t>
            </a:r>
            <a:r>
              <a:rPr lang="en-US" sz="1000" b="1" dirty="0" smtClean="0">
                <a:effectLst/>
                <a:latin typeface="Arial"/>
                <a:ea typeface="Times New Roman"/>
                <a:cs typeface="Times New Roman"/>
              </a:rPr>
              <a:t>Enable Shadow Copies</a:t>
            </a:r>
            <a:r>
              <a:rPr lang="en-US" sz="1000" dirty="0" smtClean="0">
                <a:effectLst/>
                <a:latin typeface="Arial"/>
                <a:ea typeface="Times New Roman"/>
                <a:cs typeface="Times New Roman"/>
              </a:rPr>
              <a:t> dialog box, click </a:t>
            </a:r>
            <a:r>
              <a:rPr lang="en-US" sz="1000" b="1" dirty="0" smtClean="0">
                <a:effectLst/>
                <a:latin typeface="Arial"/>
                <a:ea typeface="Times New Roman"/>
                <a:cs typeface="Times New Roman"/>
              </a:rPr>
              <a:t>Yes</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Click </a:t>
            </a:r>
            <a:r>
              <a:rPr lang="en-US" sz="1000" b="1" dirty="0" smtClean="0">
                <a:effectLst/>
                <a:latin typeface="Arial"/>
                <a:ea typeface="Times New Roman"/>
                <a:cs typeface="Times New Roman"/>
              </a:rPr>
              <a:t>OK</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a:lnSpc>
                <a:spcPts val="1300"/>
              </a:lnSpc>
              <a:spcBef>
                <a:spcPts val="900"/>
              </a:spcBef>
              <a:spcAft>
                <a:spcPts val="300"/>
              </a:spcAft>
            </a:pPr>
            <a:r>
              <a:rPr lang="en-US" sz="1000" b="1" dirty="0" smtClean="0">
                <a:effectLst/>
                <a:latin typeface="Arial"/>
                <a:ea typeface="Times New Roman"/>
                <a:cs typeface="Segoe UI"/>
              </a:rPr>
              <a:t>Create a new file</a:t>
            </a:r>
            <a:endParaRPr lang="en-CA" sz="1000" b="1" dirty="0" smtClean="0">
              <a:effectLst/>
              <a:latin typeface="Arial"/>
              <a:ea typeface="Times New Roman"/>
              <a:cs typeface="Segoe UI"/>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In File Explorer, browse to drive C, and then click the </a:t>
            </a:r>
            <a:r>
              <a:rPr lang="en-US" sz="1000" b="1" dirty="0" smtClean="0">
                <a:effectLst/>
                <a:latin typeface="Arial"/>
                <a:ea typeface="Times New Roman"/>
                <a:cs typeface="Times New Roman"/>
              </a:rPr>
              <a:t>New folder</a:t>
            </a:r>
            <a:r>
              <a:rPr lang="en-US" sz="1000" dirty="0" smtClean="0">
                <a:effectLst/>
                <a:latin typeface="Arial"/>
                <a:ea typeface="Times New Roman"/>
                <a:cs typeface="Times New Roman"/>
              </a:rPr>
              <a:t> icon on the Quick Launch toolbar.</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Name the new folder </a:t>
            </a:r>
            <a:r>
              <a:rPr lang="en-US" sz="1000" b="1" dirty="0" smtClean="0">
                <a:effectLst/>
                <a:latin typeface="Arial"/>
                <a:ea typeface="Times New Roman"/>
                <a:cs typeface="Times New Roman"/>
              </a:rPr>
              <a:t>Data</a:t>
            </a:r>
            <a:r>
              <a:rPr lang="en-US" sz="1000" dirty="0" smtClean="0">
                <a:effectLst/>
                <a:latin typeface="Arial"/>
                <a:ea typeface="Times New Roman"/>
                <a:cs typeface="Times New Roman"/>
              </a:rPr>
              <a:t>, and then press Enter.</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Browse to the </a:t>
            </a:r>
            <a:r>
              <a:rPr lang="en-US" sz="1000" b="1" dirty="0" smtClean="0">
                <a:effectLst/>
                <a:latin typeface="Arial"/>
                <a:ea typeface="Times New Roman"/>
                <a:cs typeface="Times New Roman"/>
              </a:rPr>
              <a:t>Data</a:t>
            </a:r>
            <a:r>
              <a:rPr lang="en-US" sz="1000" dirty="0" smtClean="0">
                <a:effectLst/>
                <a:latin typeface="Arial"/>
                <a:ea typeface="Times New Roman"/>
                <a:cs typeface="Times New Roman"/>
              </a:rPr>
              <a:t> folder on drive C.</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In the Data folder, right‑click an empty space, point to </a:t>
            </a:r>
            <a:r>
              <a:rPr lang="en-US" sz="1000" b="1" dirty="0" smtClean="0">
                <a:effectLst/>
                <a:latin typeface="Arial"/>
                <a:ea typeface="Times New Roman"/>
                <a:cs typeface="Times New Roman"/>
              </a:rPr>
              <a:t>New</a:t>
            </a:r>
            <a:r>
              <a:rPr lang="en-US" sz="1000" dirty="0" smtClean="0">
                <a:effectLst/>
                <a:latin typeface="Arial"/>
                <a:ea typeface="Times New Roman"/>
                <a:cs typeface="Times New Roman"/>
              </a:rPr>
              <a:t>, and then click </a:t>
            </a:r>
            <a:r>
              <a:rPr lang="en-US" sz="1000" b="1" dirty="0" smtClean="0">
                <a:effectLst/>
                <a:latin typeface="Arial"/>
                <a:ea typeface="Times New Roman"/>
                <a:cs typeface="Times New Roman"/>
              </a:rPr>
              <a:t>Text Document</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Name the new text document </a:t>
            </a:r>
            <a:r>
              <a:rPr lang="en-US" sz="1000" b="1" dirty="0" smtClean="0">
                <a:effectLst/>
                <a:latin typeface="Arial"/>
                <a:ea typeface="Times New Roman"/>
                <a:cs typeface="Times New Roman"/>
              </a:rPr>
              <a:t>TestFile</a:t>
            </a:r>
            <a:r>
              <a:rPr lang="en-US" sz="1000" dirty="0" smtClean="0">
                <a:effectLst/>
                <a:latin typeface="Arial"/>
                <a:ea typeface="Times New Roman"/>
                <a:cs typeface="Times New Roman"/>
              </a:rPr>
              <a:t>, and then press Enter.</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Double‑click </a:t>
            </a:r>
            <a:r>
              <a:rPr lang="en-US" sz="1000" b="1" dirty="0" smtClean="0">
                <a:effectLst/>
                <a:latin typeface="Arial"/>
                <a:ea typeface="Times New Roman"/>
                <a:cs typeface="Times New Roman"/>
              </a:rPr>
              <a:t>TestFile.txt</a:t>
            </a:r>
            <a:r>
              <a:rPr lang="en-US" sz="1000" dirty="0" smtClean="0">
                <a:effectLst/>
                <a:latin typeface="Arial"/>
                <a:ea typeface="Times New Roman"/>
                <a:cs typeface="Times New Roman"/>
              </a:rPr>
              <a:t> to open the document.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In Notepad, type </a:t>
            </a:r>
            <a:r>
              <a:rPr lang="en-US" sz="1000" b="1" dirty="0" smtClean="0">
                <a:effectLst/>
                <a:latin typeface="Arial"/>
                <a:ea typeface="Times New Roman"/>
                <a:cs typeface="Times New Roman"/>
              </a:rPr>
              <a:t>Version 1</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Close Notepad,</a:t>
            </a:r>
            <a:r>
              <a:rPr lang="en-US" sz="1000" b="1" dirty="0" smtClean="0">
                <a:effectLst/>
                <a:latin typeface="Arial"/>
                <a:ea typeface="Times New Roman"/>
                <a:cs typeface="Times New Roman"/>
              </a:rPr>
              <a:t> </a:t>
            </a:r>
            <a:r>
              <a:rPr lang="en-US" sz="1000" dirty="0" smtClean="0">
                <a:effectLst/>
                <a:latin typeface="Arial"/>
                <a:ea typeface="Times New Roman"/>
                <a:cs typeface="Segoe UI"/>
              </a:rPr>
              <a:t>and then </a:t>
            </a:r>
            <a:r>
              <a:rPr lang="en-US" sz="1000" dirty="0" smtClean="0">
                <a:effectLst/>
                <a:latin typeface="Arial"/>
                <a:ea typeface="Times New Roman"/>
                <a:cs typeface="Times New Roman"/>
              </a:rPr>
              <a:t>click </a:t>
            </a:r>
            <a:r>
              <a:rPr lang="en-US" sz="1000" b="1" dirty="0" smtClean="0">
                <a:effectLst/>
                <a:latin typeface="Arial"/>
                <a:ea typeface="Times New Roman"/>
                <a:cs typeface="Times New Roman"/>
              </a:rPr>
              <a:t>Save</a:t>
            </a:r>
            <a:r>
              <a:rPr lang="en-US" sz="1000" dirty="0" smtClean="0">
                <a:effectLst/>
                <a:latin typeface="Arial"/>
                <a:ea typeface="Times New Roman"/>
                <a:cs typeface="Times New Roman"/>
              </a:rPr>
              <a:t> to save the changes.</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16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Tree>
    <p:extLst>
      <p:ext uri="{BB962C8B-B14F-4D97-AF65-F5344CB8AC3E}">
        <p14:creationId xmlns:p14="http://schemas.microsoft.com/office/powerpoint/2010/main" xmlns="" val="32259642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995"/>
              </a:spcAft>
            </a:pPr>
            <a:r>
              <a:rPr lang="en-US" sz="1000" b="1" dirty="0">
                <a:latin typeface="Arial"/>
                <a:ea typeface="Times New Roman"/>
                <a:cs typeface="Segoe UI"/>
              </a:rPr>
              <a:t>Create a shadow copy</a:t>
            </a:r>
            <a:endParaRPr lang="en-CA" sz="1000" b="1" dirty="0">
              <a:latin typeface="Arial"/>
              <a:ea typeface="Times New Roman"/>
              <a:cs typeface="Segoe UI"/>
            </a:endParaRPr>
          </a:p>
          <a:p>
            <a:pPr marL="342900" lvl="0" indent="-342900">
              <a:lnSpc>
                <a:spcPct val="115000"/>
              </a:lnSpc>
              <a:spcAft>
                <a:spcPts val="995"/>
              </a:spcAft>
              <a:buFont typeface="+mj-lt"/>
              <a:buAutoNum type="arabicPeriod"/>
            </a:pPr>
            <a:r>
              <a:rPr lang="en-US" sz="1000" dirty="0" smtClean="0">
                <a:solidFill>
                  <a:prstClr val="black"/>
                </a:solidFill>
                <a:latin typeface="Arial"/>
                <a:ea typeface="Times New Roman"/>
                <a:cs typeface="Times New Roman"/>
              </a:rPr>
              <a:t>In </a:t>
            </a:r>
            <a:r>
              <a:rPr lang="en-US" sz="1000" dirty="0">
                <a:solidFill>
                  <a:prstClr val="black"/>
                </a:solidFill>
                <a:latin typeface="Arial"/>
                <a:ea typeface="Times New Roman"/>
                <a:cs typeface="Times New Roman"/>
              </a:rPr>
              <a:t>File Explorer, right‑click </a:t>
            </a:r>
            <a:r>
              <a:rPr lang="en-US" sz="1000" b="1" dirty="0">
                <a:solidFill>
                  <a:prstClr val="black"/>
                </a:solidFill>
                <a:latin typeface="Arial"/>
                <a:ea typeface="Times New Roman"/>
                <a:cs typeface="Times New Roman"/>
              </a:rPr>
              <a:t>Local Disk (C:)</a:t>
            </a:r>
            <a:r>
              <a:rPr lang="en-US" sz="1000" dirty="0">
                <a:solidFill>
                  <a:prstClr val="black"/>
                </a:solidFill>
                <a:latin typeface="Arial"/>
                <a:ea typeface="Times New Roman"/>
                <a:cs typeface="Times New Roman"/>
              </a:rPr>
              <a:t>, and then click </a:t>
            </a:r>
            <a:r>
              <a:rPr lang="en-US" sz="1000" b="1" dirty="0">
                <a:solidFill>
                  <a:prstClr val="black"/>
                </a:solidFill>
                <a:latin typeface="Arial"/>
                <a:ea typeface="Times New Roman"/>
                <a:cs typeface="Times New Roman"/>
              </a:rPr>
              <a:t>Configure Shadow Copies</a:t>
            </a:r>
            <a:r>
              <a:rPr lang="en-US" sz="1000" dirty="0">
                <a:solidFill>
                  <a:prstClr val="black"/>
                </a:solidFill>
                <a:latin typeface="Arial"/>
                <a:ea typeface="Times New Roman"/>
                <a:cs typeface="Times New Roman"/>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Times New Roman"/>
              </a:rPr>
              <a:t>In the </a:t>
            </a:r>
            <a:r>
              <a:rPr lang="en-US" sz="1000" b="1" dirty="0">
                <a:solidFill>
                  <a:prstClr val="black"/>
                </a:solidFill>
                <a:latin typeface="Arial"/>
                <a:ea typeface="Times New Roman"/>
                <a:cs typeface="Times New Roman"/>
              </a:rPr>
              <a:t>Shadow Copies</a:t>
            </a:r>
            <a:r>
              <a:rPr lang="en-US" sz="1000" dirty="0">
                <a:solidFill>
                  <a:prstClr val="black"/>
                </a:solidFill>
                <a:latin typeface="Arial"/>
                <a:ea typeface="Times New Roman"/>
                <a:cs typeface="Times New Roman"/>
              </a:rPr>
              <a:t> dialog box, click </a:t>
            </a:r>
            <a:r>
              <a:rPr lang="en-US" sz="1000" b="1" dirty="0">
                <a:solidFill>
                  <a:prstClr val="black"/>
                </a:solidFill>
                <a:latin typeface="Arial"/>
                <a:ea typeface="Times New Roman"/>
                <a:cs typeface="Times New Roman"/>
              </a:rPr>
              <a:t>Create Now</a:t>
            </a:r>
            <a:r>
              <a:rPr lang="en-US" sz="1000" dirty="0">
                <a:solidFill>
                  <a:prstClr val="black"/>
                </a:solidFill>
                <a:latin typeface="Arial"/>
                <a:ea typeface="Times New Roman"/>
                <a:cs typeface="Times New Roman"/>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Times New Roman"/>
              </a:rPr>
              <a:t>When the shadow copy is complete, click </a:t>
            </a:r>
            <a:r>
              <a:rPr lang="en-US" sz="1000" b="1" dirty="0">
                <a:solidFill>
                  <a:prstClr val="black"/>
                </a:solidFill>
                <a:latin typeface="Arial"/>
                <a:ea typeface="Times New Roman"/>
                <a:cs typeface="Times New Roman"/>
              </a:rPr>
              <a:t>OK</a:t>
            </a:r>
            <a:r>
              <a:rPr lang="en-US" sz="1000" dirty="0">
                <a:solidFill>
                  <a:prstClr val="black"/>
                </a:solidFill>
                <a:latin typeface="Arial"/>
                <a:ea typeface="Times New Roman"/>
                <a:cs typeface="Times New Roman"/>
              </a:rPr>
              <a:t>.</a:t>
            </a:r>
            <a:endParaRPr lang="en-CA" sz="1000" dirty="0">
              <a:solidFill>
                <a:prstClr val="black"/>
              </a:solidFill>
              <a:latin typeface="Arial"/>
              <a:ea typeface="Times New Roman"/>
              <a:cs typeface="Times New Roman"/>
            </a:endParaRPr>
          </a:p>
          <a:p>
            <a:pPr lvl="0">
              <a:lnSpc>
                <a:spcPts val="1300"/>
              </a:lnSpc>
              <a:spcBef>
                <a:spcPts val="900"/>
              </a:spcBef>
              <a:spcAft>
                <a:spcPts val="300"/>
              </a:spcAft>
            </a:pPr>
            <a:r>
              <a:rPr lang="en-US" sz="1000" b="1" dirty="0">
                <a:solidFill>
                  <a:prstClr val="black"/>
                </a:solidFill>
                <a:latin typeface="Arial"/>
                <a:ea typeface="Times New Roman"/>
                <a:cs typeface="Segoe UI"/>
              </a:rPr>
              <a:t>Modify the file</a:t>
            </a:r>
            <a:endParaRPr lang="en-CA" sz="1000" b="1" dirty="0">
              <a:solidFill>
                <a:prstClr val="black"/>
              </a:solidFill>
              <a:latin typeface="Arial"/>
              <a:ea typeface="Times New Roman"/>
              <a:cs typeface="Segoe UI"/>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Segoe UI"/>
              </a:rPr>
              <a:t>In File Explorer, double‑click </a:t>
            </a:r>
            <a:r>
              <a:rPr lang="en-US" sz="1000" b="1" dirty="0">
                <a:solidFill>
                  <a:prstClr val="black"/>
                </a:solidFill>
                <a:latin typeface="Arial"/>
                <a:ea typeface="Times New Roman"/>
                <a:cs typeface="Times New Roman"/>
              </a:rPr>
              <a:t>TestFile.txt</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Segoe UI"/>
              </a:rPr>
              <a:t>In Notepad, type </a:t>
            </a:r>
            <a:r>
              <a:rPr lang="en-US" sz="1000" b="1" dirty="0">
                <a:solidFill>
                  <a:prstClr val="black"/>
                </a:solidFill>
                <a:latin typeface="Arial"/>
                <a:ea typeface="Times New Roman"/>
                <a:cs typeface="Times New Roman"/>
              </a:rPr>
              <a:t>Version 2</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Segoe UI"/>
              </a:rPr>
              <a:t>Close Notepad, and then click </a:t>
            </a:r>
            <a:r>
              <a:rPr lang="en-US" sz="1000" b="1" dirty="0">
                <a:solidFill>
                  <a:prstClr val="black"/>
                </a:solidFill>
                <a:latin typeface="Arial"/>
                <a:ea typeface="Times New Roman"/>
                <a:cs typeface="Times New Roman"/>
              </a:rPr>
              <a:t>Save</a:t>
            </a:r>
            <a:r>
              <a:rPr lang="en-US" sz="1000" dirty="0">
                <a:solidFill>
                  <a:prstClr val="black"/>
                </a:solidFill>
                <a:latin typeface="Arial"/>
                <a:ea typeface="Times New Roman"/>
                <a:cs typeface="Segoe UI"/>
              </a:rPr>
              <a:t> to save the changes.</a:t>
            </a:r>
            <a:endParaRPr lang="en-CA" sz="1000" dirty="0">
              <a:solidFill>
                <a:prstClr val="black"/>
              </a:solidFill>
              <a:latin typeface="Arial"/>
              <a:ea typeface="Times New Roman"/>
              <a:cs typeface="Times New Roman"/>
            </a:endParaRPr>
          </a:p>
          <a:p>
            <a:pPr lvl="0">
              <a:lnSpc>
                <a:spcPts val="1300"/>
              </a:lnSpc>
              <a:spcBef>
                <a:spcPts val="900"/>
              </a:spcBef>
              <a:spcAft>
                <a:spcPts val="300"/>
              </a:spcAft>
            </a:pPr>
            <a:r>
              <a:rPr lang="en-US" sz="1000" b="1" dirty="0">
                <a:solidFill>
                  <a:prstClr val="black"/>
                </a:solidFill>
                <a:latin typeface="Arial"/>
                <a:ea typeface="Times New Roman"/>
                <a:cs typeface="Segoe UI"/>
              </a:rPr>
              <a:t>Restore the previous version</a:t>
            </a:r>
            <a:endParaRPr lang="en-CA" sz="1000" b="1" dirty="0">
              <a:solidFill>
                <a:prstClr val="black"/>
              </a:solidFill>
              <a:latin typeface="Arial"/>
              <a:ea typeface="Times New Roman"/>
              <a:cs typeface="Segoe UI"/>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Segoe UI"/>
              </a:rPr>
              <a:t>In File Explorer, in the Data folder, right‑click </a:t>
            </a:r>
            <a:r>
              <a:rPr lang="en-US" sz="1000" b="1" dirty="0">
                <a:solidFill>
                  <a:prstClr val="black"/>
                </a:solidFill>
                <a:latin typeface="Arial"/>
                <a:ea typeface="Times New Roman"/>
                <a:cs typeface="Times New Roman"/>
              </a:rPr>
              <a:t>TestFile.txt</a:t>
            </a:r>
            <a:r>
              <a:rPr lang="en-US" sz="1000" dirty="0">
                <a:solidFill>
                  <a:prstClr val="black"/>
                </a:solidFill>
                <a:latin typeface="Arial"/>
                <a:ea typeface="Times New Roman"/>
                <a:cs typeface="Times New Roman"/>
              </a:rPr>
              <a:t>,</a:t>
            </a:r>
            <a:r>
              <a:rPr lang="en-US" sz="1000" dirty="0">
                <a:solidFill>
                  <a:prstClr val="black"/>
                </a:solidFill>
                <a:latin typeface="Arial"/>
                <a:ea typeface="Times New Roman"/>
                <a:cs typeface="Segoe UI"/>
              </a:rPr>
              <a:t> and then click </a:t>
            </a:r>
            <a:r>
              <a:rPr lang="en-US" sz="1000" b="1" dirty="0">
                <a:solidFill>
                  <a:prstClr val="black"/>
                </a:solidFill>
                <a:latin typeface="Arial"/>
                <a:ea typeface="Times New Roman"/>
                <a:cs typeface="Times New Roman"/>
              </a:rPr>
              <a:t>Restore previous versions</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Segoe UI"/>
              </a:rPr>
              <a:t>In the </a:t>
            </a:r>
            <a:r>
              <a:rPr lang="en-US" sz="1000" b="1" dirty="0">
                <a:solidFill>
                  <a:prstClr val="black"/>
                </a:solidFill>
                <a:latin typeface="Arial"/>
                <a:ea typeface="Times New Roman"/>
                <a:cs typeface="Times New Roman"/>
              </a:rPr>
              <a:t>TestFile.txt Properties</a:t>
            </a:r>
            <a:r>
              <a:rPr lang="en-US" sz="1000" dirty="0">
                <a:solidFill>
                  <a:prstClr val="black"/>
                </a:solidFill>
                <a:latin typeface="Arial"/>
                <a:ea typeface="Times New Roman"/>
                <a:cs typeface="Segoe UI"/>
              </a:rPr>
              <a:t> dialog box, on the </a:t>
            </a:r>
            <a:r>
              <a:rPr lang="en-US" sz="1000" b="1" dirty="0">
                <a:solidFill>
                  <a:prstClr val="black"/>
                </a:solidFill>
                <a:latin typeface="Arial"/>
                <a:ea typeface="Times New Roman"/>
                <a:cs typeface="Times New Roman"/>
              </a:rPr>
              <a:t>Previous Versions</a:t>
            </a:r>
            <a:r>
              <a:rPr lang="en-US" sz="1000" dirty="0">
                <a:solidFill>
                  <a:prstClr val="black"/>
                </a:solidFill>
                <a:latin typeface="Arial"/>
                <a:ea typeface="Times New Roman"/>
                <a:cs typeface="Segoe UI"/>
              </a:rPr>
              <a:t> tab, click the most recent file version, and then click </a:t>
            </a:r>
            <a:r>
              <a:rPr lang="en-US" sz="1000" b="1" dirty="0">
                <a:solidFill>
                  <a:prstClr val="black"/>
                </a:solidFill>
                <a:latin typeface="Arial"/>
                <a:ea typeface="Times New Roman"/>
                <a:cs typeface="Times New Roman"/>
              </a:rPr>
              <a:t>Restore</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Segoe UI"/>
              </a:rPr>
              <a:t>In the </a:t>
            </a:r>
            <a:r>
              <a:rPr lang="en-US" sz="1000" b="1" dirty="0">
                <a:solidFill>
                  <a:prstClr val="black"/>
                </a:solidFill>
                <a:latin typeface="Arial"/>
                <a:ea typeface="Times New Roman"/>
                <a:cs typeface="Times New Roman"/>
              </a:rPr>
              <a:t>Are you sure you want to restore</a:t>
            </a:r>
            <a:r>
              <a:rPr lang="en-US" sz="1000" dirty="0">
                <a:solidFill>
                  <a:srgbClr val="A6A6A6"/>
                </a:solidFill>
                <a:latin typeface="Arial"/>
                <a:ea typeface="Times New Roman"/>
                <a:cs typeface="Times New Roman"/>
              </a:rPr>
              <a:t> </a:t>
            </a:r>
            <a:r>
              <a:rPr lang="en-US" sz="1000" dirty="0">
                <a:solidFill>
                  <a:prstClr val="black"/>
                </a:solidFill>
                <a:latin typeface="Arial"/>
                <a:ea typeface="Times New Roman"/>
                <a:cs typeface="Segoe UI"/>
              </a:rPr>
              <a:t>message, click </a:t>
            </a:r>
            <a:r>
              <a:rPr lang="en-US" sz="1000" b="1" dirty="0">
                <a:solidFill>
                  <a:prstClr val="black"/>
                </a:solidFill>
                <a:latin typeface="Arial"/>
                <a:ea typeface="Times New Roman"/>
                <a:cs typeface="Times New Roman"/>
              </a:rPr>
              <a:t>Restore</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Segoe UI"/>
              </a:rPr>
              <a:t>Click </a:t>
            </a:r>
            <a:r>
              <a:rPr lang="en-US" sz="1000" b="1" dirty="0">
                <a:solidFill>
                  <a:prstClr val="black"/>
                </a:solidFill>
                <a:latin typeface="Arial"/>
                <a:ea typeface="Times New Roman"/>
                <a:cs typeface="Times New Roman"/>
              </a:rPr>
              <a:t>OK</a:t>
            </a:r>
            <a:r>
              <a:rPr lang="en-US" sz="1000" dirty="0">
                <a:solidFill>
                  <a:prstClr val="black"/>
                </a:solidFill>
                <a:latin typeface="Arial"/>
                <a:ea typeface="Times New Roman"/>
                <a:cs typeface="Segoe UI"/>
              </a:rPr>
              <a:t> to close the success message.</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Segoe UI"/>
              </a:rPr>
              <a:t>Click </a:t>
            </a:r>
            <a:r>
              <a:rPr lang="en-US" sz="1000" b="1" dirty="0">
                <a:solidFill>
                  <a:prstClr val="black"/>
                </a:solidFill>
                <a:latin typeface="Arial"/>
                <a:ea typeface="Times New Roman"/>
                <a:cs typeface="Times New Roman"/>
              </a:rPr>
              <a:t>OK</a:t>
            </a:r>
            <a:r>
              <a:rPr lang="en-US" sz="1000" dirty="0">
                <a:solidFill>
                  <a:prstClr val="black"/>
                </a:solidFill>
                <a:latin typeface="Arial"/>
                <a:ea typeface="Times New Roman"/>
                <a:cs typeface="Segoe UI"/>
              </a:rPr>
              <a:t> to close the </a:t>
            </a:r>
            <a:r>
              <a:rPr lang="en-US" sz="1000" b="1" dirty="0">
                <a:solidFill>
                  <a:prstClr val="black"/>
                </a:solidFill>
                <a:latin typeface="Arial"/>
                <a:ea typeface="Times New Roman"/>
                <a:cs typeface="Times New Roman"/>
              </a:rPr>
              <a:t>TestFile.txt Properties</a:t>
            </a:r>
            <a:r>
              <a:rPr lang="en-US" sz="1000" dirty="0">
                <a:solidFill>
                  <a:prstClr val="black"/>
                </a:solidFill>
                <a:latin typeface="Arial"/>
                <a:ea typeface="Times New Roman"/>
                <a:cs typeface="Segoe UI"/>
              </a:rPr>
              <a:t> dialog box.</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Segoe UI"/>
              </a:rPr>
              <a:t>Double‑click </a:t>
            </a:r>
            <a:r>
              <a:rPr lang="en-US" sz="1000" b="1" dirty="0">
                <a:solidFill>
                  <a:prstClr val="black"/>
                </a:solidFill>
                <a:latin typeface="Arial"/>
                <a:ea typeface="Times New Roman"/>
                <a:cs typeface="Times New Roman"/>
              </a:rPr>
              <a:t>TestFile.txt</a:t>
            </a:r>
            <a:r>
              <a:rPr lang="en-US" sz="1000" dirty="0">
                <a:solidFill>
                  <a:prstClr val="black"/>
                </a:solidFill>
                <a:latin typeface="Arial"/>
                <a:ea typeface="Times New Roman"/>
                <a:cs typeface="Segoe UI"/>
              </a:rPr>
              <a:t> to open the document, and then verify that the previous version is restored.</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Segoe UI"/>
              </a:rPr>
              <a:t>Close all open windows</a:t>
            </a:r>
            <a:r>
              <a:rPr lang="en-US" sz="1000" dirty="0" smtClean="0">
                <a:solidFill>
                  <a:prstClr val="black"/>
                </a:solidFill>
                <a:latin typeface="Arial"/>
                <a:ea typeface="Times New Roman"/>
                <a:cs typeface="Segoe UI"/>
              </a:rPr>
              <a:t>.</a:t>
            </a:r>
          </a:p>
          <a:p>
            <a:pPr marL="342900" lvl="0" indent="-342900">
              <a:lnSpc>
                <a:spcPct val="115000"/>
              </a:lnSpc>
              <a:spcAft>
                <a:spcPts val="995"/>
              </a:spcAft>
              <a:buFont typeface="+mj-lt"/>
              <a:buAutoNum type="arabicPeriod"/>
            </a:pPr>
            <a:endParaRPr lang="en-US" sz="1000" dirty="0">
              <a:solidFill>
                <a:prstClr val="black"/>
              </a:solidFill>
              <a:latin typeface="Arial"/>
              <a:cs typeface="Segoe UI"/>
            </a:endParaRPr>
          </a:p>
          <a:p>
            <a:pPr>
              <a:lnSpc>
                <a:spcPct val="115000"/>
              </a:lnSpc>
              <a:spcAft>
                <a:spcPts val="995"/>
              </a:spcAft>
            </a:pPr>
            <a:r>
              <a:rPr lang="en-CA" sz="1000" dirty="0" smtClean="0">
                <a:solidFill>
                  <a:srgbClr val="000000"/>
                </a:solidFill>
                <a:latin typeface="Arial"/>
              </a:rPr>
              <a:t>Leave </a:t>
            </a:r>
            <a:r>
              <a:rPr lang="en-CA" sz="1000" dirty="0">
                <a:solidFill>
                  <a:srgbClr val="000000"/>
                </a:solidFill>
                <a:latin typeface="Arial"/>
              </a:rPr>
              <a:t>all virtual machines in their current state for subsequent demonstrations.</a:t>
            </a:r>
            <a:endParaRPr lang="en-CA" sz="1000" dirty="0">
              <a:latin typeface="Arial"/>
              <a:ea typeface="Calibri"/>
              <a:cs typeface="Times New Roman"/>
            </a:endParaRPr>
          </a:p>
          <a:p>
            <a:pPr marL="342900" lvl="0" indent="-342900">
              <a:lnSpc>
                <a:spcPct val="115000"/>
              </a:lnSpc>
              <a:spcAft>
                <a:spcPts val="995"/>
              </a:spcAft>
              <a:buFont typeface="+mj-lt"/>
              <a:buAutoNum type="arabicPeriod"/>
            </a:pPr>
            <a:endParaRPr lang="en-CA" dirty="0"/>
          </a:p>
        </p:txBody>
      </p:sp>
      <p:sp>
        <p:nvSpPr>
          <p:cNvPr id="4" name="Slide Number Placeholder 3"/>
          <p:cNvSpPr>
            <a:spLocks noGrp="1"/>
          </p:cNvSpPr>
          <p:nvPr>
            <p:ph type="sldNum" sz="quarter" idx="10"/>
          </p:nvPr>
        </p:nvSpPr>
        <p:spPr/>
        <p:txBody>
          <a:bodyPr/>
          <a:lstStyle/>
          <a:p>
            <a:fld id="{9870CA0F-3212-4A57-85F5-8924A78C96D3}" type="slidenum">
              <a:rPr lang="en-CA" smtClean="0"/>
              <a:pPr/>
              <a:t>17</a:t>
            </a:fld>
            <a:endParaRPr lang="en-CA" dirty="0"/>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36557716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 </a:t>
            </a:r>
          </a:p>
        </p:txBody>
      </p:sp>
      <p:sp>
        <p:nvSpPr>
          <p:cNvPr id="4" name="Slide Number Placeholder 3"/>
          <p:cNvSpPr>
            <a:spLocks noGrp="1"/>
          </p:cNvSpPr>
          <p:nvPr>
            <p:ph type="sldNum" sz="quarter" idx="10"/>
          </p:nvPr>
        </p:nvSpPr>
        <p:spPr/>
        <p:txBody>
          <a:bodyPr/>
          <a:lstStyle/>
          <a:p>
            <a:fld id="{9870CA0F-3212-4A57-85F5-8924A78C96D3}" type="slidenum">
              <a:rPr lang="en-CA" smtClean="0"/>
              <a:pPr/>
              <a:t>18</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7174143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fr-BE" sz="1000" dirty="0" smtClean="0">
                <a:latin typeface="Arial"/>
                <a:ea typeface="Calibri"/>
                <a:cs typeface="Times New Roman"/>
              </a:rPr>
              <a:t>Il s’agit de synchroniser de manière sécurisée (SSL) des fichiers entre plusieurs PC ou appareils appartenant à un même utilisateur, qu’il s’agisse de PC joints au domaine ou non.</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19</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21194517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Stress that this is not a collaboration feature. Users cannot give other users access to their work folders.</a:t>
            </a:r>
          </a:p>
        </p:txBody>
      </p:sp>
      <p:sp>
        <p:nvSpPr>
          <p:cNvPr id="4" name="Slide Number Placeholder 3"/>
          <p:cNvSpPr>
            <a:spLocks noGrp="1"/>
          </p:cNvSpPr>
          <p:nvPr>
            <p:ph type="sldNum" sz="quarter" idx="10"/>
          </p:nvPr>
        </p:nvSpPr>
        <p:spPr/>
        <p:txBody>
          <a:bodyPr/>
          <a:lstStyle/>
          <a:p>
            <a:fld id="{9870CA0F-3212-4A57-85F5-8924A78C96D3}" type="slidenum">
              <a:rPr lang="en-CA" smtClean="0"/>
              <a:pPr/>
              <a:t>20</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30385322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Stress that this feature is currently available only to Windows Server 2012 R2 and Windows 8.1 clients. Mention that there is no capability for a server to be a client. There is no item on Control Panel on a server to configure Work Folders.</a:t>
            </a:r>
          </a:p>
        </p:txBody>
      </p:sp>
      <p:sp>
        <p:nvSpPr>
          <p:cNvPr id="4" name="Slide Number Placeholder 3"/>
          <p:cNvSpPr>
            <a:spLocks noGrp="1"/>
          </p:cNvSpPr>
          <p:nvPr>
            <p:ph type="sldNum" sz="quarter" idx="10"/>
          </p:nvPr>
        </p:nvSpPr>
        <p:spPr/>
        <p:txBody>
          <a:bodyPr/>
          <a:lstStyle/>
          <a:p>
            <a:fld id="{9870CA0F-3212-4A57-85F5-8924A78C96D3}" type="slidenum">
              <a:rPr lang="en-CA" smtClean="0"/>
              <a:pPr/>
              <a:t>21</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4349951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Stress that Group Policy affects only domain joined devices. For devices that are not joined to the domain, you can use Windows Intune</a:t>
            </a:r>
            <a:r>
              <a:rPr lang="en-CA" sz="1000" baseline="30000" dirty="0">
                <a:latin typeface="Arial"/>
                <a:ea typeface="Calibri"/>
                <a:cs typeface="Times New Roman"/>
              </a:rPr>
              <a:t>™</a:t>
            </a:r>
            <a:r>
              <a:rPr lang="en-CA" sz="1000" dirty="0">
                <a:latin typeface="Arial"/>
                <a:ea typeface="Calibri"/>
                <a:cs typeface="Times New Roman"/>
              </a:rPr>
              <a:t> for automatic configuration</a:t>
            </a:r>
            <a:r>
              <a:rPr lang="en-CA" sz="1000" dirty="0" smtClean="0">
                <a:latin typeface="Arial"/>
                <a:ea typeface="Calibri"/>
                <a:cs typeface="Times New Roman"/>
              </a:rPr>
              <a:t>.</a:t>
            </a:r>
          </a:p>
          <a:p>
            <a:pPr>
              <a:lnSpc>
                <a:spcPct val="115000"/>
              </a:lnSpc>
              <a:spcAft>
                <a:spcPts val="1000"/>
              </a:spcAft>
            </a:pPr>
            <a:endParaRPr lang="en-CA" sz="1000" dirty="0" smtClean="0">
              <a:latin typeface="Arial"/>
              <a:ea typeface="Calibri"/>
              <a:cs typeface="Times New Roman"/>
            </a:endParaRPr>
          </a:p>
          <a:p>
            <a:pPr marL="0" marR="0" lvl="1" indent="0" algn="l" defTabSz="914400" rtl="0" eaLnBrk="1" fontAlgn="auto" latinLnBrk="0" hangingPunct="1">
              <a:lnSpc>
                <a:spcPct val="115000"/>
              </a:lnSpc>
              <a:spcBef>
                <a:spcPts val="0"/>
              </a:spcBef>
              <a:spcAft>
                <a:spcPts val="1000"/>
              </a:spcAft>
              <a:buClrTx/>
              <a:buSzTx/>
              <a:buFontTx/>
              <a:buNone/>
              <a:tabLst/>
              <a:defRPr/>
            </a:pPr>
            <a:r>
              <a:rPr lang="en-CA" dirty="0" err="1" smtClean="0"/>
              <a:t>Voir</a:t>
            </a:r>
            <a:r>
              <a:rPr lang="en-CA" dirty="0" smtClean="0"/>
              <a:t> lien : https://blogs.technet.microsoft.com/pascals/2013/07/29/mise-en-uvre-des-work-folders-avec-windows-server-2012-r2-et-windows-8-1/</a:t>
            </a:r>
            <a:endParaRPr lang="en-US" dirty="0" smtClean="0"/>
          </a:p>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22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27664631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Explain that for the purposes of this demonstration, a registry entry was added to allow unsecured connections to work folders. Under normal circumstances, you are required to use Secure Sockets Layer (SSL) certificates to secure the connections between the client devices and the sync share.</a:t>
            </a:r>
          </a:p>
          <a:p>
            <a:pPr>
              <a:lnSpc>
                <a:spcPct val="115000"/>
              </a:lnSpc>
              <a:spcAft>
                <a:spcPts val="1000"/>
              </a:spcAft>
            </a:pPr>
            <a:r>
              <a:rPr lang="en-CA" sz="1000" b="1" dirty="0" smtClean="0">
                <a:latin typeface="Arial"/>
                <a:ea typeface="Calibri"/>
                <a:cs typeface="Times New Roman"/>
              </a:rPr>
              <a:t>Preparation </a:t>
            </a:r>
            <a:r>
              <a:rPr lang="en-CA" sz="1000" b="1" dirty="0">
                <a:latin typeface="Arial"/>
                <a:ea typeface="Calibri"/>
                <a:cs typeface="Times New Roman"/>
              </a:rPr>
              <a:t>Steps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You need the </a:t>
            </a:r>
            <a:r>
              <a:rPr lang="en-CA" sz="1000" dirty="0">
                <a:latin typeface="Arial"/>
                <a:ea typeface="Calibri"/>
                <a:cs typeface="Times New Roman"/>
              </a:rPr>
              <a:t>20410D‑LON‑SVR1</a:t>
            </a:r>
            <a:r>
              <a:rPr lang="en-CA" sz="1000" dirty="0">
                <a:latin typeface="Arial"/>
                <a:cs typeface="Times New Roman"/>
              </a:rPr>
              <a:t> and </a:t>
            </a:r>
            <a:r>
              <a:rPr lang="en-CA" sz="1000" dirty="0">
                <a:latin typeface="Arial"/>
                <a:ea typeface="Calibri"/>
                <a:cs typeface="Times New Roman"/>
              </a:rPr>
              <a:t>20410D‑LON‑DC1</a:t>
            </a:r>
            <a:r>
              <a:rPr lang="en-CA" sz="1000" b="1" dirty="0">
                <a:latin typeface="Arial"/>
                <a:ea typeface="Calibri"/>
                <a:cs typeface="Times New Roman"/>
              </a:rPr>
              <a:t> </a:t>
            </a:r>
            <a:r>
              <a:rPr lang="en-CA" sz="1000" dirty="0">
                <a:latin typeface="Arial"/>
                <a:ea typeface="Calibri"/>
                <a:cs typeface="Segoe UI"/>
              </a:rPr>
              <a:t>virtual machines to complete this demonstration. They should be running after the </a:t>
            </a:r>
            <a:r>
              <a:rPr lang="en-CA" sz="1000" dirty="0">
                <a:latin typeface="Arial"/>
                <a:ea typeface="Calibri"/>
                <a:cs typeface="Times New Roman"/>
              </a:rPr>
              <a:t>previous </a:t>
            </a:r>
            <a:r>
              <a:rPr lang="en-CA" sz="1000" dirty="0">
                <a:latin typeface="Arial"/>
                <a:ea typeface="Calibri"/>
                <a:cs typeface="Segoe UI"/>
              </a:rPr>
              <a:t>demonstration.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Start both the </a:t>
            </a:r>
            <a:r>
              <a:rPr lang="en-CA" sz="1000" dirty="0">
                <a:latin typeface="Arial"/>
                <a:ea typeface="Calibri"/>
                <a:cs typeface="Times New Roman"/>
              </a:rPr>
              <a:t>20410D‑LON‑CL1</a:t>
            </a:r>
            <a:r>
              <a:rPr lang="en-CA" sz="1000" dirty="0">
                <a:latin typeface="Arial"/>
                <a:ea typeface="Calibri"/>
                <a:cs typeface="Segoe UI"/>
              </a:rPr>
              <a:t> and the </a:t>
            </a:r>
            <a:r>
              <a:rPr lang="en-CA" sz="1000" dirty="0">
                <a:latin typeface="Arial"/>
                <a:ea typeface="Calibri"/>
                <a:cs typeface="Times New Roman"/>
              </a:rPr>
              <a:t>20410D‑LON‑CL2</a:t>
            </a:r>
            <a:r>
              <a:rPr lang="en-CA" sz="1000" dirty="0">
                <a:latin typeface="Arial"/>
                <a:ea typeface="Calibri"/>
                <a:cs typeface="Segoe UI"/>
              </a:rPr>
              <a:t> virtual machines.</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Demonstration Steps</a:t>
            </a:r>
            <a:endParaRPr lang="en-CA" sz="1000" dirty="0">
              <a:latin typeface="Arial"/>
              <a:ea typeface="Calibri"/>
              <a:cs typeface="Times New Roman"/>
            </a:endParaRPr>
          </a:p>
          <a:p>
            <a:pPr>
              <a:lnSpc>
                <a:spcPts val="1300"/>
              </a:lnSpc>
              <a:spcBef>
                <a:spcPts val="900"/>
              </a:spcBef>
              <a:spcAft>
                <a:spcPts val="300"/>
              </a:spcAft>
            </a:pPr>
            <a:r>
              <a:rPr lang="en-US" sz="1000" b="1" dirty="0" smtClean="0">
                <a:effectLst/>
                <a:latin typeface="Arial"/>
                <a:ea typeface="Times New Roman"/>
                <a:cs typeface="Segoe UI"/>
              </a:rPr>
              <a:t>Install the Work Folders role service</a:t>
            </a:r>
            <a:endParaRPr lang="en-CA" sz="1000" b="1" dirty="0" smtClean="0">
              <a:effectLst/>
              <a:latin typeface="Arial"/>
              <a:ea typeface="Times New Roman"/>
              <a:cs typeface="Segoe UI"/>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On LON‑SVR1, in Server Manager click </a:t>
            </a:r>
            <a:r>
              <a:rPr lang="en-US" sz="1000" b="1" dirty="0" smtClean="0">
                <a:effectLst/>
                <a:latin typeface="Arial"/>
                <a:ea typeface="Times New Roman"/>
                <a:cs typeface="Times New Roman"/>
              </a:rPr>
              <a:t>Add roles and features</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In the Add Roles and Features Wizard, click </a:t>
            </a:r>
            <a:r>
              <a:rPr lang="en-US" sz="1000" b="1" dirty="0" smtClean="0">
                <a:effectLst/>
                <a:latin typeface="Arial"/>
                <a:ea typeface="Times New Roman"/>
                <a:cs typeface="Times New Roman"/>
              </a:rPr>
              <a:t>Next</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On the </a:t>
            </a:r>
            <a:r>
              <a:rPr lang="en-US" sz="1000" b="1" dirty="0" smtClean="0">
                <a:effectLst/>
                <a:latin typeface="Arial"/>
                <a:ea typeface="Times New Roman"/>
                <a:cs typeface="Times New Roman"/>
              </a:rPr>
              <a:t>Select installation type</a:t>
            </a:r>
            <a:r>
              <a:rPr lang="en-US" sz="1000" dirty="0" smtClean="0">
                <a:effectLst/>
                <a:latin typeface="Arial"/>
                <a:ea typeface="Times New Roman"/>
                <a:cs typeface="Times New Roman"/>
              </a:rPr>
              <a:t> page, click </a:t>
            </a:r>
            <a:r>
              <a:rPr lang="en-US" sz="1000" b="1" dirty="0" smtClean="0">
                <a:effectLst/>
                <a:latin typeface="Arial"/>
                <a:ea typeface="Times New Roman"/>
                <a:cs typeface="Times New Roman"/>
              </a:rPr>
              <a:t>Next</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On the </a:t>
            </a:r>
            <a:r>
              <a:rPr lang="en-US" sz="1000" b="1" dirty="0" smtClean="0">
                <a:effectLst/>
                <a:latin typeface="Arial"/>
                <a:ea typeface="Times New Roman"/>
                <a:cs typeface="Times New Roman"/>
              </a:rPr>
              <a:t>Select destination server</a:t>
            </a:r>
            <a:r>
              <a:rPr lang="en-US" sz="1000" dirty="0" smtClean="0">
                <a:effectLst/>
                <a:latin typeface="Arial"/>
                <a:ea typeface="Times New Roman"/>
                <a:cs typeface="Times New Roman"/>
              </a:rPr>
              <a:t> page, click </a:t>
            </a:r>
            <a:r>
              <a:rPr lang="en-US" sz="1000" b="1" dirty="0" smtClean="0">
                <a:effectLst/>
                <a:latin typeface="Arial"/>
                <a:ea typeface="Times New Roman"/>
                <a:cs typeface="Times New Roman"/>
              </a:rPr>
              <a:t>Next</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On the </a:t>
            </a:r>
            <a:r>
              <a:rPr lang="en-US" sz="1000" b="1" dirty="0" smtClean="0">
                <a:effectLst/>
                <a:latin typeface="Arial"/>
                <a:ea typeface="Times New Roman"/>
                <a:cs typeface="Times New Roman"/>
              </a:rPr>
              <a:t>Select server roles</a:t>
            </a:r>
            <a:r>
              <a:rPr lang="en-US" sz="1000" dirty="0" smtClean="0">
                <a:effectLst/>
                <a:latin typeface="Arial"/>
                <a:ea typeface="Times New Roman"/>
                <a:cs typeface="Times New Roman"/>
              </a:rPr>
              <a:t> page, expand </a:t>
            </a:r>
            <a:r>
              <a:rPr lang="en-US" sz="1000" b="1" dirty="0" smtClean="0">
                <a:effectLst/>
                <a:latin typeface="Arial"/>
                <a:ea typeface="Times New Roman"/>
                <a:cs typeface="Times New Roman"/>
              </a:rPr>
              <a:t>File and Storage Services (2 of 12 installed)</a:t>
            </a:r>
            <a:r>
              <a:rPr lang="en-US" sz="1000" dirty="0" smtClean="0">
                <a:effectLst/>
                <a:latin typeface="Arial"/>
                <a:ea typeface="Times New Roman"/>
                <a:cs typeface="Times New Roman"/>
              </a:rPr>
              <a:t>, and then expand </a:t>
            </a:r>
            <a:r>
              <a:rPr lang="en-US" sz="1000" b="1" dirty="0" smtClean="0">
                <a:effectLst/>
                <a:latin typeface="Arial"/>
                <a:ea typeface="Times New Roman"/>
                <a:cs typeface="Times New Roman"/>
              </a:rPr>
              <a:t>File and iSCSI Services (1 of 11 installed)</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Select </a:t>
            </a:r>
            <a:r>
              <a:rPr lang="en-US" sz="1000" b="1" dirty="0" smtClean="0">
                <a:effectLst/>
                <a:latin typeface="Arial"/>
                <a:ea typeface="Times New Roman"/>
                <a:cs typeface="Times New Roman"/>
              </a:rPr>
              <a:t>Work Folders</a:t>
            </a:r>
            <a:r>
              <a:rPr lang="en-US" sz="1000" dirty="0" smtClean="0">
                <a:effectLst/>
                <a:latin typeface="Arial"/>
                <a:ea typeface="Times New Roman"/>
                <a:cs typeface="Times New Roman"/>
              </a:rPr>
              <a:t>, click </a:t>
            </a:r>
            <a:r>
              <a:rPr lang="en-US" sz="1000" b="1" dirty="0" smtClean="0">
                <a:effectLst/>
                <a:latin typeface="Arial"/>
                <a:ea typeface="Times New Roman"/>
                <a:cs typeface="Times New Roman"/>
              </a:rPr>
              <a:t>Add Features</a:t>
            </a:r>
            <a:r>
              <a:rPr lang="en-US" sz="1000" dirty="0" smtClean="0">
                <a:effectLst/>
                <a:latin typeface="Arial"/>
                <a:ea typeface="Times New Roman"/>
                <a:cs typeface="Times New Roman"/>
              </a:rPr>
              <a:t>, and then click </a:t>
            </a:r>
            <a:r>
              <a:rPr lang="en-US" sz="1000" b="1" dirty="0" smtClean="0">
                <a:effectLst/>
                <a:latin typeface="Arial"/>
                <a:ea typeface="Times New Roman"/>
                <a:cs typeface="Times New Roman"/>
              </a:rPr>
              <a:t>Next</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On the </a:t>
            </a:r>
            <a:r>
              <a:rPr lang="en-US" sz="1000" b="1" dirty="0" smtClean="0">
                <a:effectLst/>
                <a:latin typeface="Arial"/>
                <a:ea typeface="Times New Roman"/>
                <a:cs typeface="Times New Roman"/>
              </a:rPr>
              <a:t>Select features</a:t>
            </a:r>
            <a:r>
              <a:rPr lang="en-US" sz="1000" dirty="0" smtClean="0">
                <a:effectLst/>
                <a:latin typeface="Arial"/>
                <a:ea typeface="Times New Roman"/>
                <a:cs typeface="Times New Roman"/>
              </a:rPr>
              <a:t> page, click </a:t>
            </a:r>
            <a:r>
              <a:rPr lang="en-US" sz="1000" b="1" dirty="0" smtClean="0">
                <a:effectLst/>
                <a:latin typeface="Arial"/>
                <a:ea typeface="Times New Roman"/>
                <a:cs typeface="Times New Roman"/>
              </a:rPr>
              <a:t>Next</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On the </a:t>
            </a:r>
            <a:r>
              <a:rPr lang="en-US" sz="1000" b="1" dirty="0" smtClean="0">
                <a:effectLst/>
                <a:latin typeface="Arial"/>
                <a:ea typeface="Times New Roman"/>
                <a:cs typeface="Times New Roman"/>
              </a:rPr>
              <a:t>Confirm installation selections</a:t>
            </a:r>
            <a:r>
              <a:rPr lang="en-US" sz="1000" dirty="0" smtClean="0">
                <a:effectLst/>
                <a:latin typeface="Arial"/>
                <a:ea typeface="Times New Roman"/>
                <a:cs typeface="Times New Roman"/>
              </a:rPr>
              <a:t> page, click </a:t>
            </a:r>
            <a:r>
              <a:rPr lang="en-US" sz="1000" b="1" dirty="0" smtClean="0">
                <a:effectLst/>
                <a:latin typeface="Arial"/>
                <a:ea typeface="Times New Roman"/>
                <a:cs typeface="Times New Roman"/>
              </a:rPr>
              <a:t>Install</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Times New Roman"/>
              </a:rPr>
              <a:t>When the installation completes, click </a:t>
            </a:r>
            <a:r>
              <a:rPr lang="en-US" sz="1000" b="1" dirty="0" smtClean="0">
                <a:effectLst/>
                <a:latin typeface="Arial"/>
                <a:ea typeface="Times New Roman"/>
                <a:cs typeface="Times New Roman"/>
              </a:rPr>
              <a:t>Close</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a:lnSpc>
                <a:spcPts val="1300"/>
              </a:lnSpc>
              <a:spcBef>
                <a:spcPts val="900"/>
              </a:spcBef>
              <a:spcAft>
                <a:spcPts val="300"/>
              </a:spcAft>
            </a:pPr>
            <a:r>
              <a:rPr lang="en-US" sz="1000" b="1" dirty="0" smtClean="0">
                <a:effectLst/>
                <a:latin typeface="Arial"/>
                <a:ea typeface="Times New Roman"/>
                <a:cs typeface="Segoe UI"/>
              </a:rPr>
              <a:t>Create a sync share on a file server</a:t>
            </a:r>
            <a:endParaRPr lang="en-CA" sz="1000" b="1" dirty="0" smtClean="0">
              <a:effectLst/>
              <a:latin typeface="Arial"/>
              <a:ea typeface="Times New Roman"/>
              <a:cs typeface="Segoe UI"/>
            </a:endParaRPr>
          </a:p>
          <a:p>
            <a:pPr marL="342900" lvl="0" indent="-342900">
              <a:lnSpc>
                <a:spcPct val="115000"/>
              </a:lnSpc>
              <a:spcAft>
                <a:spcPts val="995"/>
              </a:spcAft>
              <a:buFont typeface="+mj-lt"/>
              <a:buAutoNum type="arabicPeriod"/>
            </a:pPr>
            <a:r>
              <a:rPr lang="en-US" sz="1000" dirty="0">
                <a:latin typeface="Arial"/>
                <a:ea typeface="Times New Roman"/>
                <a:cs typeface="Times New Roman"/>
              </a:rPr>
              <a:t>In Server Manager, click </a:t>
            </a:r>
            <a:r>
              <a:rPr lang="en-US" sz="1000" b="1" dirty="0">
                <a:latin typeface="Arial"/>
                <a:ea typeface="Times New Roman"/>
                <a:cs typeface="Times New Roman"/>
              </a:rPr>
              <a:t>File and Storage Services</a:t>
            </a:r>
            <a:r>
              <a:rPr lang="en-US" sz="1000" dirty="0">
                <a:latin typeface="Arial"/>
                <a:ea typeface="Times New Roman"/>
                <a:cs typeface="Times New Roman"/>
              </a:rPr>
              <a:t>, and then </a:t>
            </a:r>
            <a:r>
              <a:rPr lang="en-US" sz="1000" dirty="0">
                <a:solidFill>
                  <a:srgbClr val="000000"/>
                </a:solidFill>
                <a:latin typeface="Arial"/>
                <a:ea typeface="Times New Roman"/>
                <a:cs typeface="Times New Roman"/>
              </a:rPr>
              <a:t>click </a:t>
            </a:r>
            <a:r>
              <a:rPr lang="en-US" sz="1000" b="1" dirty="0">
                <a:solidFill>
                  <a:prstClr val="black"/>
                </a:solidFill>
                <a:latin typeface="Arial"/>
                <a:ea typeface="Times New Roman"/>
                <a:cs typeface="Times New Roman"/>
              </a:rPr>
              <a:t>Work Folders</a:t>
            </a:r>
            <a:r>
              <a:rPr lang="en-US" sz="1000" dirty="0">
                <a:solidFill>
                  <a:srgbClr val="000000"/>
                </a:solidFill>
                <a:latin typeface="Arial"/>
                <a:ea typeface="Times New Roman"/>
                <a:cs typeface="Times New Roman"/>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srgbClr val="000000"/>
                </a:solidFill>
                <a:latin typeface="Arial"/>
                <a:ea typeface="Times New Roman"/>
                <a:cs typeface="Times New Roman"/>
              </a:rPr>
              <a:t>In the details pane, click the </a:t>
            </a:r>
            <a:r>
              <a:rPr lang="en-US" sz="1000" b="1" dirty="0">
                <a:solidFill>
                  <a:prstClr val="black"/>
                </a:solidFill>
                <a:latin typeface="Arial"/>
                <a:ea typeface="Times New Roman"/>
                <a:cs typeface="Times New Roman"/>
              </a:rPr>
              <a:t>Tasks</a:t>
            </a:r>
            <a:r>
              <a:rPr lang="en-US" sz="1000" dirty="0">
                <a:solidFill>
                  <a:srgbClr val="000000"/>
                </a:solidFill>
                <a:latin typeface="Arial"/>
                <a:ea typeface="Times New Roman"/>
                <a:cs typeface="Times New Roman"/>
              </a:rPr>
              <a:t> drop-down arrow, and then click </a:t>
            </a:r>
            <a:r>
              <a:rPr lang="en-US" sz="1000" b="1" dirty="0">
                <a:solidFill>
                  <a:prstClr val="black"/>
                </a:solidFill>
                <a:latin typeface="Arial"/>
                <a:ea typeface="Times New Roman"/>
                <a:cs typeface="Times New Roman"/>
              </a:rPr>
              <a:t>New Sync Share</a:t>
            </a:r>
            <a:r>
              <a:rPr lang="en-US" sz="1000" dirty="0">
                <a:solidFill>
                  <a:srgbClr val="000000"/>
                </a:solidFill>
                <a:latin typeface="Arial"/>
                <a:ea typeface="Times New Roman"/>
                <a:cs typeface="Times New Roman"/>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srgbClr val="000000"/>
                </a:solidFill>
                <a:latin typeface="Arial"/>
                <a:ea typeface="Times New Roman"/>
                <a:cs typeface="Times New Roman"/>
              </a:rPr>
              <a:t>In the New Sync Share Wizard, click </a:t>
            </a:r>
            <a:r>
              <a:rPr lang="en-US" sz="1000" b="1" dirty="0">
                <a:solidFill>
                  <a:prstClr val="black"/>
                </a:solidFill>
                <a:latin typeface="Arial"/>
                <a:ea typeface="Times New Roman"/>
                <a:cs typeface="Times New Roman"/>
              </a:rPr>
              <a:t>Next</a:t>
            </a:r>
            <a:r>
              <a:rPr lang="en-US" sz="1000" dirty="0">
                <a:solidFill>
                  <a:srgbClr val="000000"/>
                </a:solidFill>
                <a:latin typeface="Arial"/>
                <a:ea typeface="Times New Roman"/>
                <a:cs typeface="Times New Roman"/>
              </a:rPr>
              <a:t>.</a:t>
            </a:r>
            <a:endParaRPr lang="en-CA" sz="1000" dirty="0">
              <a:solidFill>
                <a:prstClr val="black"/>
              </a:solidFill>
              <a:latin typeface="Arial"/>
              <a:ea typeface="Times New Roman"/>
              <a:cs typeface="Times New Roman"/>
            </a:endParaRPr>
          </a:p>
          <a:p>
            <a:pPr lvl="0">
              <a:lnSpc>
                <a:spcPct val="115000"/>
              </a:lnSpc>
              <a:spcAft>
                <a:spcPts val="995"/>
              </a:spcAft>
            </a:pP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23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Tree>
    <p:extLst>
      <p:ext uri="{BB962C8B-B14F-4D97-AF65-F5344CB8AC3E}">
        <p14:creationId xmlns:p14="http://schemas.microsoft.com/office/powerpoint/2010/main" xmlns="" val="12861080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42963"/>
            <a:ext cx="6153912" cy="6777509"/>
          </a:xfrm>
        </p:spPr>
        <p:txBody>
          <a:bodyPr>
            <a:noAutofit/>
          </a:bodyPr>
          <a:lstStyle/>
          <a:p>
            <a:pPr marL="342900" lvl="0" indent="-342900">
              <a:lnSpc>
                <a:spcPct val="115000"/>
              </a:lnSpc>
              <a:spcAft>
                <a:spcPts val="995"/>
              </a:spcAft>
              <a:buFont typeface="+mj-lt"/>
              <a:buAutoNum type="arabicPeriod" startAt="4"/>
            </a:pPr>
            <a:r>
              <a:rPr lang="en-US" sz="1000" dirty="0" smtClean="0">
                <a:latin typeface="Arial"/>
                <a:ea typeface="Times New Roman"/>
                <a:cs typeface="Times New Roman"/>
              </a:rPr>
              <a:t>On </a:t>
            </a:r>
            <a:r>
              <a:rPr lang="en-US" sz="1000" dirty="0">
                <a:latin typeface="Arial"/>
                <a:ea typeface="Times New Roman"/>
                <a:cs typeface="Times New Roman"/>
              </a:rPr>
              <a:t>the </a:t>
            </a:r>
            <a:r>
              <a:rPr lang="en-US" sz="1000" b="1" dirty="0">
                <a:latin typeface="Arial"/>
                <a:ea typeface="Times New Roman"/>
                <a:cs typeface="Times New Roman"/>
              </a:rPr>
              <a:t>Select the server and path</a:t>
            </a:r>
            <a:r>
              <a:rPr lang="en-US" sz="1000" dirty="0">
                <a:latin typeface="Arial"/>
                <a:ea typeface="Times New Roman"/>
                <a:cs typeface="Times New Roman"/>
              </a:rPr>
              <a:t> page, ensure that </a:t>
            </a:r>
            <a:r>
              <a:rPr lang="en-US" sz="1000" b="1" dirty="0">
                <a:latin typeface="Arial"/>
                <a:ea typeface="Times New Roman"/>
                <a:cs typeface="Times New Roman"/>
              </a:rPr>
              <a:t>LON‑SVR1</a:t>
            </a:r>
            <a:r>
              <a:rPr lang="en-US" sz="1000" dirty="0">
                <a:latin typeface="Arial"/>
                <a:ea typeface="Times New Roman"/>
                <a:cs typeface="Times New Roman"/>
              </a:rPr>
              <a:t> is selected, click </a:t>
            </a:r>
            <a:r>
              <a:rPr lang="en-US" sz="1000" b="1" dirty="0">
                <a:latin typeface="Arial"/>
                <a:ea typeface="Times New Roman"/>
                <a:cs typeface="Times New Roman"/>
              </a:rPr>
              <a:t>Select by file share</a:t>
            </a:r>
            <a:r>
              <a:rPr lang="en-US" sz="1000" dirty="0">
                <a:latin typeface="Arial"/>
                <a:ea typeface="Times New Roman"/>
                <a:cs typeface="Times New Roman"/>
              </a:rPr>
              <a:t>, and then click </a:t>
            </a:r>
            <a:r>
              <a:rPr lang="en-US" sz="1000" b="1" dirty="0">
                <a:latin typeface="Arial"/>
                <a:ea typeface="Times New Roman"/>
                <a:cs typeface="Times New Roman"/>
              </a:rPr>
              <a:t>Next</a:t>
            </a:r>
            <a:r>
              <a:rPr lang="en-US" sz="1000" dirty="0">
                <a:latin typeface="Arial"/>
                <a:ea typeface="Times New Roman"/>
                <a:cs typeface="Times New Roman"/>
              </a:rPr>
              <a:t>.</a:t>
            </a:r>
            <a:endParaRPr lang="en-CA" sz="1000" dirty="0">
              <a:latin typeface="Arial"/>
              <a:ea typeface="Times New Roman"/>
              <a:cs typeface="Times New Roman"/>
            </a:endParaRPr>
          </a:p>
          <a:p>
            <a:pPr marL="342000" lvl="0">
              <a:lnSpc>
                <a:spcPct val="115000"/>
              </a:lnSpc>
              <a:spcAft>
                <a:spcPts val="995"/>
              </a:spcAft>
            </a:pPr>
            <a:r>
              <a:rPr lang="en-US" sz="1000" dirty="0">
                <a:latin typeface="Arial"/>
                <a:ea typeface="Times New Roman"/>
                <a:cs typeface="Times New Roman"/>
              </a:rPr>
              <a:t>This procedure uses the shared folder Data which was created in the demonstration "Creating and Configuring a Shared Folder".</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startAt="5"/>
            </a:pPr>
            <a:r>
              <a:rPr lang="en-US" sz="1000" dirty="0">
                <a:latin typeface="Arial"/>
                <a:ea typeface="Times New Roman"/>
                <a:cs typeface="Times New Roman"/>
              </a:rPr>
              <a:t>On the </a:t>
            </a:r>
            <a:r>
              <a:rPr lang="en-US" sz="1000" b="1" dirty="0">
                <a:latin typeface="Arial"/>
                <a:ea typeface="Times New Roman"/>
                <a:cs typeface="Times New Roman"/>
              </a:rPr>
              <a:t>Specify the structure for user folders</a:t>
            </a:r>
            <a:r>
              <a:rPr lang="en-US" sz="1000" dirty="0">
                <a:latin typeface="Arial"/>
                <a:ea typeface="Times New Roman"/>
                <a:cs typeface="Times New Roman"/>
              </a:rPr>
              <a:t> page, click </a:t>
            </a:r>
            <a:r>
              <a:rPr lang="en-US" sz="1000" b="1" dirty="0">
                <a:latin typeface="Arial"/>
                <a:ea typeface="Times New Roman"/>
                <a:cs typeface="Times New Roman"/>
              </a:rPr>
              <a:t>Next</a:t>
            </a:r>
            <a:r>
              <a:rPr lang="en-US" sz="1000" dirty="0">
                <a:latin typeface="Arial"/>
                <a:ea typeface="Times New Roman"/>
                <a:cs typeface="Times New Roman"/>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startAt="5"/>
            </a:pPr>
            <a:r>
              <a:rPr lang="en-US" sz="1000" dirty="0">
                <a:latin typeface="Arial"/>
                <a:ea typeface="Times New Roman"/>
                <a:cs typeface="Times New Roman"/>
              </a:rPr>
              <a:t>On the </a:t>
            </a:r>
            <a:r>
              <a:rPr lang="en-US" sz="1000" b="1" dirty="0">
                <a:latin typeface="Arial"/>
                <a:ea typeface="Times New Roman"/>
                <a:cs typeface="Times New Roman"/>
              </a:rPr>
              <a:t>Enter the sync share name</a:t>
            </a:r>
            <a:r>
              <a:rPr lang="en-US" sz="1000" dirty="0">
                <a:latin typeface="Arial"/>
                <a:ea typeface="Times New Roman"/>
                <a:cs typeface="Times New Roman"/>
              </a:rPr>
              <a:t> page, type </a:t>
            </a:r>
            <a:r>
              <a:rPr lang="en-US" sz="1000" b="1" dirty="0">
                <a:latin typeface="Arial"/>
                <a:ea typeface="Times New Roman"/>
                <a:cs typeface="Times New Roman"/>
              </a:rPr>
              <a:t>WorkFolders</a:t>
            </a:r>
            <a:r>
              <a:rPr lang="en-US" sz="1000" dirty="0">
                <a:latin typeface="Arial"/>
                <a:ea typeface="Times New Roman"/>
                <a:cs typeface="Times New Roman"/>
              </a:rPr>
              <a:t>, and then click </a:t>
            </a:r>
            <a:r>
              <a:rPr lang="en-US" sz="1000" b="1" dirty="0">
                <a:latin typeface="Arial"/>
                <a:ea typeface="Times New Roman"/>
                <a:cs typeface="Times New Roman"/>
              </a:rPr>
              <a:t>Next</a:t>
            </a:r>
            <a:r>
              <a:rPr lang="en-US" sz="1000" dirty="0">
                <a:latin typeface="Arial"/>
                <a:ea typeface="Times New Roman"/>
                <a:cs typeface="Times New Roman"/>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startAt="5"/>
            </a:pPr>
            <a:r>
              <a:rPr lang="en-US" sz="1000" dirty="0">
                <a:latin typeface="Arial"/>
                <a:ea typeface="Times New Roman"/>
                <a:cs typeface="Times New Roman"/>
              </a:rPr>
              <a:t>On the </a:t>
            </a:r>
            <a:r>
              <a:rPr lang="en-US" sz="1000" b="1" dirty="0">
                <a:latin typeface="Arial"/>
                <a:ea typeface="Times New Roman"/>
                <a:cs typeface="Times New Roman"/>
              </a:rPr>
              <a:t>Grant sync access to groups</a:t>
            </a:r>
            <a:r>
              <a:rPr lang="en-US" sz="1000" dirty="0">
                <a:latin typeface="Arial"/>
                <a:ea typeface="Times New Roman"/>
                <a:cs typeface="Times New Roman"/>
              </a:rPr>
              <a:t> page click </a:t>
            </a:r>
            <a:r>
              <a:rPr lang="en-US" sz="1000" b="1" dirty="0">
                <a:latin typeface="Arial"/>
                <a:ea typeface="Times New Roman"/>
                <a:cs typeface="Times New Roman"/>
              </a:rPr>
              <a:t>Add</a:t>
            </a:r>
            <a:r>
              <a:rPr lang="en-US" sz="1000" dirty="0">
                <a:latin typeface="Arial"/>
                <a:ea typeface="Times New Roman"/>
                <a:cs typeface="Times New Roman"/>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startAt="5"/>
            </a:pPr>
            <a:r>
              <a:rPr lang="en-US" sz="1000" dirty="0">
                <a:latin typeface="Arial"/>
                <a:ea typeface="Times New Roman"/>
                <a:cs typeface="Times New Roman"/>
              </a:rPr>
              <a:t>In the </a:t>
            </a:r>
            <a:r>
              <a:rPr lang="en-US" sz="1000" b="1" dirty="0">
                <a:latin typeface="Arial"/>
                <a:ea typeface="Times New Roman"/>
                <a:cs typeface="Times New Roman"/>
              </a:rPr>
              <a:t>Select User or Group</a:t>
            </a:r>
            <a:r>
              <a:rPr lang="en-US" sz="1000" dirty="0">
                <a:latin typeface="Arial"/>
                <a:ea typeface="Times New Roman"/>
                <a:cs typeface="Times New Roman"/>
              </a:rPr>
              <a:t> dialog box, type </a:t>
            </a:r>
            <a:r>
              <a:rPr lang="en-US" sz="1000" b="1" dirty="0">
                <a:latin typeface="Arial"/>
                <a:ea typeface="Times New Roman"/>
                <a:cs typeface="Times New Roman"/>
              </a:rPr>
              <a:t>Domain Users</a:t>
            </a:r>
            <a:r>
              <a:rPr lang="en-US" sz="1000" dirty="0">
                <a:latin typeface="Arial"/>
                <a:ea typeface="Times New Roman"/>
                <a:cs typeface="Times New Roman"/>
              </a:rPr>
              <a:t>, click </a:t>
            </a:r>
            <a:r>
              <a:rPr lang="en-US" sz="1000" b="1" dirty="0">
                <a:latin typeface="Arial"/>
                <a:ea typeface="Times New Roman"/>
                <a:cs typeface="Times New Roman"/>
              </a:rPr>
              <a:t>OK</a:t>
            </a:r>
            <a:r>
              <a:rPr lang="en-US" sz="1000" dirty="0">
                <a:latin typeface="Arial"/>
                <a:ea typeface="Times New Roman"/>
                <a:cs typeface="Times New Roman"/>
              </a:rPr>
              <a:t>, and then click </a:t>
            </a:r>
            <a:r>
              <a:rPr lang="en-US" sz="1000" b="1" dirty="0">
                <a:latin typeface="Arial"/>
                <a:ea typeface="Times New Roman"/>
                <a:cs typeface="Times New Roman"/>
              </a:rPr>
              <a:t>Next</a:t>
            </a:r>
            <a:r>
              <a:rPr lang="en-US" sz="1000" dirty="0">
                <a:latin typeface="Arial"/>
                <a:ea typeface="Times New Roman"/>
                <a:cs typeface="Times New Roman"/>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startAt="5"/>
            </a:pPr>
            <a:r>
              <a:rPr lang="en-US" sz="1000" dirty="0">
                <a:latin typeface="Arial"/>
                <a:ea typeface="Times New Roman"/>
                <a:cs typeface="Times New Roman"/>
              </a:rPr>
              <a:t>On the </a:t>
            </a:r>
            <a:r>
              <a:rPr lang="en-US" sz="1000" b="1" dirty="0">
                <a:latin typeface="Arial"/>
                <a:ea typeface="Times New Roman"/>
                <a:cs typeface="Times New Roman"/>
              </a:rPr>
              <a:t>Specify device policies</a:t>
            </a:r>
            <a:r>
              <a:rPr lang="en-US" sz="1000" dirty="0">
                <a:latin typeface="Arial"/>
                <a:ea typeface="Times New Roman"/>
                <a:cs typeface="Times New Roman"/>
              </a:rPr>
              <a:t> page click </a:t>
            </a:r>
            <a:r>
              <a:rPr lang="en-US" sz="1000" b="1" dirty="0">
                <a:latin typeface="Arial"/>
                <a:ea typeface="Times New Roman"/>
                <a:cs typeface="Times New Roman"/>
              </a:rPr>
              <a:t>Next</a:t>
            </a:r>
            <a:r>
              <a:rPr lang="en-US" sz="1000" dirty="0">
                <a:latin typeface="Arial"/>
                <a:ea typeface="Times New Roman"/>
                <a:cs typeface="Times New Roman"/>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startAt="5"/>
            </a:pPr>
            <a:r>
              <a:rPr lang="en-US" sz="1000" dirty="0">
                <a:latin typeface="Arial"/>
                <a:ea typeface="Times New Roman"/>
                <a:cs typeface="Times New Roman"/>
              </a:rPr>
              <a:t>On the </a:t>
            </a:r>
            <a:r>
              <a:rPr lang="en-US" sz="1000" b="1" dirty="0">
                <a:latin typeface="Arial"/>
                <a:ea typeface="Times New Roman"/>
                <a:cs typeface="Times New Roman"/>
              </a:rPr>
              <a:t>Confirm selections</a:t>
            </a:r>
            <a:r>
              <a:rPr lang="en-US" sz="1000" dirty="0">
                <a:latin typeface="Arial"/>
                <a:ea typeface="Times New Roman"/>
                <a:cs typeface="Times New Roman"/>
              </a:rPr>
              <a:t> page, click </a:t>
            </a:r>
            <a:r>
              <a:rPr lang="en-US" sz="1000" b="1" dirty="0">
                <a:latin typeface="Arial"/>
                <a:ea typeface="Times New Roman"/>
                <a:cs typeface="Times New Roman"/>
              </a:rPr>
              <a:t>Create</a:t>
            </a:r>
            <a:r>
              <a:rPr lang="en-US" sz="1000" dirty="0">
                <a:latin typeface="Arial"/>
                <a:ea typeface="Times New Roman"/>
                <a:cs typeface="Times New Roman"/>
              </a:rPr>
              <a:t>, and then click </a:t>
            </a:r>
            <a:r>
              <a:rPr lang="en-US" sz="1000" b="1" dirty="0">
                <a:latin typeface="Arial"/>
                <a:ea typeface="Times New Roman"/>
                <a:cs typeface="Times New Roman"/>
              </a:rPr>
              <a:t>Close</a:t>
            </a:r>
            <a:r>
              <a:rPr lang="en-US" sz="1000" dirty="0">
                <a:latin typeface="Arial"/>
                <a:ea typeface="Times New Roman"/>
                <a:cs typeface="Times New Roman"/>
              </a:rPr>
              <a:t> when complete.</a:t>
            </a:r>
            <a:endParaRPr lang="en-CA" sz="1000" dirty="0">
              <a:latin typeface="Arial"/>
              <a:ea typeface="Times New Roman"/>
              <a:cs typeface="Times New Roman"/>
            </a:endParaRPr>
          </a:p>
          <a:p>
            <a:pPr lvl="0">
              <a:lnSpc>
                <a:spcPts val="1300"/>
              </a:lnSpc>
              <a:spcBef>
                <a:spcPts val="900"/>
              </a:spcBef>
              <a:spcAft>
                <a:spcPts val="300"/>
              </a:spcAft>
            </a:pPr>
            <a:r>
              <a:rPr lang="en-US" sz="1000" b="1" dirty="0">
                <a:latin typeface="Arial"/>
                <a:ea typeface="Times New Roman"/>
                <a:cs typeface="Segoe UI"/>
              </a:rPr>
              <a:t>Configure Work Folder access on a Windows 8.1 client</a:t>
            </a:r>
            <a:endParaRPr lang="en-CA" sz="1000" b="1" dirty="0">
              <a:latin typeface="Arial"/>
              <a:ea typeface="Times New Roman"/>
              <a:cs typeface="Segoe UI"/>
            </a:endParaRPr>
          </a:p>
          <a:p>
            <a:pPr marL="342900" lvl="0" indent="-342900">
              <a:lnSpc>
                <a:spcPct val="115000"/>
              </a:lnSpc>
              <a:spcAft>
                <a:spcPts val="995"/>
              </a:spcAft>
              <a:buFont typeface="+mj-lt"/>
              <a:buAutoNum type="arabicPeriod"/>
            </a:pPr>
            <a:r>
              <a:rPr lang="en-US" sz="1000" dirty="0">
                <a:latin typeface="Arial"/>
                <a:ea typeface="Times New Roman"/>
                <a:cs typeface="Times New Roman"/>
              </a:rPr>
              <a:t>Sign in to </a:t>
            </a:r>
            <a:r>
              <a:rPr lang="en-US" sz="1000" b="1" dirty="0">
                <a:latin typeface="Arial"/>
                <a:ea typeface="Times New Roman"/>
                <a:cs typeface="Times New Roman"/>
              </a:rPr>
              <a:t>LON‑CL1</a:t>
            </a:r>
            <a:r>
              <a:rPr lang="en-US" sz="1000" dirty="0">
                <a:latin typeface="Arial"/>
                <a:ea typeface="Times New Roman"/>
                <a:cs typeface="Times New Roman"/>
              </a:rPr>
              <a:t> as </a:t>
            </a:r>
            <a:r>
              <a:rPr lang="en-US" sz="1000" b="1" dirty="0">
                <a:latin typeface="Arial"/>
                <a:ea typeface="Times New Roman"/>
                <a:cs typeface="Times New Roman"/>
              </a:rPr>
              <a:t>Adatum\Administrator</a:t>
            </a:r>
            <a:r>
              <a:rPr lang="en-US" sz="1000" dirty="0">
                <a:latin typeface="Arial"/>
                <a:ea typeface="Times New Roman"/>
                <a:cs typeface="Times New Roman"/>
              </a:rPr>
              <a:t> with the password </a:t>
            </a:r>
            <a:r>
              <a:rPr lang="en-US" sz="1000" b="1" dirty="0">
                <a:latin typeface="Arial"/>
                <a:ea typeface="Times New Roman"/>
                <a:cs typeface="Times New Roman"/>
              </a:rPr>
              <a:t>Pa$$w0rd</a:t>
            </a:r>
            <a:r>
              <a:rPr lang="en-US" sz="1000" dirty="0">
                <a:latin typeface="Arial"/>
                <a:ea typeface="Times New Roman"/>
                <a:cs typeface="Times New Roman"/>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a:pPr>
            <a:r>
              <a:rPr lang="en-US" sz="1000" dirty="0">
                <a:latin typeface="Arial"/>
                <a:ea typeface="Times New Roman"/>
                <a:cs typeface="Times New Roman"/>
              </a:rPr>
              <a:t>On the </a:t>
            </a:r>
            <a:r>
              <a:rPr lang="en-US" sz="1000" b="1" dirty="0">
                <a:latin typeface="Arial"/>
                <a:ea typeface="Times New Roman"/>
                <a:cs typeface="Times New Roman"/>
              </a:rPr>
              <a:t>Start</a:t>
            </a:r>
            <a:r>
              <a:rPr lang="en-US" sz="1000" dirty="0">
                <a:latin typeface="Arial"/>
                <a:ea typeface="Times New Roman"/>
                <a:cs typeface="Times New Roman"/>
              </a:rPr>
              <a:t> screen, click </a:t>
            </a:r>
            <a:r>
              <a:rPr lang="en-US" sz="1000" b="1" dirty="0">
                <a:latin typeface="Arial"/>
                <a:ea typeface="Times New Roman"/>
                <a:cs typeface="Times New Roman"/>
              </a:rPr>
              <a:t>Desktop</a:t>
            </a:r>
            <a:r>
              <a:rPr lang="en-US" sz="1000" dirty="0">
                <a:latin typeface="Arial"/>
                <a:ea typeface="Times New Roman"/>
                <a:cs typeface="Times New Roman"/>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a:pPr>
            <a:r>
              <a:rPr lang="en-US" sz="1000" dirty="0">
                <a:latin typeface="Arial"/>
                <a:ea typeface="Times New Roman"/>
                <a:cs typeface="Times New Roman"/>
              </a:rPr>
              <a:t>On the taskbar, click the </a:t>
            </a:r>
            <a:r>
              <a:rPr lang="en-US" sz="1000" b="1" dirty="0">
                <a:latin typeface="Arial"/>
                <a:ea typeface="Times New Roman"/>
                <a:cs typeface="Times New Roman"/>
              </a:rPr>
              <a:t>File Explorer </a:t>
            </a:r>
            <a:r>
              <a:rPr lang="en-US" sz="1000" dirty="0">
                <a:latin typeface="Arial"/>
                <a:ea typeface="Times New Roman"/>
                <a:cs typeface="Times New Roman"/>
              </a:rPr>
              <a:t>icon.</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a:pPr>
            <a:r>
              <a:rPr lang="en-US" sz="1000" dirty="0">
                <a:latin typeface="Arial"/>
                <a:ea typeface="Times New Roman"/>
                <a:cs typeface="Times New Roman"/>
              </a:rPr>
              <a:t>Navigate to </a:t>
            </a:r>
            <a:r>
              <a:rPr lang="en-US" sz="1000" b="1" dirty="0">
                <a:latin typeface="Arial"/>
                <a:ea typeface="Times New Roman"/>
                <a:cs typeface="Times New Roman"/>
              </a:rPr>
              <a:t>C:\Labfiles\Mod10</a:t>
            </a:r>
            <a:r>
              <a:rPr lang="en-US" sz="1000" dirty="0">
                <a:latin typeface="Arial"/>
                <a:ea typeface="Times New Roman"/>
                <a:cs typeface="Times New Roman"/>
              </a:rPr>
              <a:t>, and then double-click </a:t>
            </a:r>
            <a:r>
              <a:rPr lang="en-US" sz="1000" b="1" dirty="0">
                <a:latin typeface="Arial"/>
                <a:ea typeface="Times New Roman"/>
                <a:cs typeface="Times New Roman"/>
              </a:rPr>
              <a:t>WorkFolders.bat</a:t>
            </a:r>
            <a:r>
              <a:rPr lang="en-US" sz="1000" dirty="0">
                <a:latin typeface="Arial"/>
                <a:ea typeface="Times New Roman"/>
                <a:cs typeface="Times New Roman"/>
              </a:rPr>
              <a:t>.</a:t>
            </a:r>
            <a:endParaRPr lang="en-CA" sz="1000" dirty="0">
              <a:latin typeface="Arial"/>
              <a:ea typeface="Times New Roman"/>
              <a:cs typeface="Times New Roman"/>
            </a:endParaRPr>
          </a:p>
          <a:p>
            <a:pPr marL="342000" lvl="0">
              <a:lnSpc>
                <a:spcPct val="115000"/>
              </a:lnSpc>
              <a:spcAft>
                <a:spcPts val="995"/>
              </a:spcAft>
            </a:pPr>
            <a:r>
              <a:rPr lang="en-US" sz="1000" dirty="0">
                <a:latin typeface="Arial"/>
                <a:ea typeface="Times New Roman"/>
                <a:cs typeface="Times New Roman"/>
              </a:rPr>
              <a:t>This batch file adds a registry entry that allows unsecured connections to work folders.</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startAt="5"/>
            </a:pPr>
            <a:r>
              <a:rPr lang="en-US" sz="1000" dirty="0">
                <a:latin typeface="Arial"/>
                <a:ea typeface="Times New Roman"/>
                <a:cs typeface="Times New Roman"/>
              </a:rPr>
              <a:t>Close File Explorer.</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startAt="5"/>
            </a:pPr>
            <a:r>
              <a:rPr lang="en-US" sz="1000" dirty="0">
                <a:latin typeface="Arial"/>
                <a:ea typeface="Times New Roman"/>
                <a:cs typeface="Times New Roman"/>
              </a:rPr>
              <a:t>In the lower-left corner of the screen, right-click </a:t>
            </a:r>
            <a:r>
              <a:rPr lang="en-US" sz="1000" b="1" dirty="0">
                <a:latin typeface="Arial"/>
                <a:ea typeface="Times New Roman"/>
                <a:cs typeface="Times New Roman"/>
              </a:rPr>
              <a:t>Start</a:t>
            </a:r>
            <a:r>
              <a:rPr lang="en-US" sz="1000" dirty="0">
                <a:latin typeface="Arial"/>
                <a:ea typeface="Times New Roman"/>
                <a:cs typeface="Times New Roman"/>
              </a:rPr>
              <a:t>, and then click </a:t>
            </a:r>
            <a:r>
              <a:rPr lang="en-US" sz="1000" b="1" dirty="0">
                <a:latin typeface="Arial"/>
                <a:ea typeface="Times New Roman"/>
                <a:cs typeface="Times New Roman"/>
              </a:rPr>
              <a:t>Control Panel</a:t>
            </a:r>
            <a:r>
              <a:rPr lang="en-US" sz="1000" dirty="0" smtClean="0">
                <a:latin typeface="Arial"/>
                <a:ea typeface="Times New Roman"/>
                <a:cs typeface="Times New Roman"/>
              </a:rPr>
              <a:t>.</a:t>
            </a:r>
          </a:p>
          <a:p>
            <a:pPr marL="342900" lvl="0" indent="-342900">
              <a:lnSpc>
                <a:spcPct val="115000"/>
              </a:lnSpc>
              <a:spcAft>
                <a:spcPts val="995"/>
              </a:spcAft>
              <a:buFont typeface="+mj-lt"/>
              <a:buAutoNum type="arabicPeriod" startAt="7"/>
            </a:pPr>
            <a:r>
              <a:rPr lang="en-US" sz="1000" dirty="0">
                <a:latin typeface="Arial"/>
                <a:ea typeface="Times New Roman"/>
                <a:cs typeface="Times New Roman"/>
              </a:rPr>
              <a:t>Click </a:t>
            </a:r>
            <a:r>
              <a:rPr lang="en-US" sz="1000" b="1" dirty="0">
                <a:latin typeface="Arial"/>
                <a:ea typeface="Times New Roman"/>
                <a:cs typeface="Times New Roman"/>
              </a:rPr>
              <a:t>System and Security</a:t>
            </a:r>
            <a:r>
              <a:rPr lang="en-US" sz="1000" dirty="0">
                <a:latin typeface="Arial"/>
                <a:ea typeface="Times New Roman"/>
                <a:cs typeface="Times New Roman"/>
              </a:rPr>
              <a:t>, and then click </a:t>
            </a:r>
            <a:r>
              <a:rPr lang="en-US" sz="1000" b="1" dirty="0">
                <a:latin typeface="Arial"/>
                <a:ea typeface="Times New Roman"/>
                <a:cs typeface="Times New Roman"/>
              </a:rPr>
              <a:t>Work Folders</a:t>
            </a:r>
            <a:r>
              <a:rPr lang="en-US" sz="1000" dirty="0">
                <a:latin typeface="Arial"/>
                <a:ea typeface="Times New Roman"/>
                <a:cs typeface="Times New Roman"/>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startAt="7"/>
            </a:pPr>
            <a:r>
              <a:rPr lang="en-US" sz="1000" dirty="0">
                <a:latin typeface="Arial"/>
                <a:ea typeface="Times New Roman"/>
                <a:cs typeface="Times New Roman"/>
              </a:rPr>
              <a:t>In the </a:t>
            </a:r>
            <a:r>
              <a:rPr lang="en-US" sz="1000" b="1" dirty="0">
                <a:latin typeface="Arial"/>
                <a:ea typeface="Times New Roman"/>
                <a:cs typeface="Times New Roman"/>
              </a:rPr>
              <a:t>Work Folders</a:t>
            </a:r>
            <a:r>
              <a:rPr lang="en-US" sz="1000" dirty="0">
                <a:latin typeface="Arial"/>
                <a:ea typeface="Times New Roman"/>
                <a:cs typeface="Times New Roman"/>
              </a:rPr>
              <a:t> dialog box, click </a:t>
            </a:r>
            <a:r>
              <a:rPr lang="en-US" sz="1000" b="1" dirty="0">
                <a:latin typeface="Arial"/>
                <a:ea typeface="Times New Roman"/>
                <a:cs typeface="Times New Roman"/>
              </a:rPr>
              <a:t>Set up Work Folders</a:t>
            </a:r>
            <a:r>
              <a:rPr lang="en-US" sz="1000" dirty="0">
                <a:latin typeface="Arial"/>
                <a:ea typeface="Times New Roman"/>
                <a:cs typeface="Times New Roman"/>
              </a:rPr>
              <a:t>, and then click </a:t>
            </a:r>
            <a:r>
              <a:rPr lang="en-US" sz="1000" b="1" dirty="0">
                <a:latin typeface="Arial"/>
                <a:ea typeface="Times New Roman"/>
                <a:cs typeface="Times New Roman"/>
              </a:rPr>
              <a:t>Enter a Work Folders URL instead</a:t>
            </a:r>
            <a:r>
              <a:rPr lang="en-US" sz="1000" dirty="0">
                <a:latin typeface="Arial"/>
                <a:ea typeface="Times New Roman"/>
                <a:cs typeface="Times New Roman"/>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startAt="7"/>
            </a:pPr>
            <a:r>
              <a:rPr lang="en-US" sz="1000" dirty="0">
                <a:latin typeface="Arial"/>
                <a:ea typeface="Times New Roman"/>
                <a:cs typeface="Times New Roman"/>
              </a:rPr>
              <a:t>On the </a:t>
            </a:r>
            <a:r>
              <a:rPr lang="en-US" sz="1000" b="1" dirty="0">
                <a:latin typeface="Arial"/>
                <a:ea typeface="Times New Roman"/>
                <a:cs typeface="Times New Roman"/>
              </a:rPr>
              <a:t>Enter a Work Folders URL</a:t>
            </a:r>
            <a:r>
              <a:rPr lang="en-US" sz="1000" dirty="0">
                <a:latin typeface="Arial"/>
                <a:ea typeface="Times New Roman"/>
                <a:cs typeface="Times New Roman"/>
              </a:rPr>
              <a:t> page, type </a:t>
            </a:r>
            <a:r>
              <a:rPr lang="en-US" sz="1000" b="1" dirty="0">
                <a:latin typeface="Arial"/>
                <a:ea typeface="Times New Roman"/>
                <a:cs typeface="Times New Roman"/>
              </a:rPr>
              <a:t>http://lon‑svr1.adatum.com</a:t>
            </a:r>
            <a:r>
              <a:rPr lang="en-US" sz="1000" dirty="0">
                <a:latin typeface="Arial"/>
                <a:ea typeface="Times New Roman"/>
                <a:cs typeface="Times New Roman"/>
              </a:rPr>
              <a:t>, and then click </a:t>
            </a:r>
            <a:r>
              <a:rPr lang="en-US" sz="1000" b="1" dirty="0">
                <a:latin typeface="Arial"/>
                <a:ea typeface="Times New Roman"/>
                <a:cs typeface="Times New Roman"/>
              </a:rPr>
              <a:t>Next</a:t>
            </a:r>
            <a:r>
              <a:rPr lang="en-US" sz="1000" dirty="0">
                <a:latin typeface="Arial"/>
                <a:ea typeface="Times New Roman"/>
                <a:cs typeface="Times New Roman"/>
              </a:rPr>
              <a:t>.</a:t>
            </a:r>
            <a:endParaRPr lang="en-CA" sz="1000" dirty="0">
              <a:latin typeface="Arial"/>
              <a:ea typeface="Times New Roman"/>
              <a:cs typeface="Times New Roman"/>
            </a:endParaRPr>
          </a:p>
          <a:p>
            <a:pPr marL="342000" lvl="0">
              <a:lnSpc>
                <a:spcPct val="115000"/>
              </a:lnSpc>
              <a:spcAft>
                <a:spcPts val="995"/>
              </a:spcAft>
            </a:pPr>
            <a:r>
              <a:rPr lang="en-US" sz="1000" dirty="0">
                <a:latin typeface="Arial"/>
                <a:ea typeface="Times New Roman"/>
                <a:cs typeface="Times New Roman"/>
              </a:rPr>
              <a:t>Normally this requires a secure connection.</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startAt="5"/>
            </a:pPr>
            <a:endParaRPr lang="en-CA" sz="1000" dirty="0">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24</a:t>
            </a:fld>
            <a:endParaRPr lang="en-CA" dirty="0"/>
          </a:p>
        </p:txBody>
      </p:sp>
      <p:sp>
        <p:nvSpPr>
          <p:cNvPr id="5" name="TextBox 4"/>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37483671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marL="342900" lvl="0" indent="-342900">
              <a:lnSpc>
                <a:spcPct val="115000"/>
              </a:lnSpc>
              <a:spcAft>
                <a:spcPts val="995"/>
              </a:spcAft>
              <a:buFont typeface="+mj-lt"/>
              <a:buAutoNum type="arabicPeriod" startAt="10"/>
            </a:pPr>
            <a:r>
              <a:rPr lang="en-US" sz="1000" dirty="0" smtClean="0">
                <a:latin typeface="Arial"/>
                <a:ea typeface="Times New Roman"/>
                <a:cs typeface="Times New Roman"/>
              </a:rPr>
              <a:t>On </a:t>
            </a:r>
            <a:r>
              <a:rPr lang="en-US" sz="1000" dirty="0">
                <a:latin typeface="Arial"/>
                <a:ea typeface="Times New Roman"/>
                <a:cs typeface="Times New Roman"/>
              </a:rPr>
              <a:t>the </a:t>
            </a:r>
            <a:r>
              <a:rPr lang="en-US" sz="1000" b="1" dirty="0">
                <a:latin typeface="Arial"/>
                <a:ea typeface="Times New Roman"/>
                <a:cs typeface="Times New Roman"/>
              </a:rPr>
              <a:t>Introducing Work Folders </a:t>
            </a:r>
            <a:r>
              <a:rPr lang="en-US" sz="1000" dirty="0">
                <a:latin typeface="Arial"/>
                <a:ea typeface="Times New Roman"/>
                <a:cs typeface="Times New Roman"/>
              </a:rPr>
              <a:t>page, click </a:t>
            </a:r>
            <a:r>
              <a:rPr lang="en-US" sz="1000" b="1" dirty="0">
                <a:latin typeface="Arial"/>
                <a:ea typeface="Times New Roman"/>
                <a:cs typeface="Times New Roman"/>
              </a:rPr>
              <a:t>Next</a:t>
            </a:r>
            <a:r>
              <a:rPr lang="en-US" sz="1000" dirty="0">
                <a:latin typeface="Arial"/>
                <a:ea typeface="Times New Roman"/>
                <a:cs typeface="Times New Roman"/>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startAt="10"/>
            </a:pPr>
            <a:r>
              <a:rPr lang="en-US" sz="1000" dirty="0">
                <a:latin typeface="Arial"/>
                <a:ea typeface="Times New Roman"/>
                <a:cs typeface="Times New Roman"/>
              </a:rPr>
              <a:t>On the </a:t>
            </a:r>
            <a:r>
              <a:rPr lang="en-US" sz="1000" b="1" dirty="0">
                <a:latin typeface="Arial"/>
                <a:ea typeface="Times New Roman"/>
                <a:cs typeface="Times New Roman"/>
              </a:rPr>
              <a:t>Security policies</a:t>
            </a:r>
            <a:r>
              <a:rPr lang="en-US" sz="1000" dirty="0">
                <a:latin typeface="Arial"/>
                <a:ea typeface="Times New Roman"/>
                <a:cs typeface="Times New Roman"/>
              </a:rPr>
              <a:t> page, select the check box to accept the policies, and then click </a:t>
            </a:r>
            <a:r>
              <a:rPr lang="en-US" sz="1000" b="1" dirty="0">
                <a:latin typeface="Arial"/>
                <a:ea typeface="Times New Roman"/>
                <a:cs typeface="Times New Roman"/>
              </a:rPr>
              <a:t>Set up Work Folders</a:t>
            </a:r>
            <a:r>
              <a:rPr lang="en-US" sz="1000" dirty="0">
                <a:latin typeface="Arial"/>
                <a:ea typeface="Times New Roman"/>
                <a:cs typeface="Times New Roman"/>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startAt="10"/>
            </a:pPr>
            <a:r>
              <a:rPr lang="en-US" sz="1000" dirty="0">
                <a:latin typeface="Arial"/>
                <a:ea typeface="Times New Roman"/>
                <a:cs typeface="Times New Roman"/>
              </a:rPr>
              <a:t>Close the </a:t>
            </a:r>
            <a:r>
              <a:rPr lang="en-US" sz="1000" b="1" dirty="0">
                <a:latin typeface="Arial"/>
                <a:ea typeface="Times New Roman"/>
                <a:cs typeface="Times New Roman"/>
              </a:rPr>
              <a:t>Work Folders</a:t>
            </a:r>
            <a:r>
              <a:rPr lang="en-US" sz="1000" dirty="0">
                <a:latin typeface="Arial"/>
                <a:ea typeface="Times New Roman"/>
                <a:cs typeface="Times New Roman"/>
              </a:rPr>
              <a:t> dialog box, and then on the taskbar, click the </a:t>
            </a:r>
            <a:r>
              <a:rPr lang="en-US" sz="1000" b="1" dirty="0">
                <a:latin typeface="Arial"/>
                <a:ea typeface="Times New Roman"/>
                <a:cs typeface="Times New Roman"/>
              </a:rPr>
              <a:t>File Explorer </a:t>
            </a:r>
            <a:r>
              <a:rPr lang="en-US" sz="1000" dirty="0">
                <a:latin typeface="Arial"/>
                <a:ea typeface="Times New Roman"/>
                <a:cs typeface="Times New Roman"/>
              </a:rPr>
              <a:t>icon.</a:t>
            </a:r>
            <a:endParaRPr lang="en-CA" sz="1000" dirty="0">
              <a:latin typeface="Arial"/>
              <a:ea typeface="Times New Roman"/>
              <a:cs typeface="Times New Roman"/>
            </a:endParaRPr>
          </a:p>
          <a:p>
            <a:pPr marL="342000" lvl="0">
              <a:lnSpc>
                <a:spcPts val="1300"/>
              </a:lnSpc>
              <a:spcAft>
                <a:spcPts val="600"/>
              </a:spcAft>
            </a:pPr>
            <a:r>
              <a:rPr lang="en-US" sz="1000" dirty="0">
                <a:latin typeface="Arial"/>
                <a:ea typeface="Times New Roman"/>
                <a:cs typeface="Times New Roman"/>
              </a:rPr>
              <a:t>Notice there is now a </a:t>
            </a:r>
            <a:r>
              <a:rPr lang="en-US" sz="1000" b="1" dirty="0">
                <a:latin typeface="Arial"/>
                <a:ea typeface="Times New Roman"/>
                <a:cs typeface="Times New Roman"/>
              </a:rPr>
              <a:t>Work Folders</a:t>
            </a:r>
            <a:r>
              <a:rPr lang="en-US" sz="1000" dirty="0">
                <a:latin typeface="Arial"/>
                <a:ea typeface="Times New Roman"/>
                <a:cs typeface="Times New Roman"/>
              </a:rPr>
              <a:t> folder under the </a:t>
            </a:r>
            <a:r>
              <a:rPr lang="en-US" sz="1000" b="1" dirty="0">
                <a:latin typeface="Arial"/>
                <a:ea typeface="Times New Roman"/>
                <a:cs typeface="Times New Roman"/>
              </a:rPr>
              <a:t>This PC</a:t>
            </a:r>
            <a:r>
              <a:rPr lang="en-US" sz="1000" dirty="0">
                <a:latin typeface="Arial"/>
                <a:ea typeface="Times New Roman"/>
                <a:cs typeface="Times New Roman"/>
              </a:rPr>
              <a:t> folder.</a:t>
            </a:r>
            <a:endParaRPr lang="en-CA" sz="1000" dirty="0">
              <a:latin typeface="Arial"/>
              <a:ea typeface="Times New Roman"/>
              <a:cs typeface="Times New Roman"/>
            </a:endParaRPr>
          </a:p>
          <a:p>
            <a:pPr lvl="0">
              <a:lnSpc>
                <a:spcPts val="1300"/>
              </a:lnSpc>
              <a:spcBef>
                <a:spcPts val="900"/>
              </a:spcBef>
              <a:spcAft>
                <a:spcPts val="300"/>
              </a:spcAft>
            </a:pPr>
            <a:r>
              <a:rPr lang="en-US" sz="1000" b="1" dirty="0">
                <a:latin typeface="Arial"/>
                <a:ea typeface="Times New Roman"/>
                <a:cs typeface="Segoe UI"/>
              </a:rPr>
              <a:t>Create a file in the work folder</a:t>
            </a:r>
            <a:endParaRPr lang="en-CA" sz="1000" b="1" dirty="0">
              <a:latin typeface="Arial"/>
              <a:ea typeface="Times New Roman"/>
              <a:cs typeface="Segoe UI"/>
            </a:endParaRPr>
          </a:p>
          <a:p>
            <a:pPr marL="342900" lvl="0" indent="-342900">
              <a:lnSpc>
                <a:spcPct val="115000"/>
              </a:lnSpc>
              <a:spcAft>
                <a:spcPts val="995"/>
              </a:spcAft>
              <a:buFont typeface="+mj-lt"/>
              <a:buAutoNum type="arabicPeriod"/>
            </a:pPr>
            <a:r>
              <a:rPr lang="en-US" sz="1000" dirty="0">
                <a:latin typeface="Arial"/>
                <a:ea typeface="Times New Roman"/>
                <a:cs typeface="Times New Roman"/>
              </a:rPr>
              <a:t>Double-click the </a:t>
            </a:r>
            <a:r>
              <a:rPr lang="en-US" sz="1000" b="1" dirty="0">
                <a:latin typeface="Arial"/>
                <a:ea typeface="Times New Roman"/>
                <a:cs typeface="Times New Roman"/>
              </a:rPr>
              <a:t>Work Folders</a:t>
            </a:r>
            <a:r>
              <a:rPr lang="en-US" sz="1000" dirty="0">
                <a:latin typeface="Arial"/>
                <a:ea typeface="Times New Roman"/>
                <a:cs typeface="Times New Roman"/>
              </a:rPr>
              <a:t> icon to open the folder.</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a:pPr>
            <a:r>
              <a:rPr lang="en-US" sz="1000" dirty="0">
                <a:latin typeface="Arial"/>
                <a:ea typeface="Times New Roman"/>
                <a:cs typeface="Times New Roman"/>
              </a:rPr>
              <a:t>Right-click a blank space in the details, click </a:t>
            </a:r>
            <a:r>
              <a:rPr lang="en-US" sz="1000" b="1" dirty="0">
                <a:latin typeface="Arial"/>
                <a:ea typeface="Times New Roman"/>
                <a:cs typeface="Times New Roman"/>
              </a:rPr>
              <a:t>New&gt;Text Document</a:t>
            </a:r>
            <a:r>
              <a:rPr lang="en-US" sz="1000" dirty="0">
                <a:latin typeface="Arial"/>
                <a:ea typeface="Times New Roman"/>
                <a:cs typeface="Times New Roman"/>
              </a:rPr>
              <a:t>, and then press Enter.</a:t>
            </a:r>
            <a:endParaRPr lang="en-CA" sz="1000" dirty="0">
              <a:latin typeface="Arial"/>
              <a:ea typeface="Times New Roman"/>
              <a:cs typeface="Times New Roman"/>
            </a:endParaRPr>
          </a:p>
          <a:p>
            <a:pPr lvl="0">
              <a:lnSpc>
                <a:spcPts val="1300"/>
              </a:lnSpc>
              <a:spcBef>
                <a:spcPts val="900"/>
              </a:spcBef>
              <a:spcAft>
                <a:spcPts val="300"/>
              </a:spcAft>
            </a:pPr>
            <a:r>
              <a:rPr lang="en-US" sz="1000" b="1" dirty="0">
                <a:latin typeface="Arial"/>
                <a:ea typeface="Times New Roman"/>
                <a:cs typeface="Segoe UI"/>
              </a:rPr>
              <a:t>Synchronize data on a second client computer</a:t>
            </a:r>
            <a:endParaRPr lang="en-CA" sz="1000" b="1" dirty="0">
              <a:latin typeface="Arial"/>
              <a:ea typeface="Times New Roman"/>
              <a:cs typeface="Segoe UI"/>
            </a:endParaRPr>
          </a:p>
          <a:p>
            <a:pPr marL="342900" lvl="0" indent="-342900">
              <a:lnSpc>
                <a:spcPct val="115000"/>
              </a:lnSpc>
              <a:spcAft>
                <a:spcPts val="995"/>
              </a:spcAft>
              <a:buFont typeface="+mj-lt"/>
              <a:buAutoNum type="arabicPeriod"/>
            </a:pPr>
            <a:r>
              <a:rPr lang="en-US" sz="1000" dirty="0">
                <a:latin typeface="Arial"/>
                <a:ea typeface="Times New Roman"/>
                <a:cs typeface="Times New Roman"/>
              </a:rPr>
              <a:t>Sign in to </a:t>
            </a:r>
            <a:r>
              <a:rPr lang="en-US" sz="1000" b="1" dirty="0">
                <a:latin typeface="Arial"/>
                <a:ea typeface="Times New Roman"/>
                <a:cs typeface="Times New Roman"/>
              </a:rPr>
              <a:t>LON‑CL2</a:t>
            </a:r>
            <a:r>
              <a:rPr lang="en-US" sz="1000" dirty="0">
                <a:latin typeface="Arial"/>
                <a:ea typeface="Times New Roman"/>
                <a:cs typeface="Times New Roman"/>
              </a:rPr>
              <a:t> as </a:t>
            </a:r>
            <a:r>
              <a:rPr lang="en-US" sz="1000" b="1" dirty="0">
                <a:latin typeface="Arial"/>
                <a:ea typeface="Times New Roman"/>
                <a:cs typeface="Times New Roman"/>
              </a:rPr>
              <a:t>Adatum\Administrator</a:t>
            </a:r>
            <a:r>
              <a:rPr lang="en-US" sz="1000" dirty="0">
                <a:latin typeface="Arial"/>
                <a:ea typeface="Times New Roman"/>
                <a:cs typeface="Times New Roman"/>
              </a:rPr>
              <a:t> with the password </a:t>
            </a:r>
            <a:r>
              <a:rPr lang="en-US" sz="1000" b="1" dirty="0">
                <a:latin typeface="Arial"/>
                <a:ea typeface="Times New Roman"/>
                <a:cs typeface="Times New Roman"/>
              </a:rPr>
              <a:t>Pa$$w0rd</a:t>
            </a:r>
            <a:r>
              <a:rPr lang="en-US" sz="1000" dirty="0">
                <a:latin typeface="Arial"/>
                <a:ea typeface="Times New Roman"/>
                <a:cs typeface="Times New Roman"/>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a:pPr>
            <a:r>
              <a:rPr lang="en-US" sz="1000" dirty="0">
                <a:latin typeface="Arial"/>
                <a:ea typeface="Times New Roman"/>
                <a:cs typeface="Times New Roman"/>
              </a:rPr>
              <a:t>On the Start screen, click </a:t>
            </a:r>
            <a:r>
              <a:rPr lang="en-US" sz="1000" b="1" dirty="0">
                <a:latin typeface="Arial"/>
                <a:ea typeface="Times New Roman"/>
                <a:cs typeface="Times New Roman"/>
              </a:rPr>
              <a:t>Desktop</a:t>
            </a:r>
            <a:r>
              <a:rPr lang="en-US" sz="1000" dirty="0">
                <a:latin typeface="Arial"/>
                <a:ea typeface="Times New Roman"/>
                <a:cs typeface="Times New Roman"/>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a:pPr>
            <a:r>
              <a:rPr lang="en-US" sz="1000" dirty="0">
                <a:latin typeface="Arial"/>
                <a:ea typeface="Times New Roman"/>
                <a:cs typeface="Times New Roman"/>
              </a:rPr>
              <a:t>Right-click the </a:t>
            </a:r>
            <a:r>
              <a:rPr lang="en-US" sz="1000" b="1" dirty="0">
                <a:latin typeface="Arial"/>
                <a:ea typeface="Times New Roman"/>
                <a:cs typeface="Times New Roman"/>
              </a:rPr>
              <a:t>Start</a:t>
            </a:r>
            <a:r>
              <a:rPr lang="en-US" sz="1000" dirty="0">
                <a:latin typeface="Arial"/>
                <a:ea typeface="Times New Roman"/>
                <a:cs typeface="Times New Roman"/>
              </a:rPr>
              <a:t> charm, and then click </a:t>
            </a:r>
            <a:r>
              <a:rPr lang="en-US" sz="1000" b="1" dirty="0">
                <a:latin typeface="Arial"/>
                <a:ea typeface="Times New Roman"/>
                <a:cs typeface="Times New Roman"/>
              </a:rPr>
              <a:t>Network Connections</a:t>
            </a:r>
            <a:r>
              <a:rPr lang="en-US" sz="1000" dirty="0">
                <a:latin typeface="Arial"/>
                <a:ea typeface="Times New Roman"/>
                <a:cs typeface="Times New Roman"/>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a:pPr>
            <a:r>
              <a:rPr lang="en-US" sz="1000" dirty="0">
                <a:latin typeface="Arial"/>
                <a:ea typeface="Times New Roman"/>
                <a:cs typeface="Times New Roman"/>
              </a:rPr>
              <a:t>Right-click the </a:t>
            </a:r>
            <a:r>
              <a:rPr lang="en-US" sz="1000" b="1" dirty="0">
                <a:latin typeface="Arial"/>
                <a:ea typeface="Times New Roman"/>
                <a:cs typeface="Times New Roman"/>
              </a:rPr>
              <a:t>Ethernet 2</a:t>
            </a:r>
            <a:r>
              <a:rPr lang="en-US" sz="1000" dirty="0">
                <a:latin typeface="Arial"/>
                <a:ea typeface="Times New Roman"/>
                <a:cs typeface="Times New Roman"/>
              </a:rPr>
              <a:t> adapter, and then </a:t>
            </a:r>
            <a:r>
              <a:rPr lang="en-US" sz="1000" dirty="0">
                <a:solidFill>
                  <a:srgbClr val="000000"/>
                </a:solidFill>
                <a:latin typeface="Arial"/>
                <a:ea typeface="Times New Roman"/>
                <a:cs typeface="Times New Roman"/>
              </a:rPr>
              <a:t>click </a:t>
            </a:r>
            <a:r>
              <a:rPr lang="en-US" sz="1000" b="1" dirty="0">
                <a:solidFill>
                  <a:prstClr val="black"/>
                </a:solidFill>
                <a:latin typeface="Arial"/>
                <a:ea typeface="Times New Roman"/>
                <a:cs typeface="Times New Roman"/>
              </a:rPr>
              <a:t>Enable</a:t>
            </a:r>
            <a:r>
              <a:rPr lang="en-US" sz="1000" dirty="0">
                <a:solidFill>
                  <a:srgbClr val="000000"/>
                </a:solidFill>
                <a:latin typeface="Arial"/>
                <a:ea typeface="Times New Roman"/>
                <a:cs typeface="Times New Roman"/>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srgbClr val="000000"/>
                </a:solidFill>
                <a:latin typeface="Arial"/>
                <a:ea typeface="Times New Roman"/>
                <a:cs typeface="Times New Roman"/>
              </a:rPr>
              <a:t>Close Network Connections.</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Times New Roman"/>
              </a:rPr>
              <a:t>Repeat steps 4 through 12 from the</a:t>
            </a:r>
            <a:r>
              <a:rPr lang="en-US" sz="1000" dirty="0">
                <a:solidFill>
                  <a:srgbClr val="000000"/>
                </a:solidFill>
                <a:latin typeface="Arial"/>
                <a:ea typeface="Times New Roman"/>
                <a:cs typeface="Times New Roman"/>
              </a:rPr>
              <a:t> </a:t>
            </a:r>
            <a:r>
              <a:rPr lang="en-US" sz="1000" b="1" dirty="0">
                <a:solidFill>
                  <a:prstClr val="black"/>
                </a:solidFill>
                <a:latin typeface="Arial"/>
                <a:ea typeface="Times New Roman"/>
                <a:cs typeface="Times New Roman"/>
              </a:rPr>
              <a:t>Configure Work Folder access on a Windows 8.1 client</a:t>
            </a:r>
            <a:r>
              <a:rPr lang="en-US" sz="1000" dirty="0">
                <a:solidFill>
                  <a:srgbClr val="000000"/>
                </a:solidFill>
                <a:latin typeface="Arial"/>
                <a:ea typeface="Times New Roman"/>
                <a:cs typeface="Times New Roman"/>
              </a:rPr>
              <a:t> </a:t>
            </a:r>
            <a:r>
              <a:rPr lang="en-US" sz="1000" dirty="0" smtClean="0">
                <a:solidFill>
                  <a:srgbClr val="000000"/>
                </a:solidFill>
                <a:latin typeface="Arial"/>
                <a:ea typeface="Times New Roman"/>
                <a:cs typeface="Times New Roman"/>
              </a:rPr>
              <a:t>task.</a:t>
            </a:r>
          </a:p>
          <a:p>
            <a:pPr marL="342900" lvl="0" indent="-342900">
              <a:lnSpc>
                <a:spcPct val="115000"/>
              </a:lnSpc>
              <a:spcAft>
                <a:spcPts val="995"/>
              </a:spcAft>
              <a:buFont typeface="+mj-lt"/>
              <a:buAutoNum type="arabicPeriod"/>
            </a:pPr>
            <a:r>
              <a:rPr lang="en-US" sz="1000" dirty="0" smtClean="0">
                <a:solidFill>
                  <a:srgbClr val="000000"/>
                </a:solidFill>
                <a:latin typeface="Arial"/>
                <a:ea typeface="Times New Roman"/>
                <a:cs typeface="Times New Roman"/>
              </a:rPr>
              <a:t>Open </a:t>
            </a:r>
            <a:r>
              <a:rPr lang="en-US" sz="1000" dirty="0">
                <a:solidFill>
                  <a:srgbClr val="000000"/>
                </a:solidFill>
                <a:latin typeface="Arial"/>
                <a:ea typeface="Times New Roman"/>
                <a:cs typeface="Times New Roman"/>
              </a:rPr>
              <a:t>the </a:t>
            </a:r>
            <a:r>
              <a:rPr lang="en-US" sz="1000" b="1" dirty="0">
                <a:solidFill>
                  <a:prstClr val="black"/>
                </a:solidFill>
                <a:latin typeface="Arial"/>
                <a:ea typeface="Times New Roman"/>
                <a:cs typeface="Times New Roman"/>
              </a:rPr>
              <a:t>Work Folders </a:t>
            </a:r>
            <a:r>
              <a:rPr lang="en-US" sz="1000" dirty="0">
                <a:solidFill>
                  <a:srgbClr val="000000"/>
                </a:solidFill>
                <a:latin typeface="Arial"/>
                <a:ea typeface="Times New Roman"/>
                <a:cs typeface="Times New Roman"/>
              </a:rPr>
              <a:t>folder, and then notice the file that you created is available from this computer.</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8"/>
            </a:pPr>
            <a:r>
              <a:rPr lang="en-US" sz="1000" dirty="0">
                <a:solidFill>
                  <a:srgbClr val="000000"/>
                </a:solidFill>
                <a:latin typeface="Arial"/>
                <a:ea typeface="Times New Roman"/>
                <a:cs typeface="Times New Roman"/>
              </a:rPr>
              <a:t>Close all open windows.</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8"/>
            </a:pPr>
            <a:r>
              <a:rPr lang="en-US" sz="1000" dirty="0">
                <a:solidFill>
                  <a:srgbClr val="000000"/>
                </a:solidFill>
                <a:latin typeface="Arial"/>
                <a:ea typeface="Times New Roman"/>
                <a:cs typeface="Times New Roman"/>
              </a:rPr>
              <a:t>On the host computer, open </a:t>
            </a:r>
            <a:r>
              <a:rPr lang="en-US" sz="1000" b="1" dirty="0">
                <a:solidFill>
                  <a:prstClr val="black"/>
                </a:solidFill>
                <a:latin typeface="Arial"/>
                <a:ea typeface="Times New Roman"/>
                <a:cs typeface="Times New Roman"/>
              </a:rPr>
              <a:t>Hyper‑V manager</a:t>
            </a:r>
            <a:r>
              <a:rPr lang="en-US" sz="1000" dirty="0">
                <a:solidFill>
                  <a:srgbClr val="000000"/>
                </a:solidFill>
                <a:latin typeface="Arial"/>
                <a:ea typeface="Times New Roman"/>
                <a:cs typeface="Times New Roman"/>
              </a:rPr>
              <a:t>, and then locate </a:t>
            </a:r>
            <a:r>
              <a:rPr lang="en-US" sz="1000" dirty="0">
                <a:solidFill>
                  <a:prstClr val="black"/>
                </a:solidFill>
                <a:latin typeface="Arial"/>
                <a:ea typeface="Times New Roman"/>
                <a:cs typeface="Times New Roman"/>
              </a:rPr>
              <a:t>20410D‑LON‑CL2</a:t>
            </a:r>
            <a:r>
              <a:rPr lang="en-US" sz="1000" dirty="0">
                <a:solidFill>
                  <a:srgbClr val="000000"/>
                </a:solidFill>
                <a:latin typeface="Arial"/>
                <a:ea typeface="Times New Roman"/>
                <a:cs typeface="Times New Roman"/>
              </a:rPr>
              <a:t>. Right‑click the virtual machine, and then click </a:t>
            </a:r>
            <a:r>
              <a:rPr lang="en-US" sz="1000" b="1" dirty="0">
                <a:solidFill>
                  <a:prstClr val="black"/>
                </a:solidFill>
                <a:latin typeface="Arial"/>
                <a:ea typeface="Times New Roman"/>
                <a:cs typeface="Times New Roman"/>
              </a:rPr>
              <a:t>Revert</a:t>
            </a:r>
            <a:r>
              <a:rPr lang="en-US" sz="1000" dirty="0">
                <a:solidFill>
                  <a:srgbClr val="000000"/>
                </a:solidFill>
                <a:latin typeface="Arial"/>
                <a:ea typeface="Times New Roman"/>
                <a:cs typeface="Times New Roman"/>
              </a:rPr>
              <a:t>.</a:t>
            </a:r>
          </a:p>
          <a:p>
            <a:pPr marL="342900" lvl="0" indent="-342900">
              <a:lnSpc>
                <a:spcPct val="115000"/>
              </a:lnSpc>
              <a:spcAft>
                <a:spcPts val="995"/>
              </a:spcAft>
              <a:buFont typeface="+mj-lt"/>
              <a:buAutoNum type="arabicPeriod" startAt="8"/>
            </a:pPr>
            <a:endParaRPr lang="en-US" sz="1000" dirty="0">
              <a:solidFill>
                <a:srgbClr val="000000"/>
              </a:solidFill>
              <a:latin typeface="Arial"/>
              <a:cs typeface="Times New Roman"/>
            </a:endParaRPr>
          </a:p>
          <a:p>
            <a:pPr>
              <a:lnSpc>
                <a:spcPct val="115000"/>
              </a:lnSpc>
              <a:spcAft>
                <a:spcPts val="995"/>
              </a:spcAft>
            </a:pPr>
            <a:r>
              <a:rPr lang="en-CA" sz="1000" dirty="0">
                <a:solidFill>
                  <a:srgbClr val="000000"/>
                </a:solidFill>
                <a:latin typeface="Arial"/>
              </a:rPr>
              <a:t>Leave all virtual machines in their current state for subsequent demonstrations.</a:t>
            </a:r>
            <a:endParaRPr lang="en-CA" sz="1000" dirty="0">
              <a:latin typeface="Arial"/>
              <a:ea typeface="Calibri"/>
              <a:cs typeface="Times New Roman"/>
            </a:endParaRPr>
          </a:p>
          <a:p>
            <a:pPr marL="342900" lvl="0" indent="-342900">
              <a:lnSpc>
                <a:spcPct val="115000"/>
              </a:lnSpc>
              <a:spcAft>
                <a:spcPts val="995"/>
              </a:spcAft>
              <a:buFont typeface="+mj-lt"/>
              <a:buAutoNum type="arabicPeriod"/>
            </a:pPr>
            <a:endParaRPr lang="en-CA" dirty="0"/>
          </a:p>
        </p:txBody>
      </p:sp>
      <p:sp>
        <p:nvSpPr>
          <p:cNvPr id="4" name="Slide Number Placeholder 3"/>
          <p:cNvSpPr>
            <a:spLocks noGrp="1"/>
          </p:cNvSpPr>
          <p:nvPr>
            <p:ph type="sldNum" sz="quarter" idx="10"/>
          </p:nvPr>
        </p:nvSpPr>
        <p:spPr/>
        <p:txBody>
          <a:bodyPr/>
          <a:lstStyle/>
          <a:p>
            <a:fld id="{9870CA0F-3212-4A57-85F5-8924A78C96D3}" type="slidenum">
              <a:rPr lang="en-CA" smtClean="0"/>
              <a:pPr/>
              <a:t>25</a:t>
            </a:fld>
            <a:endParaRPr lang="en-CA" dirty="0"/>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25859342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Briefly describe the lesson content.</a:t>
            </a:r>
          </a:p>
        </p:txBody>
      </p:sp>
      <p:sp>
        <p:nvSpPr>
          <p:cNvPr id="4" name="Slide Number Placeholder 3"/>
          <p:cNvSpPr>
            <a:spLocks noGrp="1"/>
          </p:cNvSpPr>
          <p:nvPr>
            <p:ph type="sldNum" sz="quarter" idx="10"/>
          </p:nvPr>
        </p:nvSpPr>
        <p:spPr/>
        <p:txBody>
          <a:bodyPr/>
          <a:lstStyle/>
          <a:p>
            <a:fld id="{9870CA0F-3212-4A57-85F5-8924A78C96D3}" type="slidenum">
              <a:rPr lang="en-CA" smtClean="0"/>
              <a:pPr/>
              <a:t>26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2846386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This topic introduces the rest of the lesson, which provides more details on network printing.</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27</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19392953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Segoe UI"/>
              </a:rPr>
              <a:t>Introduce Enhanced Point and Print, emphasizing that is not so much an implemented feature as it is a by‑product of the new version 4 (v4) driver model.</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Introduce the differences between version 3 (v3) and v4 drivers, and illustrate the benefits of using v4 drivers, especially for network print devices that a Windows Server 2012 print server hosts.</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28</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7729617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Segoe UI"/>
              </a:rPr>
              <a:t>Explain to students that, in most cases, default permission are acceptable for printers. However, some organizations might want to restrict what can be printed on some printers, such as those printers with high consumable costs; those that print checks; or those that are used to print highly confidential materials, such as in a human resources or legal department.</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29</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5155727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b="1" dirty="0" smtClean="0">
                <a:latin typeface="Arial"/>
                <a:ea typeface="Calibri"/>
                <a:cs typeface="Times New Roman"/>
              </a:rPr>
              <a:t>Preparation </a:t>
            </a:r>
            <a:r>
              <a:rPr lang="en-CA" sz="1000" b="1" dirty="0">
                <a:latin typeface="Arial"/>
                <a:ea typeface="Calibri"/>
                <a:cs typeface="Times New Roman"/>
              </a:rPr>
              <a:t>Steps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You need the </a:t>
            </a:r>
            <a:r>
              <a:rPr lang="en-CA" sz="1000" dirty="0">
                <a:latin typeface="Arial"/>
                <a:ea typeface="Calibri"/>
                <a:cs typeface="Times New Roman"/>
              </a:rPr>
              <a:t>20410D‑LON‑SVR1</a:t>
            </a:r>
            <a:r>
              <a:rPr lang="en-CA" sz="1000" dirty="0">
                <a:latin typeface="Arial"/>
                <a:cs typeface="Times New Roman"/>
              </a:rPr>
              <a:t> and </a:t>
            </a:r>
            <a:r>
              <a:rPr lang="en-CA" sz="1000" dirty="0">
                <a:latin typeface="Arial"/>
                <a:ea typeface="Calibri"/>
                <a:cs typeface="Times New Roman"/>
              </a:rPr>
              <a:t>20410D‑LON‑DC1</a:t>
            </a:r>
            <a:r>
              <a:rPr lang="en-CA" sz="1000" b="1" dirty="0">
                <a:latin typeface="Arial"/>
                <a:ea typeface="Calibri"/>
                <a:cs typeface="Times New Roman"/>
              </a:rPr>
              <a:t> </a:t>
            </a:r>
            <a:r>
              <a:rPr lang="en-CA" sz="1000" dirty="0">
                <a:latin typeface="Arial"/>
                <a:ea typeface="Calibri"/>
                <a:cs typeface="Segoe UI"/>
              </a:rPr>
              <a:t>virtual machines to complete this demonstration. They should be running after the</a:t>
            </a:r>
            <a:r>
              <a:rPr lang="en-CA" sz="1000" dirty="0">
                <a:latin typeface="Arial"/>
                <a:ea typeface="Calibri"/>
                <a:cs typeface="Times New Roman"/>
              </a:rPr>
              <a:t> previous </a:t>
            </a:r>
            <a:r>
              <a:rPr lang="en-CA" sz="1000" dirty="0">
                <a:latin typeface="Arial"/>
                <a:ea typeface="Calibri"/>
                <a:cs typeface="Segoe UI"/>
              </a:rPr>
              <a:t>demonstration.</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Demonstration Steps</a:t>
            </a:r>
            <a:endParaRPr lang="en-CA" sz="1000" dirty="0">
              <a:latin typeface="Arial"/>
              <a:ea typeface="Calibri"/>
              <a:cs typeface="Times New Roman"/>
            </a:endParaRPr>
          </a:p>
          <a:p>
            <a:pPr>
              <a:lnSpc>
                <a:spcPts val="1300"/>
              </a:lnSpc>
              <a:spcBef>
                <a:spcPts val="900"/>
              </a:spcBef>
              <a:spcAft>
                <a:spcPts val="300"/>
              </a:spcAft>
            </a:pPr>
            <a:r>
              <a:rPr lang="en-US" sz="1000" b="1" dirty="0" smtClean="0">
                <a:effectLst/>
                <a:latin typeface="Arial"/>
                <a:ea typeface="Times New Roman"/>
                <a:cs typeface="Segoe UI"/>
              </a:rPr>
              <a:t>Create a shared printer</a:t>
            </a:r>
            <a:endParaRPr lang="en-CA" sz="1000" b="1" dirty="0" smtClean="0">
              <a:effectLst/>
              <a:latin typeface="Arial"/>
              <a:ea typeface="Times New Roman"/>
              <a:cs typeface="Segoe UI"/>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On LON‑SVR1, in the lower-left corner of the screen, click the </a:t>
            </a:r>
            <a:r>
              <a:rPr lang="en-US" sz="1000" b="1" dirty="0" smtClean="0">
                <a:effectLst/>
                <a:latin typeface="Arial"/>
                <a:ea typeface="Times New Roman"/>
                <a:cs typeface="Times New Roman"/>
              </a:rPr>
              <a:t>Start</a:t>
            </a:r>
            <a:r>
              <a:rPr lang="en-US" sz="1000" dirty="0" smtClean="0">
                <a:effectLst/>
                <a:latin typeface="Arial"/>
                <a:ea typeface="Times New Roman"/>
                <a:cs typeface="Segoe UI"/>
              </a:rPr>
              <a:t> button</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the </a:t>
            </a:r>
            <a:r>
              <a:rPr lang="en-US" sz="1000" b="1" dirty="0" smtClean="0">
                <a:effectLst/>
                <a:latin typeface="Arial"/>
                <a:ea typeface="Times New Roman"/>
                <a:cs typeface="Times New Roman"/>
              </a:rPr>
              <a:t>Start</a:t>
            </a:r>
            <a:r>
              <a:rPr lang="en-US" sz="1000" dirty="0" smtClean="0">
                <a:effectLst/>
                <a:latin typeface="Arial"/>
                <a:ea typeface="Times New Roman"/>
                <a:cs typeface="Segoe UI"/>
              </a:rPr>
              <a:t> box, type </a:t>
            </a:r>
            <a:r>
              <a:rPr lang="en-US" sz="1000" b="1" dirty="0" smtClean="0">
                <a:effectLst/>
                <a:latin typeface="Arial"/>
                <a:ea typeface="Times New Roman"/>
                <a:cs typeface="Times New Roman"/>
              </a:rPr>
              <a:t>Devices</a:t>
            </a:r>
            <a:r>
              <a:rPr lang="en-US" sz="1000" dirty="0" smtClean="0">
                <a:effectLst/>
                <a:latin typeface="Arial"/>
                <a:ea typeface="Times New Roman"/>
                <a:cs typeface="Segoe UI"/>
              </a:rPr>
              <a:t>, and then click </a:t>
            </a:r>
            <a:r>
              <a:rPr lang="en-US" sz="1000" b="1" dirty="0" smtClean="0">
                <a:effectLst/>
                <a:latin typeface="Arial"/>
                <a:ea typeface="Times New Roman"/>
                <a:cs typeface="Times New Roman"/>
              </a:rPr>
              <a:t>Devices and Printers</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the Devices and Printers window, click </a:t>
            </a:r>
            <a:r>
              <a:rPr lang="en-US" sz="1000" b="1" dirty="0" smtClean="0">
                <a:effectLst/>
                <a:latin typeface="Arial"/>
                <a:ea typeface="Times New Roman"/>
                <a:cs typeface="Times New Roman"/>
              </a:rPr>
              <a:t>Add a printer</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In the Add Printer Wizard, on the </a:t>
            </a:r>
            <a:r>
              <a:rPr lang="en-US" sz="1000" b="1" dirty="0" smtClean="0">
                <a:effectLst/>
                <a:latin typeface="Arial"/>
                <a:ea typeface="Times New Roman"/>
                <a:cs typeface="Times New Roman"/>
              </a:rPr>
              <a:t>Select a</a:t>
            </a:r>
            <a:r>
              <a:rPr lang="en-US" sz="1000" dirty="0" smtClean="0">
                <a:effectLst/>
                <a:latin typeface="Arial"/>
                <a:ea typeface="Times New Roman"/>
                <a:cs typeface="Segoe UI"/>
              </a:rPr>
              <a:t> </a:t>
            </a:r>
            <a:r>
              <a:rPr lang="en-US" sz="1000" b="1" dirty="0" smtClean="0">
                <a:effectLst/>
                <a:latin typeface="Arial"/>
                <a:ea typeface="Times New Roman"/>
                <a:cs typeface="Times New Roman"/>
              </a:rPr>
              <a:t>Printer</a:t>
            </a:r>
            <a:r>
              <a:rPr lang="en-US" sz="1000" dirty="0" smtClean="0">
                <a:effectLst/>
                <a:latin typeface="Arial"/>
                <a:ea typeface="Times New Roman"/>
                <a:cs typeface="Segoe UI"/>
              </a:rPr>
              <a:t> page, click </a:t>
            </a:r>
            <a:r>
              <a:rPr lang="en-US" sz="1000" b="1" dirty="0" smtClean="0">
                <a:effectLst/>
                <a:latin typeface="Arial"/>
                <a:ea typeface="Times New Roman"/>
                <a:cs typeface="Times New Roman"/>
              </a:rPr>
              <a:t>The printer that I want isn’t listed</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pPr>
            <a:r>
              <a:rPr lang="en-US" sz="1000" dirty="0" smtClean="0">
                <a:effectLst/>
                <a:latin typeface="Arial"/>
                <a:ea typeface="Times New Roman"/>
                <a:cs typeface="Segoe UI"/>
              </a:rPr>
              <a:t>Click </a:t>
            </a:r>
            <a:r>
              <a:rPr lang="en-US" sz="1000" b="1" dirty="0" smtClean="0">
                <a:effectLst/>
                <a:latin typeface="Arial"/>
                <a:ea typeface="Times New Roman"/>
                <a:cs typeface="Times New Roman"/>
              </a:rPr>
              <a:t>Add a local printer or network printer with manual settings</a:t>
            </a:r>
            <a:r>
              <a:rPr lang="en-US" sz="1000" dirty="0" smtClean="0">
                <a:effectLst/>
                <a:latin typeface="Arial"/>
                <a:ea typeface="Times New Roman"/>
                <a:cs typeface="Segoe UI"/>
              </a:rPr>
              <a:t>, and then click </a:t>
            </a:r>
            <a:r>
              <a:rPr lang="en-US" sz="1000" b="1" dirty="0" smtClean="0">
                <a:effectLst/>
                <a:latin typeface="Arial"/>
                <a:ea typeface="Times New Roman"/>
                <a:cs typeface="Times New Roman"/>
              </a:rPr>
              <a:t>Next</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000">
              <a:lnSpc>
                <a:spcPct val="115000"/>
              </a:lnSpc>
              <a:spcAft>
                <a:spcPts val="995"/>
              </a:spcAft>
            </a:pPr>
            <a:r>
              <a:rPr lang="en-US" sz="1000" dirty="0" smtClean="0">
                <a:effectLst/>
                <a:latin typeface="Arial"/>
                <a:ea typeface="Times New Roman"/>
                <a:cs typeface="Times New Roman"/>
              </a:rPr>
              <a:t>Other connections options are also available in this dialog box.</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startAt="6"/>
            </a:pPr>
            <a:r>
              <a:rPr lang="en-US" sz="1000" dirty="0" smtClean="0">
                <a:effectLst/>
                <a:latin typeface="Arial"/>
                <a:ea typeface="Times New Roman"/>
                <a:cs typeface="Segoe UI"/>
              </a:rPr>
              <a:t>Click </a:t>
            </a:r>
            <a:r>
              <a:rPr lang="en-US" sz="1000" b="1" dirty="0" smtClean="0">
                <a:effectLst/>
                <a:latin typeface="Arial"/>
                <a:ea typeface="Times New Roman"/>
                <a:cs typeface="Times New Roman"/>
              </a:rPr>
              <a:t>Use an existing port</a:t>
            </a:r>
            <a:r>
              <a:rPr lang="en-US" sz="1000" dirty="0" smtClean="0">
                <a:effectLst/>
                <a:latin typeface="Arial"/>
                <a:ea typeface="Times New Roman"/>
                <a:cs typeface="Segoe UI"/>
              </a:rPr>
              <a:t>,</a:t>
            </a:r>
            <a:r>
              <a:rPr lang="en-US" sz="1000" b="1" dirty="0" smtClean="0">
                <a:effectLst/>
                <a:latin typeface="Arial"/>
                <a:ea typeface="Times New Roman"/>
                <a:cs typeface="Times New Roman"/>
              </a:rPr>
              <a:t> </a:t>
            </a:r>
            <a:r>
              <a:rPr lang="en-US" sz="1000" dirty="0" smtClean="0">
                <a:effectLst/>
                <a:latin typeface="Arial"/>
                <a:ea typeface="Times New Roman"/>
                <a:cs typeface="Segoe UI"/>
              </a:rPr>
              <a:t>ensure that </a:t>
            </a:r>
            <a:r>
              <a:rPr lang="en-US" sz="1000" b="1" dirty="0" smtClean="0">
                <a:effectLst/>
                <a:latin typeface="Arial"/>
                <a:ea typeface="Times New Roman"/>
                <a:cs typeface="Times New Roman"/>
              </a:rPr>
              <a:t>LPT1: (Printer Port)</a:t>
            </a:r>
            <a:r>
              <a:rPr lang="en-US" sz="1000" dirty="0" smtClean="0">
                <a:effectLst/>
                <a:latin typeface="Arial"/>
                <a:ea typeface="Times New Roman"/>
                <a:cs typeface="Segoe UI"/>
              </a:rPr>
              <a:t> is selected, and then click </a:t>
            </a:r>
            <a:r>
              <a:rPr lang="en-US" sz="1000" b="1" dirty="0" smtClean="0">
                <a:effectLst/>
                <a:latin typeface="Arial"/>
                <a:ea typeface="Times New Roman"/>
                <a:cs typeface="Times New Roman"/>
              </a:rPr>
              <a:t>Next</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000">
              <a:lnSpc>
                <a:spcPct val="115000"/>
              </a:lnSpc>
              <a:spcAft>
                <a:spcPts val="995"/>
              </a:spcAft>
            </a:pPr>
            <a:r>
              <a:rPr lang="en-US" sz="1000" dirty="0" smtClean="0">
                <a:effectLst/>
                <a:latin typeface="Arial"/>
                <a:ea typeface="Times New Roman"/>
                <a:cs typeface="Times New Roman"/>
              </a:rPr>
              <a:t>You can create other ports here manually, including TCP/IP, for network‑connected printers.</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startAt="7"/>
            </a:pPr>
            <a:r>
              <a:rPr lang="en-US" sz="1000" dirty="0" smtClean="0">
                <a:effectLst/>
                <a:latin typeface="Arial"/>
                <a:ea typeface="Times New Roman"/>
                <a:cs typeface="Segoe UI"/>
              </a:rPr>
              <a:t>Leave the driver choice as the default, and then click </a:t>
            </a:r>
            <a:r>
              <a:rPr lang="en-US" sz="1000" b="1" dirty="0" smtClean="0">
                <a:effectLst/>
                <a:latin typeface="Arial"/>
                <a:ea typeface="Times New Roman"/>
                <a:cs typeface="Times New Roman"/>
              </a:rPr>
              <a:t>Next</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startAt="7"/>
            </a:pPr>
            <a:r>
              <a:rPr lang="en-US" sz="1000" dirty="0" smtClean="0">
                <a:effectLst/>
                <a:latin typeface="Arial"/>
                <a:ea typeface="Times New Roman"/>
                <a:cs typeface="Segoe UI"/>
              </a:rPr>
              <a:t>Change the printer name to </a:t>
            </a:r>
            <a:r>
              <a:rPr lang="en-US" sz="1000" b="1" dirty="0" smtClean="0">
                <a:effectLst/>
                <a:latin typeface="Arial"/>
                <a:ea typeface="Times New Roman"/>
                <a:cs typeface="Times New Roman"/>
              </a:rPr>
              <a:t>AllUsers</a:t>
            </a:r>
            <a:r>
              <a:rPr lang="en-US" sz="1000" dirty="0" smtClean="0">
                <a:effectLst/>
                <a:latin typeface="Arial"/>
                <a:ea typeface="Times New Roman"/>
                <a:cs typeface="Segoe UI"/>
              </a:rPr>
              <a:t>, and then click </a:t>
            </a:r>
            <a:r>
              <a:rPr lang="en-US" sz="1000" b="1" dirty="0" smtClean="0">
                <a:effectLst/>
                <a:latin typeface="Arial"/>
                <a:ea typeface="Times New Roman"/>
                <a:cs typeface="Times New Roman"/>
              </a:rPr>
              <a:t>Next</a:t>
            </a:r>
            <a:r>
              <a:rPr lang="en-US" sz="1000" dirty="0" smtClean="0">
                <a:effectLst/>
                <a:latin typeface="Arial"/>
                <a:ea typeface="Times New Roman"/>
                <a:cs typeface="Segoe UI"/>
              </a:rPr>
              <a:t> to finish the printer installation.</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startAt="7"/>
            </a:pPr>
            <a:r>
              <a:rPr lang="en-US" sz="1000" dirty="0" smtClean="0">
                <a:effectLst/>
                <a:latin typeface="Arial"/>
                <a:ea typeface="Times New Roman"/>
                <a:cs typeface="Segoe UI"/>
              </a:rPr>
              <a:t>On the </a:t>
            </a:r>
            <a:r>
              <a:rPr lang="en-US" sz="1000" b="1" dirty="0" smtClean="0">
                <a:effectLst/>
                <a:latin typeface="Arial"/>
                <a:ea typeface="Times New Roman"/>
                <a:cs typeface="Times New Roman"/>
              </a:rPr>
              <a:t>Printer Sharing</a:t>
            </a:r>
            <a:r>
              <a:rPr lang="en-US" sz="1000" dirty="0" smtClean="0">
                <a:effectLst/>
                <a:latin typeface="Arial"/>
                <a:ea typeface="Times New Roman"/>
                <a:cs typeface="Segoe UI"/>
              </a:rPr>
              <a:t> page, ensure that the printer is shared, and then click </a:t>
            </a:r>
            <a:r>
              <a:rPr lang="en-US" sz="1000" b="1" dirty="0" smtClean="0">
                <a:effectLst/>
                <a:latin typeface="Arial"/>
                <a:ea typeface="Times New Roman"/>
                <a:cs typeface="Times New Roman"/>
              </a:rPr>
              <a:t>Next</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startAt="7"/>
            </a:pPr>
            <a:r>
              <a:rPr lang="en-US" sz="1000" dirty="0" smtClean="0">
                <a:effectLst/>
                <a:latin typeface="Arial"/>
                <a:ea typeface="Times New Roman"/>
                <a:cs typeface="Segoe UI"/>
              </a:rPr>
              <a:t>Click </a:t>
            </a:r>
            <a:r>
              <a:rPr lang="en-US" sz="1000" b="1" dirty="0" smtClean="0">
                <a:effectLst/>
                <a:latin typeface="Arial"/>
                <a:ea typeface="Times New Roman"/>
                <a:cs typeface="Times New Roman"/>
              </a:rPr>
              <a:t>Finish</a:t>
            </a:r>
            <a:r>
              <a:rPr lang="en-US" sz="1000" dirty="0" smtClean="0">
                <a:effectLst/>
                <a:latin typeface="Arial"/>
                <a:ea typeface="Times New Roman"/>
                <a:cs typeface="Segoe UI"/>
              </a:rPr>
              <a:t> to close the Add Printer Wizard.</a:t>
            </a:r>
            <a:endParaRPr lang="en-CA" sz="1000" dirty="0" smtClean="0">
              <a:effectLst/>
              <a:latin typeface="Arial"/>
              <a:ea typeface="Times New Roman"/>
              <a:cs typeface="Times New Roman"/>
            </a:endParaRPr>
          </a:p>
          <a:p>
            <a:pPr>
              <a:lnSpc>
                <a:spcPts val="1300"/>
              </a:lnSpc>
              <a:spcBef>
                <a:spcPts val="900"/>
              </a:spcBef>
              <a:spcAft>
                <a:spcPts val="300"/>
              </a:spcAft>
            </a:pPr>
            <a:r>
              <a:rPr lang="en-US" sz="1000" b="1" dirty="0" smtClean="0">
                <a:effectLst/>
                <a:latin typeface="Arial"/>
                <a:ea typeface="Times New Roman"/>
                <a:cs typeface="Segoe UI"/>
              </a:rPr>
              <a:t>Create a second shared printer on the same port</a:t>
            </a:r>
            <a:endParaRPr lang="en-CA" sz="1000" b="1" dirty="0" smtClean="0">
              <a:effectLst/>
              <a:latin typeface="Arial"/>
              <a:ea typeface="Times New Roman"/>
              <a:cs typeface="Segoe UI"/>
            </a:endParaRPr>
          </a:p>
          <a:p>
            <a:pPr marL="342900" lvl="0" indent="-342900">
              <a:lnSpc>
                <a:spcPct val="115000"/>
              </a:lnSpc>
              <a:spcAft>
                <a:spcPts val="995"/>
              </a:spcAft>
              <a:buSzPct val="100000"/>
              <a:buFont typeface="Arial"/>
              <a:buAutoNum type="arabicPeriod"/>
            </a:pPr>
            <a:r>
              <a:rPr lang="en-US" sz="1000" dirty="0" smtClean="0">
                <a:effectLst/>
                <a:latin typeface="Arial"/>
                <a:ea typeface="Times New Roman"/>
                <a:cs typeface="Times New Roman"/>
              </a:rPr>
              <a:t>In the Devices and Printers window, click </a:t>
            </a:r>
            <a:r>
              <a:rPr lang="en-US" sz="1000" b="1" dirty="0" smtClean="0">
                <a:effectLst/>
                <a:latin typeface="Arial"/>
                <a:ea typeface="Times New Roman"/>
                <a:cs typeface="Times New Roman"/>
              </a:rPr>
              <a:t>Add a printer</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SzPct val="100000"/>
              <a:buFont typeface="Arial"/>
              <a:buAutoNum type="arabicPeriod"/>
            </a:pPr>
            <a:r>
              <a:rPr lang="en-US" sz="1000" dirty="0" smtClean="0">
                <a:effectLst/>
                <a:latin typeface="Arial"/>
                <a:ea typeface="Times New Roman"/>
                <a:cs typeface="Segoe UI"/>
              </a:rPr>
              <a:t>In the </a:t>
            </a:r>
            <a:r>
              <a:rPr lang="en-US" sz="1000" dirty="0" smtClean="0">
                <a:effectLst/>
                <a:latin typeface="Arial"/>
                <a:ea typeface="Times New Roman"/>
                <a:cs typeface="Times New Roman"/>
              </a:rPr>
              <a:t>Add Printer</a:t>
            </a:r>
            <a:r>
              <a:rPr lang="en-US" sz="1000" dirty="0" smtClean="0">
                <a:effectLst/>
                <a:latin typeface="Arial"/>
                <a:ea typeface="Times New Roman"/>
                <a:cs typeface="Segoe UI"/>
              </a:rPr>
              <a:t> Wizard, on the </a:t>
            </a:r>
            <a:r>
              <a:rPr lang="en-US" sz="1000" b="1" dirty="0" smtClean="0">
                <a:effectLst/>
                <a:latin typeface="Arial"/>
                <a:ea typeface="Times New Roman"/>
                <a:cs typeface="Times New Roman"/>
              </a:rPr>
              <a:t>Select a</a:t>
            </a:r>
            <a:r>
              <a:rPr lang="en-US" sz="1000" dirty="0" smtClean="0">
                <a:effectLst/>
                <a:latin typeface="Arial"/>
                <a:ea typeface="Times New Roman"/>
                <a:cs typeface="Segoe UI"/>
              </a:rPr>
              <a:t> </a:t>
            </a:r>
            <a:r>
              <a:rPr lang="en-US" sz="1000" b="1" dirty="0" smtClean="0">
                <a:effectLst/>
                <a:latin typeface="Arial"/>
                <a:ea typeface="Times New Roman"/>
                <a:cs typeface="Times New Roman"/>
              </a:rPr>
              <a:t>Printer</a:t>
            </a:r>
            <a:r>
              <a:rPr lang="en-US" sz="1000" dirty="0" smtClean="0">
                <a:effectLst/>
                <a:latin typeface="Arial"/>
                <a:ea typeface="Times New Roman"/>
                <a:cs typeface="Segoe UI"/>
              </a:rPr>
              <a:t> page, click </a:t>
            </a:r>
            <a:r>
              <a:rPr lang="en-US" sz="1000" b="1" dirty="0" smtClean="0">
                <a:effectLst/>
                <a:latin typeface="Arial"/>
                <a:ea typeface="Times New Roman"/>
                <a:cs typeface="Times New Roman"/>
              </a:rPr>
              <a:t>The printer that I want isn’t listed</a:t>
            </a:r>
            <a:r>
              <a:rPr lang="en-US" sz="1000" dirty="0" smtClean="0">
                <a:effectLst/>
                <a:latin typeface="Arial"/>
                <a:ea typeface="Times New Roman"/>
                <a:cs typeface="Times New Roman"/>
              </a:rPr>
              <a:t>.</a:t>
            </a:r>
            <a:endParaRPr lang="en-CA" sz="1000" dirty="0" smtClean="0">
              <a:effectLst/>
              <a:latin typeface="Arial"/>
              <a:ea typeface="Times New Roman"/>
              <a:cs typeface="Times New Roman"/>
            </a:endParaRPr>
          </a:p>
          <a:p>
            <a:pPr marL="342900" lvl="0" indent="-342900">
              <a:lnSpc>
                <a:spcPct val="115000"/>
              </a:lnSpc>
              <a:spcAft>
                <a:spcPts val="995"/>
              </a:spcAft>
              <a:buSzPts val="800"/>
              <a:buFont typeface="Arial"/>
              <a:buAutoNum type="arabicPeriod"/>
            </a:pP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30</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Tree>
    <p:extLst>
      <p:ext uri="{BB962C8B-B14F-4D97-AF65-F5344CB8AC3E}">
        <p14:creationId xmlns:p14="http://schemas.microsoft.com/office/powerpoint/2010/main" xmlns="" val="11127077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marL="342900" lvl="0" indent="-342900">
              <a:lnSpc>
                <a:spcPct val="115000"/>
              </a:lnSpc>
              <a:spcAft>
                <a:spcPts val="995"/>
              </a:spcAft>
              <a:buSzPct val="100000"/>
              <a:buFont typeface="Arial"/>
              <a:buAutoNum type="arabicPeriod" startAt="3"/>
            </a:pPr>
            <a:r>
              <a:rPr lang="en-US" sz="1000" dirty="0">
                <a:solidFill>
                  <a:prstClr val="black"/>
                </a:solidFill>
                <a:latin typeface="Arial"/>
                <a:ea typeface="Times New Roman"/>
                <a:cs typeface="Times New Roman"/>
              </a:rPr>
              <a:t>Click </a:t>
            </a:r>
            <a:r>
              <a:rPr lang="en-US" sz="1000" b="1" dirty="0">
                <a:solidFill>
                  <a:prstClr val="black"/>
                </a:solidFill>
                <a:latin typeface="Arial"/>
                <a:ea typeface="Times New Roman"/>
                <a:cs typeface="Times New Roman"/>
              </a:rPr>
              <a:t>Add a local printer or network printer with manual settings</a:t>
            </a:r>
            <a:r>
              <a:rPr lang="en-US" sz="1000" dirty="0">
                <a:solidFill>
                  <a:prstClr val="black"/>
                </a:solidFill>
                <a:latin typeface="Arial"/>
                <a:ea typeface="Times New Roman"/>
                <a:cs typeface="Times New Roman"/>
              </a:rPr>
              <a:t>, and then click </a:t>
            </a:r>
            <a:r>
              <a:rPr lang="en-US" sz="1000" b="1" dirty="0">
                <a:solidFill>
                  <a:prstClr val="black"/>
                </a:solidFill>
                <a:latin typeface="Arial"/>
                <a:ea typeface="Times New Roman"/>
                <a:cs typeface="Times New Roman"/>
              </a:rPr>
              <a:t>Next</a:t>
            </a:r>
            <a:r>
              <a:rPr lang="en-US" sz="1000" dirty="0">
                <a:solidFill>
                  <a:prstClr val="black"/>
                </a:solidFill>
                <a:latin typeface="Arial"/>
                <a:ea typeface="Times New Roman"/>
                <a:cs typeface="Times New Roman"/>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SzPct val="100000"/>
              <a:buFont typeface="Arial"/>
              <a:buAutoNum type="arabicPeriod" startAt="3"/>
            </a:pPr>
            <a:r>
              <a:rPr lang="en-US" sz="1000" dirty="0">
                <a:solidFill>
                  <a:prstClr val="black"/>
                </a:solidFill>
                <a:latin typeface="Arial"/>
                <a:ea typeface="Times New Roman"/>
                <a:cs typeface="Times New Roman"/>
              </a:rPr>
              <a:t>On the </a:t>
            </a:r>
            <a:r>
              <a:rPr lang="en-US" sz="1000" b="1" dirty="0">
                <a:solidFill>
                  <a:prstClr val="black"/>
                </a:solidFill>
                <a:latin typeface="Arial"/>
                <a:ea typeface="Times New Roman"/>
                <a:cs typeface="Times New Roman"/>
              </a:rPr>
              <a:t>Choose a printer port</a:t>
            </a:r>
            <a:r>
              <a:rPr lang="en-US" sz="1000" dirty="0">
                <a:solidFill>
                  <a:prstClr val="black"/>
                </a:solidFill>
                <a:latin typeface="Arial"/>
                <a:ea typeface="Times New Roman"/>
                <a:cs typeface="Times New Roman"/>
              </a:rPr>
              <a:t> page, click </a:t>
            </a:r>
            <a:r>
              <a:rPr lang="en-US" sz="1000" b="1" dirty="0">
                <a:solidFill>
                  <a:prstClr val="black"/>
                </a:solidFill>
                <a:latin typeface="Arial"/>
                <a:ea typeface="Times New Roman"/>
                <a:cs typeface="Times New Roman"/>
              </a:rPr>
              <a:t>Next</a:t>
            </a:r>
            <a:r>
              <a:rPr lang="en-US" sz="1000" dirty="0">
                <a:solidFill>
                  <a:prstClr val="black"/>
                </a:solidFill>
                <a:latin typeface="Arial"/>
                <a:ea typeface="Times New Roman"/>
                <a:cs typeface="Times New Roman"/>
              </a:rPr>
              <a:t>.</a:t>
            </a:r>
            <a:endParaRPr lang="en-CA" sz="1000" dirty="0">
              <a:solidFill>
                <a:prstClr val="black"/>
              </a:solidFill>
              <a:latin typeface="Arial"/>
              <a:ea typeface="Times New Roman"/>
              <a:cs typeface="Times New Roman"/>
            </a:endParaRPr>
          </a:p>
          <a:p>
            <a:pPr marL="342000" lvl="0">
              <a:lnSpc>
                <a:spcPct val="115000"/>
              </a:lnSpc>
              <a:spcAft>
                <a:spcPts val="995"/>
              </a:spcAft>
            </a:pPr>
            <a:r>
              <a:rPr lang="en-US" sz="1000" dirty="0">
                <a:solidFill>
                  <a:prstClr val="black"/>
                </a:solidFill>
                <a:latin typeface="Arial"/>
                <a:ea typeface="Times New Roman"/>
                <a:cs typeface="Times New Roman"/>
              </a:rPr>
              <a:t>This is the same port that you selected for the printer you created in the previous task.</a:t>
            </a:r>
            <a:endParaRPr lang="en-CA" sz="1000" dirty="0">
              <a:solidFill>
                <a:prstClr val="black"/>
              </a:solidFill>
              <a:latin typeface="Arial"/>
              <a:ea typeface="Times New Roman"/>
              <a:cs typeface="Times New Roman"/>
            </a:endParaRPr>
          </a:p>
          <a:p>
            <a:pPr marL="342900" lvl="0" indent="-342900">
              <a:lnSpc>
                <a:spcPct val="115000"/>
              </a:lnSpc>
              <a:spcAft>
                <a:spcPts val="995"/>
              </a:spcAft>
              <a:buSzPct val="100000"/>
              <a:buFont typeface="+mj-lt"/>
              <a:buAutoNum type="arabicPeriod" startAt="5"/>
            </a:pPr>
            <a:r>
              <a:rPr lang="en-US" sz="1000" dirty="0">
                <a:solidFill>
                  <a:prstClr val="black"/>
                </a:solidFill>
                <a:latin typeface="Arial"/>
                <a:ea typeface="Times New Roman"/>
                <a:cs typeface="Times New Roman"/>
              </a:rPr>
              <a:t>On the </a:t>
            </a:r>
            <a:r>
              <a:rPr lang="en-US" sz="1000" b="1" dirty="0">
                <a:solidFill>
                  <a:prstClr val="black"/>
                </a:solidFill>
                <a:latin typeface="Arial"/>
                <a:ea typeface="Times New Roman"/>
                <a:cs typeface="Times New Roman"/>
              </a:rPr>
              <a:t>Install the printer driver</a:t>
            </a:r>
            <a:r>
              <a:rPr lang="en-US" sz="1000" dirty="0">
                <a:solidFill>
                  <a:prstClr val="black"/>
                </a:solidFill>
                <a:latin typeface="Arial"/>
                <a:ea typeface="Times New Roman"/>
                <a:cs typeface="Times New Roman"/>
              </a:rPr>
              <a:t> page, click </a:t>
            </a:r>
            <a:r>
              <a:rPr lang="en-US" sz="1000" b="1" dirty="0">
                <a:solidFill>
                  <a:prstClr val="black"/>
                </a:solidFill>
                <a:latin typeface="Arial"/>
                <a:ea typeface="Times New Roman"/>
                <a:cs typeface="Times New Roman"/>
              </a:rPr>
              <a:t>Next</a:t>
            </a:r>
            <a:r>
              <a:rPr lang="en-US" sz="1000" dirty="0">
                <a:solidFill>
                  <a:prstClr val="black"/>
                </a:solidFill>
                <a:latin typeface="Arial"/>
                <a:ea typeface="Times New Roman"/>
                <a:cs typeface="Times New Roman"/>
              </a:rPr>
              <a:t> to accept the default selection.</a:t>
            </a:r>
            <a:endParaRPr lang="en-CA" sz="1000" dirty="0">
              <a:solidFill>
                <a:prstClr val="black"/>
              </a:solidFill>
              <a:latin typeface="Arial"/>
              <a:ea typeface="Times New Roman"/>
              <a:cs typeface="Times New Roman"/>
            </a:endParaRPr>
          </a:p>
          <a:p>
            <a:pPr marL="342000" lvl="0">
              <a:lnSpc>
                <a:spcPct val="115000"/>
              </a:lnSpc>
              <a:spcAft>
                <a:spcPts val="995"/>
              </a:spcAft>
            </a:pPr>
            <a:r>
              <a:rPr lang="en-US" sz="1000" dirty="0">
                <a:solidFill>
                  <a:prstClr val="black"/>
                </a:solidFill>
                <a:latin typeface="Arial"/>
                <a:ea typeface="Times New Roman"/>
                <a:cs typeface="Times New Roman"/>
              </a:rPr>
              <a:t>This is the same printer driver that you used for the printer you created in the previous task.</a:t>
            </a:r>
            <a:endParaRPr lang="en-CA" sz="1000" dirty="0">
              <a:solidFill>
                <a:prstClr val="black"/>
              </a:solidFill>
              <a:latin typeface="Arial"/>
              <a:ea typeface="Times New Roman"/>
              <a:cs typeface="Times New Roman"/>
            </a:endParaRPr>
          </a:p>
          <a:p>
            <a:pPr marL="342900" lvl="0" indent="-342900">
              <a:lnSpc>
                <a:spcPct val="115000"/>
              </a:lnSpc>
              <a:spcAft>
                <a:spcPts val="995"/>
              </a:spcAft>
              <a:buSzPct val="100000"/>
              <a:buFont typeface="+mj-lt"/>
              <a:buAutoNum type="arabicPeriod" startAt="6"/>
            </a:pPr>
            <a:r>
              <a:rPr lang="en-US" sz="1000" dirty="0">
                <a:solidFill>
                  <a:prstClr val="black"/>
                </a:solidFill>
                <a:latin typeface="Arial"/>
                <a:ea typeface="Times New Roman"/>
                <a:cs typeface="Times New Roman"/>
              </a:rPr>
              <a:t>On the </a:t>
            </a:r>
            <a:r>
              <a:rPr lang="en-US" sz="1000" b="1" dirty="0">
                <a:solidFill>
                  <a:prstClr val="black"/>
                </a:solidFill>
                <a:latin typeface="Arial"/>
                <a:ea typeface="Times New Roman"/>
                <a:cs typeface="Times New Roman"/>
              </a:rPr>
              <a:t>Which version of the driver do you want to use</a:t>
            </a:r>
            <a:r>
              <a:rPr lang="en-US" sz="1000" dirty="0">
                <a:solidFill>
                  <a:prstClr val="black"/>
                </a:solidFill>
                <a:latin typeface="Arial"/>
                <a:ea typeface="Times New Roman"/>
                <a:cs typeface="Times New Roman"/>
              </a:rPr>
              <a:t> page, click </a:t>
            </a:r>
            <a:r>
              <a:rPr lang="en-US" sz="1000" b="1" dirty="0">
                <a:solidFill>
                  <a:prstClr val="black"/>
                </a:solidFill>
                <a:latin typeface="Arial"/>
                <a:ea typeface="Times New Roman"/>
                <a:cs typeface="Times New Roman"/>
              </a:rPr>
              <a:t>Next</a:t>
            </a:r>
            <a:r>
              <a:rPr lang="en-US" sz="1000" dirty="0">
                <a:solidFill>
                  <a:prstClr val="black"/>
                </a:solidFill>
                <a:latin typeface="Arial"/>
                <a:ea typeface="Times New Roman"/>
                <a:cs typeface="Times New Roman"/>
              </a:rPr>
              <a:t> to reuse the same printer driver.</a:t>
            </a:r>
            <a:endParaRPr lang="en-CA" sz="1000" dirty="0">
              <a:solidFill>
                <a:prstClr val="black"/>
              </a:solidFill>
              <a:latin typeface="Arial"/>
              <a:ea typeface="Times New Roman"/>
              <a:cs typeface="Times New Roman"/>
            </a:endParaRPr>
          </a:p>
          <a:p>
            <a:pPr marL="342900" lvl="0" indent="-342900">
              <a:lnSpc>
                <a:spcPct val="115000"/>
              </a:lnSpc>
              <a:spcAft>
                <a:spcPts val="995"/>
              </a:spcAft>
              <a:buSzPct val="100000"/>
              <a:buFont typeface="Arial"/>
              <a:buAutoNum type="arabicPeriod" startAt="6"/>
            </a:pPr>
            <a:r>
              <a:rPr lang="en-US" sz="1000" dirty="0">
                <a:solidFill>
                  <a:prstClr val="black"/>
                </a:solidFill>
                <a:latin typeface="Arial"/>
                <a:ea typeface="Times New Roman"/>
                <a:cs typeface="Times New Roman"/>
              </a:rPr>
              <a:t>On the </a:t>
            </a:r>
            <a:r>
              <a:rPr lang="en-US" sz="1000" b="1" dirty="0">
                <a:solidFill>
                  <a:prstClr val="black"/>
                </a:solidFill>
                <a:latin typeface="Arial"/>
                <a:ea typeface="Times New Roman"/>
                <a:cs typeface="Times New Roman"/>
              </a:rPr>
              <a:t>Type a printer name</a:t>
            </a:r>
            <a:r>
              <a:rPr lang="en-US" sz="1000" dirty="0">
                <a:solidFill>
                  <a:prstClr val="black"/>
                </a:solidFill>
                <a:latin typeface="Arial"/>
                <a:ea typeface="Times New Roman"/>
                <a:cs typeface="Times New Roman"/>
              </a:rPr>
              <a:t> page, in </a:t>
            </a:r>
            <a:r>
              <a:rPr lang="en-US" sz="1000" b="1" dirty="0">
                <a:solidFill>
                  <a:prstClr val="black"/>
                </a:solidFill>
                <a:latin typeface="Arial"/>
                <a:ea typeface="Times New Roman"/>
                <a:cs typeface="Times New Roman"/>
              </a:rPr>
              <a:t>Printer name</a:t>
            </a:r>
            <a:r>
              <a:rPr lang="en-US" sz="1000" dirty="0">
                <a:solidFill>
                  <a:prstClr val="black"/>
                </a:solidFill>
                <a:latin typeface="Arial"/>
                <a:ea typeface="Times New Roman"/>
                <a:cs typeface="Times New Roman"/>
              </a:rPr>
              <a:t>, type </a:t>
            </a:r>
            <a:r>
              <a:rPr lang="en-US" sz="1000" b="1" dirty="0">
                <a:solidFill>
                  <a:prstClr val="black"/>
                </a:solidFill>
                <a:latin typeface="Arial"/>
                <a:ea typeface="Times New Roman"/>
                <a:cs typeface="Times New Roman"/>
              </a:rPr>
              <a:t>Executives</a:t>
            </a:r>
            <a:r>
              <a:rPr lang="en-US" sz="1000" dirty="0">
                <a:solidFill>
                  <a:prstClr val="black"/>
                </a:solidFill>
                <a:latin typeface="Arial"/>
                <a:ea typeface="Times New Roman"/>
                <a:cs typeface="Times New Roman"/>
              </a:rPr>
              <a:t>, and then click </a:t>
            </a:r>
            <a:r>
              <a:rPr lang="en-US" sz="1000" b="1" dirty="0">
                <a:solidFill>
                  <a:prstClr val="black"/>
                </a:solidFill>
                <a:latin typeface="Arial"/>
                <a:ea typeface="Times New Roman"/>
                <a:cs typeface="Times New Roman"/>
              </a:rPr>
              <a:t>Next</a:t>
            </a:r>
            <a:r>
              <a:rPr lang="en-US" sz="1000" dirty="0">
                <a:solidFill>
                  <a:prstClr val="black"/>
                </a:solidFill>
                <a:latin typeface="Arial"/>
                <a:ea typeface="Times New Roman"/>
                <a:cs typeface="Times New Roman"/>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SzPct val="100000"/>
              <a:buFont typeface="Arial"/>
              <a:buAutoNum type="arabicPeriod" startAt="6"/>
            </a:pPr>
            <a:r>
              <a:rPr lang="en-US" sz="1000" dirty="0">
                <a:solidFill>
                  <a:prstClr val="black"/>
                </a:solidFill>
                <a:latin typeface="Arial"/>
                <a:ea typeface="Times New Roman"/>
                <a:cs typeface="Times New Roman"/>
              </a:rPr>
              <a:t>On the </a:t>
            </a:r>
            <a:r>
              <a:rPr lang="en-US" sz="1000" b="1" dirty="0">
                <a:solidFill>
                  <a:prstClr val="black"/>
                </a:solidFill>
                <a:latin typeface="Arial"/>
                <a:ea typeface="Times New Roman"/>
                <a:cs typeface="Times New Roman"/>
              </a:rPr>
              <a:t>Printer Sharing</a:t>
            </a:r>
            <a:r>
              <a:rPr lang="en-US" sz="1000" dirty="0">
                <a:solidFill>
                  <a:prstClr val="black"/>
                </a:solidFill>
                <a:latin typeface="Arial"/>
                <a:ea typeface="Times New Roman"/>
                <a:cs typeface="Times New Roman"/>
              </a:rPr>
              <a:t> page, click </a:t>
            </a:r>
            <a:r>
              <a:rPr lang="en-US" sz="1000" b="1" dirty="0">
                <a:solidFill>
                  <a:prstClr val="black"/>
                </a:solidFill>
                <a:latin typeface="Arial"/>
                <a:ea typeface="Times New Roman"/>
                <a:cs typeface="Times New Roman"/>
              </a:rPr>
              <a:t>Next</a:t>
            </a:r>
            <a:r>
              <a:rPr lang="en-US" sz="1000" dirty="0">
                <a:solidFill>
                  <a:prstClr val="black"/>
                </a:solidFill>
                <a:latin typeface="Arial"/>
                <a:ea typeface="Times New Roman"/>
                <a:cs typeface="Times New Roman"/>
              </a:rPr>
              <a:t> to share the printer with the default settings.</a:t>
            </a:r>
            <a:endParaRPr lang="en-CA" sz="1000" dirty="0">
              <a:solidFill>
                <a:prstClr val="black"/>
              </a:solidFill>
              <a:latin typeface="Arial"/>
              <a:ea typeface="Times New Roman"/>
              <a:cs typeface="Times New Roman"/>
            </a:endParaRPr>
          </a:p>
          <a:p>
            <a:pPr marL="342900" lvl="0" indent="-342900">
              <a:lnSpc>
                <a:spcPct val="115000"/>
              </a:lnSpc>
              <a:spcAft>
                <a:spcPts val="995"/>
              </a:spcAft>
              <a:buSzPct val="100000"/>
              <a:buFont typeface="Arial"/>
              <a:buAutoNum type="arabicPeriod" startAt="6"/>
            </a:pPr>
            <a:r>
              <a:rPr lang="en-US" sz="1000" dirty="0">
                <a:solidFill>
                  <a:prstClr val="black"/>
                </a:solidFill>
                <a:latin typeface="Arial"/>
                <a:ea typeface="Times New Roman"/>
                <a:cs typeface="Times New Roman"/>
              </a:rPr>
              <a:t>On the </a:t>
            </a:r>
            <a:r>
              <a:rPr lang="en-US" sz="1000" b="1" dirty="0">
                <a:solidFill>
                  <a:prstClr val="black"/>
                </a:solidFill>
                <a:latin typeface="Arial"/>
                <a:ea typeface="Times New Roman"/>
                <a:cs typeface="Times New Roman"/>
              </a:rPr>
              <a:t>You’ve successfully added Executives</a:t>
            </a:r>
            <a:r>
              <a:rPr lang="en-US" sz="1000" dirty="0">
                <a:solidFill>
                  <a:prstClr val="black"/>
                </a:solidFill>
                <a:latin typeface="Arial"/>
                <a:ea typeface="Times New Roman"/>
                <a:cs typeface="Times New Roman"/>
              </a:rPr>
              <a:t> page, click </a:t>
            </a:r>
            <a:r>
              <a:rPr lang="en-US" sz="1000" b="1" dirty="0">
                <a:solidFill>
                  <a:prstClr val="black"/>
                </a:solidFill>
                <a:latin typeface="Arial"/>
                <a:ea typeface="Times New Roman"/>
                <a:cs typeface="Times New Roman"/>
              </a:rPr>
              <a:t>Finish</a:t>
            </a:r>
            <a:r>
              <a:rPr lang="en-US" sz="1000" dirty="0">
                <a:solidFill>
                  <a:prstClr val="black"/>
                </a:solidFill>
                <a:latin typeface="Arial"/>
                <a:ea typeface="Times New Roman"/>
                <a:cs typeface="Times New Roman"/>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SzPct val="100000"/>
              <a:buFont typeface="Arial"/>
              <a:buAutoNum type="arabicPeriod" startAt="6"/>
            </a:pPr>
            <a:r>
              <a:rPr lang="en-US" sz="1000" dirty="0">
                <a:solidFill>
                  <a:prstClr val="black"/>
                </a:solidFill>
                <a:latin typeface="Arial"/>
                <a:ea typeface="Times New Roman"/>
                <a:cs typeface="Times New Roman"/>
              </a:rPr>
              <a:t>In the Devices and Printers window, review the list of devices.</a:t>
            </a:r>
            <a:endParaRPr lang="en-CA" sz="1000" dirty="0">
              <a:solidFill>
                <a:prstClr val="black"/>
              </a:solidFill>
              <a:latin typeface="Arial"/>
              <a:ea typeface="Times New Roman"/>
              <a:cs typeface="Times New Roman"/>
            </a:endParaRPr>
          </a:p>
          <a:p>
            <a:pPr marL="342000" lvl="0">
              <a:lnSpc>
                <a:spcPts val="1300"/>
              </a:lnSpc>
              <a:spcAft>
                <a:spcPts val="600"/>
              </a:spcAft>
            </a:pPr>
            <a:r>
              <a:rPr lang="en-US" sz="1000" dirty="0">
                <a:solidFill>
                  <a:prstClr val="black"/>
                </a:solidFill>
                <a:latin typeface="Arial"/>
                <a:ea typeface="Times New Roman"/>
                <a:cs typeface="Times New Roman"/>
              </a:rPr>
              <a:t>Notice that only the Executives printer displays.</a:t>
            </a:r>
            <a:endParaRPr lang="en-CA" sz="1000" dirty="0">
              <a:solidFill>
                <a:prstClr val="black"/>
              </a:solidFill>
              <a:latin typeface="Arial"/>
              <a:ea typeface="Times New Roman"/>
              <a:cs typeface="Times New Roman"/>
            </a:endParaRPr>
          </a:p>
          <a:p>
            <a:pPr lvl="0">
              <a:lnSpc>
                <a:spcPts val="1300"/>
              </a:lnSpc>
              <a:spcBef>
                <a:spcPts val="900"/>
              </a:spcBef>
              <a:spcAft>
                <a:spcPts val="300"/>
              </a:spcAft>
            </a:pPr>
            <a:r>
              <a:rPr lang="en-US" sz="1000" b="1" dirty="0">
                <a:solidFill>
                  <a:prstClr val="black"/>
                </a:solidFill>
                <a:latin typeface="Arial"/>
                <a:ea typeface="Times New Roman"/>
                <a:cs typeface="Segoe UI"/>
              </a:rPr>
              <a:t>Increase printing priority for a high priority print queue</a:t>
            </a:r>
            <a:endParaRPr lang="en-CA" sz="1000" b="1" dirty="0">
              <a:solidFill>
                <a:prstClr val="black"/>
              </a:solidFill>
              <a:latin typeface="Arial"/>
              <a:ea typeface="Times New Roman"/>
              <a:cs typeface="Segoe UI"/>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Segoe UI"/>
              </a:rPr>
              <a:t>In the Devices and Printers window, right‑click </a:t>
            </a:r>
            <a:r>
              <a:rPr lang="en-US" sz="1000" b="1" dirty="0">
                <a:solidFill>
                  <a:prstClr val="black"/>
                </a:solidFill>
                <a:latin typeface="Arial"/>
                <a:ea typeface="Times New Roman"/>
                <a:cs typeface="Times New Roman"/>
              </a:rPr>
              <a:t>Executives</a:t>
            </a:r>
            <a:r>
              <a:rPr lang="en-US" sz="1000" dirty="0">
                <a:solidFill>
                  <a:prstClr val="black"/>
                </a:solidFill>
                <a:latin typeface="Arial"/>
                <a:ea typeface="Times New Roman"/>
                <a:cs typeface="Segoe UI"/>
              </a:rPr>
              <a:t>, point to </a:t>
            </a:r>
            <a:r>
              <a:rPr lang="en-US" sz="1000" b="1" dirty="0">
                <a:solidFill>
                  <a:prstClr val="black"/>
                </a:solidFill>
                <a:latin typeface="Arial"/>
                <a:ea typeface="Times New Roman"/>
                <a:cs typeface="Times New Roman"/>
              </a:rPr>
              <a:t>Printer properties</a:t>
            </a:r>
            <a:r>
              <a:rPr lang="en-US" sz="1000" dirty="0">
                <a:solidFill>
                  <a:prstClr val="black"/>
                </a:solidFill>
                <a:latin typeface="Arial"/>
                <a:ea typeface="Times New Roman"/>
                <a:cs typeface="Segoe UI"/>
              </a:rPr>
              <a:t>, and then click </a:t>
            </a:r>
            <a:r>
              <a:rPr lang="en-US" sz="1000" b="1" dirty="0">
                <a:solidFill>
                  <a:prstClr val="black"/>
                </a:solidFill>
                <a:latin typeface="Arial"/>
                <a:ea typeface="Times New Roman"/>
                <a:cs typeface="Times New Roman"/>
              </a:rPr>
              <a:t>Executives</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pPr>
            <a:r>
              <a:rPr lang="en-US" sz="1000" dirty="0">
                <a:solidFill>
                  <a:prstClr val="black"/>
                </a:solidFill>
                <a:latin typeface="Arial"/>
                <a:ea typeface="Times New Roman"/>
                <a:cs typeface="Segoe UI"/>
              </a:rPr>
              <a:t>On the </a:t>
            </a:r>
            <a:r>
              <a:rPr lang="en-US" sz="1000" b="1" dirty="0">
                <a:solidFill>
                  <a:prstClr val="black"/>
                </a:solidFill>
                <a:latin typeface="Arial"/>
                <a:ea typeface="Times New Roman"/>
                <a:cs typeface="Times New Roman"/>
              </a:rPr>
              <a:t>Advanced</a:t>
            </a:r>
            <a:r>
              <a:rPr lang="en-US" sz="1000" dirty="0">
                <a:solidFill>
                  <a:prstClr val="black"/>
                </a:solidFill>
                <a:latin typeface="Arial"/>
                <a:ea typeface="Times New Roman"/>
                <a:cs typeface="Segoe UI"/>
              </a:rPr>
              <a:t> tab, in </a:t>
            </a:r>
            <a:r>
              <a:rPr lang="en-US" sz="1000" b="1" dirty="0">
                <a:solidFill>
                  <a:prstClr val="black"/>
                </a:solidFill>
                <a:latin typeface="Arial"/>
                <a:ea typeface="Times New Roman"/>
                <a:cs typeface="Times New Roman"/>
              </a:rPr>
              <a:t>Priority</a:t>
            </a:r>
            <a:r>
              <a:rPr lang="en-US" sz="1000" dirty="0">
                <a:solidFill>
                  <a:prstClr val="black"/>
                </a:solidFill>
                <a:latin typeface="Arial"/>
                <a:ea typeface="Times New Roman"/>
                <a:cs typeface="Segoe UI"/>
              </a:rPr>
              <a:t>, type </a:t>
            </a:r>
            <a:r>
              <a:rPr lang="en-US" sz="1000" b="1" dirty="0">
                <a:solidFill>
                  <a:prstClr val="black"/>
                </a:solidFill>
                <a:latin typeface="Arial"/>
                <a:ea typeface="Times New Roman"/>
                <a:cs typeface="Times New Roman"/>
              </a:rPr>
              <a:t>10</a:t>
            </a:r>
            <a:r>
              <a:rPr lang="en-US" sz="1000" dirty="0">
                <a:solidFill>
                  <a:prstClr val="black"/>
                </a:solidFill>
                <a:latin typeface="Arial"/>
                <a:ea typeface="Times New Roman"/>
                <a:cs typeface="Segoe UI"/>
              </a:rPr>
              <a:t>, and then click </a:t>
            </a:r>
            <a:r>
              <a:rPr lang="en-US" sz="1000" b="1" dirty="0">
                <a:solidFill>
                  <a:prstClr val="black"/>
                </a:solidFill>
                <a:latin typeface="Arial"/>
                <a:ea typeface="Times New Roman"/>
                <a:cs typeface="Times New Roman"/>
              </a:rPr>
              <a:t>OK</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000" lvl="0">
              <a:lnSpc>
                <a:spcPts val="1300"/>
              </a:lnSpc>
              <a:spcAft>
                <a:spcPts val="600"/>
              </a:spcAft>
            </a:pPr>
            <a:r>
              <a:rPr lang="en-US" sz="1000" dirty="0">
                <a:solidFill>
                  <a:prstClr val="black"/>
                </a:solidFill>
                <a:latin typeface="Arial"/>
                <a:ea typeface="Times New Roman"/>
                <a:cs typeface="Segoe UI"/>
              </a:rPr>
              <a:t>Now jobs that are submitted to the Executives printer have higher priority that those submitted to the AllUsers printer, and will be printed first</a:t>
            </a:r>
            <a:r>
              <a:rPr lang="en-US" sz="1000" dirty="0" smtClean="0">
                <a:solidFill>
                  <a:prstClr val="black"/>
                </a:solidFill>
                <a:latin typeface="Arial"/>
                <a:ea typeface="Times New Roman"/>
                <a:cs typeface="Segoe UI"/>
              </a:rPr>
              <a:t>.</a:t>
            </a:r>
          </a:p>
          <a:p>
            <a:pPr marL="228600">
              <a:lnSpc>
                <a:spcPts val="1300"/>
              </a:lnSpc>
              <a:spcAft>
                <a:spcPts val="600"/>
              </a:spcAft>
            </a:pPr>
            <a:endParaRPr lang="en-US" sz="1000" dirty="0" smtClean="0">
              <a:solidFill>
                <a:prstClr val="black"/>
              </a:solidFill>
              <a:latin typeface="Arial"/>
              <a:cs typeface="Segoe UI"/>
            </a:endParaRPr>
          </a:p>
          <a:p>
            <a:pPr>
              <a:lnSpc>
                <a:spcPts val="1300"/>
              </a:lnSpc>
              <a:spcAft>
                <a:spcPts val="600"/>
              </a:spcAft>
            </a:pPr>
            <a:r>
              <a:rPr lang="en-CA" sz="1000" dirty="0" smtClean="0">
                <a:latin typeface="Arial"/>
                <a:ea typeface="Calibri"/>
                <a:cs typeface="Times New Roman"/>
              </a:rPr>
              <a:t>After </a:t>
            </a:r>
            <a:r>
              <a:rPr lang="en-CA" sz="1000" dirty="0">
                <a:latin typeface="Arial"/>
                <a:ea typeface="Calibri"/>
                <a:cs typeface="Times New Roman"/>
              </a:rPr>
              <a:t>you complete the demonstration, revert all virtual machines.</a:t>
            </a:r>
          </a:p>
          <a:p>
            <a:pPr marL="228600" lvl="0">
              <a:lnSpc>
                <a:spcPts val="1300"/>
              </a:lnSpc>
              <a:spcAft>
                <a:spcPts val="600"/>
              </a:spcAft>
            </a:pPr>
            <a:endParaRPr lang="en-CA" dirty="0"/>
          </a:p>
        </p:txBody>
      </p:sp>
      <p:sp>
        <p:nvSpPr>
          <p:cNvPr id="4" name="Slide Number Placeholder 3"/>
          <p:cNvSpPr>
            <a:spLocks noGrp="1"/>
          </p:cNvSpPr>
          <p:nvPr>
            <p:ph type="sldNum" sz="quarter" idx="10"/>
          </p:nvPr>
        </p:nvSpPr>
        <p:spPr/>
        <p:txBody>
          <a:bodyPr/>
          <a:lstStyle/>
          <a:p>
            <a:fld id="{9870CA0F-3212-4A57-85F5-8924A78C96D3}" type="slidenum">
              <a:rPr lang="en-CA" smtClean="0"/>
              <a:pPr/>
              <a:t>31</a:t>
            </a:fld>
            <a:endParaRPr lang="en-CA" dirty="0"/>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10496509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Segoe UI"/>
              </a:rPr>
              <a:t>Printer pooling often is overlooked, so you should explain to students why it is beneficial, </a:t>
            </a:r>
            <a:r>
              <a:rPr lang="en-CA" sz="1000" dirty="0">
                <a:latin typeface="Arial"/>
                <a:ea typeface="Calibri"/>
                <a:cs typeface="Times New Roman"/>
              </a:rPr>
              <a:t>especially</a:t>
            </a:r>
            <a:r>
              <a:rPr lang="en-CA" sz="1000" dirty="0" smtClean="0">
                <a:solidFill>
                  <a:srgbClr val="000000"/>
                </a:solidFill>
                <a:effectLst/>
                <a:latin typeface="Arial"/>
                <a:ea typeface="Calibri"/>
                <a:cs typeface="Times New Roman"/>
              </a:rPr>
              <a:t> </a:t>
            </a:r>
            <a:r>
              <a:rPr lang="en-CA" sz="1000" dirty="0">
                <a:latin typeface="Arial"/>
                <a:ea typeface="Calibri"/>
                <a:cs typeface="Segoe UI"/>
              </a:rPr>
              <a:t>if they are in an organization that has capacity concerns with respect to printing. Explain how printer pooling differs from using multiple printers, because with printer pooling, other printers are made available automatically. A user does not have to look for a printer that is not busy, and then select it before printing.</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32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15616229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Introduce Branch Office Direct Printing and the methods for enabling it.</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Ensure that students understand the difference between printer pooling and Branch Office Direct Printing</a:t>
            </a:r>
            <a:r>
              <a:rPr lang="en-CA" sz="1000" dirty="0" smtClean="0">
                <a:latin typeface="Arial"/>
                <a:ea typeface="Calibri"/>
                <a:cs typeface="Segoe UI"/>
              </a:rPr>
              <a:t>.</a:t>
            </a:r>
          </a:p>
          <a:p>
            <a:pPr>
              <a:lnSpc>
                <a:spcPct val="115000"/>
              </a:lnSpc>
              <a:spcAft>
                <a:spcPts val="1000"/>
              </a:spcAft>
            </a:pPr>
            <a:endParaRPr lang="en-CA" sz="1000" dirty="0" smtClean="0">
              <a:latin typeface="Arial"/>
              <a:ea typeface="Calibri"/>
              <a:cs typeface="Segoe UI"/>
            </a:endParaRPr>
          </a:p>
          <a:p>
            <a:r>
              <a:rPr lang="en-US" sz="1200" b="0" i="0" u="none" strike="noStrike" kern="1200" baseline="0" dirty="0" smtClean="0">
                <a:solidFill>
                  <a:schemeClr val="tx1"/>
                </a:solidFill>
                <a:latin typeface="+mn-lt"/>
                <a:ea typeface="+mn-ea"/>
                <a:cs typeface="+mn-cs"/>
              </a:rPr>
              <a:t>To configure Branch Office Direct Printing from the Print Management console, you use the following </a:t>
            </a:r>
            <a:r>
              <a:rPr lang="fr-FR" sz="1200" b="0" i="0" u="none" strike="noStrike" kern="1200" baseline="0" dirty="0" err="1" smtClean="0">
                <a:solidFill>
                  <a:schemeClr val="tx1"/>
                </a:solidFill>
                <a:latin typeface="+mn-lt"/>
                <a:ea typeface="+mn-ea"/>
                <a:cs typeface="+mn-cs"/>
              </a:rPr>
              <a:t>procedure</a:t>
            </a:r>
            <a:r>
              <a:rPr lang="fr-FR" sz="1200" b="0" i="0" u="none" strike="noStrike" kern="1200" baseline="0" dirty="0" smtClean="0">
                <a:solidFill>
                  <a:schemeClr val="tx1"/>
                </a:solidFill>
                <a:latin typeface="+mn-lt"/>
                <a:ea typeface="+mn-ea"/>
                <a:cs typeface="+mn-cs"/>
              </a:rPr>
              <a:t>:</a:t>
            </a:r>
          </a:p>
          <a:p>
            <a:r>
              <a:rPr lang="en-US" sz="1200" b="0" i="0" u="none" strike="noStrike" kern="1200" baseline="0" dirty="0" smtClean="0">
                <a:solidFill>
                  <a:schemeClr val="tx1"/>
                </a:solidFill>
                <a:latin typeface="+mn-lt"/>
                <a:ea typeface="+mn-ea"/>
                <a:cs typeface="+mn-cs"/>
              </a:rPr>
              <a:t>1. In Server Manager, open the Print Management console.</a:t>
            </a:r>
          </a:p>
          <a:p>
            <a:r>
              <a:rPr lang="en-US" sz="1200" b="0" i="0" u="none" strike="noStrike" kern="1200" baseline="0" dirty="0" smtClean="0">
                <a:solidFill>
                  <a:schemeClr val="tx1"/>
                </a:solidFill>
                <a:latin typeface="+mn-lt"/>
                <a:ea typeface="+mn-ea"/>
                <a:cs typeface="+mn-cs"/>
              </a:rPr>
              <a:t>2. In the navigation pane, expand </a:t>
            </a:r>
            <a:r>
              <a:rPr lang="en-US" sz="1200" b="1" i="0" u="none" strike="noStrike" kern="1200" baseline="0" dirty="0" smtClean="0">
                <a:solidFill>
                  <a:schemeClr val="tx1"/>
                </a:solidFill>
                <a:latin typeface="+mn-lt"/>
                <a:ea typeface="+mn-ea"/>
                <a:cs typeface="+mn-cs"/>
              </a:rPr>
              <a:t>Print Servers</a:t>
            </a:r>
            <a:r>
              <a:rPr lang="en-US" sz="1200" b="0" i="0" u="none" strike="noStrike" kern="1200" baseline="0" dirty="0" smtClean="0">
                <a:solidFill>
                  <a:schemeClr val="tx1"/>
                </a:solidFill>
                <a:latin typeface="+mn-lt"/>
                <a:ea typeface="+mn-ea"/>
                <a:cs typeface="+mn-cs"/>
              </a:rPr>
              <a:t>, and then expand the print server that is hosting the network printer for which you are enabling Branch Office Direct Printing.</a:t>
            </a:r>
          </a:p>
          <a:p>
            <a:r>
              <a:rPr lang="en-US" sz="1200" b="0" i="0" u="none" strike="noStrike" kern="1200" baseline="0" dirty="0" smtClean="0">
                <a:solidFill>
                  <a:schemeClr val="tx1"/>
                </a:solidFill>
                <a:latin typeface="+mn-lt"/>
                <a:ea typeface="+mn-ea"/>
                <a:cs typeface="+mn-cs"/>
              </a:rPr>
              <a:t>3. Click the </a:t>
            </a:r>
            <a:r>
              <a:rPr lang="en-US" sz="1200" b="1" i="0" u="none" strike="noStrike" kern="1200" baseline="0" dirty="0" smtClean="0">
                <a:solidFill>
                  <a:schemeClr val="tx1"/>
                </a:solidFill>
                <a:latin typeface="+mn-lt"/>
                <a:ea typeface="+mn-ea"/>
                <a:cs typeface="+mn-cs"/>
              </a:rPr>
              <a:t>Printers node</a:t>
            </a:r>
            <a:r>
              <a:rPr lang="en-US" sz="1200" b="0" i="0" u="none" strike="noStrike" kern="1200" baseline="0" dirty="0" smtClean="0">
                <a:solidFill>
                  <a:schemeClr val="tx1"/>
                </a:solidFill>
                <a:latin typeface="+mn-lt"/>
                <a:ea typeface="+mn-ea"/>
                <a:cs typeface="+mn-cs"/>
              </a:rPr>
              <a:t>, right-click the desired printer, and then click </a:t>
            </a:r>
            <a:r>
              <a:rPr lang="en-US" sz="1200" b="1" i="0" u="none" strike="noStrike" kern="1200" baseline="0" dirty="0" smtClean="0">
                <a:solidFill>
                  <a:schemeClr val="tx1"/>
                </a:solidFill>
                <a:latin typeface="+mn-lt"/>
                <a:ea typeface="+mn-ea"/>
                <a:cs typeface="+mn-cs"/>
              </a:rPr>
              <a:t>Enable Branch Office Direct </a:t>
            </a:r>
            <a:r>
              <a:rPr lang="fr-FR" sz="1200" b="1" i="0" u="none" strike="noStrike" kern="1200" baseline="0" dirty="0" smtClean="0">
                <a:solidFill>
                  <a:schemeClr val="tx1"/>
                </a:solidFill>
                <a:latin typeface="+mn-lt"/>
                <a:ea typeface="+mn-ea"/>
                <a:cs typeface="+mn-cs"/>
              </a:rPr>
              <a:t>Printing</a:t>
            </a:r>
            <a:r>
              <a:rPr lang="fr-FR" sz="1200" b="0" i="0" u="none" strike="noStrike" kern="1200" baseline="0" dirty="0" smtClean="0">
                <a:solidFill>
                  <a:schemeClr val="tx1"/>
                </a:solidFill>
                <a:latin typeface="+mn-lt"/>
                <a:ea typeface="+mn-ea"/>
                <a:cs typeface="+mn-cs"/>
              </a:rPr>
              <a:t>.</a:t>
            </a:r>
          </a:p>
          <a:p>
            <a:endParaRPr lang="fr-FR"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To configure Branch Office Direct Printing by using Windows PowerShell, type the following </a:t>
            </a:r>
            <a:r>
              <a:rPr lang="en-US" sz="1200" b="0" i="0" u="none" strike="noStrike" kern="1200" baseline="0" dirty="0" err="1" smtClean="0">
                <a:solidFill>
                  <a:schemeClr val="tx1"/>
                </a:solidFill>
                <a:latin typeface="+mn-lt"/>
                <a:ea typeface="+mn-ea"/>
                <a:cs typeface="+mn-cs"/>
              </a:rPr>
              <a:t>cmdlet</a:t>
            </a:r>
            <a:r>
              <a:rPr lang="en-US" sz="1200" b="0" i="0" u="none" strike="noStrike" kern="1200" baseline="0" dirty="0" smtClean="0">
                <a:solidFill>
                  <a:schemeClr val="tx1"/>
                </a:solidFill>
                <a:latin typeface="+mn-lt"/>
                <a:ea typeface="+mn-ea"/>
                <a:cs typeface="+mn-cs"/>
              </a:rPr>
              <a:t> at a </a:t>
            </a:r>
            <a:r>
              <a:rPr lang="fr-FR" sz="1200" b="0" i="0" u="none" strike="noStrike" kern="1200" baseline="0" dirty="0" smtClean="0">
                <a:solidFill>
                  <a:schemeClr val="tx1"/>
                </a:solidFill>
                <a:latin typeface="+mn-lt"/>
                <a:ea typeface="+mn-ea"/>
                <a:cs typeface="+mn-cs"/>
              </a:rPr>
              <a:t>Windows PowerShell prompt:</a:t>
            </a:r>
          </a:p>
          <a:p>
            <a:r>
              <a:rPr lang="en-US" sz="1200" b="1" i="0" u="none" strike="noStrike" kern="1200" baseline="0" dirty="0" smtClean="0">
                <a:solidFill>
                  <a:schemeClr val="tx1"/>
                </a:solidFill>
                <a:latin typeface="+mn-lt"/>
                <a:ea typeface="+mn-ea"/>
                <a:cs typeface="+mn-cs"/>
              </a:rPr>
              <a:t>Set-Printer -name "&lt;</a:t>
            </a:r>
            <a:r>
              <a:rPr lang="en-US" sz="1200" b="1" i="1" u="none" strike="noStrike" kern="1200" baseline="0" dirty="0" smtClean="0">
                <a:solidFill>
                  <a:schemeClr val="tx1"/>
                </a:solidFill>
                <a:latin typeface="+mn-lt"/>
                <a:ea typeface="+mn-ea"/>
                <a:cs typeface="+mn-cs"/>
              </a:rPr>
              <a:t>Printer Name Here</a:t>
            </a:r>
            <a:r>
              <a:rPr lang="en-US" sz="1200" b="1" i="0" u="none" strike="noStrike" kern="1200" baseline="0" dirty="0" smtClean="0">
                <a:solidFill>
                  <a:schemeClr val="tx1"/>
                </a:solidFill>
                <a:latin typeface="+mn-lt"/>
                <a:ea typeface="+mn-ea"/>
                <a:cs typeface="+mn-cs"/>
              </a:rPr>
              <a:t>&gt;" -</a:t>
            </a:r>
            <a:r>
              <a:rPr lang="en-US" sz="1200" b="1" i="1" u="none" strike="noStrike" kern="1200" baseline="0" dirty="0" err="1" smtClean="0">
                <a:solidFill>
                  <a:schemeClr val="tx1"/>
                </a:solidFill>
                <a:latin typeface="+mn-lt"/>
                <a:ea typeface="+mn-ea"/>
                <a:cs typeface="+mn-cs"/>
              </a:rPr>
              <a:t>ComputerName</a:t>
            </a:r>
            <a:r>
              <a:rPr lang="en-US" sz="1200" b="1" i="1" u="none" strike="noStrike" kern="1200" baseline="0" dirty="0" smtClean="0">
                <a:solidFill>
                  <a:schemeClr val="tx1"/>
                </a:solidFill>
                <a:latin typeface="+mn-lt"/>
                <a:ea typeface="+mn-ea"/>
                <a:cs typeface="+mn-cs"/>
              </a:rPr>
              <a:t> </a:t>
            </a:r>
            <a:r>
              <a:rPr lang="en-US" sz="1200" b="1" i="0" u="none" strike="noStrike" kern="1200" baseline="0" dirty="0" smtClean="0">
                <a:solidFill>
                  <a:schemeClr val="tx1"/>
                </a:solidFill>
                <a:latin typeface="+mn-lt"/>
                <a:ea typeface="+mn-ea"/>
                <a:cs typeface="+mn-cs"/>
              </a:rPr>
              <a:t>&lt;</a:t>
            </a:r>
            <a:r>
              <a:rPr lang="en-US" sz="1200" b="1" i="1" u="none" strike="noStrike" kern="1200" baseline="0" dirty="0" smtClean="0">
                <a:solidFill>
                  <a:schemeClr val="tx1"/>
                </a:solidFill>
                <a:latin typeface="+mn-lt"/>
                <a:ea typeface="+mn-ea"/>
                <a:cs typeface="+mn-cs"/>
              </a:rPr>
              <a:t>Print Server Name Here</a:t>
            </a:r>
            <a:r>
              <a:rPr lang="en-US" sz="1200" b="1" i="0" u="none" strike="noStrike" kern="1200" baseline="0" dirty="0" smtClean="0">
                <a:solidFill>
                  <a:schemeClr val="tx1"/>
                </a:solidFill>
                <a:latin typeface="+mn-lt"/>
                <a:ea typeface="+mn-ea"/>
                <a:cs typeface="+mn-cs"/>
              </a:rPr>
              <a:t>&gt; </a:t>
            </a:r>
            <a:r>
              <a:rPr lang="fr-FR" sz="1200" b="1" i="0" u="none" strike="noStrike" kern="1200" baseline="0" dirty="0" smtClean="0">
                <a:solidFill>
                  <a:schemeClr val="tx1"/>
                </a:solidFill>
                <a:latin typeface="+mn-lt"/>
                <a:ea typeface="+mn-ea"/>
                <a:cs typeface="+mn-cs"/>
              </a:rPr>
              <a:t>-</a:t>
            </a:r>
            <a:r>
              <a:rPr lang="fr-FR" sz="1200" b="1" i="0" u="none" strike="noStrike" kern="1200" baseline="0" dirty="0" err="1" smtClean="0">
                <a:solidFill>
                  <a:schemeClr val="tx1"/>
                </a:solidFill>
                <a:latin typeface="+mn-lt"/>
                <a:ea typeface="+mn-ea"/>
                <a:cs typeface="+mn-cs"/>
              </a:rPr>
              <a:t>RenderingMode</a:t>
            </a:r>
            <a:r>
              <a:rPr lang="fr-FR" sz="1200" b="1" i="0" u="none" strike="noStrike" kern="1200" baseline="0" dirty="0" smtClean="0">
                <a:solidFill>
                  <a:schemeClr val="tx1"/>
                </a:solidFill>
                <a:latin typeface="+mn-lt"/>
                <a:ea typeface="+mn-ea"/>
                <a:cs typeface="+mn-cs"/>
              </a:rPr>
              <a:t> </a:t>
            </a:r>
            <a:r>
              <a:rPr lang="fr-FR" sz="1200" b="1" i="0" u="none" strike="noStrike" kern="1200" baseline="0" dirty="0" err="1" smtClean="0">
                <a:solidFill>
                  <a:schemeClr val="tx1"/>
                </a:solidFill>
                <a:latin typeface="+mn-lt"/>
                <a:ea typeface="+mn-ea"/>
                <a:cs typeface="+mn-cs"/>
              </a:rPr>
              <a:t>BranchOffice</a:t>
            </a:r>
            <a:endParaRPr lang="en-CA" sz="1000" b="1"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33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18587526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Some students may be unfamiliar with the options to deploy printers by using Group Policy preferences or Group Policy Objects (GPOs) which have been created by Print Management. If students express an interest in this topic, spend some extra time discussing these.</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34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9071826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Before students begin the lab, read the lab scenario and display the next slide. Before each exercise, read the scenario associated with the exercise to the class. The scenarios give context to the lab and exercises, and help to facilitate the discussion at the end of the lab. Remind students to complete the discussion questions after the last lab exercise.</a:t>
            </a:r>
          </a:p>
          <a:p>
            <a:pPr>
              <a:lnSpc>
                <a:spcPct val="115000"/>
              </a:lnSpc>
              <a:spcAft>
                <a:spcPts val="1000"/>
              </a:spcAft>
            </a:pPr>
            <a:r>
              <a:rPr lang="en-CA" sz="1000" b="1" dirty="0">
                <a:solidFill>
                  <a:srgbClr val="000000"/>
                </a:solidFill>
                <a:latin typeface="Arial"/>
                <a:ea typeface="Calibri"/>
                <a:cs typeface="Segoe UI"/>
              </a:rPr>
              <a:t>Exercise 1: Creating and Configuring a File Share</a:t>
            </a:r>
            <a:endParaRPr lang="en-CA" sz="1000" b="1" dirty="0">
              <a:latin typeface="Arial"/>
              <a:ea typeface="Calibri"/>
              <a:cs typeface="Times New Roman"/>
            </a:endParaRPr>
          </a:p>
          <a:p>
            <a:pPr>
              <a:lnSpc>
                <a:spcPct val="115000"/>
              </a:lnSpc>
              <a:spcAft>
                <a:spcPts val="1000"/>
              </a:spcAft>
            </a:pPr>
            <a:r>
              <a:rPr lang="en-CA" sz="1000" dirty="0">
                <a:latin typeface="Arial"/>
                <a:ea typeface="Calibri"/>
                <a:cs typeface="Segoe UI"/>
              </a:rPr>
              <a:t>Your manager has asked you to create a new shared folder, which all departments will use. There will be a single file share, with separate folders, for each department. To ensure that users see only the folders and files to which they have access, you need to set the file permissions on the departmental folders and enable access‑based enumeration on the share.</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There have been problems in other branch offices with multiple versions of files when offline files were used for shared data structures. To avoid these conflicts, you need to disable Offline Files for this share.</a:t>
            </a:r>
            <a:endParaRPr lang="en-CA" sz="1000" dirty="0">
              <a:latin typeface="Arial"/>
              <a:ea typeface="Calibri"/>
              <a:cs typeface="Times New Roman"/>
            </a:endParaRPr>
          </a:p>
          <a:p>
            <a:pPr>
              <a:lnSpc>
                <a:spcPct val="115000"/>
              </a:lnSpc>
              <a:spcAft>
                <a:spcPts val="1000"/>
              </a:spcAft>
            </a:pPr>
            <a:r>
              <a:rPr lang="en-CA" sz="1000" b="1" dirty="0">
                <a:solidFill>
                  <a:srgbClr val="000000"/>
                </a:solidFill>
                <a:latin typeface="Arial"/>
                <a:ea typeface="Calibri"/>
                <a:cs typeface="Segoe UI"/>
              </a:rPr>
              <a:t>Exercise 2: Configuring Shadow Copies</a:t>
            </a:r>
            <a:endParaRPr lang="en-CA" sz="1000" b="1" dirty="0">
              <a:latin typeface="Arial"/>
              <a:ea typeface="Calibri"/>
              <a:cs typeface="Times New Roman"/>
            </a:endParaRPr>
          </a:p>
          <a:p>
            <a:pPr>
              <a:lnSpc>
                <a:spcPct val="115000"/>
              </a:lnSpc>
              <a:spcAft>
                <a:spcPts val="1000"/>
              </a:spcAft>
            </a:pPr>
            <a:r>
              <a:rPr lang="en-CA" sz="1000" dirty="0">
                <a:latin typeface="Arial"/>
                <a:ea typeface="Calibri"/>
                <a:cs typeface="Segoe UI"/>
              </a:rPr>
              <a:t>A. Datum Corporation stores daily backups offsite for disaster recovery. Every morning, the backup from the previous night is taken offsite. To recover a file from backup, the backup tapes need to be shipped back onsite so the overall time to recover a file from backup can be a day or more.</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Your manager has asked you to enable shadow copies on the file server so you can restore recently modified or deleted files without using a backup tape. Because the data in this branch office changes frequently, you are going to create a shadow copy once per hour.</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Exercise 3: Enabling and Configuring Work Folders </a:t>
            </a:r>
          </a:p>
          <a:p>
            <a:pPr>
              <a:lnSpc>
                <a:spcPct val="115000"/>
              </a:lnSpc>
              <a:spcAft>
                <a:spcPts val="1000"/>
              </a:spcAft>
            </a:pPr>
            <a:r>
              <a:rPr lang="en-CA" sz="1000" dirty="0">
                <a:latin typeface="Arial"/>
                <a:ea typeface="Calibri"/>
                <a:cs typeface="Times New Roman"/>
              </a:rPr>
              <a:t>You must enable and configure Work Folders to support the requirements of your users. Domain users have their own Windows 8.1 and Windows RT 8.1 tablet devices and want access to their work data from anywhere. When they return to work, they want to be able to synchronize these data files. You will use Group Policy to force the Work Folders settings to users and test the settings.</a:t>
            </a:r>
          </a:p>
          <a:p>
            <a:pPr>
              <a:lnSpc>
                <a:spcPct val="115000"/>
              </a:lnSpc>
              <a:spcAft>
                <a:spcPts val="1000"/>
              </a:spcAft>
            </a:pPr>
            <a:r>
              <a:rPr lang="en-CA" sz="1000" b="1" dirty="0">
                <a:latin typeface="Arial"/>
                <a:ea typeface="Calibri"/>
                <a:cs typeface="Times New Roman"/>
              </a:rPr>
              <a:t>Instructor Note: </a:t>
            </a:r>
            <a:r>
              <a:rPr lang="en-CA" sz="1000" dirty="0">
                <a:latin typeface="Arial"/>
                <a:ea typeface="Calibri"/>
                <a:cs typeface="Times New Roman"/>
              </a:rPr>
              <a:t>Explain that students will be adding a registry entry to allow unsecured connections to the work folders. This is for the purposes of this lab exercise only. You would not do this in a normal production environment.</a:t>
            </a:r>
          </a:p>
          <a:p>
            <a:pPr>
              <a:lnSpc>
                <a:spcPct val="115000"/>
              </a:lnSpc>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35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Tree>
    <p:extLst>
      <p:ext uri="{BB962C8B-B14F-4D97-AF65-F5344CB8AC3E}">
        <p14:creationId xmlns:p14="http://schemas.microsoft.com/office/powerpoint/2010/main" xmlns="" val="6878462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b="1" dirty="0">
                <a:solidFill>
                  <a:srgbClr val="000000"/>
                </a:solidFill>
                <a:latin typeface="Arial"/>
                <a:ea typeface="Calibri"/>
                <a:cs typeface="Segoe UI"/>
              </a:rPr>
              <a:t>Exercise 4: Creating and Configuring a Printer Pool</a:t>
            </a:r>
            <a:endParaRPr lang="en-CA" sz="1000" b="1" dirty="0">
              <a:latin typeface="Arial"/>
              <a:ea typeface="Calibri"/>
              <a:cs typeface="Times New Roman"/>
            </a:endParaRPr>
          </a:p>
          <a:p>
            <a:pPr lvl="0">
              <a:lnSpc>
                <a:spcPct val="115000"/>
              </a:lnSpc>
              <a:spcAft>
                <a:spcPts val="1000"/>
              </a:spcAft>
            </a:pPr>
            <a:r>
              <a:rPr lang="en-CA" sz="1000" dirty="0" smtClean="0">
                <a:solidFill>
                  <a:prstClr val="black"/>
                </a:solidFill>
                <a:latin typeface="Arial"/>
                <a:ea typeface="Calibri"/>
                <a:cs typeface="Segoe UI"/>
              </a:rPr>
              <a:t>Your </a:t>
            </a:r>
            <a:r>
              <a:rPr lang="en-CA" sz="1000" dirty="0">
                <a:solidFill>
                  <a:prstClr val="black"/>
                </a:solidFill>
                <a:latin typeface="Arial"/>
                <a:ea typeface="Calibri"/>
                <a:cs typeface="Segoe UI"/>
              </a:rPr>
              <a:t>manager has asked you to create a new shared printer for your branch office. However, instead of creating the shared printer on the local server in the branch office, he has asked you to create the shared printer in the head office and use Branch Office Direct Printing. This allows people in the head office to manage the printer, but prevents print jobs from traversing WAN links.</a:t>
            </a:r>
            <a:endParaRPr lang="en-CA" sz="1000" dirty="0">
              <a:solidFill>
                <a:prstClr val="black"/>
              </a:solidFill>
              <a:latin typeface="Arial"/>
              <a:ea typeface="Calibri"/>
              <a:cs typeface="Times New Roman"/>
            </a:endParaRPr>
          </a:p>
          <a:p>
            <a:pPr lvl="0">
              <a:lnSpc>
                <a:spcPct val="115000"/>
              </a:lnSpc>
              <a:spcAft>
                <a:spcPts val="1000"/>
              </a:spcAft>
            </a:pPr>
            <a:r>
              <a:rPr lang="en-CA" sz="1000" dirty="0">
                <a:solidFill>
                  <a:prstClr val="black"/>
                </a:solidFill>
                <a:latin typeface="Arial"/>
                <a:ea typeface="Calibri"/>
                <a:cs typeface="Segoe UI"/>
              </a:rPr>
              <a:t>To ensure high availability of this printer, you need to format it as a pooled printer. Two physical print devices of the same model have been installed in the branch office for this purpose.</a:t>
            </a:r>
            <a:endParaRPr lang="en-CA" dirty="0"/>
          </a:p>
        </p:txBody>
      </p:sp>
      <p:sp>
        <p:nvSpPr>
          <p:cNvPr id="4" name="Slide Number Placeholder 3"/>
          <p:cNvSpPr>
            <a:spLocks noGrp="1"/>
          </p:cNvSpPr>
          <p:nvPr>
            <p:ph type="sldNum" sz="quarter" idx="10"/>
          </p:nvPr>
        </p:nvSpPr>
        <p:spPr/>
        <p:txBody>
          <a:bodyPr/>
          <a:lstStyle/>
          <a:p>
            <a:fld id="{9870CA0F-3212-4A57-85F5-8924A78C96D3}" type="slidenum">
              <a:rPr lang="en-CA" smtClean="0"/>
              <a:pPr/>
              <a:t>36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14646396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endParaRPr lang="en-CA" dirty="0"/>
          </a:p>
        </p:txBody>
      </p:sp>
      <p:sp>
        <p:nvSpPr>
          <p:cNvPr id="4" name="Slide Number Placeholder 3"/>
          <p:cNvSpPr>
            <a:spLocks noGrp="1"/>
          </p:cNvSpPr>
          <p:nvPr>
            <p:ph type="sldNum" sz="quarter" idx="10"/>
          </p:nvPr>
        </p:nvSpPr>
        <p:spPr/>
        <p:txBody>
          <a:bodyPr/>
          <a:lstStyle/>
          <a:p>
            <a:fld id="{9870CA0F-3212-4A57-85F5-8924A78C96D3}" type="slidenum">
              <a:rPr lang="en-CA" smtClean="0"/>
              <a:pPr/>
              <a:t>37</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42012526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b="1" dirty="0">
                <a:latin typeface="Arial"/>
                <a:ea typeface="Calibri"/>
                <a:cs typeface="Times New Roman"/>
              </a:rPr>
              <a:t>Lab Review Questions </a:t>
            </a:r>
          </a:p>
          <a:p>
            <a:pPr>
              <a:lnSpc>
                <a:spcPct val="115000"/>
              </a:lnSpc>
              <a:spcAft>
                <a:spcPts val="1000"/>
              </a:spcAft>
            </a:pPr>
            <a:r>
              <a:rPr lang="en-CA" sz="1000" b="1" dirty="0" smtClean="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How does implementing access-based enumeration benefit the users of the Data shared folder in this lab?</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Answer</a:t>
            </a:r>
          </a:p>
          <a:p>
            <a:pPr>
              <a:lnSpc>
                <a:spcPct val="115000"/>
              </a:lnSpc>
              <a:spcAft>
                <a:spcPts val="1000"/>
              </a:spcAft>
            </a:pPr>
            <a:r>
              <a:rPr lang="en-CA" sz="1000" dirty="0">
                <a:latin typeface="Arial"/>
                <a:ea typeface="Calibri"/>
                <a:cs typeface="Segoe UI"/>
              </a:rPr>
              <a:t>With access‑based enumeration, users see only the folders for their department, so it is easier to navigate within the folder structure. Access‑based enumeration also increases the network's security because users cannot see any folders and files for which they do not have permissions.</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Question</a:t>
            </a:r>
            <a:endParaRPr lang="en-CA" sz="1000" dirty="0">
              <a:latin typeface="Arial"/>
              <a:ea typeface="Calibri"/>
              <a:cs typeface="Times New Roman"/>
            </a:endParaRPr>
          </a:p>
          <a:p>
            <a:pPr>
              <a:lnSpc>
                <a:spcPts val="1300"/>
              </a:lnSpc>
              <a:spcBef>
                <a:spcPts val="900"/>
              </a:spcBef>
              <a:spcAft>
                <a:spcPts val="300"/>
              </a:spcAft>
            </a:pPr>
            <a:r>
              <a:rPr lang="en-US" sz="1000" b="0" dirty="0" smtClean="0">
                <a:effectLst/>
                <a:latin typeface="Arial"/>
                <a:ea typeface="Times New Roman"/>
                <a:cs typeface="Segoe UI"/>
              </a:rPr>
              <a:t>Is there another way you could recover the file in the shadow copy exercise? What benefit do shadow copies provide in comparison?</a:t>
            </a:r>
            <a:endParaRPr lang="en-CA" sz="1000" b="1" dirty="0" smtClean="0">
              <a:effectLst/>
              <a:latin typeface="Arial"/>
              <a:ea typeface="Times New Roman"/>
              <a:cs typeface="Segoe UI"/>
            </a:endParaRPr>
          </a:p>
          <a:p>
            <a:pPr>
              <a:lnSpc>
                <a:spcPct val="115000"/>
              </a:lnSpc>
              <a:spcAft>
                <a:spcPts val="10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Within the lab itself, the user could recover the file from the Recycle Bin. However, in a real-world scenario, the Recycle Bin is not available for network shared folders. The file would have to be recovered from a backup if shadow copies were not available.</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In comparison, shadow copies maintain multiple, persistent copies of modified files that an administrator or end user can recover.</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In Exercise 3, how could you configure Branch Office Direct Printing if you were in a remote location and did not have access to the Windows Server 2012 GUI for the print server?</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You could configure Branch Office Direct Printing by using Windows PowerShell to connect remotely from a Windows 8 or Windows Server 2012 computer. Then, you could use the </a:t>
            </a:r>
            <a:r>
              <a:rPr lang="en-CA" sz="1000" b="1" dirty="0">
                <a:latin typeface="Arial"/>
                <a:ea typeface="Calibri"/>
                <a:cs typeface="Times New Roman"/>
              </a:rPr>
              <a:t>Set‑Printer</a:t>
            </a:r>
            <a:r>
              <a:rPr lang="en-CA" sz="1000" dirty="0">
                <a:latin typeface="Arial"/>
                <a:ea typeface="Calibri"/>
                <a:cs typeface="Segoe UI"/>
              </a:rPr>
              <a:t> cmdlet to change the configuration.</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38</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Tree>
    <p:extLst>
      <p:ext uri="{BB962C8B-B14F-4D97-AF65-F5344CB8AC3E}">
        <p14:creationId xmlns:p14="http://schemas.microsoft.com/office/powerpoint/2010/main" xmlns="" val="20970459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b="1" dirty="0" smtClean="0">
                <a:latin typeface="Arial"/>
                <a:ea typeface="Calibri"/>
                <a:cs typeface="Times New Roman"/>
              </a:rPr>
              <a:t>Module Review Questions</a:t>
            </a:r>
            <a:endParaRPr lang="en-CA" sz="1000" dirty="0">
              <a:latin typeface="Arial"/>
              <a:ea typeface="Calibri"/>
              <a:cs typeface="Times New Roman"/>
            </a:endParaRPr>
          </a:p>
          <a:p>
            <a:pPr>
              <a:lnSpc>
                <a:spcPct val="115000"/>
              </a:lnSpc>
              <a:spcAft>
                <a:spcPts val="1000"/>
              </a:spcAft>
            </a:pPr>
            <a:r>
              <a:rPr lang="en-US" sz="1000" dirty="0">
                <a:latin typeface="Arial"/>
                <a:ea typeface="Calibri"/>
                <a:cs typeface="Segoe UI"/>
              </a:rPr>
              <a:t>Point students to the appropriate section in the course so that they are able to answer the questions that this section presents.</a:t>
            </a:r>
          </a:p>
          <a:p>
            <a:pPr>
              <a:lnSpc>
                <a:spcPct val="115000"/>
              </a:lnSpc>
              <a:spcAft>
                <a:spcPts val="1000"/>
              </a:spcAft>
            </a:pPr>
            <a:r>
              <a:rPr lang="en-CA" sz="1000" b="1" dirty="0" smtClean="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How does inheritance affect explicitly assigned permissions on a file?</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While inherited permissions accumulate with explicit permissions, explicitly assigned permissions always take precedence over inherited permissions.</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Why should you not use shadow copies as a means for data backup?</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While shadow copies can store copies of files and protect against issues such as accidental deletion, they are reliant on the local files system and Windows Server 2012 for their functionality. Hard drive corruption, or destruction of the local machine, renders shadow copies useless in a disaster-recovery situation.</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In which scenarios could Branch Office Direct Printing be beneficial?</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You should use Branch Office Direct Printing if the WAN connection between a printer and a print server is slow or unreliable. When clients are in the same physical location as the printer, and they use Branch Office Direct Printing, documents are printed quicker and network bandwidth is freed up because print jobs are sent from the client computer directly to the printer and not to the central server and then back to the branch office printer.</a:t>
            </a:r>
            <a:endParaRPr lang="en-CA" sz="1000" dirty="0">
              <a:latin typeface="Arial"/>
              <a:ea typeface="Calibri"/>
              <a:cs typeface="Times New Roman"/>
            </a:endParaRPr>
          </a:p>
          <a:p>
            <a:pPr>
              <a:lnSpc>
                <a:spcPct val="115000"/>
              </a:lnSpc>
              <a:spcAft>
                <a:spcPts val="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9870CA0F-3212-4A57-85F5-8924A78C96D3}" type="slidenum">
              <a:rPr lang="en-CA" smtClean="0"/>
              <a:pPr/>
              <a:t>39</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Tree>
    <p:extLst>
      <p:ext uri="{BB962C8B-B14F-4D97-AF65-F5344CB8AC3E}">
        <p14:creationId xmlns:p14="http://schemas.microsoft.com/office/powerpoint/2010/main" xmlns="" val="34092769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32656" y="2339752"/>
            <a:ext cx="6153912" cy="317784"/>
          </a:xfrm>
        </p:spPr>
        <p:txBody>
          <a:bodyPr>
            <a:noAutofit/>
          </a:bodyPr>
          <a:lstStyle/>
          <a:p>
            <a:pPr>
              <a:lnSpc>
                <a:spcPct val="115000"/>
              </a:lnSpc>
              <a:spcAft>
                <a:spcPts val="1000"/>
              </a:spcAft>
            </a:pPr>
            <a:r>
              <a:rPr lang="en-CA" sz="1000" b="1" dirty="0" smtClean="0">
                <a:latin typeface="Arial"/>
                <a:ea typeface="Calibri"/>
                <a:cs typeface="Times New Roman"/>
              </a:rPr>
              <a:t>Tools</a:t>
            </a:r>
            <a:endParaRPr lang="en-CA" dirty="0"/>
          </a:p>
        </p:txBody>
      </p:sp>
      <p:sp>
        <p:nvSpPr>
          <p:cNvPr id="4" name="Slide Number Placeholder 3"/>
          <p:cNvSpPr>
            <a:spLocks noGrp="1"/>
          </p:cNvSpPr>
          <p:nvPr>
            <p:ph type="sldNum" sz="quarter" idx="10"/>
          </p:nvPr>
        </p:nvSpPr>
        <p:spPr/>
        <p:txBody>
          <a:bodyPr/>
          <a:lstStyle/>
          <a:p>
            <a:fld id="{9870CA0F-3212-4A57-85F5-8924A78C96D3}" type="slidenum">
              <a:rPr lang="en-CA" smtClean="0"/>
              <a:pPr/>
              <a:t>40</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10: Implementing File and Print Services</a:t>
            </a:r>
            <a:endParaRPr lang="en-CA" sz="1200" b="1" dirty="0">
              <a:solidFill>
                <a:srgbClr val="336699"/>
              </a:solidFill>
              <a:latin typeface="Arial"/>
            </a:endParaRPr>
          </a:p>
        </p:txBody>
      </p:sp>
      <p:graphicFrame>
        <p:nvGraphicFramePr>
          <p:cNvPr id="7" name="Table 6"/>
          <p:cNvGraphicFramePr>
            <a:graphicFrameLocks noGrp="1"/>
          </p:cNvGraphicFramePr>
          <p:nvPr>
            <p:extLst>
              <p:ext uri="{D42A27DB-BD31-4B8C-83A1-F6EECF244321}">
                <p14:modId xmlns:p14="http://schemas.microsoft.com/office/powerpoint/2010/main" xmlns="" val="3795076319"/>
              </p:ext>
            </p:extLst>
          </p:nvPr>
        </p:nvGraphicFramePr>
        <p:xfrm>
          <a:off x="404664" y="2771800"/>
          <a:ext cx="6120681" cy="1917184"/>
        </p:xfrm>
        <a:graphic>
          <a:graphicData uri="http://schemas.openxmlformats.org/drawingml/2006/table">
            <a:tbl>
              <a:tblPr firstRow="1" bandRow="1">
                <a:tableStyleId>{2D5ABB26-0587-4C30-8999-92F81FD0307C}</a:tableStyleId>
              </a:tblPr>
              <a:tblGrid>
                <a:gridCol w="1343564"/>
                <a:gridCol w="2544868"/>
                <a:gridCol w="2232249"/>
              </a:tblGrid>
              <a:tr h="57606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1" dirty="0" smtClean="0">
                          <a:latin typeface="Arial"/>
                          <a:ea typeface="Times New Roman"/>
                          <a:cs typeface="Times New Roman"/>
                        </a:rPr>
                        <a:t>Tool</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1" dirty="0" smtClean="0">
                          <a:latin typeface="Arial"/>
                          <a:ea typeface="Times New Roman"/>
                          <a:cs typeface="Times New Roman"/>
                        </a:rPr>
                        <a:t>Used for</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1" dirty="0" smtClean="0">
                          <a:latin typeface="Arial"/>
                          <a:ea typeface="Times New Roman"/>
                          <a:cs typeface="Times New Roman"/>
                        </a:rPr>
                        <a:t>Where to find it</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srgbClr val="000000"/>
                          </a:solidFill>
                          <a:latin typeface="Arial"/>
                          <a:ea typeface="Times New Roman"/>
                          <a:cs typeface="Segoe UI"/>
                        </a:rPr>
                        <a:t>Effective Access Tool</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srgbClr val="000000"/>
                          </a:solidFill>
                          <a:latin typeface="Arial"/>
                          <a:ea typeface="Times New Roman"/>
                          <a:cs typeface="Segoe UI"/>
                        </a:rPr>
                        <a:t>Assessing combined permissions for a file, folder, or shared folder</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srgbClr val="000000"/>
                          </a:solidFill>
                          <a:latin typeface="Arial"/>
                          <a:ea typeface="Times New Roman"/>
                          <a:cs typeface="Segoe UI"/>
                        </a:rPr>
                        <a:t>Under </a:t>
                      </a:r>
                      <a:r>
                        <a:rPr lang="en-US" sz="1000" dirty="0" smtClean="0">
                          <a:solidFill>
                            <a:prstClr val="black"/>
                          </a:solidFill>
                          <a:latin typeface="Arial"/>
                          <a:ea typeface="Times New Roman"/>
                          <a:cs typeface="Times New Roman"/>
                        </a:rPr>
                        <a:t>Advanced</a:t>
                      </a:r>
                      <a:r>
                        <a:rPr lang="en-US" sz="1000" dirty="0" smtClean="0">
                          <a:solidFill>
                            <a:srgbClr val="000000"/>
                          </a:solidFill>
                          <a:latin typeface="Arial"/>
                          <a:ea typeface="Times New Roman"/>
                          <a:cs typeface="Segoe UI"/>
                        </a:rPr>
                        <a:t>, on the </a:t>
                      </a:r>
                      <a:r>
                        <a:rPr lang="en-US" sz="1000" dirty="0" smtClean="0">
                          <a:solidFill>
                            <a:prstClr val="black"/>
                          </a:solidFill>
                          <a:latin typeface="Arial"/>
                          <a:ea typeface="Times New Roman"/>
                          <a:cs typeface="Times New Roman"/>
                        </a:rPr>
                        <a:t>Security</a:t>
                      </a:r>
                      <a:r>
                        <a:rPr lang="en-US" sz="1000" dirty="0" smtClean="0">
                          <a:solidFill>
                            <a:srgbClr val="000000"/>
                          </a:solidFill>
                          <a:latin typeface="Arial"/>
                          <a:ea typeface="Times New Roman"/>
                          <a:cs typeface="Segoe UI"/>
                        </a:rPr>
                        <a:t> tab of the </a:t>
                      </a:r>
                      <a:r>
                        <a:rPr lang="en-US" sz="1000" dirty="0" smtClean="0">
                          <a:solidFill>
                            <a:prstClr val="black"/>
                          </a:solidFill>
                          <a:latin typeface="Arial"/>
                          <a:ea typeface="Times New Roman"/>
                          <a:cs typeface="Times New Roman"/>
                        </a:rPr>
                        <a:t>Properties</a:t>
                      </a:r>
                      <a:r>
                        <a:rPr lang="en-US" sz="1000" dirty="0" smtClean="0">
                          <a:solidFill>
                            <a:srgbClr val="000000"/>
                          </a:solidFill>
                          <a:latin typeface="Arial"/>
                          <a:ea typeface="Times New Roman"/>
                          <a:cs typeface="Segoe UI"/>
                        </a:rPr>
                        <a:t> dialog box of a file, folder or shared folder</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smtClean="0">
                          <a:solidFill>
                            <a:prstClr val="black"/>
                          </a:solidFill>
                          <a:latin typeface="Arial"/>
                          <a:ea typeface="Times New Roman"/>
                          <a:cs typeface="Times New Roman"/>
                        </a:rPr>
                        <a:t>net share </a:t>
                      </a:r>
                      <a:r>
                        <a:rPr lang="en-US" sz="1000" dirty="0" smtClean="0">
                          <a:solidFill>
                            <a:srgbClr val="000000"/>
                          </a:solidFill>
                          <a:latin typeface="Arial"/>
                          <a:ea typeface="Times New Roman"/>
                          <a:cs typeface="Segoe UI"/>
                        </a:rPr>
                        <a:t>command‑line tool</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srgbClr val="000000"/>
                          </a:solidFill>
                          <a:latin typeface="Arial"/>
                          <a:ea typeface="Times New Roman"/>
                          <a:cs typeface="Segoe UI"/>
                        </a:rPr>
                        <a:t>Configuring Windows Server 2012 networking components</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srgbClr val="000000"/>
                          </a:solidFill>
                          <a:latin typeface="Arial"/>
                          <a:ea typeface="Times New Roman"/>
                          <a:cs typeface="Segoe UI"/>
                        </a:rPr>
                        <a:t>Command Prompt window</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srgbClr val="000000"/>
                          </a:solidFill>
                          <a:latin typeface="Arial"/>
                          <a:ea typeface="Times New Roman"/>
                          <a:cs typeface="Segoe UI"/>
                        </a:rPr>
                        <a:t>Print Management console</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srgbClr val="000000"/>
                          </a:solidFill>
                          <a:latin typeface="Arial"/>
                          <a:ea typeface="Times New Roman"/>
                          <a:cs typeface="Segoe UI"/>
                        </a:rPr>
                        <a:t>Managing the print environment in Windows Server 2012</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smtClean="0">
                          <a:solidFill>
                            <a:srgbClr val="000000"/>
                          </a:solidFill>
                          <a:latin typeface="Arial"/>
                          <a:ea typeface="Times New Roman"/>
                          <a:cs typeface="Segoe UI"/>
                        </a:rPr>
                        <a:t>The Tools menu in Server Manager</a:t>
                      </a:r>
                      <a:endParaRPr lang="en-CA" sz="10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xmlns="" val="48675564"/>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xmlns="">
                  <a14:imgLayer r:embed="rId3">
                    <a14:imgEffect>
                      <a14:saturation sat="400000"/>
                    </a14:imgEffect>
                  </a14:imgLayer>
                </a14:imgProps>
              </a:ext>
              <a:ext uri="{28A0092B-C50C-407E-A947-70E740481C1C}">
                <a14:useLocalDpi xmlns:a14="http://schemas.microsoft.com/office/drawing/2010/main" xmlns=""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xmlns=""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xmlns="" val="2938372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3106782" y="3169492"/>
            <a:ext cx="5732417" cy="340093"/>
          </a:xfrm>
        </p:spPr>
        <p:txBody>
          <a:bodyPr/>
          <a:lstStyle/>
          <a:p>
            <a:r>
              <a:rPr lang="en-CA" sz="2600" dirty="0" smtClean="0"/>
              <a:t>Module 10</a:t>
            </a:r>
            <a:endParaRPr lang="en-CA" sz="2600" dirty="0"/>
          </a:p>
        </p:txBody>
      </p:sp>
      <p:sp>
        <p:nvSpPr>
          <p:cNvPr id="3" name="Subtitle 2"/>
          <p:cNvSpPr>
            <a:spLocks noGrp="1"/>
          </p:cNvSpPr>
          <p:nvPr>
            <p:ph type="subTitle" sz="quarter" idx="1"/>
          </p:nvPr>
        </p:nvSpPr>
        <p:spPr/>
        <p:txBody>
          <a:bodyPr/>
          <a:lstStyle/>
          <a:p>
            <a:r>
              <a:rPr lang="en-CA" dirty="0" smtClean="0"/>
              <a:t>Implementing File and Print Services
</a:t>
            </a:r>
            <a:endParaRPr lang="en-CA" dirty="0"/>
          </a:p>
        </p:txBody>
      </p:sp>
    </p:spTree>
    <p:extLst>
      <p:ext uri="{BB962C8B-B14F-4D97-AF65-F5344CB8AC3E}">
        <p14:creationId xmlns:p14="http://schemas.microsoft.com/office/powerpoint/2010/main" xmlns="" val="2190244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2de11403-5404-4120-b9dc-cc323a9c3b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Module Overview</a:t>
            </a:r>
            <a:endParaRPr lang="en-CA" dirty="0"/>
          </a:p>
        </p:txBody>
      </p:sp>
      <p:sp>
        <p:nvSpPr>
          <p:cNvPr id="3" name="Text Placeholder 2"/>
          <p:cNvSpPr>
            <a:spLocks noGrp="1"/>
          </p:cNvSpPr>
          <p:nvPr>
            <p:ph type="body" idx="1"/>
          </p:nvPr>
        </p:nvSpPr>
        <p:spPr/>
        <p:txBody>
          <a:bodyPr/>
          <a:lstStyle/>
          <a:p>
            <a:r>
              <a:rPr lang="en-CA" dirty="0" smtClean="0"/>
              <a:t>Securing Files and Folders
Protecting Shared Files and Folders by Using Shadow Copies
Configuring Work Folders
Configuring Network Printing</a:t>
            </a:r>
            <a:endParaRPr lang="en-CA" dirty="0"/>
          </a:p>
        </p:txBody>
      </p:sp>
    </p:spTree>
    <p:extLst>
      <p:ext uri="{BB962C8B-B14F-4D97-AF65-F5344CB8AC3E}">
        <p14:creationId xmlns:p14="http://schemas.microsoft.com/office/powerpoint/2010/main" xmlns="" val="2048337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928a0490-1281-45c5-84fe-a78eda3c30d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Lesson 1: Securing Files and Folders</a:t>
            </a:r>
            <a:endParaRPr lang="en-CA" dirty="0"/>
          </a:p>
        </p:txBody>
      </p:sp>
      <p:sp>
        <p:nvSpPr>
          <p:cNvPr id="3" name="Text Placeholder 2"/>
          <p:cNvSpPr>
            <a:spLocks noGrp="1"/>
          </p:cNvSpPr>
          <p:nvPr>
            <p:ph type="body" idx="1"/>
          </p:nvPr>
        </p:nvSpPr>
        <p:spPr/>
        <p:txBody>
          <a:bodyPr/>
          <a:lstStyle/>
          <a:p>
            <a:r>
              <a:rPr lang="en-CA" dirty="0" smtClean="0"/>
              <a:t>What Are File Permissions?
What Are Shared Folders?
Permissions Inheritance
Effective Permissions
What Is Access-Based Enumeration?
What Is the Offline Files Feature?
Demonstration: Creating and Configuring a Shared Folder</a:t>
            </a:r>
            <a:endParaRPr lang="en-CA" dirty="0"/>
          </a:p>
        </p:txBody>
      </p:sp>
    </p:spTree>
    <p:extLst>
      <p:ext uri="{BB962C8B-B14F-4D97-AF65-F5344CB8AC3E}">
        <p14:creationId xmlns:p14="http://schemas.microsoft.com/office/powerpoint/2010/main" xmlns="" val="1762385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316387d9-09b8-4036-9228-9909282c8da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File Permissions</a:t>
            </a:r>
            <a:endParaRPr lang="en-CA" dirty="0"/>
          </a:p>
        </p:txBody>
      </p:sp>
      <p:sp>
        <p:nvSpPr>
          <p:cNvPr id="4" name="AutoShape 5"/>
          <p:cNvSpPr>
            <a:spLocks noChangeArrowheads="1"/>
          </p:cNvSpPr>
          <p:nvPr/>
        </p:nvSpPr>
        <p:spPr bwMode="auto">
          <a:xfrm>
            <a:off x="315716" y="772351"/>
            <a:ext cx="8685439" cy="5942798"/>
          </a:xfrm>
          <a:prstGeom prst="roundRect">
            <a:avLst>
              <a:gd name="adj" fmla="val 5634"/>
            </a:avLst>
          </a:prstGeom>
          <a:ln>
            <a:headEnd/>
            <a:tailEnd/>
          </a:ln>
        </p:spPr>
        <p:style>
          <a:lnRef idx="2">
            <a:schemeClr val="accent1"/>
          </a:lnRef>
          <a:fillRef idx="1">
            <a:schemeClr val="lt1"/>
          </a:fillRef>
          <a:effectRef idx="0">
            <a:schemeClr val="accent1"/>
          </a:effectRef>
          <a:fontRef idx="minor">
            <a:schemeClr val="dk1"/>
          </a:fontRef>
        </p:style>
        <p:txBody>
          <a:bodyPr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endParaRPr lang="fr-FR" sz="2400" b="0" dirty="0" smtClean="0">
              <a:latin typeface="Segoe UI" pitchFamily="34" charset="0"/>
              <a:ea typeface="Segoe UI" pitchFamily="34" charset="0"/>
              <a:cs typeface="Segoe UI" pitchFamily="34" charset="0"/>
            </a:endParaRPr>
          </a:p>
          <a:p>
            <a:pPr marL="174625" indent="-174625">
              <a:spcBef>
                <a:spcPts val="600"/>
              </a:spcBef>
              <a:buClr>
                <a:srgbClr val="0070C0"/>
              </a:buClr>
              <a:buSzPct val="90000"/>
              <a:buFont typeface="Arial" pitchFamily="34" charset="0"/>
              <a:buChar char="•"/>
            </a:pPr>
            <a:r>
              <a:rPr lang="fr-FR" sz="2400" b="0" dirty="0" smtClean="0">
                <a:latin typeface="Segoe UI" pitchFamily="34" charset="0"/>
                <a:ea typeface="Segoe UI" pitchFamily="34" charset="0"/>
                <a:cs typeface="Segoe UI" pitchFamily="34" charset="0"/>
              </a:rPr>
              <a:t>On attribue des autorisations de fichiers à des fichiers ou des dossiers sur un volume de stockage formaté en NTFS ou </a:t>
            </a:r>
            <a:r>
              <a:rPr lang="fr-FR" sz="2400" b="0" dirty="0" err="1" smtClean="0">
                <a:latin typeface="Segoe UI" pitchFamily="34" charset="0"/>
                <a:ea typeface="Segoe UI" pitchFamily="34" charset="0"/>
                <a:cs typeface="Segoe UI" pitchFamily="34" charset="0"/>
              </a:rPr>
              <a:t>ReFS</a:t>
            </a:r>
            <a:r>
              <a:rPr lang="fr-FR" sz="2400" b="0" dirty="0" smtClean="0">
                <a:latin typeface="Segoe UI" pitchFamily="34" charset="0"/>
                <a:ea typeface="Segoe UI" pitchFamily="34" charset="0"/>
                <a:cs typeface="Segoe UI" pitchFamily="34" charset="0"/>
              </a:rPr>
              <a:t>. Ces autorisations régissent l'accès des utilisateurs</a:t>
            </a:r>
          </a:p>
          <a:p>
            <a:pPr>
              <a:spcBef>
                <a:spcPts val="300"/>
              </a:spcBef>
              <a:buSzPct val="80000"/>
            </a:pPr>
            <a:endParaRPr lang="fr-FR" sz="900" b="0" dirty="0" smtClean="0">
              <a:latin typeface="Segoe UI" pitchFamily="34" charset="0"/>
              <a:ea typeface="Segoe UI" pitchFamily="34" charset="0"/>
              <a:cs typeface="Segoe UI" pitchFamily="34" charset="0"/>
            </a:endParaRPr>
          </a:p>
          <a:p>
            <a:pPr>
              <a:spcBef>
                <a:spcPts val="300"/>
              </a:spcBef>
              <a:buSzPct val="80000"/>
            </a:pPr>
            <a:endParaRPr lang="fr-FR" sz="900" b="0" dirty="0" smtClean="0">
              <a:latin typeface="Segoe UI" pitchFamily="34" charset="0"/>
              <a:ea typeface="Segoe UI" pitchFamily="34" charset="0"/>
              <a:cs typeface="Segoe UI" pitchFamily="34" charset="0"/>
            </a:endParaRPr>
          </a:p>
          <a:p>
            <a:pPr marL="174625" indent="-174625">
              <a:spcBef>
                <a:spcPts val="600"/>
              </a:spcBef>
              <a:buClr>
                <a:srgbClr val="0070C0"/>
              </a:buClr>
              <a:buSzPct val="90000"/>
              <a:buFont typeface="Arial" pitchFamily="34" charset="0"/>
              <a:buChar char="•"/>
            </a:pPr>
            <a:r>
              <a:rPr lang="fr-FR" sz="2400" b="0" dirty="0" smtClean="0">
                <a:latin typeface="Segoe UI" pitchFamily="34" charset="0"/>
                <a:ea typeface="Segoe UI" pitchFamily="34" charset="0"/>
                <a:cs typeface="Segoe UI" pitchFamily="34" charset="0"/>
              </a:rPr>
              <a:t>Les permissions de fichiers :</a:t>
            </a:r>
          </a:p>
          <a:p>
            <a:pPr marL="631825" lvl="1" indent="-174625">
              <a:spcBef>
                <a:spcPts val="600"/>
              </a:spcBef>
              <a:buClr>
                <a:srgbClr val="0070C0"/>
              </a:buClr>
              <a:buSzPct val="90000"/>
              <a:buFont typeface="Arial" pitchFamily="34" charset="0"/>
              <a:buChar char="•"/>
            </a:pPr>
            <a:r>
              <a:rPr lang="fr-FR" sz="2400" b="0" dirty="0" smtClean="0">
                <a:latin typeface="Segoe UI" pitchFamily="34" charset="0"/>
                <a:ea typeface="Segoe UI" pitchFamily="34" charset="0"/>
                <a:cs typeface="Segoe UI" pitchFamily="34" charset="0"/>
              </a:rPr>
              <a:t>Sont configurées sur des fichiers ou des dossiers</a:t>
            </a:r>
          </a:p>
          <a:p>
            <a:pPr marL="631825" lvl="1" indent="-174625">
              <a:spcBef>
                <a:spcPts val="600"/>
              </a:spcBef>
              <a:buClr>
                <a:srgbClr val="0070C0"/>
              </a:buClr>
              <a:buSzPct val="90000"/>
              <a:buFont typeface="Arial" pitchFamily="34" charset="0"/>
              <a:buChar char="•"/>
            </a:pPr>
            <a:r>
              <a:rPr lang="fr-FR" sz="2400" b="0" dirty="0" smtClean="0">
                <a:latin typeface="Segoe UI" pitchFamily="34" charset="0"/>
                <a:ea typeface="Segoe UI" pitchFamily="34" charset="0"/>
                <a:cs typeface="Segoe UI" pitchFamily="34" charset="0"/>
              </a:rPr>
              <a:t>Peuvent être accordées ou refusées</a:t>
            </a:r>
          </a:p>
          <a:p>
            <a:pPr marL="631825" lvl="1" indent="-174625">
              <a:spcBef>
                <a:spcPts val="600"/>
              </a:spcBef>
              <a:buClr>
                <a:srgbClr val="0070C0"/>
              </a:buClr>
              <a:buSzPct val="90000"/>
              <a:buFont typeface="Arial" pitchFamily="34" charset="0"/>
              <a:buChar char="•"/>
            </a:pPr>
            <a:r>
              <a:rPr lang="fr-FR" sz="2400" b="0" dirty="0" smtClean="0">
                <a:latin typeface="Segoe UI" pitchFamily="34" charset="0"/>
                <a:ea typeface="Segoe UI" pitchFamily="34" charset="0"/>
                <a:cs typeface="Segoe UI" pitchFamily="34" charset="0"/>
              </a:rPr>
              <a:t>Sont héritées des dossiers parents</a:t>
            </a:r>
          </a:p>
          <a:p>
            <a:pPr marL="342900" indent="-342900">
              <a:spcBef>
                <a:spcPts val="300"/>
              </a:spcBef>
              <a:buSzPct val="80000"/>
              <a:buFont typeface="Arial" pitchFamily="34" charset="0"/>
              <a:buChar char="•"/>
            </a:pPr>
            <a:endParaRPr lang="fr-FR" sz="700" b="0" dirty="0" smtClean="0">
              <a:latin typeface="Segoe UI" pitchFamily="34" charset="0"/>
              <a:ea typeface="Segoe UI" pitchFamily="34" charset="0"/>
              <a:cs typeface="Segoe UI" pitchFamily="34" charset="0"/>
            </a:endParaRPr>
          </a:p>
          <a:p>
            <a:pPr marL="342900" indent="-342900">
              <a:spcBef>
                <a:spcPts val="300"/>
              </a:spcBef>
              <a:buSzPct val="80000"/>
              <a:buFont typeface="Arial" pitchFamily="34" charset="0"/>
              <a:buChar char="•"/>
            </a:pPr>
            <a:endParaRPr lang="fr-FR" sz="700" b="0" dirty="0" smtClean="0">
              <a:latin typeface="Segoe UI" pitchFamily="34" charset="0"/>
              <a:ea typeface="Segoe UI" pitchFamily="34" charset="0"/>
              <a:cs typeface="Segoe UI" pitchFamily="34" charset="0"/>
            </a:endParaRPr>
          </a:p>
          <a:p>
            <a:pPr marL="174625" indent="-174625">
              <a:lnSpc>
                <a:spcPct val="100000"/>
              </a:lnSpc>
              <a:spcBef>
                <a:spcPts val="600"/>
              </a:spcBef>
              <a:buClr>
                <a:srgbClr val="0070C0"/>
              </a:buClr>
              <a:buSzPct val="90000"/>
              <a:buFont typeface="Arial" pitchFamily="34" charset="0"/>
              <a:buChar char="•"/>
            </a:pPr>
            <a:r>
              <a:rPr lang="fr-FR" sz="2400" b="0" dirty="0" smtClean="0">
                <a:latin typeface="Segoe UI" pitchFamily="34" charset="0"/>
                <a:ea typeface="Segoe UI" pitchFamily="34" charset="0"/>
                <a:cs typeface="Segoe UI" pitchFamily="34" charset="0"/>
              </a:rPr>
              <a:t>Priorité des permissions :</a:t>
            </a:r>
          </a:p>
          <a:p>
            <a:pPr lvl="1">
              <a:spcBef>
                <a:spcPts val="300"/>
              </a:spcBef>
            </a:pPr>
            <a:r>
              <a:rPr lang="fr-FR" sz="2400" b="0" dirty="0" smtClean="0">
                <a:latin typeface="Segoe UI" pitchFamily="34" charset="0"/>
                <a:ea typeface="Segoe UI" pitchFamily="34" charset="0"/>
                <a:cs typeface="Segoe UI" pitchFamily="34" charset="0"/>
              </a:rPr>
              <a:t>1.  Refus explicite</a:t>
            </a:r>
          </a:p>
          <a:p>
            <a:pPr lvl="1">
              <a:spcBef>
                <a:spcPts val="300"/>
              </a:spcBef>
            </a:pPr>
            <a:r>
              <a:rPr lang="fr-FR" sz="2400" b="0" dirty="0" smtClean="0">
                <a:latin typeface="Segoe UI" pitchFamily="34" charset="0"/>
                <a:ea typeface="Segoe UI" pitchFamily="34" charset="0"/>
                <a:cs typeface="Segoe UI" pitchFamily="34" charset="0"/>
              </a:rPr>
              <a:t>2.  Autorisé explicite</a:t>
            </a:r>
          </a:p>
          <a:p>
            <a:pPr lvl="1">
              <a:spcBef>
                <a:spcPts val="300"/>
              </a:spcBef>
            </a:pPr>
            <a:r>
              <a:rPr lang="fr-FR" sz="2400" b="0" dirty="0" smtClean="0">
                <a:latin typeface="Segoe UI" pitchFamily="34" charset="0"/>
                <a:ea typeface="Segoe UI" pitchFamily="34" charset="0"/>
                <a:cs typeface="Segoe UI" pitchFamily="34" charset="0"/>
              </a:rPr>
              <a:t>3.  Refus hérité</a:t>
            </a:r>
          </a:p>
          <a:p>
            <a:pPr lvl="1">
              <a:spcBef>
                <a:spcPts val="300"/>
              </a:spcBef>
            </a:pPr>
            <a:r>
              <a:rPr lang="fr-FR" sz="2400" b="0" dirty="0" smtClean="0">
                <a:latin typeface="Segoe UI" pitchFamily="34" charset="0"/>
                <a:ea typeface="Segoe UI" pitchFamily="34" charset="0"/>
                <a:cs typeface="Segoe UI" pitchFamily="34" charset="0"/>
              </a:rPr>
              <a:t>4.  Autorisé hérité</a:t>
            </a:r>
          </a:p>
          <a:p>
            <a:endParaRPr lang="fr-FR" sz="2800" b="0"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xmlns="" val="1290056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43b9b31c-9c37-4739-aeb6-485c0ad5ec1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Dossiers partagés</a:t>
            </a:r>
            <a:endParaRPr lang="en-CA" dirty="0"/>
          </a:p>
        </p:txBody>
      </p:sp>
      <p:sp>
        <p:nvSpPr>
          <p:cNvPr id="4" name="AutoShape 5"/>
          <p:cNvSpPr>
            <a:spLocks noChangeArrowheads="1"/>
          </p:cNvSpPr>
          <p:nvPr/>
        </p:nvSpPr>
        <p:spPr bwMode="auto">
          <a:xfrm>
            <a:off x="161580" y="828675"/>
            <a:ext cx="8839576" cy="5600699"/>
          </a:xfrm>
          <a:prstGeom prst="roundRect">
            <a:avLst>
              <a:gd name="adj" fmla="val 14815"/>
            </a:avLst>
          </a:prstGeom>
          <a:ln>
            <a:headEnd/>
            <a:tailEnd/>
          </a:ln>
        </p:spPr>
        <p:style>
          <a:lnRef idx="2">
            <a:schemeClr val="accent1"/>
          </a:lnRef>
          <a:fillRef idx="1">
            <a:schemeClr val="lt1"/>
          </a:fillRef>
          <a:effectRef idx="0">
            <a:schemeClr val="accent1"/>
          </a:effectRef>
          <a:fontRef idx="minor">
            <a:schemeClr val="dk1"/>
          </a:fontRef>
        </p:style>
        <p:txBody>
          <a:bodyPr wrap="squar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174625" indent="-174625">
              <a:lnSpc>
                <a:spcPct val="110000"/>
              </a:lnSpc>
              <a:spcBef>
                <a:spcPts val="600"/>
              </a:spcBef>
              <a:buClr>
                <a:srgbClr val="0070C0"/>
              </a:buClr>
              <a:buSzPct val="90000"/>
              <a:buFont typeface="Arial" pitchFamily="34" charset="0"/>
              <a:buChar char="•"/>
              <a:defRPr/>
            </a:pPr>
            <a:r>
              <a:rPr lang="fr-FR" sz="2600" b="0" kern="0" dirty="0" smtClean="0">
                <a:solidFill>
                  <a:schemeClr val="tx2"/>
                </a:solidFill>
                <a:latin typeface="Segoe UI" panose="020B0502040204020203" pitchFamily="34" charset="0"/>
                <a:ea typeface="Segoe UI" panose="020B0502040204020203" pitchFamily="34" charset="0"/>
                <a:cs typeface="Segoe UI" panose="020B0502040204020203" pitchFamily="34" charset="0"/>
              </a:rPr>
              <a:t>Donne l’accès au contenu d’un dossier par le réseau</a:t>
            </a:r>
            <a:br>
              <a:rPr lang="fr-FR" sz="2600" b="0" kern="0" dirty="0" smtClean="0">
                <a:solidFill>
                  <a:schemeClr val="tx2"/>
                </a:solidFill>
                <a:latin typeface="Segoe UI" panose="020B0502040204020203" pitchFamily="34" charset="0"/>
                <a:ea typeface="Segoe UI" panose="020B0502040204020203" pitchFamily="34" charset="0"/>
                <a:cs typeface="Segoe UI" panose="020B0502040204020203" pitchFamily="34" charset="0"/>
              </a:rPr>
            </a:br>
            <a:endParaRPr lang="fr-FR" sz="1400" b="0" kern="0" dirty="0" smtClean="0">
              <a:solidFill>
                <a:schemeClr val="tx2"/>
              </a:solidFill>
              <a:latin typeface="Segoe UI" panose="020B0502040204020203" pitchFamily="34" charset="0"/>
              <a:ea typeface="Segoe UI" panose="020B0502040204020203" pitchFamily="34" charset="0"/>
              <a:cs typeface="Segoe UI" panose="020B0502040204020203" pitchFamily="34" charset="0"/>
            </a:endParaRPr>
          </a:p>
          <a:p>
            <a:pPr marL="174625" indent="-174625">
              <a:spcBef>
                <a:spcPts val="600"/>
              </a:spcBef>
              <a:buClr>
                <a:srgbClr val="0070C0"/>
              </a:buClr>
              <a:buSzPct val="90000"/>
              <a:buFont typeface="Arial" pitchFamily="34" charset="0"/>
              <a:buChar char="•"/>
              <a:defRPr/>
            </a:pPr>
            <a:r>
              <a:rPr lang="fr-FR" sz="2600" b="0" kern="0" dirty="0" smtClean="0">
                <a:solidFill>
                  <a:schemeClr val="tx2"/>
                </a:solidFill>
                <a:latin typeface="Segoe UI" panose="020B0502040204020203" pitchFamily="34" charset="0"/>
                <a:ea typeface="Segoe UI" panose="020B0502040204020203" pitchFamily="34" charset="0"/>
                <a:cs typeface="Segoe UI" panose="020B0502040204020203" pitchFamily="34" charset="0"/>
              </a:rPr>
              <a:t>Un fichier seul ne peut pas être partagé</a:t>
            </a:r>
            <a:br>
              <a:rPr lang="fr-FR" sz="2600" b="0" kern="0" dirty="0" smtClean="0">
                <a:solidFill>
                  <a:schemeClr val="tx2"/>
                </a:solidFill>
                <a:latin typeface="Segoe UI" panose="020B0502040204020203" pitchFamily="34" charset="0"/>
                <a:ea typeface="Segoe UI" panose="020B0502040204020203" pitchFamily="34" charset="0"/>
                <a:cs typeface="Segoe UI" panose="020B0502040204020203" pitchFamily="34" charset="0"/>
              </a:rPr>
            </a:br>
            <a:endParaRPr lang="fr-FR" sz="1400" b="0" kern="0" dirty="0" smtClean="0">
              <a:solidFill>
                <a:schemeClr val="tx2"/>
              </a:solidFill>
              <a:latin typeface="Segoe UI" panose="020B0502040204020203" pitchFamily="34" charset="0"/>
              <a:ea typeface="Segoe UI" panose="020B0502040204020203" pitchFamily="34" charset="0"/>
              <a:cs typeface="Segoe UI" panose="020B0502040204020203" pitchFamily="34" charset="0"/>
            </a:endParaRPr>
          </a:p>
          <a:p>
            <a:pPr marL="174625" indent="-174625">
              <a:spcBef>
                <a:spcPts val="600"/>
              </a:spcBef>
              <a:buClr>
                <a:srgbClr val="0070C0"/>
              </a:buClr>
              <a:buSzPct val="90000"/>
              <a:buFont typeface="Arial" pitchFamily="34" charset="0"/>
              <a:buChar char="•"/>
              <a:defRPr/>
            </a:pPr>
            <a:r>
              <a:rPr lang="fr-FR" sz="2600" b="0" kern="0" dirty="0" smtClean="0">
                <a:solidFill>
                  <a:schemeClr val="tx2"/>
                </a:solidFill>
                <a:latin typeface="Segoe UI" panose="020B0502040204020203" pitchFamily="34" charset="0"/>
                <a:ea typeface="Segoe UI" panose="020B0502040204020203" pitchFamily="34" charset="0"/>
                <a:cs typeface="Segoe UI" panose="020B0502040204020203" pitchFamily="34" charset="0"/>
              </a:rPr>
              <a:t>Le caractère $ permet de créer un partage de dossiers caché :</a:t>
            </a:r>
          </a:p>
          <a:p>
            <a:pPr marL="631825" lvl="2" indent="-174625">
              <a:spcBef>
                <a:spcPts val="600"/>
              </a:spcBef>
              <a:buClr>
                <a:srgbClr val="0070C0"/>
              </a:buClr>
              <a:buSzPct val="90000"/>
              <a:buFont typeface="Arial" pitchFamily="34" charset="0"/>
              <a:buChar char="•"/>
            </a:pPr>
            <a:r>
              <a:rPr lang="fr-FR" sz="2400" b="0" kern="0" dirty="0" smtClean="0">
                <a:solidFill>
                  <a:schemeClr val="tx2"/>
                </a:solidFill>
                <a:latin typeface="Segoe UI" panose="020B0502040204020203" pitchFamily="34" charset="0"/>
                <a:ea typeface="Segoe UI" panose="020B0502040204020203" pitchFamily="34" charset="0"/>
                <a:cs typeface="Segoe UI" panose="020B0502040204020203" pitchFamily="34" charset="0"/>
              </a:rPr>
              <a:t>\\LON-SVR1\Sales (partage standard)</a:t>
            </a:r>
          </a:p>
          <a:p>
            <a:pPr marL="631825" lvl="2" indent="-174625">
              <a:spcBef>
                <a:spcPts val="600"/>
              </a:spcBef>
              <a:buClr>
                <a:srgbClr val="0070C0"/>
              </a:buClr>
              <a:buSzPct val="90000"/>
              <a:buFont typeface="Arial" pitchFamily="34" charset="0"/>
              <a:buChar char="•"/>
            </a:pPr>
            <a:r>
              <a:rPr lang="fr-FR" sz="2400" b="0" kern="0" dirty="0" smtClean="0">
                <a:solidFill>
                  <a:schemeClr val="tx2"/>
                </a:solidFill>
                <a:latin typeface="Segoe UI" panose="020B0502040204020203" pitchFamily="34" charset="0"/>
                <a:ea typeface="Segoe UI" panose="020B0502040204020203" pitchFamily="34" charset="0"/>
                <a:cs typeface="Segoe UI" panose="020B0502040204020203" pitchFamily="34" charset="0"/>
              </a:rPr>
              <a:t>\\LON-SVR1\Sales$ (partage caché)</a:t>
            </a:r>
            <a:br>
              <a:rPr lang="fr-FR" sz="2400" b="0" kern="0" dirty="0" smtClean="0">
                <a:solidFill>
                  <a:schemeClr val="tx2"/>
                </a:solidFill>
                <a:latin typeface="Segoe UI" panose="020B0502040204020203" pitchFamily="34" charset="0"/>
                <a:ea typeface="Segoe UI" panose="020B0502040204020203" pitchFamily="34" charset="0"/>
                <a:cs typeface="Segoe UI" panose="020B0502040204020203" pitchFamily="34" charset="0"/>
              </a:rPr>
            </a:br>
            <a:endParaRPr lang="fr-FR" sz="1400" b="0" kern="0" dirty="0" smtClean="0">
              <a:solidFill>
                <a:schemeClr val="tx2"/>
              </a:solidFill>
              <a:latin typeface="Segoe UI" panose="020B0502040204020203" pitchFamily="34" charset="0"/>
              <a:ea typeface="Segoe UI" panose="020B0502040204020203" pitchFamily="34" charset="0"/>
              <a:cs typeface="Segoe UI" panose="020B0502040204020203" pitchFamily="34" charset="0"/>
            </a:endParaRPr>
          </a:p>
          <a:p>
            <a:pPr marL="174625" lvl="1" indent="-174625">
              <a:spcBef>
                <a:spcPts val="600"/>
              </a:spcBef>
              <a:buClr>
                <a:srgbClr val="0070C0"/>
              </a:buClr>
              <a:buSzPct val="90000"/>
              <a:buFont typeface="Arial" pitchFamily="34" charset="0"/>
              <a:buChar char="•"/>
            </a:pPr>
            <a:r>
              <a:rPr lang="fr-FR" sz="2600" b="0" kern="0" dirty="0" smtClean="0">
                <a:solidFill>
                  <a:schemeClr val="tx2"/>
                </a:solidFill>
                <a:latin typeface="Segoe UI" panose="020B0502040204020203" pitchFamily="34" charset="0"/>
                <a:ea typeface="Segoe UI" panose="020B0502040204020203" pitchFamily="34" charset="0"/>
                <a:cs typeface="Segoe UI" panose="020B0502040204020203" pitchFamily="34" charset="0"/>
              </a:rPr>
              <a:t>Le partage administratif est un partage caché qui donne l’accès à la racine d’un volume de stockage, ainsi qu’à des dossiers système</a:t>
            </a:r>
            <a:endParaRPr lang="fr-FR" sz="2600" b="0" kern="0" dirty="0">
              <a:solidFill>
                <a:schemeClr val="tx2"/>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xmlns="" val="3203419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21704dfd-f931-4e95-9756-c0baa127785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Permissions héritées</a:t>
            </a:r>
            <a:endParaRPr lang="fr-FR" dirty="0"/>
          </a:p>
        </p:txBody>
      </p:sp>
      <p:sp>
        <p:nvSpPr>
          <p:cNvPr id="4" name="AutoShape 5"/>
          <p:cNvSpPr>
            <a:spLocks noChangeArrowheads="1"/>
          </p:cNvSpPr>
          <p:nvPr/>
        </p:nvSpPr>
        <p:spPr bwMode="auto">
          <a:xfrm>
            <a:off x="171699" y="968329"/>
            <a:ext cx="8972301" cy="5889671"/>
          </a:xfrm>
          <a:prstGeom prst="roundRect">
            <a:avLst>
              <a:gd name="adj" fmla="val 14815"/>
            </a:avLst>
          </a:prstGeom>
          <a:ln>
            <a:headEnd/>
            <a:tailEnd/>
          </a:ln>
        </p:spPr>
        <p:style>
          <a:lnRef idx="2">
            <a:schemeClr val="accent1"/>
          </a:lnRef>
          <a:fillRef idx="1">
            <a:schemeClr val="lt1"/>
          </a:fillRef>
          <a:effectRef idx="0">
            <a:schemeClr val="accent1"/>
          </a:effectRef>
          <a:fontRef idx="minor">
            <a:schemeClr val="dk1"/>
          </a:fontRef>
        </p:style>
        <p:txBody>
          <a:bodyPr wrap="square" lIns="36000" tIns="36000" rIns="36000" bIns="36000"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174625" indent="-174625">
              <a:lnSpc>
                <a:spcPct val="110000"/>
              </a:lnSpc>
              <a:spcBef>
                <a:spcPts val="600"/>
              </a:spcBef>
              <a:buClr>
                <a:srgbClr val="0070C0"/>
              </a:buClr>
              <a:buSzPct val="90000"/>
              <a:buFont typeface="Arial" pitchFamily="34" charset="0"/>
              <a:buChar char="•"/>
              <a:defRPr/>
            </a:pPr>
            <a:r>
              <a:rPr lang="fr-BE" sz="2800" b="0" kern="0" dirty="0" smtClean="0">
                <a:latin typeface="Segoe UI" panose="020B0502040204020203" pitchFamily="34" charset="0"/>
                <a:ea typeface="Segoe UI" panose="020B0502040204020203" pitchFamily="34" charset="0"/>
                <a:cs typeface="Segoe UI" panose="020B0502040204020203" pitchFamily="34" charset="0"/>
              </a:rPr>
              <a:t>L'héritage est utilisé pour gérer l'accès aux ressources sans affecter explicitement des autorisations à chaque objet</a:t>
            </a:r>
            <a:endParaRPr lang="en-US" sz="2800" b="0" kern="0" dirty="0">
              <a:solidFill>
                <a:schemeClr val="dk1"/>
              </a:solidFill>
              <a:latin typeface="Segoe UI" panose="020B0502040204020203" pitchFamily="34" charset="0"/>
              <a:ea typeface="Segoe UI" panose="020B0502040204020203" pitchFamily="34" charset="0"/>
              <a:cs typeface="Segoe UI" panose="020B0502040204020203" pitchFamily="34" charset="0"/>
            </a:endParaRPr>
          </a:p>
          <a:p>
            <a:pPr marL="174625" indent="-174625">
              <a:lnSpc>
                <a:spcPct val="110000"/>
              </a:lnSpc>
              <a:spcBef>
                <a:spcPts val="600"/>
              </a:spcBef>
              <a:buClr>
                <a:srgbClr val="0070C0"/>
              </a:buClr>
              <a:buSzPct val="90000"/>
              <a:buFont typeface="Arial" pitchFamily="34" charset="0"/>
              <a:buChar char="•"/>
              <a:defRPr/>
            </a:pPr>
            <a:r>
              <a:rPr lang="fr-BE" sz="2800" b="0" kern="0" dirty="0" smtClean="0">
                <a:latin typeface="Segoe UI" panose="020B0502040204020203" pitchFamily="34" charset="0"/>
                <a:ea typeface="Segoe UI" panose="020B0502040204020203" pitchFamily="34" charset="0"/>
                <a:cs typeface="Segoe UI" panose="020B0502040204020203" pitchFamily="34" charset="0"/>
              </a:rPr>
              <a:t>Par défaut, les autorisations sont héritées dans une relation parent/enfant</a:t>
            </a:r>
            <a:endParaRPr lang="en-US" sz="2800" b="0" kern="0" dirty="0">
              <a:solidFill>
                <a:schemeClr val="dk1"/>
              </a:solidFill>
              <a:latin typeface="Segoe UI" panose="020B0502040204020203" pitchFamily="34" charset="0"/>
              <a:ea typeface="Segoe UI" panose="020B0502040204020203" pitchFamily="34" charset="0"/>
              <a:cs typeface="Segoe UI" panose="020B0502040204020203" pitchFamily="34" charset="0"/>
            </a:endParaRPr>
          </a:p>
          <a:p>
            <a:pPr marL="174625" indent="-174625">
              <a:lnSpc>
                <a:spcPct val="110000"/>
              </a:lnSpc>
              <a:spcBef>
                <a:spcPts val="600"/>
              </a:spcBef>
              <a:buClr>
                <a:srgbClr val="0070C0"/>
              </a:buClr>
              <a:buSzPct val="90000"/>
              <a:buFont typeface="Arial" pitchFamily="34" charset="0"/>
              <a:buChar char="•"/>
              <a:defRPr/>
            </a:pPr>
            <a:r>
              <a:rPr lang="en-US" sz="2800" b="0" kern="0" dirty="0" smtClean="0">
                <a:solidFill>
                  <a:schemeClr val="dk1"/>
                </a:solidFill>
                <a:latin typeface="Segoe UI" panose="020B0502040204020203" pitchFamily="34" charset="0"/>
                <a:ea typeface="Segoe UI" panose="020B0502040204020203" pitchFamily="34" charset="0"/>
                <a:cs typeface="Segoe UI" panose="020B0502040204020203" pitchFamily="34" charset="0"/>
              </a:rPr>
              <a:t>Blocage de l’héritage:</a:t>
            </a:r>
            <a:endParaRPr lang="en-US" sz="2800" b="0" kern="0" dirty="0">
              <a:solidFill>
                <a:schemeClr val="dk1"/>
              </a:solidFill>
              <a:latin typeface="Segoe UI" panose="020B0502040204020203" pitchFamily="34" charset="0"/>
              <a:ea typeface="Segoe UI" panose="020B0502040204020203" pitchFamily="34" charset="0"/>
              <a:cs typeface="Segoe UI" panose="020B0502040204020203" pitchFamily="34" charset="0"/>
            </a:endParaRPr>
          </a:p>
          <a:p>
            <a:pPr marL="631825" lvl="1" indent="-174625">
              <a:spcBef>
                <a:spcPts val="600"/>
              </a:spcBef>
              <a:buClr>
                <a:srgbClr val="0070C0"/>
              </a:buClr>
              <a:buSzPct val="90000"/>
              <a:buFont typeface="Arial" pitchFamily="34" charset="0"/>
              <a:buChar char="•"/>
              <a:defRPr/>
            </a:pPr>
            <a:r>
              <a:rPr lang="en-US" sz="2800" b="0" kern="0" dirty="0" smtClean="0">
                <a:latin typeface="Segoe UI" panose="020B0502040204020203" pitchFamily="34" charset="0"/>
                <a:ea typeface="Segoe UI" panose="020B0502040204020203" pitchFamily="34" charset="0"/>
                <a:cs typeface="Segoe UI" panose="020B0502040204020203" pitchFamily="34" charset="0"/>
              </a:rPr>
              <a:t>L</a:t>
            </a:r>
            <a:r>
              <a:rPr lang="en-US" sz="2800" b="0" kern="0" dirty="0" smtClean="0">
                <a:solidFill>
                  <a:schemeClr val="dk1"/>
                </a:solidFill>
                <a:latin typeface="Segoe UI" panose="020B0502040204020203" pitchFamily="34" charset="0"/>
                <a:ea typeface="Segoe UI" panose="020B0502040204020203" pitchFamily="34" charset="0"/>
                <a:cs typeface="Segoe UI" panose="020B0502040204020203" pitchFamily="34" charset="0"/>
              </a:rPr>
              <a:t>’héritage peut être bloquée</a:t>
            </a:r>
            <a:endParaRPr lang="en-US" sz="2800" b="0" kern="0" dirty="0">
              <a:solidFill>
                <a:schemeClr val="dk1"/>
              </a:solidFill>
              <a:latin typeface="Segoe UI" panose="020B0502040204020203" pitchFamily="34" charset="0"/>
              <a:ea typeface="Segoe UI" panose="020B0502040204020203" pitchFamily="34" charset="0"/>
              <a:cs typeface="Segoe UI" panose="020B0502040204020203" pitchFamily="34" charset="0"/>
            </a:endParaRPr>
          </a:p>
          <a:p>
            <a:pPr marL="631825" lvl="1" indent="-174625">
              <a:spcBef>
                <a:spcPts val="600"/>
              </a:spcBef>
              <a:buClr>
                <a:srgbClr val="0070C0"/>
              </a:buClr>
              <a:buSzPct val="90000"/>
              <a:buFont typeface="Arial" pitchFamily="34" charset="0"/>
              <a:buChar char="•"/>
              <a:defRPr/>
            </a:pPr>
            <a:r>
              <a:rPr lang="en-US" sz="2800" b="0" kern="0" dirty="0" smtClean="0">
                <a:solidFill>
                  <a:schemeClr val="dk1"/>
                </a:solidFill>
                <a:latin typeface="Segoe UI" panose="020B0502040204020203" pitchFamily="34" charset="0"/>
                <a:ea typeface="Segoe UI" panose="020B0502040204020203" pitchFamily="34" charset="0"/>
                <a:cs typeface="Segoe UI" panose="020B0502040204020203" pitchFamily="34" charset="0"/>
              </a:rPr>
              <a:t>On peut appliquer le blocage aussi bien au niveau d’un dossier qu’au niveau d’un fichier uniquement</a:t>
            </a:r>
            <a:endParaRPr lang="en-US" sz="2800" b="0" kern="0" dirty="0">
              <a:solidFill>
                <a:schemeClr val="dk1"/>
              </a:solidFill>
              <a:latin typeface="Segoe UI" panose="020B0502040204020203" pitchFamily="34" charset="0"/>
              <a:ea typeface="Segoe UI" panose="020B0502040204020203" pitchFamily="34" charset="0"/>
              <a:cs typeface="Segoe UI" panose="020B0502040204020203" pitchFamily="34" charset="0"/>
            </a:endParaRPr>
          </a:p>
          <a:p>
            <a:pPr marL="631825" lvl="1" indent="-174625">
              <a:spcBef>
                <a:spcPts val="600"/>
              </a:spcBef>
              <a:buClr>
                <a:srgbClr val="0070C0"/>
              </a:buClr>
              <a:buSzPct val="90000"/>
              <a:buFont typeface="Arial" pitchFamily="34" charset="0"/>
              <a:buChar char="•"/>
              <a:defRPr/>
            </a:pPr>
            <a:r>
              <a:rPr lang="en-US" sz="2800" b="0" kern="0" dirty="0" smtClean="0">
                <a:latin typeface="Segoe UI" panose="020B0502040204020203" pitchFamily="34" charset="0"/>
                <a:ea typeface="Segoe UI" panose="020B0502040204020203" pitchFamily="34" charset="0"/>
                <a:cs typeface="Segoe UI" panose="020B0502040204020203" pitchFamily="34" charset="0"/>
              </a:rPr>
              <a:t>On </a:t>
            </a:r>
            <a:r>
              <a:rPr lang="fr-BE" sz="2800" b="0" kern="0" dirty="0" smtClean="0">
                <a:latin typeface="Segoe UI" panose="020B0502040204020203" pitchFamily="34" charset="0"/>
                <a:ea typeface="Segoe UI" panose="020B0502040204020203" pitchFamily="34" charset="0"/>
                <a:cs typeface="Segoe UI" panose="020B0502040204020203" pitchFamily="34" charset="0"/>
              </a:rPr>
              <a:t>peut bloquer sur un dossier l’héritage des nouvelles autorisations vers les objets enfants</a:t>
            </a:r>
            <a:endParaRPr lang="en-US" sz="1400" b="0" dirty="0" smtClean="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xmlns="" val="736084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173fc406-0ae6-44cc-8a40-e679a4b36d9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Permissions effectives</a:t>
            </a:r>
            <a:endParaRPr lang="en-CA" dirty="0"/>
          </a:p>
        </p:txBody>
      </p:sp>
      <p:sp>
        <p:nvSpPr>
          <p:cNvPr id="4" name="AutoShape 3"/>
          <p:cNvSpPr>
            <a:spLocks noChangeArrowheads="1"/>
          </p:cNvSpPr>
          <p:nvPr/>
        </p:nvSpPr>
        <p:spPr bwMode="auto">
          <a:xfrm>
            <a:off x="366713" y="1077913"/>
            <a:ext cx="8461375" cy="4449762"/>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l">
              <a:lnSpc>
                <a:spcPct val="90000"/>
              </a:lnSpc>
              <a:spcBef>
                <a:spcPct val="40000"/>
              </a:spcBef>
              <a:buClr>
                <a:srgbClr val="8DACD0"/>
              </a:buClr>
              <a:buSzPct val="70000"/>
              <a:buFont typeface="Wingdings" pitchFamily="2" charset="2"/>
              <a:buNone/>
            </a:pPr>
            <a:endParaRPr lang="en-US" sz="2800" dirty="0">
              <a:latin typeface="Segoe UI" pitchFamily="34" charset="0"/>
              <a:ea typeface="Segoe UI" pitchFamily="34" charset="0"/>
              <a:cs typeface="Segoe UI" pitchFamily="34" charset="0"/>
            </a:endParaRPr>
          </a:p>
        </p:txBody>
      </p:sp>
      <p:sp>
        <p:nvSpPr>
          <p:cNvPr id="5" name="AutoShape 4"/>
          <p:cNvSpPr>
            <a:spLocks noChangeArrowheads="1"/>
          </p:cNvSpPr>
          <p:nvPr/>
        </p:nvSpPr>
        <p:spPr bwMode="auto">
          <a:xfrm>
            <a:off x="308098" y="1235987"/>
            <a:ext cx="8656390" cy="4857309"/>
          </a:xfrm>
          <a:prstGeom prst="roundRect">
            <a:avLst>
              <a:gd name="adj" fmla="val 4167"/>
            </a:avLst>
          </a:prstGeom>
          <a:ln>
            <a:headEnd/>
            <a:tailEnd/>
          </a:ln>
        </p:spPr>
        <p:style>
          <a:lnRef idx="2">
            <a:schemeClr val="accent1"/>
          </a:lnRef>
          <a:fillRef idx="1">
            <a:schemeClr val="lt1"/>
          </a:fillRef>
          <a:effectRef idx="0">
            <a:schemeClr val="accent1"/>
          </a:effectRef>
          <a:fontRef idx="minor">
            <a:schemeClr val="dk1"/>
          </a:fontRef>
        </p:style>
        <p:txBody>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174625" indent="-174625">
              <a:spcBef>
                <a:spcPts val="600"/>
              </a:spcBef>
              <a:buClr>
                <a:srgbClr val="0070C0"/>
              </a:buClr>
              <a:buSzPct val="90000"/>
              <a:buFont typeface="Arial" pitchFamily="34" charset="0"/>
              <a:buChar char="•"/>
            </a:pPr>
            <a:r>
              <a:rPr lang="en-US" sz="2800" b="0" kern="0" dirty="0" smtClean="0">
                <a:solidFill>
                  <a:schemeClr val="tx2"/>
                </a:solidFill>
                <a:latin typeface="Segoe UI" panose="020B0502040204020203" pitchFamily="34" charset="0"/>
                <a:ea typeface="Segoe UI" panose="020B0502040204020203" pitchFamily="34" charset="0"/>
                <a:cs typeface="Segoe UI" panose="020B0502040204020203" pitchFamily="34" charset="0"/>
              </a:rPr>
              <a:t>Quand on combine les autorisations réseau et les autorisations NTFS, c’est l’autorisation la plus restrective qui l’emporte</a:t>
            </a:r>
          </a:p>
          <a:p>
            <a:pPr marL="631825" lvl="1" indent="-174625">
              <a:spcBef>
                <a:spcPts val="600"/>
              </a:spcBef>
              <a:buClr>
                <a:srgbClr val="0070C0"/>
              </a:buClr>
              <a:buSzPct val="90000"/>
              <a:buFont typeface="Arial" pitchFamily="34" charset="0"/>
              <a:buChar char="•"/>
            </a:pPr>
            <a:r>
              <a:rPr lang="en-US" sz="2400" b="0" dirty="0" smtClean="0">
                <a:solidFill>
                  <a:schemeClr val="tx1"/>
                </a:solidFill>
                <a:latin typeface="Segoe UI" pitchFamily="34" charset="0"/>
                <a:ea typeface="Segoe UI" pitchFamily="34" charset="0"/>
                <a:cs typeface="Segoe UI" pitchFamily="34" charset="0"/>
              </a:rPr>
              <a:t>Exemple</a:t>
            </a:r>
            <a:r>
              <a:rPr lang="en-US" sz="2400" b="0" dirty="0">
                <a:solidFill>
                  <a:schemeClr val="tx1"/>
                </a:solidFill>
                <a:latin typeface="Segoe UI" pitchFamily="34" charset="0"/>
                <a:ea typeface="Segoe UI" pitchFamily="34" charset="0"/>
                <a:cs typeface="Segoe UI" pitchFamily="34" charset="0"/>
              </a:rPr>
              <a:t>: </a:t>
            </a:r>
            <a:r>
              <a:rPr lang="en-CA" sz="2400" b="0" dirty="0" smtClean="0">
                <a:solidFill>
                  <a:schemeClr val="tx1"/>
                </a:solidFill>
                <a:latin typeface="Segoe UI" pitchFamily="34" charset="0"/>
                <a:ea typeface="Segoe UI" pitchFamily="34" charset="0"/>
                <a:cs typeface="Segoe UI" pitchFamily="34" charset="0"/>
              </a:rPr>
              <a:t>pour un groupe, on donne des autorisations réseau de lecture seule et des autorisations NTFS de lecture/écriture. Les membres du groupe ne pourront que lire sur le dossier</a:t>
            </a:r>
            <a:r>
              <a:rPr lang="en-US" sz="2400" b="0" dirty="0" smtClean="0">
                <a:solidFill>
                  <a:schemeClr val="tx1"/>
                </a:solidFill>
                <a:latin typeface="Segoe UI" pitchFamily="34" charset="0"/>
                <a:ea typeface="Segoe UI" pitchFamily="34" charset="0"/>
                <a:cs typeface="Segoe UI" pitchFamily="34" charset="0"/>
              </a:rPr>
              <a:t/>
            </a:r>
            <a:br>
              <a:rPr lang="en-US" sz="2400" b="0" dirty="0" smtClean="0">
                <a:solidFill>
                  <a:schemeClr val="tx1"/>
                </a:solidFill>
                <a:latin typeface="Segoe UI" pitchFamily="34" charset="0"/>
                <a:ea typeface="Segoe UI" pitchFamily="34" charset="0"/>
                <a:cs typeface="Segoe UI" pitchFamily="34" charset="0"/>
              </a:rPr>
            </a:br>
            <a:endParaRPr lang="en-US" sz="2800" b="0" dirty="0" smtClean="0">
              <a:solidFill>
                <a:schemeClr val="tx1"/>
              </a:solidFill>
              <a:latin typeface="Segoe UI" pitchFamily="34" charset="0"/>
              <a:ea typeface="Segoe UI" pitchFamily="34" charset="0"/>
              <a:cs typeface="Segoe UI" pitchFamily="34" charset="0"/>
            </a:endParaRPr>
          </a:p>
          <a:p>
            <a:pPr marL="174625" indent="-174625">
              <a:spcBef>
                <a:spcPts val="600"/>
              </a:spcBef>
              <a:buClr>
                <a:srgbClr val="0070C0"/>
              </a:buClr>
              <a:buSzPct val="90000"/>
              <a:buFont typeface="Arial" pitchFamily="34" charset="0"/>
              <a:buChar char="•"/>
            </a:pPr>
            <a:r>
              <a:rPr lang="en-US" sz="2800" b="0" dirty="0" smtClean="0">
                <a:latin typeface="Segoe UI" panose="020B0502040204020203" pitchFamily="34" charset="0"/>
                <a:ea typeface="Segoe UI" panose="020B0502040204020203" pitchFamily="34" charset="0"/>
                <a:cs typeface="Segoe UI" panose="020B0502040204020203" pitchFamily="34" charset="0"/>
              </a:rPr>
              <a:t>Un utilisateur doit disposer d’autorisations réseau et NTFS, </a:t>
            </a:r>
            <a:r>
              <a:rPr lang="fr-BE" sz="2800" b="0" dirty="0" smtClean="0">
                <a:latin typeface="Segoe UI" panose="020B0502040204020203" pitchFamily="34" charset="0"/>
                <a:ea typeface="Segoe UI" panose="020B0502040204020203" pitchFamily="34" charset="0"/>
                <a:cs typeface="Segoe UI" panose="020B0502040204020203" pitchFamily="34" charset="0"/>
              </a:rPr>
              <a:t>sinon il se verra refuser l'accès à la ressource</a:t>
            </a:r>
            <a:endParaRPr lang="en-US" sz="2800" b="0" kern="0" dirty="0">
              <a:solidFill>
                <a:schemeClr val="tx2"/>
              </a:solidFill>
              <a:latin typeface="Segoe UI" panose="020B0502040204020203" pitchFamily="34" charset="0"/>
              <a:ea typeface="Segoe UI" panose="020B0502040204020203" pitchFamily="34" charset="0"/>
              <a:cs typeface="Segoe UI" panose="020B0502040204020203" pitchFamily="34" charset="0"/>
            </a:endParaRPr>
          </a:p>
          <a:p>
            <a:pPr marL="114300" algn="l">
              <a:lnSpc>
                <a:spcPct val="90000"/>
              </a:lnSpc>
            </a:pPr>
            <a:endParaRPr lang="en-US" sz="1200" b="0" dirty="0" smtClean="0">
              <a:solidFill>
                <a:srgbClr val="FF0000"/>
              </a:solidFill>
              <a:latin typeface="Segoe UI" pitchFamily="34" charset="0"/>
              <a:ea typeface="Segoe UI" pitchFamily="34" charset="0"/>
              <a:cs typeface="Segoe UI" pitchFamily="34" charset="0"/>
            </a:endParaRPr>
          </a:p>
          <a:p>
            <a:pPr marL="114300" algn="l">
              <a:lnSpc>
                <a:spcPct val="90000"/>
              </a:lnSpc>
            </a:pPr>
            <a:endParaRPr lang="en-US" sz="1200" b="0" dirty="0">
              <a:solidFill>
                <a:srgbClr val="FF0000"/>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xmlns="" val="1950351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6d1194d7-b558-4c31-b5e6-196ff3aa7bf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Access-Based Enumeration</a:t>
            </a:r>
            <a:endParaRPr lang="en-CA" dirty="0"/>
          </a:p>
        </p:txBody>
      </p:sp>
      <p:sp>
        <p:nvSpPr>
          <p:cNvPr id="4" name="AutoShape 5"/>
          <p:cNvSpPr>
            <a:spLocks noChangeArrowheads="1"/>
          </p:cNvSpPr>
          <p:nvPr/>
        </p:nvSpPr>
        <p:spPr bwMode="auto">
          <a:xfrm>
            <a:off x="273994" y="836712"/>
            <a:ext cx="8870006" cy="5820770"/>
          </a:xfrm>
          <a:prstGeom prst="roundRect">
            <a:avLst>
              <a:gd name="adj" fmla="val 5634"/>
            </a:avLst>
          </a:prstGeom>
          <a:ln>
            <a:headEnd/>
            <a:tailEnd/>
          </a:ln>
        </p:spPr>
        <p:style>
          <a:lnRef idx="2">
            <a:schemeClr val="accent1"/>
          </a:lnRef>
          <a:fillRef idx="1">
            <a:schemeClr val="lt1"/>
          </a:fillRef>
          <a:effectRef idx="0">
            <a:schemeClr val="accent1"/>
          </a:effectRef>
          <a:fontRef idx="minor">
            <a:schemeClr val="dk1"/>
          </a:fontRef>
        </p:style>
        <p:txBody>
          <a:bodyPr wrap="squar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174625" indent="-174625">
              <a:spcBef>
                <a:spcPts val="600"/>
              </a:spcBef>
              <a:buClr>
                <a:srgbClr val="0070C0"/>
              </a:buClr>
              <a:buSzPct val="90000"/>
              <a:buFont typeface="Arial" pitchFamily="34" charset="0"/>
              <a:buChar char="•"/>
            </a:pPr>
            <a:r>
              <a:rPr lang="fr-FR" sz="2800" b="0" kern="0" dirty="0" smtClean="0">
                <a:solidFill>
                  <a:schemeClr val="tx2"/>
                </a:solidFill>
                <a:latin typeface="Segoe UI" panose="020B0502040204020203" pitchFamily="34" charset="0"/>
                <a:ea typeface="Segoe UI" panose="020B0502040204020203" pitchFamily="34" charset="0"/>
                <a:cs typeface="Segoe UI" panose="020B0502040204020203" pitchFamily="34" charset="0"/>
              </a:rPr>
              <a:t>Avec l'énumération basée sur l'accès, les utilisateurs ne voient que les fichiers et les dossiers auxquels ils ont l'autorisation d'accéder. L'énumération basée sur l'accès offre une meilleure expérience utilisateur car elle affiche une vue moins complexe du contenu d'un dossier partagé, ce qui permet aux utilisateurs de trouver les fichiers dont ils ont besoin</a:t>
            </a:r>
          </a:p>
          <a:p>
            <a:pPr marL="174625" indent="-174625">
              <a:spcBef>
                <a:spcPts val="600"/>
              </a:spcBef>
              <a:buClr>
                <a:srgbClr val="0070C0"/>
              </a:buClr>
              <a:buSzPct val="90000"/>
              <a:buFont typeface="Arial" pitchFamily="34" charset="0"/>
              <a:buChar char="•"/>
            </a:pPr>
            <a:endParaRPr lang="fr-FR" sz="2000" b="0" kern="0" dirty="0" smtClean="0">
              <a:solidFill>
                <a:schemeClr val="tx2"/>
              </a:solidFill>
              <a:latin typeface="Segoe UI" panose="020B0502040204020203" pitchFamily="34" charset="0"/>
              <a:ea typeface="Segoe UI" panose="020B0502040204020203" pitchFamily="34" charset="0"/>
              <a:cs typeface="Segoe UI" panose="020B0502040204020203" pitchFamily="34" charset="0"/>
            </a:endParaRPr>
          </a:p>
          <a:p>
            <a:pPr marL="174625" indent="-174625">
              <a:spcBef>
                <a:spcPts val="600"/>
              </a:spcBef>
              <a:buClr>
                <a:srgbClr val="0070C0"/>
              </a:buClr>
              <a:buSzPct val="90000"/>
              <a:buFont typeface="Arial" pitchFamily="34" charset="0"/>
              <a:buChar char="•"/>
            </a:pPr>
            <a:r>
              <a:rPr lang="fr-FR" sz="2800" b="0" kern="0" dirty="0" smtClean="0">
                <a:solidFill>
                  <a:schemeClr val="tx2"/>
                </a:solidFill>
                <a:latin typeface="Segoe UI" panose="020B0502040204020203" pitchFamily="34" charset="0"/>
                <a:ea typeface="Segoe UI" panose="020B0502040204020203" pitchFamily="34" charset="0"/>
                <a:cs typeface="Segoe UI" panose="020B0502040204020203" pitchFamily="34" charset="0"/>
              </a:rPr>
              <a:t>L'énumération basée sur l'accès est :</a:t>
            </a:r>
          </a:p>
          <a:p>
            <a:pPr marL="631825" lvl="1" indent="-174625">
              <a:spcBef>
                <a:spcPts val="600"/>
              </a:spcBef>
              <a:buClr>
                <a:srgbClr val="0070C0"/>
              </a:buClr>
              <a:buSzPct val="90000"/>
              <a:buFont typeface="Arial" pitchFamily="34" charset="0"/>
              <a:buChar char="•"/>
            </a:pPr>
            <a:r>
              <a:rPr lang="fr-FR" sz="2400" b="0" kern="0" dirty="0" smtClean="0">
                <a:solidFill>
                  <a:schemeClr val="tx2"/>
                </a:solidFill>
                <a:latin typeface="Segoe UI" panose="020B0502040204020203" pitchFamily="34" charset="0"/>
                <a:ea typeface="Segoe UI" panose="020B0502040204020203" pitchFamily="34" charset="0"/>
                <a:cs typeface="Segoe UI" panose="020B0502040204020203" pitchFamily="34" charset="0"/>
              </a:rPr>
              <a:t>apparue avec Windows Server 2012</a:t>
            </a:r>
          </a:p>
          <a:p>
            <a:pPr marL="631825" lvl="1" indent="-174625">
              <a:spcBef>
                <a:spcPts val="600"/>
              </a:spcBef>
              <a:buClr>
                <a:srgbClr val="0070C0"/>
              </a:buClr>
              <a:buSzPct val="90000"/>
              <a:buFont typeface="Arial" pitchFamily="34" charset="0"/>
              <a:buChar char="•"/>
            </a:pPr>
            <a:r>
              <a:rPr lang="fr-FR" sz="2400" b="0" kern="0" dirty="0" smtClean="0">
                <a:solidFill>
                  <a:schemeClr val="tx2"/>
                </a:solidFill>
                <a:latin typeface="Segoe UI" panose="020B0502040204020203" pitchFamily="34" charset="0"/>
                <a:ea typeface="Segoe UI" panose="020B0502040204020203" pitchFamily="34" charset="0"/>
                <a:cs typeface="Segoe UI" panose="020B0502040204020203" pitchFamily="34" charset="0"/>
              </a:rPr>
              <a:t>fonctionnelle uniquement avec les dossiers partagés</a:t>
            </a:r>
          </a:p>
          <a:p>
            <a:pPr marL="631825" lvl="1" indent="-174625">
              <a:lnSpc>
                <a:spcPct val="110000"/>
              </a:lnSpc>
              <a:spcBef>
                <a:spcPts val="600"/>
              </a:spcBef>
              <a:buClr>
                <a:srgbClr val="0070C0"/>
              </a:buClr>
              <a:buSzPct val="90000"/>
              <a:buFont typeface="Arial" pitchFamily="34" charset="0"/>
              <a:buChar char="•"/>
            </a:pPr>
            <a:r>
              <a:rPr lang="fr-FR" sz="2400" b="0" kern="0" dirty="0" smtClean="0">
                <a:solidFill>
                  <a:schemeClr val="tx2"/>
                </a:solidFill>
                <a:latin typeface="Segoe UI" panose="020B0502040204020203" pitchFamily="34" charset="0"/>
                <a:ea typeface="Segoe UI" panose="020B0502040204020203" pitchFamily="34" charset="0"/>
                <a:cs typeface="Segoe UI" panose="020B0502040204020203" pitchFamily="34" charset="0"/>
              </a:rPr>
              <a:t>est unique à chaque dossier partagé sur le serveur</a:t>
            </a:r>
            <a:endParaRPr lang="fr-FR" sz="2400" b="0" kern="0" dirty="0">
              <a:solidFill>
                <a:schemeClr val="tx2"/>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xmlns="" val="105507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903c2c25-5255-41b8-8835-72c9b1e8ecf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Offline Files Feature</a:t>
            </a:r>
            <a:endParaRPr lang="en-CA" dirty="0"/>
          </a:p>
        </p:txBody>
      </p:sp>
      <p:pic>
        <p:nvPicPr>
          <p:cNvPr id="5" name="alt text here, screen shot" descr="Depicts a screen shot of the Offline Settings dialog box, which has three options:&#10;Option 1: Only The Files And Programs That Users Specify Are Available Offline. Under this option there is the sub option Enable BranchCache.&#10;Option 2: No Files Or Programs From The Shared Folder Are Available Offline.&#10;Option 3: All Files And Programs That Users Open From The Shared Folder Are Automatically Available Offline. Under this option there is the sub option Optimize For Performance. Under this option, there is also a warning to see Help for details before choosing this option.&#10;"/>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156978" y="2296393"/>
            <a:ext cx="6673311" cy="413873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Text Placeholder 2"/>
          <p:cNvSpPr txBox="1">
            <a:spLocks/>
          </p:cNvSpPr>
          <p:nvPr/>
        </p:nvSpPr>
        <p:spPr bwMode="auto">
          <a:xfrm>
            <a:off x="467544" y="815194"/>
            <a:ext cx="8496944" cy="1128545"/>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vert="horz" wrap="square" lIns="0" tIns="0" rIns="0" bIns="0" numCol="1" anchor="t" anchorCtr="0" compatLnSpc="1">
            <a:prstTxWarp prst="textNoShape">
              <a:avLst/>
            </a:prstTxWarp>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r>
              <a:rPr lang="fr-BE" sz="2400" b="0" dirty="0" smtClean="0">
                <a:solidFill>
                  <a:schemeClr val="tx1"/>
                </a:solidFill>
                <a:latin typeface="Segoe UI" pitchFamily="34" charset="0"/>
                <a:ea typeface="Segoe UI" pitchFamily="34" charset="0"/>
                <a:cs typeface="Segoe UI" pitchFamily="34" charset="0"/>
              </a:rPr>
              <a:t>Les fichiers hors connexion permettent à un ordinateur client de stocker des fichiers réseau localement pour une utilisation hors ligne lorsqu'ils sont déconnectés du réseau</a:t>
            </a:r>
            <a:endParaRPr lang="en-CA" sz="2400" b="0" kern="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xmlns="" val="1899998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3498bec4-22cc-4b50-95f6-160a3196f37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Demonstration: Creating and Configuring a Shared Folder</a:t>
            </a:r>
            <a:endParaRPr lang="en-CA" dirty="0"/>
          </a:p>
        </p:txBody>
      </p:sp>
      <p:sp>
        <p:nvSpPr>
          <p:cNvPr id="4" name="Content Placeholder 2"/>
          <p:cNvSpPr>
            <a:spLocks noGrp="1"/>
          </p:cNvSpPr>
          <p:nvPr/>
        </p:nvSpPr>
        <p:spPr bwMode="auto">
          <a:xfrm>
            <a:off x="458788" y="103645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buNone/>
            </a:pPr>
            <a:r>
              <a:rPr lang="en-US" dirty="0"/>
              <a:t>In this demonstration, you will see how to:</a:t>
            </a:r>
            <a:endParaRPr lang="en-CA" dirty="0"/>
          </a:p>
          <a:p>
            <a:pPr lvl="1"/>
            <a:r>
              <a:rPr lang="en-US" sz="2600" dirty="0"/>
              <a:t>Create a shared </a:t>
            </a:r>
            <a:r>
              <a:rPr lang="en-US" sz="2600" dirty="0" smtClean="0"/>
              <a:t>folder</a:t>
            </a:r>
            <a:endParaRPr lang="en-CA" sz="2600" dirty="0"/>
          </a:p>
          <a:p>
            <a:pPr lvl="1"/>
            <a:r>
              <a:rPr lang="en-US" sz="2600" dirty="0"/>
              <a:t>Assign permissions for the shared </a:t>
            </a:r>
            <a:r>
              <a:rPr lang="en-US" sz="2600" dirty="0" smtClean="0"/>
              <a:t>folder</a:t>
            </a:r>
            <a:endParaRPr lang="en-CA" sz="2600" dirty="0"/>
          </a:p>
          <a:p>
            <a:pPr lvl="1"/>
            <a:r>
              <a:rPr lang="en-US" sz="2600" dirty="0"/>
              <a:t>Configure </a:t>
            </a:r>
            <a:r>
              <a:rPr lang="en-US" sz="2600" dirty="0" smtClean="0"/>
              <a:t>access-based enumeration</a:t>
            </a:r>
            <a:endParaRPr lang="en-CA" sz="2600" dirty="0"/>
          </a:p>
          <a:p>
            <a:pPr lvl="1"/>
            <a:r>
              <a:rPr lang="en-US" sz="2600" dirty="0"/>
              <a:t>Configure </a:t>
            </a:r>
            <a:r>
              <a:rPr lang="en-US" sz="2600" dirty="0" smtClean="0"/>
              <a:t>offline files</a:t>
            </a:r>
            <a:endParaRPr lang="en-CA" sz="2600" dirty="0"/>
          </a:p>
          <a:p>
            <a:endParaRPr lang="en-US" dirty="0"/>
          </a:p>
        </p:txBody>
      </p:sp>
    </p:spTree>
    <p:extLst>
      <p:ext uri="{BB962C8B-B14F-4D97-AF65-F5344CB8AC3E}">
        <p14:creationId xmlns:p14="http://schemas.microsoft.com/office/powerpoint/2010/main" xmlns="" val="226830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xmlns="" val="332350458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5519e9d4-6aca-488a-83ff-34891af5888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Lesson 2: Protecting Shared Files and Folders by Using Shadow Copies</a:t>
            </a:r>
            <a:endParaRPr lang="en-CA" dirty="0"/>
          </a:p>
        </p:txBody>
      </p:sp>
      <p:sp>
        <p:nvSpPr>
          <p:cNvPr id="3" name="Text Placeholder 2"/>
          <p:cNvSpPr>
            <a:spLocks noGrp="1"/>
          </p:cNvSpPr>
          <p:nvPr>
            <p:ph type="body" idx="1"/>
          </p:nvPr>
        </p:nvSpPr>
        <p:spPr/>
        <p:txBody>
          <a:bodyPr/>
          <a:lstStyle/>
          <a:p>
            <a:r>
              <a:rPr lang="en-CA" dirty="0" smtClean="0"/>
              <a:t>What Are Shadow Copies?
Considerations for Scheduling Shadow Copies
Restoring Data from a Shadow Copy
Demonstration: Restoring Data from a Shadow Copy</a:t>
            </a:r>
            <a:endParaRPr lang="en-CA" dirty="0"/>
          </a:p>
        </p:txBody>
      </p:sp>
    </p:spTree>
    <p:extLst>
      <p:ext uri="{BB962C8B-B14F-4D97-AF65-F5344CB8AC3E}">
        <p14:creationId xmlns:p14="http://schemas.microsoft.com/office/powerpoint/2010/main" xmlns="" val="1872222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a60adbff-2291-42f6-800e-e87a71dcc44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Shadow Copies</a:t>
            </a:r>
            <a:endParaRPr lang="en-CA" dirty="0"/>
          </a:p>
        </p:txBody>
      </p:sp>
      <p:sp>
        <p:nvSpPr>
          <p:cNvPr id="4" name="Rounded Rectangle 3"/>
          <p:cNvSpPr>
            <a:spLocks noChangeArrowheads="1"/>
          </p:cNvSpPr>
          <p:nvPr/>
        </p:nvSpPr>
        <p:spPr bwMode="auto">
          <a:xfrm>
            <a:off x="251520" y="764704"/>
            <a:ext cx="8892480" cy="4104456"/>
          </a:xfrm>
          <a:prstGeom prst="roundRect">
            <a:avLst>
              <a:gd name="adj" fmla="val 41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228600" indent="-228600">
              <a:lnSpc>
                <a:spcPct val="90000"/>
              </a:lnSpc>
              <a:spcBef>
                <a:spcPct val="40000"/>
              </a:spcBef>
              <a:buClr>
                <a:srgbClr val="006699"/>
              </a:buClr>
              <a:buFontTx/>
              <a:buChar char="•"/>
            </a:pPr>
            <a:r>
              <a:rPr lang="fr-FR" sz="2400" b="0" dirty="0" smtClean="0">
                <a:solidFill>
                  <a:schemeClr val="tx1"/>
                </a:solidFill>
                <a:latin typeface="Segoe UI" pitchFamily="34" charset="0"/>
                <a:ea typeface="Segoe UI" pitchFamily="34" charset="0"/>
                <a:cs typeface="Segoe UI" pitchFamily="34" charset="0"/>
              </a:rPr>
              <a:t>Autorise l'accès à des versions précédentes de fichiers</a:t>
            </a:r>
          </a:p>
          <a:p>
            <a:pPr marL="228600" indent="-228600">
              <a:lnSpc>
                <a:spcPct val="90000"/>
              </a:lnSpc>
              <a:spcBef>
                <a:spcPct val="40000"/>
              </a:spcBef>
              <a:buClr>
                <a:srgbClr val="006699"/>
              </a:buClr>
              <a:buFontTx/>
              <a:buChar char="•"/>
            </a:pPr>
            <a:r>
              <a:rPr lang="fr-FR" sz="2400" b="0" dirty="0" smtClean="0">
                <a:solidFill>
                  <a:schemeClr val="tx1"/>
                </a:solidFill>
                <a:latin typeface="Segoe UI" pitchFamily="34" charset="0"/>
                <a:ea typeface="Segoe UI" pitchFamily="34" charset="0"/>
                <a:cs typeface="Segoe UI" pitchFamily="34" charset="0"/>
              </a:rPr>
              <a:t>Basé sur un tracking de modifications (après qu'un instantané </a:t>
            </a:r>
            <a:br>
              <a:rPr lang="fr-FR" sz="2400" b="0" dirty="0" smtClean="0">
                <a:solidFill>
                  <a:schemeClr val="tx1"/>
                </a:solidFill>
                <a:latin typeface="Segoe UI" pitchFamily="34" charset="0"/>
                <a:ea typeface="Segoe UI" pitchFamily="34" charset="0"/>
                <a:cs typeface="Segoe UI" pitchFamily="34" charset="0"/>
              </a:rPr>
            </a:br>
            <a:r>
              <a:rPr lang="fr-FR" sz="2400" b="0" dirty="0" smtClean="0">
                <a:solidFill>
                  <a:schemeClr val="tx1"/>
                </a:solidFill>
                <a:latin typeface="Segoe UI" pitchFamily="34" charset="0"/>
                <a:ea typeface="Segoe UI" pitchFamily="34" charset="0"/>
                <a:cs typeface="Segoe UI" pitchFamily="34" charset="0"/>
              </a:rPr>
              <a:t>soit pris, le système suit les modifications apportées au lecteur)</a:t>
            </a:r>
          </a:p>
          <a:p>
            <a:pPr marL="685800" lvl="1" indent="-228600">
              <a:lnSpc>
                <a:spcPct val="90000"/>
              </a:lnSpc>
              <a:spcBef>
                <a:spcPct val="40000"/>
              </a:spcBef>
              <a:buClr>
                <a:srgbClr val="006699"/>
              </a:buClr>
              <a:buFontTx/>
              <a:buChar char="•"/>
            </a:pPr>
            <a:r>
              <a:rPr lang="fr-FR" sz="2200" b="0" dirty="0" smtClean="0">
                <a:solidFill>
                  <a:schemeClr val="tx1"/>
                </a:solidFill>
                <a:latin typeface="Segoe UI" pitchFamily="34" charset="0"/>
                <a:ea typeface="Segoe UI" pitchFamily="34" charset="0"/>
                <a:cs typeface="Segoe UI" pitchFamily="34" charset="0"/>
              </a:rPr>
              <a:t>Par défaut, les blocs de disque modifiés sont stockés sur le même </a:t>
            </a:r>
            <a:br>
              <a:rPr lang="fr-FR" sz="2200" b="0" dirty="0" smtClean="0">
                <a:solidFill>
                  <a:schemeClr val="tx1"/>
                </a:solidFill>
                <a:latin typeface="Segoe UI" pitchFamily="34" charset="0"/>
                <a:ea typeface="Segoe UI" pitchFamily="34" charset="0"/>
                <a:cs typeface="Segoe UI" pitchFamily="34" charset="0"/>
              </a:rPr>
            </a:br>
            <a:r>
              <a:rPr lang="fr-FR" sz="2200" b="0" dirty="0" smtClean="0">
                <a:solidFill>
                  <a:schemeClr val="tx1"/>
                </a:solidFill>
                <a:latin typeface="Segoe UI" pitchFamily="34" charset="0"/>
                <a:ea typeface="Segoe UI" pitchFamily="34" charset="0"/>
                <a:cs typeface="Segoe UI" pitchFamily="34" charset="0"/>
              </a:rPr>
              <a:t>disque que le fichier d'origine</a:t>
            </a:r>
          </a:p>
          <a:p>
            <a:pPr marL="685800" lvl="1" indent="-228600">
              <a:lnSpc>
                <a:spcPct val="90000"/>
              </a:lnSpc>
              <a:spcBef>
                <a:spcPct val="40000"/>
              </a:spcBef>
              <a:buClr>
                <a:srgbClr val="006699"/>
              </a:buClr>
              <a:buFontTx/>
              <a:buChar char="•"/>
            </a:pPr>
            <a:r>
              <a:rPr lang="fr-FR" sz="2200" b="0" dirty="0" smtClean="0">
                <a:solidFill>
                  <a:schemeClr val="tx1"/>
                </a:solidFill>
                <a:latin typeface="Segoe UI" pitchFamily="34" charset="0"/>
                <a:ea typeface="Segoe UI" pitchFamily="34" charset="0"/>
                <a:cs typeface="Segoe UI" pitchFamily="34" charset="0"/>
              </a:rPr>
              <a:t>Quand l’espace de stockage est full, les vieux instantanés sont </a:t>
            </a:r>
            <a:br>
              <a:rPr lang="fr-FR" sz="2200" b="0" dirty="0" smtClean="0">
                <a:solidFill>
                  <a:schemeClr val="tx1"/>
                </a:solidFill>
                <a:latin typeface="Segoe UI" pitchFamily="34" charset="0"/>
                <a:ea typeface="Segoe UI" pitchFamily="34" charset="0"/>
                <a:cs typeface="Segoe UI" pitchFamily="34" charset="0"/>
              </a:rPr>
            </a:br>
            <a:r>
              <a:rPr lang="fr-FR" sz="2200" b="0" dirty="0" smtClean="0">
                <a:solidFill>
                  <a:schemeClr val="tx1"/>
                </a:solidFill>
                <a:latin typeface="Segoe UI" pitchFamily="34" charset="0"/>
                <a:ea typeface="Segoe UI" pitchFamily="34" charset="0"/>
                <a:cs typeface="Segoe UI" pitchFamily="34" charset="0"/>
              </a:rPr>
              <a:t>effacés</a:t>
            </a:r>
          </a:p>
          <a:p>
            <a:pPr marL="228600" lvl="1" indent="-228600">
              <a:lnSpc>
                <a:spcPct val="90000"/>
              </a:lnSpc>
              <a:spcBef>
                <a:spcPct val="40000"/>
              </a:spcBef>
              <a:buClr>
                <a:srgbClr val="006699"/>
              </a:buClr>
              <a:buFontTx/>
              <a:buChar char="•"/>
            </a:pPr>
            <a:r>
              <a:rPr lang="fr-FR" sz="2400" b="0" dirty="0" smtClean="0">
                <a:solidFill>
                  <a:schemeClr val="tx1"/>
                </a:solidFill>
                <a:latin typeface="Segoe UI" pitchFamily="34" charset="0"/>
                <a:ea typeface="Segoe UI" pitchFamily="34" charset="0"/>
                <a:cs typeface="Segoe UI" pitchFamily="34" charset="0"/>
              </a:rPr>
              <a:t>Cela ne remplace pas un backup (parties de fichiers)</a:t>
            </a:r>
          </a:p>
          <a:p>
            <a:pPr marL="228600" lvl="1" indent="-228600">
              <a:lnSpc>
                <a:spcPct val="90000"/>
              </a:lnSpc>
              <a:spcBef>
                <a:spcPct val="40000"/>
              </a:spcBef>
              <a:buClr>
                <a:srgbClr val="006699"/>
              </a:buClr>
              <a:buFontTx/>
              <a:buChar char="•"/>
            </a:pPr>
            <a:r>
              <a:rPr lang="fr-FR" sz="2400" b="0" dirty="0" smtClean="0">
                <a:solidFill>
                  <a:schemeClr val="tx1"/>
                </a:solidFill>
                <a:latin typeface="Segoe UI" pitchFamily="34" charset="0"/>
                <a:ea typeface="Segoe UI" pitchFamily="34" charset="0"/>
                <a:cs typeface="Segoe UI" pitchFamily="34" charset="0"/>
              </a:rPr>
              <a:t>Ne convient pas pour la recupération des bases de données </a:t>
            </a:r>
            <a:br>
              <a:rPr lang="fr-FR" sz="2400" b="0" dirty="0" smtClean="0">
                <a:solidFill>
                  <a:schemeClr val="tx1"/>
                </a:solidFill>
                <a:latin typeface="Segoe UI" pitchFamily="34" charset="0"/>
                <a:ea typeface="Segoe UI" pitchFamily="34" charset="0"/>
                <a:cs typeface="Segoe UI" pitchFamily="34" charset="0"/>
              </a:rPr>
            </a:br>
            <a:r>
              <a:rPr lang="fr-FR" sz="2400" b="0" dirty="0" smtClean="0">
                <a:solidFill>
                  <a:schemeClr val="tx1"/>
                </a:solidFill>
                <a:latin typeface="Segoe UI" pitchFamily="34" charset="0"/>
                <a:ea typeface="Segoe UI" pitchFamily="34" charset="0"/>
                <a:cs typeface="Segoe UI" pitchFamily="34" charset="0"/>
              </a:rPr>
              <a:t>(les données d’une BD </a:t>
            </a:r>
            <a:r>
              <a:rPr lang="fr-BE" sz="2400" b="0" dirty="0" smtClean="0">
                <a:solidFill>
                  <a:schemeClr val="tx1"/>
                </a:solidFill>
                <a:latin typeface="Segoe UI" pitchFamily="34" charset="0"/>
                <a:ea typeface="Segoe UI" pitchFamily="34" charset="0"/>
                <a:cs typeface="Segoe UI" pitchFamily="34" charset="0"/>
              </a:rPr>
              <a:t>doivent être logiquement cohérentes </a:t>
            </a:r>
            <a:br>
              <a:rPr lang="fr-BE" sz="2400" b="0" dirty="0" smtClean="0">
                <a:solidFill>
                  <a:schemeClr val="tx1"/>
                </a:solidFill>
                <a:latin typeface="Segoe UI" pitchFamily="34" charset="0"/>
                <a:ea typeface="Segoe UI" pitchFamily="34" charset="0"/>
                <a:cs typeface="Segoe UI" pitchFamily="34" charset="0"/>
              </a:rPr>
            </a:br>
            <a:r>
              <a:rPr lang="fr-BE" sz="2400" b="0" dirty="0" smtClean="0">
                <a:solidFill>
                  <a:schemeClr val="tx1"/>
                </a:solidFill>
                <a:latin typeface="Segoe UI" pitchFamily="34" charset="0"/>
                <a:ea typeface="Segoe UI" pitchFamily="34" charset="0"/>
                <a:cs typeface="Segoe UI" pitchFamily="34" charset="0"/>
              </a:rPr>
              <a:t>avant qu'une sauvegarde ne soit effectuée)</a:t>
            </a:r>
            <a:endParaRPr lang="fr-FR" sz="2400" b="0" dirty="0">
              <a:solidFill>
                <a:schemeClr val="tx1"/>
              </a:solidFill>
              <a:latin typeface="Segoe UI" pitchFamily="34" charset="0"/>
              <a:ea typeface="Segoe UI" pitchFamily="34" charset="0"/>
              <a:cs typeface="Segoe UI"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4099262" y="5442043"/>
            <a:ext cx="1840890" cy="110088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3041606" y="5496472"/>
            <a:ext cx="1840890" cy="1100880"/>
          </a:xfrm>
          <a:prstGeom prst="rect">
            <a:avLst/>
          </a:prstGeom>
        </p:spPr>
      </p:pic>
    </p:spTree>
    <p:extLst>
      <p:ext uri="{BB962C8B-B14F-4D97-AF65-F5344CB8AC3E}">
        <p14:creationId xmlns:p14="http://schemas.microsoft.com/office/powerpoint/2010/main" xmlns="" val="1292800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f7243d8a-db93-439b-aa10-b669a3b4693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Considerations for Scheduling Shadow Copies</a:t>
            </a:r>
            <a:endParaRPr lang="en-CA" dirty="0"/>
          </a:p>
        </p:txBody>
      </p:sp>
      <p:pic>
        <p:nvPicPr>
          <p:cNvPr id="4" name="alt text here, screenshot" descr="A screen shot of the Schedule dialog box where you can create and edit shadow copy schedules. The dialog box has three parts.&#10;The first part depicts the name and some parameters of the schedule you are working on. You can choose a different schedule via a drop-down list, you can create a new schedule, or you can delete an old schedule.&#10;In the 2nd part you can select how often you will make shadow copies. The settings Weekly and 7:00 AM are selected. The Advanced button is beside these two boxes. &#10;In the 3rd part you can configure the details of the schedule that you selected in the 2nd part. The frequency is set to once per week, and the days Monday through Friday are selected.&#10;"/>
          <p:cNvPicPr>
            <a:picLocks noChangeAspect="1" noChangeArrowheads="1"/>
          </p:cNvPicPr>
          <p:nvPr/>
        </p:nvPicPr>
        <p:blipFill rotWithShape="1">
          <a:blip r:embed="rId3" cstate="print">
            <a:extLst>
              <a:ext uri="{28A0092B-C50C-407E-A947-70E740481C1C}">
                <a14:useLocalDpi xmlns:a14="http://schemas.microsoft.com/office/drawing/2010/main" xmlns="" val="0"/>
              </a:ext>
            </a:extLst>
          </a:blip>
          <a:srcRect l="3341" t="7287" r="5364" b="28551"/>
          <a:stretch/>
        </p:blipFill>
        <p:spPr bwMode="auto">
          <a:xfrm>
            <a:off x="478914" y="1371679"/>
            <a:ext cx="5784134" cy="4871168"/>
          </a:xfrm>
          <a:prstGeom prst="rect">
            <a:avLst/>
          </a:prstGeom>
          <a:noFill/>
          <a:ln w="38100">
            <a:solidFill>
              <a:srgbClr val="00FFFF"/>
            </a:solidFill>
          </a:ln>
          <a:effectLst/>
          <a:extLst/>
        </p:spPr>
      </p:pic>
      <p:sp>
        <p:nvSpPr>
          <p:cNvPr id="5" name="&quot;Default schedule is ... &quot;"/>
          <p:cNvSpPr txBox="1"/>
          <p:nvPr/>
        </p:nvSpPr>
        <p:spPr>
          <a:xfrm>
            <a:off x="864067" y="822607"/>
            <a:ext cx="6409230" cy="369332"/>
          </a:xfrm>
          <a:prstGeom prst="rect">
            <a:avLst/>
          </a:prstGeom>
        </p:spPr>
        <p:style>
          <a:lnRef idx="2">
            <a:schemeClr val="accent1"/>
          </a:lnRef>
          <a:fillRef idx="1">
            <a:schemeClr val="lt1"/>
          </a:fillRef>
          <a:effectRef idx="0">
            <a:schemeClr val="accent1"/>
          </a:effectRef>
          <a:fontRef idx="minor">
            <a:schemeClr val="dk1"/>
          </a:fontRef>
        </p:style>
        <p:txBody>
          <a:bodyPr wrap="square" lIns="36000" tIns="0" rIns="36000" bIns="0" rtlCol="0">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spcBef>
                <a:spcPts val="600"/>
              </a:spcBef>
              <a:buClr>
                <a:srgbClr val="006699"/>
              </a:buClr>
            </a:pPr>
            <a:r>
              <a:rPr lang="en-US" sz="2400" b="0" dirty="0">
                <a:latin typeface="Segoe UI" pitchFamily="34" charset="0"/>
                <a:ea typeface="Segoe UI" pitchFamily="34" charset="0"/>
                <a:cs typeface="Segoe UI" pitchFamily="34" charset="0"/>
              </a:rPr>
              <a:t>Default schedule is </a:t>
            </a:r>
            <a:r>
              <a:rPr lang="en-US" sz="2400" b="0" dirty="0" smtClean="0">
                <a:latin typeface="Segoe UI" pitchFamily="34" charset="0"/>
                <a:ea typeface="Segoe UI" pitchFamily="34" charset="0"/>
                <a:cs typeface="Segoe UI" pitchFamily="34" charset="0"/>
              </a:rPr>
              <a:t>7:00 </a:t>
            </a:r>
            <a:r>
              <a:rPr lang="en-US" sz="2400" b="0" dirty="0">
                <a:latin typeface="Segoe UI" pitchFamily="34" charset="0"/>
                <a:ea typeface="Segoe UI" pitchFamily="34" charset="0"/>
                <a:cs typeface="Segoe UI" pitchFamily="34" charset="0"/>
              </a:rPr>
              <a:t>A.M. and </a:t>
            </a:r>
            <a:r>
              <a:rPr lang="en-US" sz="2400" b="0" dirty="0" smtClean="0">
                <a:latin typeface="Segoe UI" pitchFamily="34" charset="0"/>
                <a:ea typeface="Segoe UI" pitchFamily="34" charset="0"/>
                <a:cs typeface="Segoe UI" pitchFamily="34" charset="0"/>
              </a:rPr>
              <a:t>noon</a:t>
            </a:r>
            <a:endParaRPr lang="en-US" sz="2400" b="0" dirty="0">
              <a:latin typeface="Segoe UI" pitchFamily="34" charset="0"/>
              <a:ea typeface="Segoe UI" pitchFamily="34" charset="0"/>
              <a:cs typeface="Segoe UI" pitchFamily="34" charset="0"/>
            </a:endParaRPr>
          </a:p>
        </p:txBody>
      </p:sp>
      <p:sp>
        <p:nvSpPr>
          <p:cNvPr id="6" name="&quot;Create a shadow copy ...&quot;"/>
          <p:cNvSpPr txBox="1"/>
          <p:nvPr/>
        </p:nvSpPr>
        <p:spPr>
          <a:xfrm>
            <a:off x="6431285" y="1191939"/>
            <a:ext cx="2526447" cy="3323987"/>
          </a:xfrm>
          <a:prstGeom prst="rect">
            <a:avLst/>
          </a:prstGeom>
        </p:spPr>
        <p:style>
          <a:lnRef idx="2">
            <a:schemeClr val="accent1"/>
          </a:lnRef>
          <a:fillRef idx="1">
            <a:schemeClr val="lt1"/>
          </a:fillRef>
          <a:effectRef idx="0">
            <a:schemeClr val="accent1"/>
          </a:effectRef>
          <a:fontRef idx="minor">
            <a:schemeClr val="dk1"/>
          </a:fontRef>
        </p:style>
        <p:txBody>
          <a:bodyPr wrap="square" lIns="36000" tIns="0" rIns="36000" bIns="0" rtlCol="0">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spcBef>
                <a:spcPts val="0"/>
              </a:spcBef>
              <a:buClr>
                <a:srgbClr val="006699"/>
              </a:buClr>
            </a:pPr>
            <a:r>
              <a:rPr lang="en-US" sz="2400" b="0" dirty="0">
                <a:latin typeface="Segoe UI" pitchFamily="34" charset="0"/>
                <a:ea typeface="Segoe UI" pitchFamily="34" charset="0"/>
                <a:cs typeface="Segoe UI" pitchFamily="34" charset="0"/>
              </a:rPr>
              <a:t>Create a shadow copy schedule </a:t>
            </a:r>
            <a:endParaRPr lang="en-US" sz="2400" b="0" dirty="0" smtClean="0">
              <a:latin typeface="Segoe UI" pitchFamily="34" charset="0"/>
              <a:ea typeface="Segoe UI" pitchFamily="34" charset="0"/>
              <a:cs typeface="Segoe UI" pitchFamily="34" charset="0"/>
            </a:endParaRPr>
          </a:p>
          <a:p>
            <a:pPr>
              <a:spcBef>
                <a:spcPts val="0"/>
              </a:spcBef>
              <a:buClr>
                <a:srgbClr val="006699"/>
              </a:buClr>
            </a:pPr>
            <a:r>
              <a:rPr lang="en-US" sz="2400" b="0" dirty="0" smtClean="0">
                <a:latin typeface="Segoe UI" pitchFamily="34" charset="0"/>
                <a:ea typeface="Segoe UI" pitchFamily="34" charset="0"/>
                <a:cs typeface="Segoe UI" pitchFamily="34" charset="0"/>
              </a:rPr>
              <a:t>based on:</a:t>
            </a:r>
          </a:p>
          <a:p>
            <a:pPr marL="268288" lvl="1" indent="-263525">
              <a:spcBef>
                <a:spcPts val="0"/>
              </a:spcBef>
              <a:buClr>
                <a:srgbClr val="006699"/>
              </a:buClr>
              <a:buFontTx/>
              <a:buChar char="•"/>
            </a:pPr>
            <a:r>
              <a:rPr lang="en-US" sz="2400" b="0" dirty="0">
                <a:latin typeface="Segoe UI" pitchFamily="34" charset="0"/>
                <a:ea typeface="Segoe UI" pitchFamily="34" charset="0"/>
                <a:cs typeface="Segoe UI" pitchFamily="34" charset="0"/>
              </a:rPr>
              <a:t>Capacity of </a:t>
            </a:r>
            <a:r>
              <a:rPr lang="en-US" sz="2400" b="0" dirty="0" smtClean="0">
                <a:latin typeface="Segoe UI" pitchFamily="34" charset="0"/>
                <a:ea typeface="Segoe UI" pitchFamily="34" charset="0"/>
                <a:cs typeface="Segoe UI" pitchFamily="34" charset="0"/>
              </a:rPr>
              <a:t>server</a:t>
            </a:r>
          </a:p>
          <a:p>
            <a:pPr marL="268288" lvl="1" indent="-263525">
              <a:spcBef>
                <a:spcPts val="0"/>
              </a:spcBef>
              <a:buClr>
                <a:srgbClr val="006699"/>
              </a:buClr>
              <a:buFontTx/>
              <a:buChar char="•"/>
              <a:tabLst>
                <a:tab pos="1524000" algn="l"/>
              </a:tabLst>
            </a:pPr>
            <a:r>
              <a:rPr lang="en-US" sz="2400" b="0" dirty="0" smtClean="0">
                <a:latin typeface="Segoe UI" pitchFamily="34" charset="0"/>
                <a:ea typeface="Segoe UI" pitchFamily="34" charset="0"/>
                <a:cs typeface="Segoe UI" pitchFamily="34" charset="0"/>
              </a:rPr>
              <a:t>Frequency of </a:t>
            </a:r>
            <a:r>
              <a:rPr lang="en-US" sz="2400" b="0" dirty="0">
                <a:latin typeface="Segoe UI" pitchFamily="34" charset="0"/>
                <a:ea typeface="Segoe UI" pitchFamily="34" charset="0"/>
                <a:cs typeface="Segoe UI" pitchFamily="34" charset="0"/>
              </a:rPr>
              <a:t>changes</a:t>
            </a:r>
          </a:p>
          <a:p>
            <a:pPr marL="268288" lvl="1" indent="-263525">
              <a:spcBef>
                <a:spcPts val="0"/>
              </a:spcBef>
              <a:buClr>
                <a:srgbClr val="006699"/>
              </a:buClr>
              <a:buFontTx/>
              <a:buChar char="•"/>
              <a:tabLst>
                <a:tab pos="1524000" algn="l"/>
              </a:tabLst>
            </a:pPr>
            <a:r>
              <a:rPr lang="en-US" sz="2400" b="0" dirty="0">
                <a:latin typeface="Segoe UI" pitchFamily="34" charset="0"/>
                <a:ea typeface="Segoe UI" pitchFamily="34" charset="0"/>
                <a:cs typeface="Segoe UI" pitchFamily="34" charset="0"/>
              </a:rPr>
              <a:t>Importance of </a:t>
            </a:r>
            <a:r>
              <a:rPr lang="en-US" sz="2400" b="0" dirty="0" smtClean="0">
                <a:latin typeface="Segoe UI" pitchFamily="34" charset="0"/>
                <a:ea typeface="Segoe UI" pitchFamily="34" charset="0"/>
                <a:cs typeface="Segoe UI" pitchFamily="34" charset="0"/>
              </a:rPr>
              <a:t>changes</a:t>
            </a:r>
          </a:p>
        </p:txBody>
      </p:sp>
      <p:pic>
        <p:nvPicPr>
          <p:cNvPr id="7" name="clock"/>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6885499" y="4639607"/>
            <a:ext cx="1408109" cy="1603240"/>
          </a:xfrm>
          <a:prstGeom prst="rect">
            <a:avLst/>
          </a:prstGeom>
        </p:spPr>
      </p:pic>
    </p:spTree>
    <p:extLst>
      <p:ext uri="{BB962C8B-B14F-4D97-AF65-F5344CB8AC3E}">
        <p14:creationId xmlns:p14="http://schemas.microsoft.com/office/powerpoint/2010/main" xmlns="" val="3101544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c61277b8-2570-4db4-bf90-66fc9f9f7292">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683625" cy="740664"/>
          </a:xfrm>
        </p:spPr>
        <p:txBody>
          <a:bodyPr/>
          <a:lstStyle/>
          <a:p>
            <a:r>
              <a:rPr lang="fr-FR" dirty="0" smtClean="0"/>
              <a:t>Restauration de données à partir d’une Shadow Copy</a:t>
            </a:r>
            <a:endParaRPr lang="fr-FR" dirty="0"/>
          </a:p>
        </p:txBody>
      </p:sp>
      <p:sp>
        <p:nvSpPr>
          <p:cNvPr id="4" name="Rounded Rectangle 3"/>
          <p:cNvSpPr>
            <a:spLocks noChangeArrowheads="1"/>
          </p:cNvSpPr>
          <p:nvPr/>
        </p:nvSpPr>
        <p:spPr bwMode="auto">
          <a:xfrm>
            <a:off x="158886" y="784244"/>
            <a:ext cx="8932862" cy="4044430"/>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buNone/>
            </a:pPr>
            <a:endParaRPr lang="en-CA" sz="2200" dirty="0">
              <a:latin typeface="Segoe UI" pitchFamily="34" charset="0"/>
              <a:ea typeface="Segoe UI" pitchFamily="34" charset="0"/>
              <a:cs typeface="Segoe UI" pitchFamily="34" charset="0"/>
            </a:endParaRPr>
          </a:p>
        </p:txBody>
      </p:sp>
      <p:sp>
        <p:nvSpPr>
          <p:cNvPr id="5" name="Rounded Rectangle 4"/>
          <p:cNvSpPr>
            <a:spLocks noChangeArrowheads="1"/>
          </p:cNvSpPr>
          <p:nvPr/>
        </p:nvSpPr>
        <p:spPr bwMode="auto">
          <a:xfrm>
            <a:off x="366760" y="940961"/>
            <a:ext cx="8777240" cy="4792295"/>
          </a:xfrm>
          <a:prstGeom prst="roundRect">
            <a:avLst>
              <a:gd name="adj" fmla="val 4167"/>
            </a:avLst>
          </a:prstGeom>
          <a:noFill/>
          <a:ln w="9525" algn="ctr">
            <a:noFill/>
            <a:round/>
            <a:headEnd/>
            <a:tailEnd/>
          </a:ln>
          <a:effectLst/>
        </p:spPr>
        <p:txBody>
          <a:bodyPr wrap="square" lIns="36000" rIns="3600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228600" indent="-228600">
              <a:lnSpc>
                <a:spcPct val="90000"/>
              </a:lnSpc>
              <a:spcBef>
                <a:spcPts val="600"/>
              </a:spcBef>
              <a:buClr>
                <a:srgbClr val="006699"/>
              </a:buClr>
              <a:buFontTx/>
              <a:buChar char="•"/>
            </a:pPr>
            <a:r>
              <a:rPr lang="fr-FR" sz="2600" b="0" dirty="0" smtClean="0">
                <a:solidFill>
                  <a:schemeClr val="accent4"/>
                </a:solidFill>
                <a:latin typeface="Segoe UI" pitchFamily="34" charset="0"/>
                <a:ea typeface="Segoe UI" pitchFamily="34" charset="0"/>
                <a:cs typeface="Segoe UI" pitchFamily="34" charset="0"/>
              </a:rPr>
              <a:t>Les versions précédentes sont accessibles à partir des propriétés d'un fichier ou d'un dossier</a:t>
            </a:r>
          </a:p>
          <a:p>
            <a:pPr marL="685800" lvl="1" indent="-228600">
              <a:lnSpc>
                <a:spcPct val="90000"/>
              </a:lnSpc>
              <a:spcBef>
                <a:spcPts val="600"/>
              </a:spcBef>
              <a:buClr>
                <a:srgbClr val="006699"/>
              </a:buClr>
              <a:buFontTx/>
              <a:buChar char="•"/>
            </a:pPr>
            <a:r>
              <a:rPr lang="fr-FR" sz="2600" b="0" dirty="0" smtClean="0">
                <a:solidFill>
                  <a:schemeClr val="accent4"/>
                </a:solidFill>
                <a:latin typeface="Segoe UI" pitchFamily="34" charset="0"/>
                <a:ea typeface="Segoe UI" pitchFamily="34" charset="0"/>
                <a:cs typeface="Segoe UI" pitchFamily="34" charset="0"/>
              </a:rPr>
              <a:t>Les admins peuvent restaurer une acienne version de fichier directement à partir du serveur</a:t>
            </a:r>
          </a:p>
          <a:p>
            <a:pPr marL="685800" lvl="1" indent="-228600">
              <a:lnSpc>
                <a:spcPct val="90000"/>
              </a:lnSpc>
              <a:spcBef>
                <a:spcPts val="600"/>
              </a:spcBef>
              <a:buClr>
                <a:srgbClr val="006699"/>
              </a:buClr>
              <a:buFontTx/>
              <a:buChar char="•"/>
            </a:pPr>
            <a:r>
              <a:rPr lang="fr-BE" sz="2600" b="0" dirty="0" smtClean="0">
                <a:solidFill>
                  <a:schemeClr val="accent4"/>
                </a:solidFill>
                <a:latin typeface="Segoe UI" pitchFamily="34" charset="0"/>
                <a:ea typeface="Segoe UI" pitchFamily="34" charset="0"/>
                <a:cs typeface="Segoe UI" pitchFamily="34" charset="0"/>
              </a:rPr>
              <a:t>Les utilisateurs peuvent restaurer des versions antérieures de fichiers sur le réseau à partir d'un partage de fichiers</a:t>
            </a:r>
            <a:br>
              <a:rPr lang="fr-BE" sz="2600" b="0" dirty="0" smtClean="0">
                <a:solidFill>
                  <a:schemeClr val="accent4"/>
                </a:solidFill>
                <a:latin typeface="Segoe UI" pitchFamily="34" charset="0"/>
                <a:ea typeface="Segoe UI" pitchFamily="34" charset="0"/>
                <a:cs typeface="Segoe UI" pitchFamily="34" charset="0"/>
              </a:rPr>
            </a:br>
            <a:endParaRPr lang="fr-FR" sz="2600" b="0" dirty="0" smtClean="0">
              <a:solidFill>
                <a:schemeClr val="accent4"/>
              </a:solidFill>
              <a:latin typeface="Segoe UI" pitchFamily="34" charset="0"/>
              <a:ea typeface="Segoe UI" pitchFamily="34" charset="0"/>
              <a:cs typeface="Segoe UI" pitchFamily="34" charset="0"/>
            </a:endParaRPr>
          </a:p>
          <a:p>
            <a:pPr marL="228600" indent="-228600">
              <a:lnSpc>
                <a:spcPct val="90000"/>
              </a:lnSpc>
              <a:spcBef>
                <a:spcPts val="600"/>
              </a:spcBef>
              <a:buClr>
                <a:srgbClr val="006699"/>
              </a:buClr>
              <a:buFontTx/>
              <a:buChar char="•"/>
            </a:pPr>
            <a:r>
              <a:rPr lang="fr-FR" sz="2600" b="0" dirty="0" smtClean="0">
                <a:solidFill>
                  <a:schemeClr val="accent4"/>
                </a:solidFill>
                <a:latin typeface="Segoe UI" pitchFamily="34" charset="0"/>
                <a:ea typeface="Segoe UI" pitchFamily="34" charset="0"/>
                <a:cs typeface="Segoe UI" pitchFamily="34" charset="0"/>
              </a:rPr>
              <a:t>Tous les utilisateurs peuvent :</a:t>
            </a:r>
          </a:p>
          <a:p>
            <a:pPr marL="685800" lvl="1" indent="-228600">
              <a:lnSpc>
                <a:spcPct val="90000"/>
              </a:lnSpc>
              <a:spcBef>
                <a:spcPts val="600"/>
              </a:spcBef>
              <a:buClr>
                <a:srgbClr val="006699"/>
              </a:buClr>
              <a:buFontTx/>
              <a:buChar char="•"/>
            </a:pPr>
            <a:r>
              <a:rPr lang="fr-FR" sz="2600" b="0" dirty="0" smtClean="0">
                <a:solidFill>
                  <a:schemeClr val="accent4"/>
                </a:solidFill>
                <a:latin typeface="Segoe UI" pitchFamily="34" charset="0"/>
                <a:ea typeface="Segoe UI" pitchFamily="34" charset="0"/>
                <a:cs typeface="Segoe UI" pitchFamily="34" charset="0"/>
              </a:rPr>
              <a:t>Restaurer un fichier ou un dossier</a:t>
            </a:r>
          </a:p>
          <a:p>
            <a:pPr marL="685800" lvl="1" indent="-228600">
              <a:lnSpc>
                <a:spcPct val="90000"/>
              </a:lnSpc>
              <a:spcBef>
                <a:spcPts val="600"/>
              </a:spcBef>
              <a:buClr>
                <a:srgbClr val="006699"/>
              </a:buClr>
              <a:buFontTx/>
              <a:buChar char="•"/>
            </a:pPr>
            <a:r>
              <a:rPr lang="fr-FR" sz="2600" b="0" dirty="0" smtClean="0">
                <a:solidFill>
                  <a:schemeClr val="accent4"/>
                </a:solidFill>
                <a:latin typeface="Segoe UI" pitchFamily="34" charset="0"/>
                <a:ea typeface="Segoe UI" pitchFamily="34" charset="0"/>
                <a:cs typeface="Segoe UI" pitchFamily="34" charset="0"/>
              </a:rPr>
              <a:t>Parcourrir les diférentes versions pour choisir la bonne</a:t>
            </a:r>
          </a:p>
          <a:p>
            <a:pPr marL="685800" lvl="1" indent="-228600">
              <a:lnSpc>
                <a:spcPct val="90000"/>
              </a:lnSpc>
              <a:spcBef>
                <a:spcPts val="600"/>
              </a:spcBef>
              <a:buClr>
                <a:srgbClr val="006699"/>
              </a:buClr>
              <a:buFontTx/>
              <a:buChar char="•"/>
            </a:pPr>
            <a:r>
              <a:rPr lang="fr-BE" sz="2600" b="0" dirty="0" smtClean="0">
                <a:solidFill>
                  <a:schemeClr val="accent4"/>
                </a:solidFill>
                <a:latin typeface="Segoe UI" pitchFamily="34" charset="0"/>
                <a:ea typeface="Segoe UI" pitchFamily="34" charset="0"/>
                <a:cs typeface="Segoe UI" pitchFamily="34" charset="0"/>
              </a:rPr>
              <a:t>Copier un fichier ou un dossier dans un emplacement alternatif</a:t>
            </a:r>
            <a:endParaRPr lang="fr-FR" sz="2600" b="0" dirty="0">
              <a:solidFill>
                <a:schemeClr val="accent4"/>
              </a:solidFill>
              <a:latin typeface="Segoe UI" pitchFamily="34" charset="0"/>
              <a:ea typeface="Segoe UI" pitchFamily="34" charset="0"/>
              <a:cs typeface="Segoe UI"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3828053" y="5906773"/>
            <a:ext cx="1228242" cy="734507"/>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3320851" y="5934853"/>
            <a:ext cx="1228242" cy="734507"/>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5770434" y="5780977"/>
            <a:ext cx="530084" cy="885997"/>
          </a:xfrm>
          <a:prstGeom prst="rect">
            <a:avLst/>
          </a:prstGeom>
        </p:spPr>
      </p:pic>
      <p:cxnSp>
        <p:nvCxnSpPr>
          <p:cNvPr id="9" name="Straight Arrow Connector 8"/>
          <p:cNvCxnSpPr/>
          <p:nvPr/>
        </p:nvCxnSpPr>
        <p:spPr bwMode="auto">
          <a:xfrm>
            <a:off x="5056295" y="6223976"/>
            <a:ext cx="714139" cy="0"/>
          </a:xfrm>
          <a:prstGeom prst="straightConnector1">
            <a:avLst/>
          </a:prstGeom>
          <a:gradFill rotWithShape="1">
            <a:gsLst>
              <a:gs pos="0">
                <a:srgbClr val="E4CD9A"/>
              </a:gs>
              <a:gs pos="100000">
                <a:srgbClr val="EEEFD7"/>
              </a:gs>
            </a:gsLst>
            <a:lin ang="2700000" scaled="1"/>
          </a:gradFill>
          <a:ln w="1905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xmlns="" val="436166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958d256e-91a7-405d-bd78-1381ef022445">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432105" cy="740664"/>
          </a:xfrm>
        </p:spPr>
        <p:txBody>
          <a:bodyPr/>
          <a:lstStyle/>
          <a:p>
            <a:r>
              <a:rPr lang="en-CA" dirty="0" smtClean="0"/>
              <a:t>Demonstration: Restoring Data from a Shadow Copy</a:t>
            </a:r>
            <a:endParaRPr lang="en-CA" dirty="0"/>
          </a:p>
        </p:txBody>
      </p:sp>
      <p:sp>
        <p:nvSpPr>
          <p:cNvPr id="4" name="Content Placeholder 2"/>
          <p:cNvSpPr>
            <a:spLocks noGrp="1"/>
          </p:cNvSpPr>
          <p:nvPr/>
        </p:nvSpPr>
        <p:spPr bwMode="auto">
          <a:xfrm>
            <a:off x="488284"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buNone/>
            </a:pPr>
            <a:r>
              <a:rPr lang="en-US" dirty="0" smtClean="0"/>
              <a:t>In this </a:t>
            </a:r>
            <a:r>
              <a:rPr lang="en-US" dirty="0"/>
              <a:t>demonstration, you will see how to:</a:t>
            </a:r>
            <a:endParaRPr lang="en-CA" dirty="0"/>
          </a:p>
          <a:p>
            <a:pPr lvl="1"/>
            <a:r>
              <a:rPr lang="en-US" sz="2600" dirty="0"/>
              <a:t>Configure shadow copies</a:t>
            </a:r>
            <a:endParaRPr lang="en-CA" sz="2600" dirty="0"/>
          </a:p>
          <a:p>
            <a:pPr lvl="1"/>
            <a:r>
              <a:rPr lang="en-US" sz="2600" dirty="0"/>
              <a:t>Create a new file</a:t>
            </a:r>
            <a:endParaRPr lang="en-CA" sz="2600" dirty="0"/>
          </a:p>
          <a:p>
            <a:pPr lvl="1"/>
            <a:r>
              <a:rPr lang="en-US" sz="2600" dirty="0"/>
              <a:t>Create a shadow copy</a:t>
            </a:r>
            <a:endParaRPr lang="en-CA" sz="2600" dirty="0"/>
          </a:p>
          <a:p>
            <a:pPr lvl="1"/>
            <a:r>
              <a:rPr lang="en-US" sz="2600" dirty="0"/>
              <a:t>Modify the file</a:t>
            </a:r>
            <a:endParaRPr lang="en-CA" sz="2600" dirty="0"/>
          </a:p>
          <a:p>
            <a:pPr lvl="1"/>
            <a:r>
              <a:rPr lang="en-US" sz="2600" dirty="0"/>
              <a:t>Restore the previous version</a:t>
            </a:r>
            <a:endParaRPr lang="en-CA" sz="2600" dirty="0"/>
          </a:p>
          <a:p>
            <a:endParaRPr lang="en-US" dirty="0"/>
          </a:p>
        </p:txBody>
      </p:sp>
    </p:spTree>
    <p:extLst>
      <p:ext uri="{BB962C8B-B14F-4D97-AF65-F5344CB8AC3E}">
        <p14:creationId xmlns:p14="http://schemas.microsoft.com/office/powerpoint/2010/main" xmlns="" val="2836051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xmlns="" val="1887528935"/>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e6f86622-1d87-4da4-9e46-612f06af428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Lesson 3: Configuring Work Folders</a:t>
            </a:r>
            <a:endParaRPr lang="en-CA" dirty="0"/>
          </a:p>
        </p:txBody>
      </p:sp>
      <p:sp>
        <p:nvSpPr>
          <p:cNvPr id="3" name="Text Placeholder 2"/>
          <p:cNvSpPr>
            <a:spLocks noGrp="1"/>
          </p:cNvSpPr>
          <p:nvPr>
            <p:ph type="body" idx="1"/>
          </p:nvPr>
        </p:nvSpPr>
        <p:spPr/>
        <p:txBody>
          <a:bodyPr/>
          <a:lstStyle/>
          <a:p>
            <a:r>
              <a:rPr lang="en-CA" dirty="0" smtClean="0"/>
              <a:t>What Is the Work Folders Role Service?
Benefits and Limitations of Work Folders
Components of Work Folders
Configuring Work Folders
Demonstration: How to Configure Work Folders</a:t>
            </a:r>
            <a:endParaRPr lang="en-CA" dirty="0"/>
          </a:p>
        </p:txBody>
      </p:sp>
    </p:spTree>
    <p:extLst>
      <p:ext uri="{BB962C8B-B14F-4D97-AF65-F5344CB8AC3E}">
        <p14:creationId xmlns:p14="http://schemas.microsoft.com/office/powerpoint/2010/main" xmlns="" val="2452625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f0747039-a185-43d2-a92f-93c3155989c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Work Folders</a:t>
            </a:r>
            <a:endParaRPr lang="en-CA" dirty="0"/>
          </a:p>
        </p:txBody>
      </p:sp>
      <p:grpSp>
        <p:nvGrpSpPr>
          <p:cNvPr id="4" name="user devices inside office"/>
          <p:cNvGrpSpPr/>
          <p:nvPr/>
        </p:nvGrpSpPr>
        <p:grpSpPr>
          <a:xfrm>
            <a:off x="6827614" y="1338862"/>
            <a:ext cx="1621030" cy="2443896"/>
            <a:chOff x="6929209" y="1448448"/>
            <a:chExt cx="1428390" cy="2443896"/>
          </a:xfrm>
        </p:grpSpPr>
        <p:sp>
          <p:nvSpPr>
            <p:cNvPr id="5" name="&quot;User devices&quot;"/>
            <p:cNvSpPr/>
            <p:nvPr/>
          </p:nvSpPr>
          <p:spPr>
            <a:xfrm>
              <a:off x="6929209" y="3584567"/>
              <a:ext cx="1428390" cy="307777"/>
            </a:xfrm>
            <a:prstGeom prst="rect">
              <a:avLst/>
            </a:prstGeom>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defTabSz="768032"/>
              <a:r>
                <a:rPr lang="en-US" sz="2000" b="0" dirty="0" smtClean="0">
                  <a:latin typeface="Segoe UI" panose="020B0502040204020203" pitchFamily="34" charset="0"/>
                  <a:ea typeface="Segoe UI" panose="020B0502040204020203" pitchFamily="34" charset="0"/>
                  <a:cs typeface="Segoe UI" panose="020B0502040204020203" pitchFamily="34" charset="0"/>
                </a:rPr>
                <a:t>User Devices</a:t>
              </a:r>
              <a:endParaRPr lang="en-US" sz="2000" b="0" dirty="0">
                <a:latin typeface="Segoe UI" panose="020B0502040204020203" pitchFamily="34" charset="0"/>
                <a:ea typeface="Segoe UI" panose="020B0502040204020203" pitchFamily="34" charset="0"/>
                <a:cs typeface="Segoe UI" panose="020B0502040204020203" pitchFamily="34" charset="0"/>
              </a:endParaRPr>
            </a:p>
          </p:txBody>
        </p:sp>
        <p:pic>
          <p:nvPicPr>
            <p:cNvPr id="6" name="laptop"/>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7221065" y="2563116"/>
              <a:ext cx="844678" cy="953585"/>
            </a:xfrm>
            <a:prstGeom prst="rect">
              <a:avLst/>
            </a:prstGeom>
          </p:spPr>
        </p:pic>
        <p:pic>
          <p:nvPicPr>
            <p:cNvPr id="7" name="phone"/>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7255646" y="1448448"/>
              <a:ext cx="713819" cy="979641"/>
            </a:xfrm>
            <a:prstGeom prst="rect">
              <a:avLst/>
            </a:prstGeom>
          </p:spPr>
        </p:pic>
      </p:grpSp>
      <p:grpSp>
        <p:nvGrpSpPr>
          <p:cNvPr id="8" name="user devices outside office"/>
          <p:cNvGrpSpPr/>
          <p:nvPr/>
        </p:nvGrpSpPr>
        <p:grpSpPr>
          <a:xfrm>
            <a:off x="375353" y="1309950"/>
            <a:ext cx="1482521" cy="2651262"/>
            <a:chOff x="332235" y="1251227"/>
            <a:chExt cx="1482521" cy="2651262"/>
          </a:xfrm>
        </p:grpSpPr>
        <p:sp>
          <p:nvSpPr>
            <p:cNvPr id="9" name="&quot;User devices&quot;"/>
            <p:cNvSpPr/>
            <p:nvPr/>
          </p:nvSpPr>
          <p:spPr>
            <a:xfrm>
              <a:off x="332235" y="3594712"/>
              <a:ext cx="1482521" cy="307777"/>
            </a:xfrm>
            <a:prstGeom prst="rect">
              <a:avLst/>
            </a:prstGeom>
          </p:spPr>
          <p:txBody>
            <a:bodyPr wrap="square" lIns="0" tIns="0" rIns="0" bIns="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defTabSz="768032"/>
              <a:r>
                <a:rPr lang="en-US" sz="2000" b="0" dirty="0" smtClean="0">
                  <a:latin typeface="Segoe UI" panose="020B0502040204020203" pitchFamily="34" charset="0"/>
                  <a:ea typeface="Segoe UI" panose="020B0502040204020203" pitchFamily="34" charset="0"/>
                  <a:cs typeface="Segoe UI" panose="020B0502040204020203" pitchFamily="34" charset="0"/>
                </a:rPr>
                <a:t>User Devices</a:t>
              </a:r>
              <a:endParaRPr lang="en-US" sz="2000" b="0" dirty="0">
                <a:latin typeface="Segoe UI" panose="020B0502040204020203" pitchFamily="34" charset="0"/>
                <a:ea typeface="Segoe UI" panose="020B0502040204020203" pitchFamily="34" charset="0"/>
                <a:cs typeface="Segoe UI" panose="020B0502040204020203" pitchFamily="34" charset="0"/>
              </a:endParaRPr>
            </a:p>
          </p:txBody>
        </p:sp>
        <p:pic>
          <p:nvPicPr>
            <p:cNvPr id="10" name="phone"/>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700636" y="2601543"/>
              <a:ext cx="450652" cy="919861"/>
            </a:xfrm>
            <a:prstGeom prst="rect">
              <a:avLst/>
            </a:prstGeom>
          </p:spPr>
        </p:pic>
        <p:pic>
          <p:nvPicPr>
            <p:cNvPr id="11" name="worksation"/>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a:off x="395536" y="1251227"/>
              <a:ext cx="1112095" cy="996946"/>
            </a:xfrm>
            <a:prstGeom prst="rect">
              <a:avLst/>
            </a:prstGeom>
          </p:spPr>
        </p:pic>
      </p:grpSp>
      <p:sp>
        <p:nvSpPr>
          <p:cNvPr id="12" name="corporate rectangle"/>
          <p:cNvSpPr/>
          <p:nvPr/>
        </p:nvSpPr>
        <p:spPr>
          <a:xfrm>
            <a:off x="3253964" y="1108926"/>
            <a:ext cx="5389604" cy="302687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5293" tIns="37646" rIns="75293" bIns="37646" rtlCol="0" anchor="ctr"/>
          <a:lstStyle>
            <a:defPPr>
              <a:defRPr lang="en-US"/>
            </a:defPPr>
            <a:lvl1pPr algn="l" rtl="0" fontAlgn="base">
              <a:spcBef>
                <a:spcPct val="0"/>
              </a:spcBef>
              <a:spcAft>
                <a:spcPct val="0"/>
              </a:spcAft>
              <a:defRPr b="1" kern="1200">
                <a:solidFill>
                  <a:schemeClr val="lt1"/>
                </a:solidFill>
                <a:latin typeface="+mn-lt"/>
                <a:ea typeface="+mn-ea"/>
                <a:cs typeface="+mn-cs"/>
              </a:defRPr>
            </a:lvl1pPr>
            <a:lvl2pPr marL="457200" algn="l" rtl="0" fontAlgn="base">
              <a:spcBef>
                <a:spcPct val="0"/>
              </a:spcBef>
              <a:spcAft>
                <a:spcPct val="0"/>
              </a:spcAft>
              <a:defRPr b="1" kern="1200">
                <a:solidFill>
                  <a:schemeClr val="lt1"/>
                </a:solidFill>
                <a:latin typeface="+mn-lt"/>
                <a:ea typeface="+mn-ea"/>
                <a:cs typeface="+mn-cs"/>
              </a:defRPr>
            </a:lvl2pPr>
            <a:lvl3pPr marL="914400" algn="l" rtl="0" fontAlgn="base">
              <a:spcBef>
                <a:spcPct val="0"/>
              </a:spcBef>
              <a:spcAft>
                <a:spcPct val="0"/>
              </a:spcAft>
              <a:defRPr b="1" kern="1200">
                <a:solidFill>
                  <a:schemeClr val="lt1"/>
                </a:solidFill>
                <a:latin typeface="+mn-lt"/>
                <a:ea typeface="+mn-ea"/>
                <a:cs typeface="+mn-cs"/>
              </a:defRPr>
            </a:lvl3pPr>
            <a:lvl4pPr marL="1371600" algn="l" rtl="0" fontAlgn="base">
              <a:spcBef>
                <a:spcPct val="0"/>
              </a:spcBef>
              <a:spcAft>
                <a:spcPct val="0"/>
              </a:spcAft>
              <a:defRPr b="1" kern="1200">
                <a:solidFill>
                  <a:schemeClr val="lt1"/>
                </a:solidFill>
                <a:latin typeface="+mn-lt"/>
                <a:ea typeface="+mn-ea"/>
                <a:cs typeface="+mn-cs"/>
              </a:defRPr>
            </a:lvl4pPr>
            <a:lvl5pPr marL="1828800" algn="l" rtl="0" fontAlgn="base">
              <a:spcBef>
                <a:spcPct val="0"/>
              </a:spcBef>
              <a:spcAft>
                <a:spcPct val="0"/>
              </a:spcAft>
              <a:defRPr b="1" kern="1200">
                <a:solidFill>
                  <a:schemeClr val="lt1"/>
                </a:solidFill>
                <a:latin typeface="+mn-lt"/>
                <a:ea typeface="+mn-ea"/>
                <a:cs typeface="+mn-cs"/>
              </a:defRPr>
            </a:lvl5pPr>
            <a:lvl6pPr marL="2286000" algn="l" defTabSz="914400" rtl="0" eaLnBrk="1" latinLnBrk="0" hangingPunct="1">
              <a:defRPr b="1" kern="1200">
                <a:solidFill>
                  <a:schemeClr val="lt1"/>
                </a:solidFill>
                <a:latin typeface="+mn-lt"/>
                <a:ea typeface="+mn-ea"/>
                <a:cs typeface="+mn-cs"/>
              </a:defRPr>
            </a:lvl6pPr>
            <a:lvl7pPr marL="2743200" algn="l" defTabSz="914400" rtl="0" eaLnBrk="1" latinLnBrk="0" hangingPunct="1">
              <a:defRPr b="1" kern="1200">
                <a:solidFill>
                  <a:schemeClr val="lt1"/>
                </a:solidFill>
                <a:latin typeface="+mn-lt"/>
                <a:ea typeface="+mn-ea"/>
                <a:cs typeface="+mn-cs"/>
              </a:defRPr>
            </a:lvl7pPr>
            <a:lvl8pPr marL="3200400" algn="l" defTabSz="914400" rtl="0" eaLnBrk="1" latinLnBrk="0" hangingPunct="1">
              <a:defRPr b="1" kern="1200">
                <a:solidFill>
                  <a:schemeClr val="lt1"/>
                </a:solidFill>
                <a:latin typeface="+mn-lt"/>
                <a:ea typeface="+mn-ea"/>
                <a:cs typeface="+mn-cs"/>
              </a:defRPr>
            </a:lvl8pPr>
            <a:lvl9pPr marL="3657600" algn="l" defTabSz="914400" rtl="0" eaLnBrk="1" latinLnBrk="0" hangingPunct="1">
              <a:defRPr b="1" kern="1200">
                <a:solidFill>
                  <a:schemeClr val="lt1"/>
                </a:solidFill>
                <a:latin typeface="+mn-lt"/>
                <a:ea typeface="+mn-ea"/>
                <a:cs typeface="+mn-cs"/>
              </a:defRPr>
            </a:lvl9pPr>
          </a:lstStyle>
          <a:p>
            <a:pPr algn="ctr" defTabSz="768032"/>
            <a:endParaRPr lang="en-US" dirty="0">
              <a:solidFill>
                <a:prstClr val="white"/>
              </a:solidFill>
            </a:endParaRPr>
          </a:p>
        </p:txBody>
      </p:sp>
      <p:pic>
        <p:nvPicPr>
          <p:cNvPr id="13" name="server"/>
          <p:cNvPicPr>
            <a:picLocks noChangeAspect="1"/>
          </p:cNvPicPr>
          <p:nvPr/>
        </p:nvPicPr>
        <p:blipFill>
          <a:blip r:embed="rId7" cstate="print">
            <a:extLst>
              <a:ext uri="{28A0092B-C50C-407E-A947-70E740481C1C}">
                <a14:useLocalDpi xmlns:a14="http://schemas.microsoft.com/office/drawing/2010/main" xmlns="" val="0"/>
              </a:ext>
            </a:extLst>
          </a:blip>
          <a:stretch>
            <a:fillRect/>
          </a:stretch>
        </p:blipFill>
        <p:spPr>
          <a:xfrm>
            <a:off x="4241628" y="2266843"/>
            <a:ext cx="700953" cy="1243068"/>
          </a:xfrm>
          <a:prstGeom prst="rect">
            <a:avLst/>
          </a:prstGeom>
        </p:spPr>
      </p:pic>
      <p:sp>
        <p:nvSpPr>
          <p:cNvPr id="14" name="&quot;Reverse Proxy"/>
          <p:cNvSpPr txBox="1"/>
          <p:nvPr/>
        </p:nvSpPr>
        <p:spPr>
          <a:xfrm>
            <a:off x="2180922" y="2964574"/>
            <a:ext cx="1073042" cy="615553"/>
          </a:xfrm>
          <a:prstGeom prst="rect">
            <a:avLst/>
          </a:prstGeom>
          <a:no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000" b="0" dirty="0" smtClean="0">
                <a:latin typeface="Segoe UI" panose="020B0502040204020203" pitchFamily="34" charset="0"/>
                <a:ea typeface="Segoe UI" panose="020B0502040204020203" pitchFamily="34" charset="0"/>
                <a:cs typeface="Segoe UI" panose="020B0502040204020203" pitchFamily="34" charset="0"/>
              </a:rPr>
              <a:t>Reverse Proxy</a:t>
            </a:r>
            <a:endParaRPr lang="en-US" sz="2000" b="0" dirty="0">
              <a:latin typeface="Segoe UI" panose="020B0502040204020203" pitchFamily="34" charset="0"/>
              <a:ea typeface="Segoe UI" panose="020B0502040204020203" pitchFamily="34" charset="0"/>
              <a:cs typeface="Segoe UI" panose="020B0502040204020203" pitchFamily="34" charset="0"/>
            </a:endParaRPr>
          </a:p>
        </p:txBody>
      </p:sp>
      <p:pic>
        <p:nvPicPr>
          <p:cNvPr id="15" name="router"/>
          <p:cNvPicPr>
            <a:picLocks noChangeAspect="1"/>
          </p:cNvPicPr>
          <p:nvPr/>
        </p:nvPicPr>
        <p:blipFill>
          <a:blip r:embed="rId8" cstate="print">
            <a:extLst>
              <a:ext uri="{28A0092B-C50C-407E-A947-70E740481C1C}">
                <a14:useLocalDpi xmlns:a14="http://schemas.microsoft.com/office/drawing/2010/main" xmlns="" val="0"/>
              </a:ext>
            </a:extLst>
          </a:blip>
          <a:stretch>
            <a:fillRect/>
          </a:stretch>
        </p:blipFill>
        <p:spPr>
          <a:xfrm>
            <a:off x="2110369" y="2114876"/>
            <a:ext cx="1659538" cy="865457"/>
          </a:xfrm>
          <a:prstGeom prst="rect">
            <a:avLst/>
          </a:prstGeom>
        </p:spPr>
      </p:pic>
      <p:cxnSp>
        <p:nvCxnSpPr>
          <p:cNvPr id="16" name="arrow 6"/>
          <p:cNvCxnSpPr/>
          <p:nvPr/>
        </p:nvCxnSpPr>
        <p:spPr bwMode="auto">
          <a:xfrm>
            <a:off x="5082867" y="2792434"/>
            <a:ext cx="1913551" cy="10980"/>
          </a:xfrm>
          <a:prstGeom prst="straightConnector1">
            <a:avLst/>
          </a:prstGeom>
          <a:gradFill rotWithShape="1">
            <a:gsLst>
              <a:gs pos="0">
                <a:srgbClr val="E4CD9A"/>
              </a:gs>
              <a:gs pos="100000">
                <a:srgbClr val="EEEFD7"/>
              </a:gs>
            </a:gsLst>
            <a:lin ang="2700000" scaled="1"/>
          </a:gradFill>
          <a:ln w="22225" cap="flat" cmpd="sng" algn="ctr">
            <a:solidFill>
              <a:schemeClr val="tx2">
                <a:lumMod val="95000"/>
                <a:lumOff val="5000"/>
              </a:schemeClr>
            </a:solidFill>
            <a:prstDash val="solid"/>
            <a:round/>
            <a:headEnd type="arrow"/>
            <a:tailEnd type="arrow"/>
          </a:ln>
          <a:effectLst/>
        </p:spPr>
      </p:cxnSp>
      <p:cxnSp>
        <p:nvCxnSpPr>
          <p:cNvPr id="17" name="arrow 5"/>
          <p:cNvCxnSpPr/>
          <p:nvPr/>
        </p:nvCxnSpPr>
        <p:spPr bwMode="auto">
          <a:xfrm flipV="1">
            <a:off x="5021593" y="2114879"/>
            <a:ext cx="2059360" cy="507482"/>
          </a:xfrm>
          <a:prstGeom prst="straightConnector1">
            <a:avLst/>
          </a:prstGeom>
          <a:gradFill rotWithShape="1">
            <a:gsLst>
              <a:gs pos="0">
                <a:srgbClr val="E4CD9A"/>
              </a:gs>
              <a:gs pos="100000">
                <a:srgbClr val="EEEFD7"/>
              </a:gs>
            </a:gsLst>
            <a:lin ang="2700000" scaled="1"/>
          </a:gradFill>
          <a:ln w="22225" cap="flat" cmpd="sng" algn="ctr">
            <a:solidFill>
              <a:schemeClr val="tx2">
                <a:lumMod val="95000"/>
                <a:lumOff val="5000"/>
              </a:schemeClr>
            </a:solidFill>
            <a:prstDash val="solid"/>
            <a:round/>
            <a:headEnd type="arrow"/>
            <a:tailEnd type="arrow"/>
          </a:ln>
          <a:effectLst/>
        </p:spPr>
      </p:cxnSp>
      <p:cxnSp>
        <p:nvCxnSpPr>
          <p:cNvPr id="18" name="arrow 4"/>
          <p:cNvCxnSpPr/>
          <p:nvPr/>
        </p:nvCxnSpPr>
        <p:spPr bwMode="auto">
          <a:xfrm flipV="1">
            <a:off x="3644478" y="2749392"/>
            <a:ext cx="578659" cy="1128"/>
          </a:xfrm>
          <a:prstGeom prst="straightConnector1">
            <a:avLst/>
          </a:prstGeom>
          <a:gradFill rotWithShape="1">
            <a:gsLst>
              <a:gs pos="0">
                <a:srgbClr val="E4CD9A"/>
              </a:gs>
              <a:gs pos="100000">
                <a:srgbClr val="EEEFD7"/>
              </a:gs>
            </a:gsLst>
            <a:lin ang="2700000" scaled="1"/>
          </a:gradFill>
          <a:ln w="22225" cap="flat" cmpd="sng" algn="ctr">
            <a:solidFill>
              <a:schemeClr val="tx2">
                <a:lumMod val="95000"/>
                <a:lumOff val="5000"/>
              </a:schemeClr>
            </a:solidFill>
            <a:prstDash val="solid"/>
            <a:round/>
            <a:headEnd type="arrow"/>
            <a:tailEnd type="arrow"/>
          </a:ln>
          <a:effectLst/>
        </p:spPr>
      </p:cxnSp>
      <p:cxnSp>
        <p:nvCxnSpPr>
          <p:cNvPr id="19" name="arrow 2"/>
          <p:cNvCxnSpPr/>
          <p:nvPr/>
        </p:nvCxnSpPr>
        <p:spPr bwMode="auto">
          <a:xfrm flipV="1">
            <a:off x="1231857" y="2660266"/>
            <a:ext cx="923914" cy="264337"/>
          </a:xfrm>
          <a:prstGeom prst="straightConnector1">
            <a:avLst/>
          </a:prstGeom>
          <a:gradFill rotWithShape="1">
            <a:gsLst>
              <a:gs pos="0">
                <a:srgbClr val="E4CD9A"/>
              </a:gs>
              <a:gs pos="100000">
                <a:srgbClr val="EEEFD7"/>
              </a:gs>
            </a:gsLst>
            <a:lin ang="2700000" scaled="1"/>
          </a:gradFill>
          <a:ln w="22225" cap="flat" cmpd="sng" algn="ctr">
            <a:solidFill>
              <a:schemeClr val="tx2">
                <a:lumMod val="95000"/>
                <a:lumOff val="5000"/>
              </a:schemeClr>
            </a:solidFill>
            <a:prstDash val="solid"/>
            <a:round/>
            <a:headEnd type="arrow"/>
            <a:tailEnd type="arrow"/>
          </a:ln>
          <a:effectLst/>
        </p:spPr>
      </p:cxnSp>
      <p:cxnSp>
        <p:nvCxnSpPr>
          <p:cNvPr id="20" name="arrow 1"/>
          <p:cNvCxnSpPr/>
          <p:nvPr/>
        </p:nvCxnSpPr>
        <p:spPr bwMode="auto">
          <a:xfrm>
            <a:off x="1374709" y="2248683"/>
            <a:ext cx="638211" cy="116425"/>
          </a:xfrm>
          <a:prstGeom prst="straightConnector1">
            <a:avLst/>
          </a:prstGeom>
          <a:gradFill rotWithShape="1">
            <a:gsLst>
              <a:gs pos="0">
                <a:srgbClr val="E4CD9A"/>
              </a:gs>
              <a:gs pos="100000">
                <a:srgbClr val="EEEFD7"/>
              </a:gs>
            </a:gsLst>
            <a:lin ang="2700000" scaled="1"/>
          </a:gradFill>
          <a:ln w="22225" cap="flat" cmpd="sng" algn="ctr">
            <a:solidFill>
              <a:schemeClr val="tx2">
                <a:lumMod val="95000"/>
                <a:lumOff val="5000"/>
              </a:schemeClr>
            </a:solidFill>
            <a:prstDash val="solid"/>
            <a:round/>
            <a:headEnd type="arrow"/>
            <a:tailEnd type="arrow"/>
          </a:ln>
          <a:effectLst/>
        </p:spPr>
      </p:cxnSp>
      <p:grpSp>
        <p:nvGrpSpPr>
          <p:cNvPr id="21" name="AD DS"/>
          <p:cNvGrpSpPr/>
          <p:nvPr/>
        </p:nvGrpSpPr>
        <p:grpSpPr>
          <a:xfrm>
            <a:off x="4562478" y="1446957"/>
            <a:ext cx="1386289" cy="788621"/>
            <a:chOff x="5158838" y="1358778"/>
            <a:chExt cx="908176" cy="484080"/>
          </a:xfrm>
        </p:grpSpPr>
        <p:grpSp>
          <p:nvGrpSpPr>
            <p:cNvPr id="22" name="AD DS from other slide"/>
            <p:cNvGrpSpPr/>
            <p:nvPr/>
          </p:nvGrpSpPr>
          <p:grpSpPr>
            <a:xfrm>
              <a:off x="5158838" y="1358778"/>
              <a:ext cx="568713" cy="484080"/>
              <a:chOff x="1840649" y="4818295"/>
              <a:chExt cx="966164" cy="691915"/>
            </a:xfrm>
          </p:grpSpPr>
          <p:sp>
            <p:nvSpPr>
              <p:cNvPr id="24" name="Freeform 23"/>
              <p:cNvSpPr>
                <a:spLocks noChangeAspect="1"/>
              </p:cNvSpPr>
              <p:nvPr/>
            </p:nvSpPr>
            <p:spPr bwMode="auto">
              <a:xfrm>
                <a:off x="1840649" y="4818298"/>
                <a:ext cx="483049" cy="691912"/>
              </a:xfrm>
              <a:custGeom>
                <a:avLst/>
                <a:gdLst/>
                <a:ahLst/>
                <a:cxnLst>
                  <a:cxn ang="0">
                    <a:pos x="690" y="0"/>
                  </a:cxn>
                  <a:cxn ang="0">
                    <a:pos x="0" y="1003"/>
                  </a:cxn>
                  <a:cxn ang="0">
                    <a:pos x="689" y="1143"/>
                  </a:cxn>
                  <a:cxn ang="0">
                    <a:pos x="690" y="0"/>
                  </a:cxn>
                </a:cxnLst>
                <a:rect l="0" t="0" r="r" b="b"/>
                <a:pathLst>
                  <a:path w="690" h="1143">
                    <a:moveTo>
                      <a:pt x="690" y="0"/>
                    </a:moveTo>
                    <a:lnTo>
                      <a:pt x="0" y="1003"/>
                    </a:lnTo>
                    <a:lnTo>
                      <a:pt x="689" y="1143"/>
                    </a:lnTo>
                    <a:lnTo>
                      <a:pt x="690" y="0"/>
                    </a:lnTo>
                    <a:close/>
                  </a:path>
                </a:pathLst>
              </a:custGeom>
              <a:solidFill>
                <a:sysClr val="window" lastClr="FFFFFF"/>
              </a:solidFill>
              <a:ln w="9525" cap="flat" cmpd="sng">
                <a:solidFill>
                  <a:srgbClr val="5B9BD5"/>
                </a:solidFill>
                <a:prstDash val="solid"/>
                <a:round/>
                <a:headEnd/>
                <a:tailEnd/>
              </a:ln>
              <a:effec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endParaRPr lang="en-US" kern="0" dirty="0">
                  <a:ln>
                    <a:solidFill>
                      <a:srgbClr val="FFFFFF">
                        <a:alpha val="0"/>
                      </a:srgbClr>
                    </a:solidFill>
                  </a:ln>
                </a:endParaRPr>
              </a:p>
            </p:txBody>
          </p:sp>
          <p:sp>
            <p:nvSpPr>
              <p:cNvPr id="25" name="Freeform 24"/>
              <p:cNvSpPr>
                <a:spLocks noChangeAspect="1"/>
              </p:cNvSpPr>
              <p:nvPr/>
            </p:nvSpPr>
            <p:spPr bwMode="auto">
              <a:xfrm flipH="1">
                <a:off x="2323764" y="4818295"/>
                <a:ext cx="483049" cy="691912"/>
              </a:xfrm>
              <a:custGeom>
                <a:avLst/>
                <a:gdLst/>
                <a:ahLst/>
                <a:cxnLst>
                  <a:cxn ang="0">
                    <a:pos x="690" y="0"/>
                  </a:cxn>
                  <a:cxn ang="0">
                    <a:pos x="0" y="1003"/>
                  </a:cxn>
                  <a:cxn ang="0">
                    <a:pos x="689" y="1143"/>
                  </a:cxn>
                  <a:cxn ang="0">
                    <a:pos x="690" y="0"/>
                  </a:cxn>
                </a:cxnLst>
                <a:rect l="0" t="0" r="r" b="b"/>
                <a:pathLst>
                  <a:path w="690" h="1143">
                    <a:moveTo>
                      <a:pt x="690" y="0"/>
                    </a:moveTo>
                    <a:lnTo>
                      <a:pt x="0" y="1003"/>
                    </a:lnTo>
                    <a:lnTo>
                      <a:pt x="689" y="1143"/>
                    </a:lnTo>
                    <a:lnTo>
                      <a:pt x="690" y="0"/>
                    </a:lnTo>
                    <a:close/>
                  </a:path>
                </a:pathLst>
              </a:custGeom>
              <a:solidFill>
                <a:sysClr val="window" lastClr="FFFFFF">
                  <a:lumMod val="85000"/>
                </a:sysClr>
              </a:solidFill>
              <a:ln w="9525" cap="flat" cmpd="sng">
                <a:solidFill>
                  <a:srgbClr val="5B9BD5"/>
                </a:solidFill>
                <a:prstDash val="solid"/>
                <a:round/>
                <a:headEnd/>
                <a:tailEnd/>
              </a:ln>
              <a:effec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endParaRPr lang="en-US" kern="0" dirty="0">
                  <a:ln>
                    <a:solidFill>
                      <a:srgbClr val="FFFFFF">
                        <a:alpha val="0"/>
                      </a:srgbClr>
                    </a:solidFill>
                  </a:ln>
                </a:endParaRPr>
              </a:p>
            </p:txBody>
          </p:sp>
          <p:sp>
            <p:nvSpPr>
              <p:cNvPr id="26" name="Oval 25"/>
              <p:cNvSpPr>
                <a:spLocks noChangeAspect="1" noChangeArrowheads="1"/>
              </p:cNvSpPr>
              <p:nvPr/>
            </p:nvSpPr>
            <p:spPr bwMode="auto">
              <a:xfrm>
                <a:off x="2201709" y="4985896"/>
                <a:ext cx="91441" cy="91439"/>
              </a:xfrm>
              <a:prstGeom prst="ellipse">
                <a:avLst/>
              </a:prstGeom>
              <a:solidFill>
                <a:srgbClr val="44546A"/>
              </a:solidFill>
              <a:ln w="9525">
                <a:solidFill>
                  <a:srgbClr val="5B9BD5"/>
                </a:solidFill>
                <a:round/>
                <a:headEnd/>
                <a:tailEnd/>
              </a:ln>
              <a:effec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endParaRPr lang="en-US" kern="0" dirty="0">
                  <a:ln>
                    <a:solidFill>
                      <a:srgbClr val="FFFFFF">
                        <a:alpha val="0"/>
                      </a:srgbClr>
                    </a:solidFill>
                  </a:ln>
                </a:endParaRPr>
              </a:p>
            </p:txBody>
          </p:sp>
          <p:sp>
            <p:nvSpPr>
              <p:cNvPr id="27" name="Oval 26"/>
              <p:cNvSpPr>
                <a:spLocks noChangeAspect="1" noChangeArrowheads="1"/>
              </p:cNvSpPr>
              <p:nvPr/>
            </p:nvSpPr>
            <p:spPr bwMode="auto">
              <a:xfrm flipH="1">
                <a:off x="2351276" y="4985914"/>
                <a:ext cx="91440" cy="91440"/>
              </a:xfrm>
              <a:prstGeom prst="ellipse">
                <a:avLst/>
              </a:prstGeom>
              <a:solidFill>
                <a:srgbClr val="44546A"/>
              </a:solidFill>
              <a:ln w="9525">
                <a:solidFill>
                  <a:srgbClr val="5B9BD5"/>
                </a:solidFill>
                <a:round/>
                <a:headEnd/>
                <a:tailEnd/>
              </a:ln>
              <a:effec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endParaRPr lang="en-US" kern="0" dirty="0">
                  <a:ln>
                    <a:solidFill>
                      <a:srgbClr val="FFFFFF">
                        <a:alpha val="0"/>
                      </a:srgbClr>
                    </a:solidFill>
                  </a:ln>
                </a:endParaRPr>
              </a:p>
            </p:txBody>
          </p:sp>
          <p:sp>
            <p:nvSpPr>
              <p:cNvPr id="28" name="Oval 27"/>
              <p:cNvSpPr>
                <a:spLocks noChangeAspect="1" noChangeArrowheads="1"/>
              </p:cNvSpPr>
              <p:nvPr/>
            </p:nvSpPr>
            <p:spPr bwMode="auto">
              <a:xfrm>
                <a:off x="2201709" y="5317092"/>
                <a:ext cx="91440" cy="91440"/>
              </a:xfrm>
              <a:prstGeom prst="ellipse">
                <a:avLst/>
              </a:prstGeom>
              <a:solidFill>
                <a:srgbClr val="44546A"/>
              </a:solidFill>
              <a:ln w="9525">
                <a:solidFill>
                  <a:srgbClr val="5B9BD5"/>
                </a:solidFill>
                <a:round/>
                <a:headEnd/>
                <a:tailEnd/>
              </a:ln>
              <a:effec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endParaRPr lang="en-US" kern="0" dirty="0">
                  <a:ln>
                    <a:solidFill>
                      <a:srgbClr val="FFFFFF">
                        <a:alpha val="0"/>
                      </a:srgbClr>
                    </a:solidFill>
                  </a:ln>
                </a:endParaRPr>
              </a:p>
            </p:txBody>
          </p:sp>
          <p:sp>
            <p:nvSpPr>
              <p:cNvPr id="29" name="Oval 28"/>
              <p:cNvSpPr>
                <a:spLocks noChangeAspect="1" noChangeArrowheads="1"/>
              </p:cNvSpPr>
              <p:nvPr/>
            </p:nvSpPr>
            <p:spPr bwMode="auto">
              <a:xfrm flipH="1">
                <a:off x="2351276" y="5317110"/>
                <a:ext cx="91440" cy="91440"/>
              </a:xfrm>
              <a:prstGeom prst="ellipse">
                <a:avLst/>
              </a:prstGeom>
              <a:solidFill>
                <a:srgbClr val="44546A"/>
              </a:solidFill>
              <a:ln w="9525">
                <a:solidFill>
                  <a:srgbClr val="5B9BD5"/>
                </a:solidFill>
                <a:round/>
                <a:headEnd/>
                <a:tailEnd/>
              </a:ln>
              <a:effec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endParaRPr lang="en-US" kern="0" dirty="0">
                  <a:ln>
                    <a:solidFill>
                      <a:srgbClr val="FFFFFF">
                        <a:alpha val="0"/>
                      </a:srgbClr>
                    </a:solidFill>
                  </a:ln>
                </a:endParaRPr>
              </a:p>
            </p:txBody>
          </p:sp>
          <p:sp>
            <p:nvSpPr>
              <p:cNvPr id="30" name="Oval 29"/>
              <p:cNvSpPr>
                <a:spLocks noChangeAspect="1" noChangeArrowheads="1"/>
              </p:cNvSpPr>
              <p:nvPr/>
            </p:nvSpPr>
            <p:spPr bwMode="auto">
              <a:xfrm flipH="1">
                <a:off x="2477440" y="5293282"/>
                <a:ext cx="91440" cy="91440"/>
              </a:xfrm>
              <a:prstGeom prst="ellipse">
                <a:avLst/>
              </a:prstGeom>
              <a:solidFill>
                <a:srgbClr val="44546A"/>
              </a:solidFill>
              <a:ln w="9525">
                <a:solidFill>
                  <a:srgbClr val="5B9BD5"/>
                </a:solidFill>
                <a:round/>
                <a:headEnd/>
                <a:tailEnd/>
              </a:ln>
              <a:effec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endParaRPr lang="en-US" kern="0" dirty="0">
                  <a:ln>
                    <a:solidFill>
                      <a:srgbClr val="FFFFFF">
                        <a:alpha val="0"/>
                      </a:srgbClr>
                    </a:solidFill>
                  </a:ln>
                </a:endParaRPr>
              </a:p>
            </p:txBody>
          </p:sp>
          <p:sp>
            <p:nvSpPr>
              <p:cNvPr id="31" name="Oval 30"/>
              <p:cNvSpPr>
                <a:spLocks noChangeAspect="1" noChangeArrowheads="1"/>
              </p:cNvSpPr>
              <p:nvPr/>
            </p:nvSpPr>
            <p:spPr bwMode="auto">
              <a:xfrm>
                <a:off x="2077441" y="5293282"/>
                <a:ext cx="91440" cy="91440"/>
              </a:xfrm>
              <a:prstGeom prst="ellipse">
                <a:avLst/>
              </a:prstGeom>
              <a:solidFill>
                <a:srgbClr val="44546A"/>
              </a:solidFill>
              <a:ln w="9525">
                <a:solidFill>
                  <a:srgbClr val="5B9BD5"/>
                </a:solidFill>
                <a:round/>
                <a:headEnd/>
                <a:tailEnd/>
              </a:ln>
              <a:effec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endParaRPr lang="en-US" kern="0" dirty="0">
                  <a:ln>
                    <a:solidFill>
                      <a:srgbClr val="FFFFFF">
                        <a:alpha val="0"/>
                      </a:srgbClr>
                    </a:solidFill>
                  </a:ln>
                </a:endParaRPr>
              </a:p>
            </p:txBody>
          </p:sp>
          <p:sp>
            <p:nvSpPr>
              <p:cNvPr id="32" name="Oval 31"/>
              <p:cNvSpPr>
                <a:spLocks noChangeAspect="1" noChangeArrowheads="1"/>
              </p:cNvSpPr>
              <p:nvPr/>
            </p:nvSpPr>
            <p:spPr bwMode="auto">
              <a:xfrm flipH="1">
                <a:off x="2603604" y="5277799"/>
                <a:ext cx="91440" cy="91440"/>
              </a:xfrm>
              <a:prstGeom prst="ellipse">
                <a:avLst/>
              </a:prstGeom>
              <a:solidFill>
                <a:srgbClr val="44546A"/>
              </a:solidFill>
              <a:ln w="9525">
                <a:solidFill>
                  <a:srgbClr val="5B9BD5"/>
                </a:solidFill>
                <a:round/>
                <a:headEnd/>
                <a:tailEnd/>
              </a:ln>
              <a:effec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endParaRPr lang="en-US" kern="0" dirty="0">
                  <a:ln>
                    <a:solidFill>
                      <a:srgbClr val="FFFFFF">
                        <a:alpha val="0"/>
                      </a:srgbClr>
                    </a:solidFill>
                  </a:ln>
                </a:endParaRPr>
              </a:p>
            </p:txBody>
          </p:sp>
          <p:sp>
            <p:nvSpPr>
              <p:cNvPr id="33" name="Oval 32"/>
              <p:cNvSpPr>
                <a:spLocks noChangeAspect="1" noChangeArrowheads="1"/>
              </p:cNvSpPr>
              <p:nvPr/>
            </p:nvSpPr>
            <p:spPr bwMode="auto">
              <a:xfrm flipH="1">
                <a:off x="1953173" y="5277799"/>
                <a:ext cx="91440" cy="91440"/>
              </a:xfrm>
              <a:prstGeom prst="ellipse">
                <a:avLst/>
              </a:prstGeom>
              <a:solidFill>
                <a:srgbClr val="44546A"/>
              </a:solidFill>
              <a:ln w="9525">
                <a:solidFill>
                  <a:srgbClr val="5B9BD5"/>
                </a:solidFill>
                <a:round/>
                <a:headEnd/>
                <a:tailEnd/>
              </a:ln>
              <a:effec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endParaRPr lang="en-US" kern="0" dirty="0">
                  <a:ln>
                    <a:solidFill>
                      <a:srgbClr val="FFFFFF">
                        <a:alpha val="0"/>
                      </a:srgbClr>
                    </a:solidFill>
                  </a:ln>
                </a:endParaRPr>
              </a:p>
            </p:txBody>
          </p:sp>
          <p:sp>
            <p:nvSpPr>
              <p:cNvPr id="34" name="Arc 33"/>
              <p:cNvSpPr/>
              <p:nvPr/>
            </p:nvSpPr>
            <p:spPr>
              <a:xfrm rot="5012506">
                <a:off x="2200463" y="5152334"/>
                <a:ext cx="197274" cy="174698"/>
              </a:xfrm>
              <a:prstGeom prst="arc">
                <a:avLst>
                  <a:gd name="adj1" fmla="val 16200000"/>
                  <a:gd name="adj2" fmla="val 814800"/>
                </a:avLst>
              </a:prstGeom>
              <a:noFill/>
              <a:ln w="9525" cap="flat" cmpd="sng" algn="ctr">
                <a:solidFill>
                  <a:srgbClr val="5B9BD5"/>
                </a:solidFill>
                <a:prstDash val="solid"/>
              </a:ln>
              <a:effectLst/>
            </p:spPr>
            <p:txBody>
              <a:bodyPr rtlCol="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defRPr/>
                </a:pPr>
                <a:endParaRPr lang="en-US" dirty="0">
                  <a:ln>
                    <a:solidFill>
                      <a:srgbClr val="FFFFFF">
                        <a:alpha val="0"/>
                      </a:srgbClr>
                    </a:solidFill>
                  </a:ln>
                </a:endParaRPr>
              </a:p>
            </p:txBody>
          </p:sp>
          <p:sp>
            <p:nvSpPr>
              <p:cNvPr id="35" name="Arc 34"/>
              <p:cNvSpPr/>
              <p:nvPr/>
            </p:nvSpPr>
            <p:spPr>
              <a:xfrm rot="16587494" flipH="1">
                <a:off x="2252986" y="5152334"/>
                <a:ext cx="197274" cy="174698"/>
              </a:xfrm>
              <a:prstGeom prst="arc">
                <a:avLst>
                  <a:gd name="adj1" fmla="val 16200000"/>
                  <a:gd name="adj2" fmla="val 814800"/>
                </a:avLst>
              </a:prstGeom>
              <a:noFill/>
              <a:ln w="9525" cap="flat" cmpd="sng" algn="ctr">
                <a:solidFill>
                  <a:srgbClr val="5B9BD5"/>
                </a:solidFill>
                <a:prstDash val="solid"/>
              </a:ln>
              <a:effectLst/>
            </p:spPr>
            <p:txBody>
              <a:bodyPr rtlCol="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defRPr/>
                </a:pPr>
                <a:endParaRPr lang="en-US" dirty="0">
                  <a:ln>
                    <a:solidFill>
                      <a:srgbClr val="FFFFFF">
                        <a:alpha val="0"/>
                      </a:srgbClr>
                    </a:solidFill>
                  </a:ln>
                </a:endParaRPr>
              </a:p>
            </p:txBody>
          </p:sp>
          <p:sp>
            <p:nvSpPr>
              <p:cNvPr id="36" name="Arc 35"/>
              <p:cNvSpPr/>
              <p:nvPr/>
            </p:nvSpPr>
            <p:spPr>
              <a:xfrm rot="7395384">
                <a:off x="2218960" y="4926421"/>
                <a:ext cx="150756" cy="174698"/>
              </a:xfrm>
              <a:prstGeom prst="arc">
                <a:avLst>
                  <a:gd name="adj1" fmla="val 16200000"/>
                  <a:gd name="adj2" fmla="val 21459126"/>
                </a:avLst>
              </a:prstGeom>
              <a:noFill/>
              <a:ln w="9525" cap="flat" cmpd="sng" algn="ctr">
                <a:solidFill>
                  <a:srgbClr val="5B9BD5"/>
                </a:solidFill>
                <a:prstDash val="solid"/>
              </a:ln>
              <a:effectLst/>
            </p:spPr>
            <p:txBody>
              <a:bodyPr rtlCol="0"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defRPr/>
                </a:pPr>
                <a:endParaRPr lang="en-US" dirty="0">
                  <a:ln>
                    <a:solidFill>
                      <a:srgbClr val="FFFFFF">
                        <a:alpha val="0"/>
                      </a:srgbClr>
                    </a:solidFill>
                  </a:ln>
                </a:endParaRPr>
              </a:p>
            </p:txBody>
          </p:sp>
          <p:cxnSp>
            <p:nvCxnSpPr>
              <p:cNvPr id="37" name="Straight Connector 36"/>
              <p:cNvCxnSpPr>
                <a:stCxn id="26" idx="4"/>
                <a:endCxn id="28" idx="0"/>
              </p:cNvCxnSpPr>
              <p:nvPr/>
            </p:nvCxnSpPr>
            <p:spPr>
              <a:xfrm>
                <a:off x="2247429" y="5077336"/>
                <a:ext cx="0" cy="239756"/>
              </a:xfrm>
              <a:prstGeom prst="line">
                <a:avLst/>
              </a:prstGeom>
              <a:noFill/>
              <a:ln w="9525" cap="flat" cmpd="sng" algn="ctr">
                <a:solidFill>
                  <a:srgbClr val="5B9BD5"/>
                </a:solidFill>
                <a:prstDash val="solid"/>
              </a:ln>
              <a:effectLst/>
            </p:spPr>
          </p:cxnSp>
          <p:sp>
            <p:nvSpPr>
              <p:cNvPr id="38" name="Oval 37"/>
              <p:cNvSpPr>
                <a:spLocks noChangeAspect="1" noChangeArrowheads="1"/>
              </p:cNvSpPr>
              <p:nvPr/>
            </p:nvSpPr>
            <p:spPr bwMode="auto">
              <a:xfrm>
                <a:off x="2201709" y="5139927"/>
                <a:ext cx="91440" cy="91440"/>
              </a:xfrm>
              <a:prstGeom prst="ellipse">
                <a:avLst/>
              </a:prstGeom>
              <a:solidFill>
                <a:srgbClr val="44546A"/>
              </a:solidFill>
              <a:ln w="9525">
                <a:solidFill>
                  <a:srgbClr val="5B9BD5"/>
                </a:solidFill>
                <a:round/>
                <a:headEnd/>
                <a:tailEnd/>
              </a:ln>
              <a:effec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endParaRPr lang="en-US" kern="0" dirty="0">
                  <a:ln>
                    <a:solidFill>
                      <a:srgbClr val="FFFFFF">
                        <a:alpha val="0"/>
                      </a:srgbClr>
                    </a:solidFill>
                  </a:ln>
                </a:endParaRPr>
              </a:p>
            </p:txBody>
          </p:sp>
          <p:cxnSp>
            <p:nvCxnSpPr>
              <p:cNvPr id="39" name="Straight Connector 38"/>
              <p:cNvCxnSpPr>
                <a:stCxn id="27" idx="4"/>
                <a:endCxn id="29" idx="0"/>
              </p:cNvCxnSpPr>
              <p:nvPr/>
            </p:nvCxnSpPr>
            <p:spPr>
              <a:xfrm>
                <a:off x="2396996" y="5077354"/>
                <a:ext cx="0" cy="239756"/>
              </a:xfrm>
              <a:prstGeom prst="line">
                <a:avLst/>
              </a:prstGeom>
              <a:noFill/>
              <a:ln w="9525" cap="flat" cmpd="sng" algn="ctr">
                <a:solidFill>
                  <a:srgbClr val="5B9BD5"/>
                </a:solidFill>
                <a:prstDash val="solid"/>
              </a:ln>
              <a:effectLst/>
            </p:spPr>
          </p:cxnSp>
          <p:sp>
            <p:nvSpPr>
              <p:cNvPr id="40" name="Oval 39"/>
              <p:cNvSpPr>
                <a:spLocks noChangeAspect="1" noChangeArrowheads="1"/>
              </p:cNvSpPr>
              <p:nvPr/>
            </p:nvSpPr>
            <p:spPr bwMode="auto">
              <a:xfrm flipH="1">
                <a:off x="2351275" y="5139945"/>
                <a:ext cx="91440" cy="91440"/>
              </a:xfrm>
              <a:prstGeom prst="ellipse">
                <a:avLst/>
              </a:prstGeom>
              <a:solidFill>
                <a:srgbClr val="44546A"/>
              </a:solidFill>
              <a:ln w="9525">
                <a:solidFill>
                  <a:srgbClr val="5B9BD5"/>
                </a:solidFill>
                <a:round/>
                <a:headEnd/>
                <a:tailEnd/>
              </a:ln>
              <a:effec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endParaRPr lang="en-US" kern="0" dirty="0">
                  <a:ln>
                    <a:solidFill>
                      <a:srgbClr val="FFFFFF">
                        <a:alpha val="0"/>
                      </a:srgbClr>
                    </a:solidFill>
                  </a:ln>
                </a:endParaRPr>
              </a:p>
            </p:txBody>
          </p:sp>
          <p:cxnSp>
            <p:nvCxnSpPr>
              <p:cNvPr id="41" name="Straight Connector 40"/>
              <p:cNvCxnSpPr>
                <a:stCxn id="27" idx="3"/>
                <a:endCxn id="32" idx="7"/>
              </p:cNvCxnSpPr>
              <p:nvPr/>
            </p:nvCxnSpPr>
            <p:spPr>
              <a:xfrm>
                <a:off x="2429325" y="5063963"/>
                <a:ext cx="187670" cy="227227"/>
              </a:xfrm>
              <a:prstGeom prst="line">
                <a:avLst/>
              </a:prstGeom>
              <a:noFill/>
              <a:ln w="9525" cap="flat" cmpd="sng" algn="ctr">
                <a:solidFill>
                  <a:srgbClr val="5B9BD5"/>
                </a:solidFill>
                <a:prstDash val="solid"/>
              </a:ln>
              <a:effectLst/>
            </p:spPr>
          </p:cxnSp>
          <p:sp>
            <p:nvSpPr>
              <p:cNvPr id="42" name="Oval 41"/>
              <p:cNvSpPr>
                <a:spLocks noChangeAspect="1" noChangeArrowheads="1"/>
              </p:cNvSpPr>
              <p:nvPr/>
            </p:nvSpPr>
            <p:spPr bwMode="auto">
              <a:xfrm flipH="1">
                <a:off x="2477440" y="5131857"/>
                <a:ext cx="91440" cy="91440"/>
              </a:xfrm>
              <a:prstGeom prst="ellipse">
                <a:avLst/>
              </a:prstGeom>
              <a:solidFill>
                <a:srgbClr val="44546A"/>
              </a:solidFill>
              <a:ln w="9525">
                <a:solidFill>
                  <a:srgbClr val="5B9BD5"/>
                </a:solidFill>
                <a:round/>
                <a:headEnd/>
                <a:tailEnd/>
              </a:ln>
              <a:effec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endParaRPr lang="en-US" kern="0" dirty="0">
                  <a:ln>
                    <a:solidFill>
                      <a:srgbClr val="FFFFFF">
                        <a:alpha val="0"/>
                      </a:srgbClr>
                    </a:solidFill>
                  </a:ln>
                </a:endParaRPr>
              </a:p>
            </p:txBody>
          </p:sp>
          <p:cxnSp>
            <p:nvCxnSpPr>
              <p:cNvPr id="43" name="Straight Connector 42"/>
              <p:cNvCxnSpPr>
                <a:stCxn id="26" idx="3"/>
                <a:endCxn id="33" idx="1"/>
              </p:cNvCxnSpPr>
              <p:nvPr/>
            </p:nvCxnSpPr>
            <p:spPr>
              <a:xfrm flipH="1">
                <a:off x="2031222" y="5063945"/>
                <a:ext cx="183878" cy="227245"/>
              </a:xfrm>
              <a:prstGeom prst="line">
                <a:avLst/>
              </a:prstGeom>
              <a:noFill/>
              <a:ln w="9525" cap="flat" cmpd="sng" algn="ctr">
                <a:solidFill>
                  <a:srgbClr val="5B9BD5"/>
                </a:solidFill>
                <a:prstDash val="solid"/>
              </a:ln>
              <a:effectLst/>
            </p:spPr>
          </p:cxnSp>
          <p:sp>
            <p:nvSpPr>
              <p:cNvPr id="44" name="Oval 43"/>
              <p:cNvSpPr>
                <a:spLocks noChangeAspect="1" noChangeArrowheads="1"/>
              </p:cNvSpPr>
              <p:nvPr/>
            </p:nvSpPr>
            <p:spPr bwMode="auto">
              <a:xfrm>
                <a:off x="2082174" y="5131848"/>
                <a:ext cx="91440" cy="91440"/>
              </a:xfrm>
              <a:prstGeom prst="ellipse">
                <a:avLst/>
              </a:prstGeom>
              <a:solidFill>
                <a:srgbClr val="44546A"/>
              </a:solidFill>
              <a:ln w="9525">
                <a:solidFill>
                  <a:srgbClr val="5B9BD5"/>
                </a:solidFill>
                <a:round/>
                <a:headEnd/>
                <a:tailEnd/>
              </a:ln>
              <a:effectLst/>
            </p:spPr>
            <p:txBody>
              <a:bodyPr wrap="none"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endParaRPr lang="en-US" kern="0" dirty="0">
                  <a:ln>
                    <a:solidFill>
                      <a:srgbClr val="FFFFFF">
                        <a:alpha val="0"/>
                      </a:srgbClr>
                    </a:solidFill>
                  </a:ln>
                </a:endParaRPr>
              </a:p>
            </p:txBody>
          </p:sp>
          <p:cxnSp>
            <p:nvCxnSpPr>
              <p:cNvPr id="45" name="Straight Connector 44"/>
              <p:cNvCxnSpPr>
                <a:stCxn id="38" idx="3"/>
                <a:endCxn id="31" idx="7"/>
              </p:cNvCxnSpPr>
              <p:nvPr/>
            </p:nvCxnSpPr>
            <p:spPr>
              <a:xfrm flipH="1">
                <a:off x="2155490" y="5217976"/>
                <a:ext cx="59610" cy="88697"/>
              </a:xfrm>
              <a:prstGeom prst="line">
                <a:avLst/>
              </a:prstGeom>
              <a:noFill/>
              <a:ln w="9525" cap="flat" cmpd="sng" algn="ctr">
                <a:solidFill>
                  <a:srgbClr val="5B9BD5"/>
                </a:solidFill>
                <a:prstDash val="solid"/>
              </a:ln>
              <a:effectLst/>
            </p:spPr>
          </p:cxnSp>
          <p:cxnSp>
            <p:nvCxnSpPr>
              <p:cNvPr id="46" name="Straight Connector 45"/>
              <p:cNvCxnSpPr>
                <a:stCxn id="40" idx="3"/>
                <a:endCxn id="30" idx="7"/>
              </p:cNvCxnSpPr>
              <p:nvPr/>
            </p:nvCxnSpPr>
            <p:spPr>
              <a:xfrm>
                <a:off x="2429325" y="5217994"/>
                <a:ext cx="61506" cy="88679"/>
              </a:xfrm>
              <a:prstGeom prst="line">
                <a:avLst/>
              </a:prstGeom>
              <a:noFill/>
              <a:ln w="9525" cap="flat" cmpd="sng" algn="ctr">
                <a:solidFill>
                  <a:srgbClr val="5B9BD5"/>
                </a:solidFill>
                <a:prstDash val="solid"/>
              </a:ln>
              <a:effectLst/>
            </p:spPr>
          </p:cxnSp>
        </p:grpSp>
        <p:sp>
          <p:nvSpPr>
            <p:cNvPr id="23" name="&quot;AD DS&quot;"/>
            <p:cNvSpPr txBox="1"/>
            <p:nvPr/>
          </p:nvSpPr>
          <p:spPr>
            <a:xfrm>
              <a:off x="5621324" y="1408721"/>
              <a:ext cx="445690" cy="169432"/>
            </a:xfrm>
            <a:prstGeom prst="rect">
              <a:avLst/>
            </a:prstGeom>
            <a:noFill/>
          </p:spPr>
          <p:txBody>
            <a:bodyPr wrap="non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CA" sz="2000" b="0" dirty="0" smtClean="0">
                  <a:latin typeface="Segoe UI" panose="020B0502040204020203" pitchFamily="34" charset="0"/>
                  <a:ea typeface="Segoe UI" panose="020B0502040204020203" pitchFamily="34" charset="0"/>
                  <a:cs typeface="Segoe UI" panose="020B0502040204020203" pitchFamily="34" charset="0"/>
                </a:rPr>
                <a:t>AD DS</a:t>
              </a:r>
              <a:endParaRPr lang="en-CA" sz="2000" b="0" dirty="0">
                <a:latin typeface="Segoe UI" panose="020B0502040204020203" pitchFamily="34" charset="0"/>
                <a:ea typeface="Segoe UI" panose="020B0502040204020203" pitchFamily="34" charset="0"/>
                <a:cs typeface="Segoe UI" panose="020B0502040204020203" pitchFamily="34" charset="0"/>
              </a:endParaRPr>
            </a:p>
          </p:txBody>
        </p:sp>
      </p:grpSp>
      <p:sp>
        <p:nvSpPr>
          <p:cNvPr id="47" name="&quot;File management techniques"/>
          <p:cNvSpPr txBox="1"/>
          <p:nvPr/>
        </p:nvSpPr>
        <p:spPr>
          <a:xfrm>
            <a:off x="4499992" y="4452208"/>
            <a:ext cx="4793107" cy="2462213"/>
          </a:xfrm>
          <a:prstGeom prst="rect">
            <a:avLst/>
          </a:prstGeom>
          <a:ln w="9525">
            <a:solidFill>
              <a:schemeClr val="tx1"/>
            </a:solidFill>
          </a:ln>
        </p:spPr>
        <p:style>
          <a:lnRef idx="2">
            <a:schemeClr val="accent1"/>
          </a:lnRef>
          <a:fillRef idx="1">
            <a:schemeClr val="lt1"/>
          </a:fillRef>
          <a:effectRef idx="0">
            <a:schemeClr val="accent1"/>
          </a:effectRef>
          <a:fontRef idx="minor">
            <a:schemeClr val="dk1"/>
          </a:fontRef>
        </p:style>
        <p:txBody>
          <a:bodyPr wrap="none" rtlCol="0">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r>
              <a:rPr lang="fr-FR" sz="2200" b="0" dirty="0" smtClean="0">
                <a:solidFill>
                  <a:schemeClr val="tx1"/>
                </a:solidFill>
                <a:latin typeface="Segoe UI" panose="020B0502040204020203" pitchFamily="34" charset="0"/>
                <a:ea typeface="Segoe UI" panose="020B0502040204020203" pitchFamily="34" charset="0"/>
                <a:cs typeface="Segoe UI" panose="020B0502040204020203" pitchFamily="34" charset="0"/>
              </a:rPr>
              <a:t>Techniques de gestion de fichiers :</a:t>
            </a:r>
          </a:p>
          <a:p>
            <a:pPr marL="342900" indent="-342900">
              <a:buFont typeface="Arial" panose="020B0604020202020204" pitchFamily="34" charset="0"/>
              <a:buChar char="•"/>
            </a:pPr>
            <a:r>
              <a:rPr lang="fr-FR" sz="2200" b="0" dirty="0" smtClean="0">
                <a:solidFill>
                  <a:schemeClr val="tx1"/>
                </a:solidFill>
                <a:latin typeface="Segoe UI" panose="020B0502040204020203" pitchFamily="34" charset="0"/>
                <a:ea typeface="Segoe UI" panose="020B0502040204020203" pitchFamily="34" charset="0"/>
                <a:cs typeface="Segoe UI" panose="020B0502040204020203" pitchFamily="34" charset="0"/>
              </a:rPr>
              <a:t>Quotas (limitation du stockage)</a:t>
            </a:r>
          </a:p>
          <a:p>
            <a:pPr marL="342900" indent="-342900">
              <a:buFont typeface="Arial" panose="020B0604020202020204" pitchFamily="34" charset="0"/>
              <a:buChar char="•"/>
            </a:pPr>
            <a:r>
              <a:rPr lang="fr-FR" sz="2200" b="0" dirty="0" smtClean="0">
                <a:solidFill>
                  <a:schemeClr val="tx1"/>
                </a:solidFill>
                <a:latin typeface="Segoe UI" panose="020B0502040204020203" pitchFamily="34" charset="0"/>
                <a:ea typeface="Segoe UI" panose="020B0502040204020203" pitchFamily="34" charset="0"/>
                <a:cs typeface="Segoe UI" panose="020B0502040204020203" pitchFamily="34" charset="0"/>
              </a:rPr>
              <a:t>File </a:t>
            </a:r>
            <a:r>
              <a:rPr lang="fr-FR" sz="2200" b="0" dirty="0" err="1" smtClean="0">
                <a:solidFill>
                  <a:schemeClr val="tx1"/>
                </a:solidFill>
                <a:latin typeface="Segoe UI" panose="020B0502040204020203" pitchFamily="34" charset="0"/>
                <a:ea typeface="Segoe UI" panose="020B0502040204020203" pitchFamily="34" charset="0"/>
                <a:cs typeface="Segoe UI" panose="020B0502040204020203" pitchFamily="34" charset="0"/>
              </a:rPr>
              <a:t>screens</a:t>
            </a:r>
            <a:r>
              <a:rPr lang="fr-FR" sz="2200" b="0" dirty="0" smtClean="0">
                <a:solidFill>
                  <a:schemeClr val="tx1"/>
                </a:solidFill>
                <a:latin typeface="Segoe UI" panose="020B0502040204020203" pitchFamily="34" charset="0"/>
                <a:ea typeface="Segoe UI" panose="020B0502040204020203" pitchFamily="34" charset="0"/>
                <a:cs typeface="Segoe UI" panose="020B0502040204020203" pitchFamily="34" charset="0"/>
              </a:rPr>
              <a:t> (contrôler le type de </a:t>
            </a:r>
            <a:br>
              <a:rPr lang="fr-FR" sz="2200" b="0" dirty="0" smtClean="0">
                <a:solidFill>
                  <a:schemeClr val="tx1"/>
                </a:solidFill>
                <a:latin typeface="Segoe UI" panose="020B0502040204020203" pitchFamily="34" charset="0"/>
                <a:ea typeface="Segoe UI" panose="020B0502040204020203" pitchFamily="34" charset="0"/>
                <a:cs typeface="Segoe UI" panose="020B0502040204020203" pitchFamily="34" charset="0"/>
              </a:rPr>
            </a:br>
            <a:r>
              <a:rPr lang="fr-FR" sz="2200" b="0" dirty="0" smtClean="0">
                <a:solidFill>
                  <a:schemeClr val="tx1"/>
                </a:solidFill>
                <a:latin typeface="Segoe UI" panose="020B0502040204020203" pitchFamily="34" charset="0"/>
                <a:ea typeface="Segoe UI" panose="020B0502040204020203" pitchFamily="34" charset="0"/>
                <a:cs typeface="Segoe UI" panose="020B0502040204020203" pitchFamily="34" charset="0"/>
              </a:rPr>
              <a:t>fichier pouvant être synchronisé)</a:t>
            </a:r>
          </a:p>
          <a:p>
            <a:pPr marL="342900" indent="-342900">
              <a:buFont typeface="Arial" panose="020B0604020202020204" pitchFamily="34" charset="0"/>
              <a:buChar char="•"/>
            </a:pPr>
            <a:r>
              <a:rPr lang="fr-FR" sz="2200" b="0" dirty="0" err="1" smtClean="0">
                <a:solidFill>
                  <a:schemeClr val="tx1"/>
                </a:solidFill>
                <a:latin typeface="Segoe UI" panose="020B0502040204020203" pitchFamily="34" charset="0"/>
                <a:ea typeface="Segoe UI" panose="020B0502040204020203" pitchFamily="34" charset="0"/>
                <a:cs typeface="Segoe UI" panose="020B0502040204020203" pitchFamily="34" charset="0"/>
              </a:rPr>
              <a:t>Reporting</a:t>
            </a:r>
            <a:endParaRPr lang="fr-FR" sz="2200" b="0" dirty="0" smtClean="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342900" indent="-342900">
              <a:buFont typeface="Arial" panose="020B0604020202020204" pitchFamily="34" charset="0"/>
              <a:buChar char="•"/>
            </a:pPr>
            <a:r>
              <a:rPr lang="fr-FR" sz="2200" b="0" dirty="0" smtClean="0">
                <a:solidFill>
                  <a:schemeClr val="tx1"/>
                </a:solidFill>
                <a:latin typeface="Segoe UI" panose="020B0502040204020203" pitchFamily="34" charset="0"/>
                <a:ea typeface="Segoe UI" panose="020B0502040204020203" pitchFamily="34" charset="0"/>
                <a:cs typeface="Segoe UI" panose="020B0502040204020203" pitchFamily="34" charset="0"/>
              </a:rPr>
              <a:t>Classification (</a:t>
            </a:r>
            <a:r>
              <a:rPr lang="fr-BE" sz="2200" b="0" dirty="0" smtClean="0">
                <a:solidFill>
                  <a:schemeClr val="tx1"/>
                </a:solidFill>
                <a:latin typeface="Segoe UI" panose="020B0502040204020203" pitchFamily="34" charset="0"/>
                <a:ea typeface="Segoe UI" panose="020B0502040204020203" pitchFamily="34" charset="0"/>
                <a:cs typeface="Segoe UI" panose="020B0502040204020203" pitchFamily="34" charset="0"/>
              </a:rPr>
              <a:t>fichiers catégorisés </a:t>
            </a:r>
            <a:br>
              <a:rPr lang="fr-BE" sz="2200" b="0" dirty="0" smtClean="0">
                <a:solidFill>
                  <a:schemeClr val="tx1"/>
                </a:solidFill>
                <a:latin typeface="Segoe UI" panose="020B0502040204020203" pitchFamily="34" charset="0"/>
                <a:ea typeface="Segoe UI" panose="020B0502040204020203" pitchFamily="34" charset="0"/>
                <a:cs typeface="Segoe UI" panose="020B0502040204020203" pitchFamily="34" charset="0"/>
              </a:rPr>
            </a:br>
            <a:r>
              <a:rPr lang="fr-BE" sz="2200" b="0" dirty="0" smtClean="0">
                <a:solidFill>
                  <a:schemeClr val="tx1"/>
                </a:solidFill>
                <a:latin typeface="Segoe UI" panose="020B0502040204020203" pitchFamily="34" charset="0"/>
                <a:ea typeface="Segoe UI" panose="020B0502040204020203" pitchFamily="34" charset="0"/>
                <a:cs typeface="Segoe UI" panose="020B0502040204020203" pitchFamily="34" charset="0"/>
              </a:rPr>
              <a:t>pour leur gestion)</a:t>
            </a:r>
            <a:endParaRPr lang="fr-FR" sz="2200" b="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
        <p:nvSpPr>
          <p:cNvPr id="48" name="&quot;Polices to enforce encryption"/>
          <p:cNvSpPr txBox="1"/>
          <p:nvPr/>
        </p:nvSpPr>
        <p:spPr>
          <a:xfrm>
            <a:off x="567132" y="4568750"/>
            <a:ext cx="3717215" cy="1765474"/>
          </a:xfrm>
          <a:prstGeom prst="rect">
            <a:avLst/>
          </a:prstGeom>
          <a:noFill/>
          <a:ln w="9525">
            <a:solidFill>
              <a:schemeClr val="tx2">
                <a:lumMod val="65000"/>
                <a:lumOff val="35000"/>
              </a:schemeClr>
            </a:solidFill>
          </a:ln>
        </p:spPr>
        <p:style>
          <a:lnRef idx="2">
            <a:schemeClr val="dk1"/>
          </a:lnRef>
          <a:fillRef idx="1">
            <a:schemeClr val="lt1"/>
          </a:fillRef>
          <a:effectRef idx="0">
            <a:schemeClr val="dk1"/>
          </a:effectRef>
          <a:fontRef idx="minor">
            <a:schemeClr val="dk1"/>
          </a:fontRef>
        </p:style>
        <p:txBody>
          <a:bodyPr wrap="square" lIns="36000" tIns="36000" rIns="36000" bIns="36000" rtlCol="0">
            <a:spAutoFit/>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defTabSz="768032"/>
            <a:r>
              <a:rPr lang="fr-BE" sz="2200" b="0" dirty="0">
                <a:solidFill>
                  <a:schemeClr val="tx1"/>
                </a:solidFill>
                <a:latin typeface="Segoe UI" panose="020B0502040204020203" pitchFamily="34" charset="0"/>
                <a:ea typeface="Segoe UI" panose="020B0502040204020203" pitchFamily="34" charset="0"/>
                <a:cs typeface="Segoe UI" panose="020B0502040204020203" pitchFamily="34" charset="0"/>
              </a:rPr>
              <a:t>Les règles de sécurité pour appliquer le cryptage, verrouiller les périphériques et effacer les données </a:t>
            </a:r>
            <a:r>
              <a:rPr lang="fr-BE" sz="2200" b="0" dirty="0" smtClean="0">
                <a:solidFill>
                  <a:schemeClr val="tx1"/>
                </a:solidFill>
                <a:latin typeface="Segoe UI" panose="020B0502040204020203" pitchFamily="34" charset="0"/>
                <a:ea typeface="Segoe UI" panose="020B0502040204020203" pitchFamily="34" charset="0"/>
                <a:cs typeface="Segoe UI" panose="020B0502040204020203" pitchFamily="34" charset="0"/>
              </a:rPr>
              <a:t>si besoin…</a:t>
            </a:r>
            <a:endParaRPr lang="en-CA" sz="2200" b="0" dirty="0">
              <a:latin typeface="Segoe UI" panose="020B0502040204020203" pitchFamily="34" charset="0"/>
              <a:ea typeface="Segoe UI" panose="020B0502040204020203" pitchFamily="34" charset="0"/>
              <a:cs typeface="Segoe UI" panose="020B0502040204020203" pitchFamily="34" charset="0"/>
            </a:endParaRPr>
          </a:p>
        </p:txBody>
      </p:sp>
      <p:pic>
        <p:nvPicPr>
          <p:cNvPr id="49" name="document - table"/>
          <p:cNvPicPr>
            <a:picLocks noChangeAspect="1"/>
          </p:cNvPicPr>
          <p:nvPr/>
        </p:nvPicPr>
        <p:blipFill>
          <a:blip r:embed="rId9" cstate="print">
            <a:extLst>
              <a:ext uri="{28A0092B-C50C-407E-A947-70E740481C1C}">
                <a14:useLocalDpi xmlns:a14="http://schemas.microsoft.com/office/drawing/2010/main" xmlns="" val="0"/>
              </a:ext>
            </a:extLst>
          </a:blip>
          <a:stretch>
            <a:fillRect/>
          </a:stretch>
        </p:blipFill>
        <p:spPr>
          <a:xfrm>
            <a:off x="4850613" y="3174600"/>
            <a:ext cx="525156" cy="877762"/>
          </a:xfrm>
          <a:prstGeom prst="rect">
            <a:avLst/>
          </a:prstGeom>
        </p:spPr>
      </p:pic>
      <p:pic>
        <p:nvPicPr>
          <p:cNvPr id="50" name="document - policy"/>
          <p:cNvPicPr>
            <a:picLocks noChangeAspect="1"/>
          </p:cNvPicPr>
          <p:nvPr/>
        </p:nvPicPr>
        <p:blipFill>
          <a:blip r:embed="rId10" cstate="print">
            <a:extLst>
              <a:ext uri="{28A0092B-C50C-407E-A947-70E740481C1C}">
                <a14:useLocalDpi xmlns:a14="http://schemas.microsoft.com/office/drawing/2010/main" xmlns="" val="0"/>
              </a:ext>
            </a:extLst>
          </a:blip>
          <a:stretch>
            <a:fillRect/>
          </a:stretch>
        </p:blipFill>
        <p:spPr>
          <a:xfrm>
            <a:off x="3906473" y="3272350"/>
            <a:ext cx="633328" cy="1006636"/>
          </a:xfrm>
          <a:prstGeom prst="rect">
            <a:avLst/>
          </a:prstGeom>
        </p:spPr>
      </p:pic>
      <p:cxnSp>
        <p:nvCxnSpPr>
          <p:cNvPr id="51" name="Straight Connector 50"/>
          <p:cNvCxnSpPr/>
          <p:nvPr/>
        </p:nvCxnSpPr>
        <p:spPr bwMode="auto">
          <a:xfrm>
            <a:off x="5190356" y="3961212"/>
            <a:ext cx="118704" cy="478629"/>
          </a:xfrm>
          <a:prstGeom prst="line">
            <a:avLst/>
          </a:prstGeom>
          <a:gradFill rotWithShape="1">
            <a:gsLst>
              <a:gs pos="0">
                <a:srgbClr val="E4CD9A"/>
              </a:gs>
              <a:gs pos="100000">
                <a:srgbClr val="EEEFD7"/>
              </a:gs>
            </a:gsLst>
            <a:lin ang="2700000" scaled="1"/>
          </a:gradFill>
          <a:ln w="22225" cap="flat" cmpd="sng" algn="ctr">
            <a:solidFill>
              <a:schemeClr val="tx1"/>
            </a:solidFill>
            <a:prstDash val="solid"/>
            <a:round/>
            <a:headEnd type="none" w="med" len="med"/>
            <a:tailEnd type="none" w="med" len="med"/>
          </a:ln>
          <a:effectLst/>
        </p:spPr>
      </p:cxnSp>
      <p:cxnSp>
        <p:nvCxnSpPr>
          <p:cNvPr id="52" name="Straight Connector 51"/>
          <p:cNvCxnSpPr/>
          <p:nvPr/>
        </p:nvCxnSpPr>
        <p:spPr bwMode="auto">
          <a:xfrm flipH="1">
            <a:off x="3769908" y="3807323"/>
            <a:ext cx="298036" cy="760520"/>
          </a:xfrm>
          <a:prstGeom prst="line">
            <a:avLst/>
          </a:prstGeom>
          <a:gradFill rotWithShape="1">
            <a:gsLst>
              <a:gs pos="0">
                <a:srgbClr val="E4CD9A"/>
              </a:gs>
              <a:gs pos="100000">
                <a:srgbClr val="EEEFD7"/>
              </a:gs>
            </a:gsLst>
            <a:lin ang="2700000" scaled="1"/>
          </a:gradFill>
          <a:ln w="22225" cap="flat" cmpd="sng" algn="ctr">
            <a:solidFill>
              <a:schemeClr val="tx1"/>
            </a:solidFill>
            <a:prstDash val="solid"/>
            <a:round/>
            <a:headEnd type="none" w="med" len="med"/>
            <a:tailEnd type="none" w="med" len="med"/>
          </a:ln>
          <a:effectLst/>
        </p:spPr>
      </p:cxnSp>
      <p:sp>
        <p:nvSpPr>
          <p:cNvPr id="53" name="alt text here &quot;https://" descr="The diagram depicts the setup of Work Folders on https://Workfolders.Contoso.com.&#10;The server and Active Directory Domain Services are in the center of the corporate environment. &#10;There are user devices outside the corporate environment, on the left. These devices communicate with the Reverse Proxy router which in turn communicates with the server and the AD DS database.&#10;There are user devices inside the corporate environment, on the right, which communicate directly with the server and the AD DS database.&#10;There are two documents on the server.&#10;The first document represents security policies, which enforce encryption, lock devices, and wipe corporate data off of devices.&#10;The second document represents file management techniques such as quotas, file screens, reporting, and classification.&#10;"/>
          <p:cNvSpPr txBox="1"/>
          <p:nvPr/>
        </p:nvSpPr>
        <p:spPr>
          <a:xfrm>
            <a:off x="4400393" y="950473"/>
            <a:ext cx="4087295" cy="307777"/>
          </a:xfrm>
          <a:prstGeom prst="rect">
            <a:avLst/>
          </a:prstGeom>
          <a:solidFill>
            <a:schemeClr val="accent1"/>
          </a:solidFill>
          <a:ln w="12700">
            <a:noFill/>
          </a:ln>
        </p:spPr>
        <p:txBody>
          <a:bodyPr wrap="square" lIns="72000" tIns="0" rIns="7200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000" b="0" dirty="0" smtClean="0">
                <a:latin typeface="Segoe UI" panose="020B0502040204020203" pitchFamily="34" charset="0"/>
                <a:ea typeface="Segoe UI" panose="020B0502040204020203" pitchFamily="34" charset="0"/>
                <a:cs typeface="Segoe UI" panose="020B0502040204020203" pitchFamily="34" charset="0"/>
              </a:rPr>
              <a:t>https://Workfolders.Contoso.com</a:t>
            </a:r>
            <a:endParaRPr lang="en-US" sz="2000" b="0" dirty="0">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xmlns="" val="3789745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9a52e43a-1831-4811-9fcd-0274bb1ffee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Avantages et limitations des </a:t>
            </a:r>
            <a:r>
              <a:rPr lang="fr-FR" dirty="0" err="1" smtClean="0"/>
              <a:t>Work</a:t>
            </a:r>
            <a:r>
              <a:rPr lang="fr-FR" dirty="0" smtClean="0"/>
              <a:t> </a:t>
            </a:r>
            <a:r>
              <a:rPr lang="fr-FR" dirty="0" err="1" smtClean="0"/>
              <a:t>Folders</a:t>
            </a:r>
            <a:endParaRPr lang="fr-FR" dirty="0"/>
          </a:p>
        </p:txBody>
      </p:sp>
      <p:sp>
        <p:nvSpPr>
          <p:cNvPr id="4" name="Content Placeholder 2"/>
          <p:cNvSpPr>
            <a:spLocks noGrp="1"/>
          </p:cNvSpPr>
          <p:nvPr/>
        </p:nvSpPr>
        <p:spPr bwMode="auto">
          <a:xfrm>
            <a:off x="416370" y="997298"/>
            <a:ext cx="8692134" cy="553041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spcBef>
                <a:spcPts val="400"/>
              </a:spcBef>
            </a:pPr>
            <a:r>
              <a:rPr lang="fr-FR" sz="2200" dirty="0" smtClean="0"/>
              <a:t>Les avantages :</a:t>
            </a:r>
          </a:p>
          <a:p>
            <a:pPr lvl="1">
              <a:spcBef>
                <a:spcPts val="400"/>
              </a:spcBef>
            </a:pPr>
            <a:r>
              <a:rPr lang="fr-FR" sz="2200" dirty="0" smtClean="0"/>
              <a:t>Compatible aussi bien avec les appareils membres d’un domaine qu’avec des appareils membres d’un groupe de travail</a:t>
            </a:r>
          </a:p>
          <a:p>
            <a:pPr lvl="1">
              <a:spcBef>
                <a:spcPts val="400"/>
              </a:spcBef>
            </a:pPr>
            <a:r>
              <a:rPr lang="fr-BE" sz="2200" dirty="0" smtClean="0"/>
              <a:t>Fournit </a:t>
            </a:r>
            <a:r>
              <a:rPr lang="fr-BE" sz="2200" dirty="0"/>
              <a:t>un seul point d'accès aux fichiers de </a:t>
            </a:r>
            <a:r>
              <a:rPr lang="fr-BE" sz="2200" dirty="0" smtClean="0"/>
              <a:t>travail</a:t>
            </a:r>
            <a:endParaRPr lang="fr-FR" sz="2200" dirty="0" smtClean="0"/>
          </a:p>
          <a:p>
            <a:pPr lvl="1">
              <a:spcBef>
                <a:spcPts val="400"/>
              </a:spcBef>
            </a:pPr>
            <a:r>
              <a:rPr lang="fr-BE" sz="2200" dirty="0" smtClean="0"/>
              <a:t>Fournit </a:t>
            </a:r>
            <a:r>
              <a:rPr lang="fr-BE" sz="2200" dirty="0"/>
              <a:t>un accès hors ligne aux fichiers de travail</a:t>
            </a:r>
            <a:endParaRPr lang="fr-FR" sz="2200" dirty="0" smtClean="0"/>
          </a:p>
          <a:p>
            <a:pPr lvl="1">
              <a:spcBef>
                <a:spcPts val="400"/>
              </a:spcBef>
            </a:pPr>
            <a:r>
              <a:rPr lang="fr-FR" sz="2200" dirty="0" smtClean="0"/>
              <a:t>Synchronisation des fichiers des utilisateurs</a:t>
            </a:r>
          </a:p>
          <a:p>
            <a:pPr lvl="1">
              <a:spcBef>
                <a:spcPts val="400"/>
              </a:spcBef>
            </a:pPr>
            <a:r>
              <a:rPr lang="fr-BE" sz="2200" dirty="0"/>
              <a:t>Permet le cryptage des données</a:t>
            </a:r>
            <a:endParaRPr lang="fr-FR" sz="2200" dirty="0" smtClean="0"/>
          </a:p>
          <a:p>
            <a:pPr lvl="1">
              <a:spcBef>
                <a:spcPts val="400"/>
              </a:spcBef>
            </a:pPr>
            <a:r>
              <a:rPr lang="fr-BE" sz="2200" dirty="0" smtClean="0"/>
              <a:t>Fonctionne </a:t>
            </a:r>
            <a:r>
              <a:rPr lang="fr-BE" sz="2200" dirty="0"/>
              <a:t>avec les technologies </a:t>
            </a:r>
            <a:r>
              <a:rPr lang="fr-BE" sz="2200" dirty="0" smtClean="0"/>
              <a:t>actuelles de </a:t>
            </a:r>
            <a:r>
              <a:rPr lang="fr-BE" sz="2200" dirty="0"/>
              <a:t>gestion de données </a:t>
            </a:r>
            <a:br>
              <a:rPr lang="fr-BE" sz="2200" dirty="0"/>
            </a:br>
            <a:endParaRPr lang="fr-FR" sz="2200" dirty="0" smtClean="0"/>
          </a:p>
          <a:p>
            <a:pPr>
              <a:spcBef>
                <a:spcPts val="400"/>
              </a:spcBef>
            </a:pPr>
            <a:r>
              <a:rPr lang="fr-FR" sz="2200" dirty="0" smtClean="0"/>
              <a:t>Les limitations :</a:t>
            </a:r>
          </a:p>
          <a:p>
            <a:pPr lvl="1">
              <a:spcBef>
                <a:spcPts val="400"/>
              </a:spcBef>
            </a:pPr>
            <a:r>
              <a:rPr lang="fr-FR" sz="2200" dirty="0" smtClean="0"/>
              <a:t>Fonctionne avec Win Server 2012 R2 et Windows 8.1 uniquement </a:t>
            </a:r>
          </a:p>
          <a:p>
            <a:pPr lvl="1">
              <a:spcBef>
                <a:spcPts val="400"/>
              </a:spcBef>
            </a:pPr>
            <a:r>
              <a:rPr lang="fr-FR" sz="2200" dirty="0" smtClean="0"/>
              <a:t>Ne supporte pas le partage entre utilisateurs</a:t>
            </a:r>
          </a:p>
          <a:p>
            <a:pPr lvl="1">
              <a:spcBef>
                <a:spcPts val="400"/>
              </a:spcBef>
            </a:pPr>
            <a:r>
              <a:rPr lang="fr-FR" sz="2200" dirty="0" smtClean="0"/>
              <a:t>Ne permet pas de faire une synchronisation sélective</a:t>
            </a:r>
          </a:p>
          <a:p>
            <a:pPr lvl="1">
              <a:spcBef>
                <a:spcPts val="400"/>
              </a:spcBef>
            </a:pPr>
            <a:r>
              <a:rPr lang="fr-FR" sz="2200" dirty="0" smtClean="0"/>
              <a:t>Permet de se synchroniser avec son dossier personnel uniquement, et non avec d’autres dossiers en partage</a:t>
            </a:r>
            <a:endParaRPr lang="fr-FR" dirty="0"/>
          </a:p>
        </p:txBody>
      </p:sp>
    </p:spTree>
    <p:extLst>
      <p:ext uri="{BB962C8B-B14F-4D97-AF65-F5344CB8AC3E}">
        <p14:creationId xmlns:p14="http://schemas.microsoft.com/office/powerpoint/2010/main" xmlns="" val="3552755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c4f61a98-4875-47a7-a0c2-bd8940a8799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Work Folders : </a:t>
            </a:r>
            <a:r>
              <a:rPr lang="en-CA" dirty="0" err="1" smtClean="0"/>
              <a:t>Besoins</a:t>
            </a:r>
            <a:endParaRPr lang="en-CA" dirty="0"/>
          </a:p>
        </p:txBody>
      </p:sp>
      <p:sp>
        <p:nvSpPr>
          <p:cNvPr id="4" name="Content Placeholder 2"/>
          <p:cNvSpPr>
            <a:spLocks noGrp="1"/>
          </p:cNvSpPr>
          <p:nvPr/>
        </p:nvSpPr>
        <p:spPr bwMode="auto">
          <a:xfrm>
            <a:off x="481090" y="954307"/>
            <a:ext cx="8483398" cy="556787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fr-FR" sz="2400" dirty="0" smtClean="0"/>
              <a:t>Besoins Software</a:t>
            </a:r>
          </a:p>
          <a:p>
            <a:pPr lvl="1"/>
            <a:r>
              <a:rPr lang="fr-FR" sz="2200" dirty="0" smtClean="0"/>
              <a:t>Un serveur Windows Server 2012 R2</a:t>
            </a:r>
          </a:p>
          <a:p>
            <a:pPr lvl="1"/>
            <a:r>
              <a:rPr lang="fr-FR" sz="2200" dirty="0" smtClean="0"/>
              <a:t>Un client Windows 8.1</a:t>
            </a:r>
          </a:p>
          <a:p>
            <a:pPr lvl="1"/>
            <a:r>
              <a:rPr lang="fr-FR" sz="2200" dirty="0" smtClean="0"/>
              <a:t>Certificats SSL</a:t>
            </a:r>
          </a:p>
          <a:p>
            <a:pPr lvl="1"/>
            <a:r>
              <a:rPr lang="fr-FR" sz="2200" dirty="0" smtClean="0"/>
              <a:t>Partitions NTFS ou </a:t>
            </a:r>
            <a:r>
              <a:rPr lang="fr-FR" sz="2200" dirty="0" err="1" smtClean="0"/>
              <a:t>ReFS</a:t>
            </a:r>
            <a:r>
              <a:rPr lang="fr-FR" sz="2200" dirty="0" smtClean="0"/>
              <a:t> pour les clients et le serveur</a:t>
            </a:r>
          </a:p>
          <a:p>
            <a:pPr>
              <a:spcBef>
                <a:spcPts val="1200"/>
              </a:spcBef>
            </a:pPr>
            <a:r>
              <a:rPr lang="fr-FR" sz="2400" dirty="0" smtClean="0"/>
              <a:t>Besoins pour le serveur :</a:t>
            </a:r>
          </a:p>
          <a:p>
            <a:pPr>
              <a:spcBef>
                <a:spcPts val="0"/>
              </a:spcBef>
            </a:pPr>
            <a:endParaRPr lang="fr-FR" sz="1100" dirty="0" smtClean="0"/>
          </a:p>
          <a:p>
            <a:pPr>
              <a:spcBef>
                <a:spcPts val="0"/>
              </a:spcBef>
            </a:pPr>
            <a:endParaRPr lang="fr-FR" sz="1100" dirty="0" smtClean="0"/>
          </a:p>
          <a:p>
            <a:pPr>
              <a:spcBef>
                <a:spcPts val="0"/>
              </a:spcBef>
            </a:pPr>
            <a:endParaRPr lang="fr-FR" sz="1100" dirty="0" smtClean="0"/>
          </a:p>
          <a:p>
            <a:pPr>
              <a:spcBef>
                <a:spcPts val="0"/>
              </a:spcBef>
            </a:pPr>
            <a:endParaRPr lang="fr-FR" sz="1100" dirty="0" smtClean="0"/>
          </a:p>
          <a:p>
            <a:pPr>
              <a:spcBef>
                <a:spcPts val="0"/>
              </a:spcBef>
            </a:pPr>
            <a:endParaRPr lang="fr-FR" sz="1100" dirty="0" smtClean="0"/>
          </a:p>
          <a:p>
            <a:pPr>
              <a:spcBef>
                <a:spcPts val="0"/>
              </a:spcBef>
            </a:pPr>
            <a:endParaRPr lang="fr-FR" sz="1100" dirty="0" smtClean="0"/>
          </a:p>
          <a:p>
            <a:pPr>
              <a:spcBef>
                <a:spcPts val="0"/>
              </a:spcBef>
            </a:pPr>
            <a:endParaRPr lang="fr-FR" sz="1100" dirty="0" smtClean="0"/>
          </a:p>
          <a:p>
            <a:pPr>
              <a:spcBef>
                <a:spcPts val="0"/>
              </a:spcBef>
            </a:pPr>
            <a:endParaRPr lang="fr-FR" sz="1100" dirty="0" smtClean="0"/>
          </a:p>
          <a:p>
            <a:pPr>
              <a:spcBef>
                <a:spcPts val="0"/>
              </a:spcBef>
            </a:pPr>
            <a:endParaRPr lang="fr-FR" sz="1100" dirty="0" smtClean="0"/>
          </a:p>
          <a:p>
            <a:pPr>
              <a:spcBef>
                <a:spcPts val="0"/>
              </a:spcBef>
            </a:pPr>
            <a:r>
              <a:rPr lang="fr-FR" sz="2400" dirty="0" smtClean="0"/>
              <a:t>Besoins pour le client</a:t>
            </a:r>
          </a:p>
          <a:p>
            <a:pPr lvl="1"/>
            <a:r>
              <a:rPr lang="fr-FR" sz="2200" dirty="0" smtClean="0"/>
              <a:t>Manuelle : Panneau de configuration</a:t>
            </a:r>
          </a:p>
          <a:p>
            <a:pPr lvl="1"/>
            <a:r>
              <a:rPr lang="fr-FR" sz="2200" dirty="0" smtClean="0"/>
              <a:t>Automatique :  Group Policy, Configuration Manager ou Intune</a:t>
            </a:r>
            <a:endParaRPr lang="fr-FR" sz="2200" dirty="0"/>
          </a:p>
        </p:txBody>
      </p:sp>
      <p:graphicFrame>
        <p:nvGraphicFramePr>
          <p:cNvPr id="5" name="Table 4"/>
          <p:cNvGraphicFramePr>
            <a:graphicFrameLocks noGrp="1"/>
          </p:cNvGraphicFramePr>
          <p:nvPr>
            <p:extLst>
              <p:ext uri="{D42A27DB-BD31-4B8C-83A1-F6EECF244321}">
                <p14:modId xmlns:p14="http://schemas.microsoft.com/office/powerpoint/2010/main" xmlns="" val="3506536143"/>
              </p:ext>
            </p:extLst>
          </p:nvPr>
        </p:nvGraphicFramePr>
        <p:xfrm>
          <a:off x="690597" y="3492541"/>
          <a:ext cx="7234203" cy="1456720"/>
        </p:xfrm>
        <a:graphic>
          <a:graphicData uri="http://schemas.openxmlformats.org/drawingml/2006/table">
            <a:tbl>
              <a:tblPr firstRow="1" bandRow="1">
                <a:tableStyleId>{5C22544A-7EE6-4342-B048-85BDC9FD1C3A}</a:tableStyleId>
              </a:tblPr>
              <a:tblGrid>
                <a:gridCol w="3576603"/>
                <a:gridCol w="3657600"/>
              </a:tblGrid>
              <a:tr h="1192748">
                <a:tc>
                  <a:txBody>
                    <a:bodyPr/>
                    <a:lstStyle/>
                    <a:p>
                      <a:pPr marL="108000" lvl="1" indent="-169863" algn="l" rtl="0" eaLnBrk="1" fontAlgn="base" hangingPunct="1">
                        <a:lnSpc>
                          <a:spcPct val="100000"/>
                        </a:lnSpc>
                        <a:spcBef>
                          <a:spcPts val="400"/>
                        </a:spcBef>
                        <a:spcAft>
                          <a:spcPct val="0"/>
                        </a:spcAft>
                        <a:buClr>
                          <a:srgbClr val="0070C0"/>
                        </a:buClr>
                        <a:buSzPct val="80000"/>
                        <a:buFont typeface="Arial" pitchFamily="34" charset="0"/>
                        <a:buChar char="•"/>
                      </a:pPr>
                      <a:r>
                        <a:rPr lang="fr-FR" sz="2200" b="0" noProof="0" dirty="0" err="1" smtClean="0">
                          <a:solidFill>
                            <a:schemeClr val="tx1"/>
                          </a:solidFill>
                          <a:latin typeface="Segoe UI" pitchFamily="34" charset="0"/>
                          <a:ea typeface="Segoe UI" pitchFamily="34" charset="0"/>
                          <a:cs typeface="Segoe UI" pitchFamily="34" charset="0"/>
                        </a:rPr>
                        <a:t>Work</a:t>
                      </a:r>
                      <a:r>
                        <a:rPr lang="fr-FR" sz="2200" b="0" noProof="0" dirty="0" smtClean="0">
                          <a:solidFill>
                            <a:schemeClr val="tx1"/>
                          </a:solidFill>
                          <a:latin typeface="Segoe UI" pitchFamily="34" charset="0"/>
                          <a:ea typeface="Segoe UI" pitchFamily="34" charset="0"/>
                          <a:cs typeface="Segoe UI" pitchFamily="34" charset="0"/>
                        </a:rPr>
                        <a:t> </a:t>
                      </a:r>
                      <a:r>
                        <a:rPr lang="fr-FR" sz="2200" b="0" noProof="0" dirty="0" err="1" smtClean="0">
                          <a:solidFill>
                            <a:schemeClr val="tx1"/>
                          </a:solidFill>
                          <a:latin typeface="Segoe UI" pitchFamily="34" charset="0"/>
                          <a:ea typeface="Segoe UI" pitchFamily="34" charset="0"/>
                          <a:cs typeface="Segoe UI" pitchFamily="34" charset="0"/>
                        </a:rPr>
                        <a:t>Folders</a:t>
                      </a:r>
                      <a:r>
                        <a:rPr lang="fr-FR" sz="2200" b="0" noProof="0" dirty="0" smtClean="0">
                          <a:solidFill>
                            <a:schemeClr val="tx1"/>
                          </a:solidFill>
                          <a:latin typeface="Segoe UI" pitchFamily="34" charset="0"/>
                          <a:ea typeface="Segoe UI" pitchFamily="34" charset="0"/>
                          <a:cs typeface="Segoe UI" pitchFamily="34" charset="0"/>
                        </a:rPr>
                        <a:t> </a:t>
                      </a:r>
                      <a:r>
                        <a:rPr lang="fr-FR" sz="2200" b="0" noProof="0" dirty="0" err="1" smtClean="0">
                          <a:solidFill>
                            <a:schemeClr val="tx1"/>
                          </a:solidFill>
                          <a:latin typeface="Segoe UI" pitchFamily="34" charset="0"/>
                          <a:ea typeface="Segoe UI" pitchFamily="34" charset="0"/>
                          <a:cs typeface="Segoe UI" pitchFamily="34" charset="0"/>
                        </a:rPr>
                        <a:t>role</a:t>
                      </a:r>
                      <a:r>
                        <a:rPr lang="fr-FR" sz="2200" b="0" noProof="0" dirty="0" smtClean="0">
                          <a:solidFill>
                            <a:schemeClr val="tx1"/>
                          </a:solidFill>
                          <a:latin typeface="Segoe UI" pitchFamily="34" charset="0"/>
                          <a:ea typeface="Segoe UI" pitchFamily="34" charset="0"/>
                          <a:cs typeface="Segoe UI" pitchFamily="34" charset="0"/>
                        </a:rPr>
                        <a:t> service</a:t>
                      </a:r>
                    </a:p>
                    <a:p>
                      <a:pPr marL="108000" lvl="1" indent="-169863" algn="l" rtl="0" eaLnBrk="1" fontAlgn="base" hangingPunct="1">
                        <a:lnSpc>
                          <a:spcPct val="100000"/>
                        </a:lnSpc>
                        <a:spcBef>
                          <a:spcPts val="400"/>
                        </a:spcBef>
                        <a:spcAft>
                          <a:spcPct val="0"/>
                        </a:spcAft>
                        <a:buClr>
                          <a:srgbClr val="0070C0"/>
                        </a:buClr>
                        <a:buSzPct val="80000"/>
                        <a:buFont typeface="Arial" pitchFamily="34" charset="0"/>
                        <a:buChar char="•"/>
                      </a:pPr>
                      <a:r>
                        <a:rPr lang="fr-FR" sz="2200" b="0" noProof="0" dirty="0" smtClean="0">
                          <a:solidFill>
                            <a:schemeClr val="tx1"/>
                          </a:solidFill>
                          <a:latin typeface="Segoe UI" pitchFamily="34" charset="0"/>
                          <a:ea typeface="Segoe UI" pitchFamily="34" charset="0"/>
                          <a:cs typeface="Segoe UI" pitchFamily="34" charset="0"/>
                        </a:rPr>
                        <a:t>File Server </a:t>
                      </a:r>
                      <a:r>
                        <a:rPr lang="fr-FR" sz="2200" b="0" noProof="0" dirty="0" err="1" smtClean="0">
                          <a:solidFill>
                            <a:schemeClr val="tx1"/>
                          </a:solidFill>
                          <a:latin typeface="Segoe UI" pitchFamily="34" charset="0"/>
                          <a:ea typeface="Segoe UI" pitchFamily="34" charset="0"/>
                          <a:cs typeface="Segoe UI" pitchFamily="34" charset="0"/>
                        </a:rPr>
                        <a:t>role</a:t>
                      </a:r>
                      <a:r>
                        <a:rPr lang="fr-FR" sz="2200" b="0" noProof="0" dirty="0" smtClean="0">
                          <a:solidFill>
                            <a:schemeClr val="tx1"/>
                          </a:solidFill>
                          <a:latin typeface="Segoe UI" pitchFamily="34" charset="0"/>
                          <a:ea typeface="Segoe UI" pitchFamily="34" charset="0"/>
                          <a:cs typeface="Segoe UI" pitchFamily="34" charset="0"/>
                        </a:rPr>
                        <a:t> service</a:t>
                      </a:r>
                    </a:p>
                    <a:p>
                      <a:pPr marL="108000" lvl="1" indent="-169863" algn="l" rtl="0" eaLnBrk="1" fontAlgn="base" hangingPunct="1">
                        <a:lnSpc>
                          <a:spcPct val="100000"/>
                        </a:lnSpc>
                        <a:spcBef>
                          <a:spcPts val="400"/>
                        </a:spcBef>
                        <a:spcAft>
                          <a:spcPct val="0"/>
                        </a:spcAft>
                        <a:buClr>
                          <a:srgbClr val="0070C0"/>
                        </a:buClr>
                        <a:buSzPct val="80000"/>
                        <a:buFont typeface="Arial" pitchFamily="34" charset="0"/>
                        <a:buChar char="•"/>
                      </a:pPr>
                      <a:r>
                        <a:rPr lang="fr-FR" sz="2200" b="0" noProof="0" dirty="0" smtClean="0">
                          <a:solidFill>
                            <a:schemeClr val="tx1"/>
                          </a:solidFill>
                          <a:latin typeface="Segoe UI" pitchFamily="34" charset="0"/>
                          <a:ea typeface="Segoe UI" pitchFamily="34" charset="0"/>
                          <a:cs typeface="Segoe UI" pitchFamily="34" charset="0"/>
                        </a:rPr>
                        <a:t>Web Server (IIS) </a:t>
                      </a:r>
                      <a:r>
                        <a:rPr lang="fr-FR" sz="2200" b="0" noProof="0" dirty="0" err="1" smtClean="0">
                          <a:solidFill>
                            <a:schemeClr val="tx1"/>
                          </a:solidFill>
                          <a:latin typeface="Segoe UI" pitchFamily="34" charset="0"/>
                          <a:ea typeface="Segoe UI" pitchFamily="34" charset="0"/>
                          <a:cs typeface="Segoe UI" pitchFamily="34" charset="0"/>
                        </a:rPr>
                        <a:t>role</a:t>
                      </a:r>
                      <a:endParaRPr lang="fr-FR" sz="2200" b="0" noProof="0" dirty="0">
                        <a:solidFill>
                          <a:schemeClr val="tx1"/>
                        </a:solidFill>
                        <a:latin typeface="Segoe UI" pitchFamily="34" charset="0"/>
                        <a:ea typeface="Segoe UI" pitchFamily="34" charset="0"/>
                        <a:cs typeface="Segoe UI" pitchFamily="34" charset="0"/>
                      </a:endParaRPr>
                    </a:p>
                  </a:txBody>
                  <a:tcPr marL="90000" marR="90000" marT="468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80000" lvl="1" indent="-180000" algn="l" rtl="0" eaLnBrk="1" fontAlgn="base" hangingPunct="1">
                        <a:lnSpc>
                          <a:spcPct val="100000"/>
                        </a:lnSpc>
                        <a:spcBef>
                          <a:spcPts val="400"/>
                        </a:spcBef>
                        <a:spcAft>
                          <a:spcPct val="0"/>
                        </a:spcAft>
                        <a:buClr>
                          <a:srgbClr val="0070C0"/>
                        </a:buClr>
                        <a:buSzPct val="80000"/>
                        <a:buFont typeface="Arial" pitchFamily="34" charset="0"/>
                        <a:buChar char="•"/>
                      </a:pPr>
                      <a:r>
                        <a:rPr lang="fr-FR" sz="2200" b="0" noProof="0" dirty="0" smtClean="0">
                          <a:solidFill>
                            <a:schemeClr val="tx1"/>
                          </a:solidFill>
                          <a:latin typeface="Segoe UI" pitchFamily="34" charset="0"/>
                          <a:ea typeface="Segoe UI" pitchFamily="34" charset="0"/>
                          <a:cs typeface="Segoe UI" pitchFamily="34" charset="0"/>
                        </a:rPr>
                        <a:t>IIS Management Console </a:t>
                      </a:r>
                      <a:r>
                        <a:rPr lang="fr-FR" sz="2200" b="0" noProof="0" dirty="0" err="1" smtClean="0">
                          <a:solidFill>
                            <a:schemeClr val="tx1"/>
                          </a:solidFill>
                          <a:latin typeface="Segoe UI" pitchFamily="34" charset="0"/>
                          <a:ea typeface="Segoe UI" pitchFamily="34" charset="0"/>
                          <a:cs typeface="Segoe UI" pitchFamily="34" charset="0"/>
                        </a:rPr>
                        <a:t>role</a:t>
                      </a:r>
                      <a:r>
                        <a:rPr lang="fr-FR" sz="2200" b="0" noProof="0" dirty="0" smtClean="0">
                          <a:solidFill>
                            <a:schemeClr val="tx1"/>
                          </a:solidFill>
                          <a:latin typeface="Segoe UI" pitchFamily="34" charset="0"/>
                          <a:ea typeface="Segoe UI" pitchFamily="34" charset="0"/>
                          <a:cs typeface="Segoe UI" pitchFamily="34" charset="0"/>
                        </a:rPr>
                        <a:t> service</a:t>
                      </a:r>
                    </a:p>
                    <a:p>
                      <a:pPr marL="180000" lvl="1" indent="-180000" algn="l" rtl="0" eaLnBrk="1" fontAlgn="base" hangingPunct="1">
                        <a:lnSpc>
                          <a:spcPct val="100000"/>
                        </a:lnSpc>
                        <a:spcBef>
                          <a:spcPts val="400"/>
                        </a:spcBef>
                        <a:spcAft>
                          <a:spcPct val="0"/>
                        </a:spcAft>
                        <a:buClr>
                          <a:srgbClr val="0070C0"/>
                        </a:buClr>
                        <a:buSzPct val="80000"/>
                        <a:buFont typeface="Arial" pitchFamily="34" charset="0"/>
                        <a:buChar char="•"/>
                      </a:pPr>
                      <a:r>
                        <a:rPr lang="fr-FR" sz="2200" b="0" noProof="0" dirty="0" smtClean="0">
                          <a:solidFill>
                            <a:schemeClr val="tx1"/>
                          </a:solidFill>
                          <a:latin typeface="Segoe UI" pitchFamily="34" charset="0"/>
                          <a:ea typeface="Segoe UI" pitchFamily="34" charset="0"/>
                          <a:cs typeface="Segoe UI" pitchFamily="34" charset="0"/>
                        </a:rPr>
                        <a:t>IIS </a:t>
                      </a:r>
                      <a:r>
                        <a:rPr lang="fr-FR" sz="2200" b="0" noProof="0" dirty="0" err="1" smtClean="0">
                          <a:solidFill>
                            <a:schemeClr val="tx1"/>
                          </a:solidFill>
                          <a:latin typeface="Segoe UI" pitchFamily="34" charset="0"/>
                          <a:ea typeface="Segoe UI" pitchFamily="34" charset="0"/>
                          <a:cs typeface="Segoe UI" pitchFamily="34" charset="0"/>
                        </a:rPr>
                        <a:t>Hostable</a:t>
                      </a:r>
                      <a:r>
                        <a:rPr lang="fr-FR" sz="2200" b="0" noProof="0" dirty="0" smtClean="0">
                          <a:solidFill>
                            <a:schemeClr val="tx1"/>
                          </a:solidFill>
                          <a:latin typeface="Segoe UI" pitchFamily="34" charset="0"/>
                          <a:ea typeface="Segoe UI" pitchFamily="34" charset="0"/>
                          <a:cs typeface="Segoe UI" pitchFamily="34" charset="0"/>
                        </a:rPr>
                        <a:t> Web </a:t>
                      </a:r>
                      <a:r>
                        <a:rPr lang="fr-FR" sz="2200" b="0" noProof="0" dirty="0" err="1" smtClean="0">
                          <a:solidFill>
                            <a:schemeClr val="tx1"/>
                          </a:solidFill>
                          <a:latin typeface="Segoe UI" pitchFamily="34" charset="0"/>
                          <a:ea typeface="Segoe UI" pitchFamily="34" charset="0"/>
                          <a:cs typeface="Segoe UI" pitchFamily="34" charset="0"/>
                        </a:rPr>
                        <a:t>Core</a:t>
                      </a:r>
                      <a:r>
                        <a:rPr lang="fr-FR" sz="2200" b="0" noProof="0" dirty="0" smtClean="0">
                          <a:solidFill>
                            <a:schemeClr val="tx1"/>
                          </a:solidFill>
                          <a:latin typeface="Segoe UI" pitchFamily="34" charset="0"/>
                          <a:ea typeface="Segoe UI" pitchFamily="34" charset="0"/>
                          <a:cs typeface="Segoe UI" pitchFamily="34" charset="0"/>
                        </a:rPr>
                        <a:t> </a:t>
                      </a:r>
                      <a:r>
                        <a:rPr lang="fr-FR" sz="2200" b="0" noProof="0" dirty="0" err="1" smtClean="0">
                          <a:solidFill>
                            <a:schemeClr val="tx1"/>
                          </a:solidFill>
                          <a:latin typeface="Segoe UI" pitchFamily="34" charset="0"/>
                          <a:ea typeface="Segoe UI" pitchFamily="34" charset="0"/>
                          <a:cs typeface="Segoe UI" pitchFamily="34" charset="0"/>
                        </a:rPr>
                        <a:t>role</a:t>
                      </a:r>
                      <a:r>
                        <a:rPr lang="fr-FR" sz="2200" b="0" noProof="0" dirty="0" smtClean="0">
                          <a:solidFill>
                            <a:schemeClr val="tx1"/>
                          </a:solidFill>
                          <a:latin typeface="Segoe UI" pitchFamily="34" charset="0"/>
                          <a:ea typeface="Segoe UI" pitchFamily="34" charset="0"/>
                          <a:cs typeface="Segoe UI" pitchFamily="34" charset="0"/>
                        </a:rPr>
                        <a:t> service</a:t>
                      </a:r>
                      <a:endParaRPr lang="fr-FR" sz="2200" b="0" noProof="0" dirty="0">
                        <a:solidFill>
                          <a:schemeClr val="tx1"/>
                        </a:solidFill>
                        <a:latin typeface="Segoe UI" pitchFamily="34" charset="0"/>
                        <a:ea typeface="Segoe UI" pitchFamily="34" charset="0"/>
                        <a:cs typeface="Segoe UI" pitchFamily="34" charset="0"/>
                      </a:endParaRPr>
                    </a:p>
                  </a:txBody>
                  <a:tcPr marL="90000" marR="90000" marT="46800" marB="1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extLst>
      <p:ext uri="{BB962C8B-B14F-4D97-AF65-F5344CB8AC3E}">
        <p14:creationId xmlns:p14="http://schemas.microsoft.com/office/powerpoint/2010/main" xmlns="" val="24994140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900fba01-7d77-4e5c-af36-803ff158146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Work Folders : Configuration</a:t>
            </a:r>
            <a:endParaRPr lang="en-CA" dirty="0"/>
          </a:p>
        </p:txBody>
      </p:sp>
      <p:sp>
        <p:nvSpPr>
          <p:cNvPr id="4" name="Content Placeholder 2"/>
          <p:cNvSpPr>
            <a:spLocks noGrp="1"/>
          </p:cNvSpPr>
          <p:nvPr/>
        </p:nvSpPr>
        <p:spPr bwMode="auto">
          <a:xfrm>
            <a:off x="452984" y="1108300"/>
            <a:ext cx="8691016" cy="563306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lnSpc>
                <a:spcPct val="110000"/>
              </a:lnSpc>
            </a:pPr>
            <a:r>
              <a:rPr lang="fr-FR" dirty="0" smtClean="0"/>
              <a:t>Configuration Serveur</a:t>
            </a:r>
          </a:p>
          <a:p>
            <a:pPr lvl="1">
              <a:lnSpc>
                <a:spcPct val="110000"/>
              </a:lnSpc>
            </a:pPr>
            <a:r>
              <a:rPr lang="fr-FR" dirty="0" smtClean="0"/>
              <a:t>Installer “</a:t>
            </a:r>
            <a:r>
              <a:rPr lang="fr-FR" dirty="0" err="1" smtClean="0"/>
              <a:t>Work</a:t>
            </a:r>
            <a:r>
              <a:rPr lang="fr-FR" dirty="0" smtClean="0"/>
              <a:t> </a:t>
            </a:r>
            <a:r>
              <a:rPr lang="fr-FR" dirty="0" err="1" smtClean="0"/>
              <a:t>Folders</a:t>
            </a:r>
            <a:r>
              <a:rPr lang="fr-FR" dirty="0" smtClean="0"/>
              <a:t> </a:t>
            </a:r>
            <a:r>
              <a:rPr lang="fr-FR" dirty="0" err="1" smtClean="0"/>
              <a:t>role</a:t>
            </a:r>
            <a:r>
              <a:rPr lang="fr-FR" dirty="0" smtClean="0"/>
              <a:t> service”</a:t>
            </a:r>
          </a:p>
          <a:p>
            <a:pPr lvl="1">
              <a:lnSpc>
                <a:spcPct val="110000"/>
              </a:lnSpc>
            </a:pPr>
            <a:r>
              <a:rPr lang="fr-FR" dirty="0" smtClean="0"/>
              <a:t>Créer un partage synchronisé (</a:t>
            </a:r>
            <a:r>
              <a:rPr lang="fr-FR" dirty="0" err="1" smtClean="0"/>
              <a:t>sync</a:t>
            </a:r>
            <a:r>
              <a:rPr lang="fr-FR" dirty="0" smtClean="0"/>
              <a:t> </a:t>
            </a:r>
            <a:r>
              <a:rPr lang="fr-FR" dirty="0" err="1" smtClean="0"/>
              <a:t>share</a:t>
            </a:r>
            <a:r>
              <a:rPr lang="fr-FR" dirty="0" smtClean="0"/>
              <a:t>)</a:t>
            </a:r>
          </a:p>
          <a:p>
            <a:pPr lvl="1">
              <a:lnSpc>
                <a:spcPct val="110000"/>
              </a:lnSpc>
            </a:pPr>
            <a:r>
              <a:rPr lang="fr-FR" dirty="0" smtClean="0"/>
              <a:t>Installer un serveur de certificats ayant la même url que le service </a:t>
            </a:r>
            <a:r>
              <a:rPr lang="fr-FR" dirty="0" err="1" smtClean="0"/>
              <a:t>Work</a:t>
            </a:r>
            <a:r>
              <a:rPr lang="fr-FR" dirty="0" smtClean="0"/>
              <a:t> </a:t>
            </a:r>
            <a:r>
              <a:rPr lang="fr-FR" dirty="0" err="1" smtClean="0"/>
              <a:t>Folders</a:t>
            </a:r>
            <a:r>
              <a:rPr lang="fr-FR" dirty="0" smtClean="0"/>
              <a:t/>
            </a:r>
            <a:br>
              <a:rPr lang="fr-FR" dirty="0" smtClean="0"/>
            </a:br>
            <a:endParaRPr lang="fr-FR" dirty="0" smtClean="0"/>
          </a:p>
          <a:p>
            <a:pPr>
              <a:lnSpc>
                <a:spcPct val="110000"/>
              </a:lnSpc>
            </a:pPr>
            <a:r>
              <a:rPr lang="fr-FR" dirty="0" smtClean="0"/>
              <a:t>Configuration Client</a:t>
            </a:r>
          </a:p>
          <a:p>
            <a:pPr lvl="1">
              <a:lnSpc>
                <a:spcPct val="110000"/>
              </a:lnSpc>
            </a:pPr>
            <a:r>
              <a:rPr lang="fr-FR" dirty="0" smtClean="0"/>
              <a:t>Pour une configuration manuelle, les utilisateurs doivent encoder leur adresse mail eux-mêmes</a:t>
            </a:r>
          </a:p>
          <a:p>
            <a:pPr lvl="1">
              <a:lnSpc>
                <a:spcPct val="110000"/>
              </a:lnSpc>
            </a:pPr>
            <a:r>
              <a:rPr lang="fr-FR" dirty="0" smtClean="0"/>
              <a:t>Pour une configuration automatique, tout est géré avec la police de groupe (Group Policy). Le client n’a rien à faire.</a:t>
            </a:r>
          </a:p>
        </p:txBody>
      </p:sp>
    </p:spTree>
    <p:extLst>
      <p:ext uri="{BB962C8B-B14F-4D97-AF65-F5344CB8AC3E}">
        <p14:creationId xmlns:p14="http://schemas.microsoft.com/office/powerpoint/2010/main" xmlns="" val="2008685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381f2bb4-0e71-44aa-95f3-6d493bd20ce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Demonstration: How to Configure Work Folders</a:t>
            </a:r>
            <a:endParaRPr lang="en-CA" dirty="0"/>
          </a:p>
        </p:txBody>
      </p:sp>
      <p:sp>
        <p:nvSpPr>
          <p:cNvPr id="4" name="Content Placeholder 2"/>
          <p:cNvSpPr>
            <a:spLocks noGrp="1"/>
          </p:cNvSpPr>
          <p:nvPr/>
        </p:nvSpPr>
        <p:spPr bwMode="auto">
          <a:xfrm>
            <a:off x="467544" y="1071346"/>
            <a:ext cx="7560840"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buNone/>
            </a:pPr>
            <a:r>
              <a:rPr lang="en-US" dirty="0"/>
              <a:t>In this demonstration, you will see how to:</a:t>
            </a:r>
            <a:endParaRPr lang="en-CA" dirty="0"/>
          </a:p>
          <a:p>
            <a:pPr lvl="1"/>
            <a:r>
              <a:rPr lang="en-US" sz="2600" dirty="0" smtClean="0"/>
              <a:t>Install </a:t>
            </a:r>
            <a:r>
              <a:rPr lang="en-US" sz="2600" dirty="0"/>
              <a:t>the Work Folders role </a:t>
            </a:r>
            <a:r>
              <a:rPr lang="en-US" sz="2600" dirty="0" smtClean="0"/>
              <a:t>service</a:t>
            </a:r>
            <a:endParaRPr lang="en-CA" sz="2600" dirty="0"/>
          </a:p>
          <a:p>
            <a:pPr lvl="1"/>
            <a:r>
              <a:rPr lang="en-US" sz="2600" dirty="0"/>
              <a:t>Create a sync share for work folders on </a:t>
            </a:r>
            <a:r>
              <a:rPr lang="en-US" sz="2600" dirty="0" smtClean="0"/>
              <a:t>a </a:t>
            </a:r>
            <a:r>
              <a:rPr lang="en-US" sz="2600" dirty="0"/>
              <a:t>file </a:t>
            </a:r>
            <a:r>
              <a:rPr lang="en-US" sz="2600" dirty="0" smtClean="0"/>
              <a:t>server </a:t>
            </a:r>
            <a:endParaRPr lang="en-CA" sz="2600" dirty="0"/>
          </a:p>
          <a:p>
            <a:pPr lvl="1"/>
            <a:r>
              <a:rPr lang="en-US" sz="2600" dirty="0"/>
              <a:t>Configure Work Folder access on a Windows 8.1 </a:t>
            </a:r>
            <a:r>
              <a:rPr lang="en-US" sz="2600" dirty="0" smtClean="0"/>
              <a:t>client</a:t>
            </a:r>
            <a:endParaRPr lang="en-CA" sz="2600" dirty="0"/>
          </a:p>
          <a:p>
            <a:pPr lvl="1"/>
            <a:r>
              <a:rPr lang="en-US" sz="2600" dirty="0"/>
              <a:t>Create a file in the work </a:t>
            </a:r>
            <a:r>
              <a:rPr lang="en-US" sz="2600" dirty="0" smtClean="0"/>
              <a:t>folder</a:t>
            </a:r>
            <a:endParaRPr lang="en-CA" sz="2600" dirty="0"/>
          </a:p>
          <a:p>
            <a:pPr lvl="1"/>
            <a:r>
              <a:rPr lang="en-US" sz="2600" dirty="0"/>
              <a:t>Configure Work Folders to sync data on a second Windows 8.1 </a:t>
            </a:r>
            <a:r>
              <a:rPr lang="en-US" sz="2600" dirty="0" smtClean="0"/>
              <a:t>client</a:t>
            </a:r>
            <a:endParaRPr lang="en-US" sz="2600" dirty="0"/>
          </a:p>
        </p:txBody>
      </p:sp>
    </p:spTree>
    <p:extLst>
      <p:ext uri="{BB962C8B-B14F-4D97-AF65-F5344CB8AC3E}">
        <p14:creationId xmlns:p14="http://schemas.microsoft.com/office/powerpoint/2010/main" xmlns="" val="21220385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xmlns="" val="2562377897"/>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xmlns="" val="2884787925"/>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59803ad3-332e-4364-9307-825bc724efc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Lesson 4: Configuring Network Printing</a:t>
            </a:r>
            <a:endParaRPr lang="en-CA" dirty="0"/>
          </a:p>
        </p:txBody>
      </p:sp>
      <p:sp>
        <p:nvSpPr>
          <p:cNvPr id="3" name="Text Placeholder 2"/>
          <p:cNvSpPr>
            <a:spLocks noGrp="1"/>
          </p:cNvSpPr>
          <p:nvPr>
            <p:ph type="body" idx="1"/>
          </p:nvPr>
        </p:nvSpPr>
        <p:spPr/>
        <p:txBody>
          <a:bodyPr/>
          <a:lstStyle/>
          <a:p>
            <a:r>
              <a:rPr lang="en-CA" dirty="0" smtClean="0"/>
              <a:t>Benefits of Network Printing
What Is Enhanced Point and Print?
Security Options for Network Printing
Demonstration: Creating Multiple Configurations for a Print Device
What Is Printer Pooling?
What Is Branch Office Direct Printing?
Deploying Printers to Clients</a:t>
            </a:r>
            <a:endParaRPr lang="en-CA" dirty="0"/>
          </a:p>
        </p:txBody>
      </p:sp>
    </p:spTree>
    <p:extLst>
      <p:ext uri="{BB962C8B-B14F-4D97-AF65-F5344CB8AC3E}">
        <p14:creationId xmlns:p14="http://schemas.microsoft.com/office/powerpoint/2010/main" xmlns="" val="38420517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6362f5a4-b5f6-460c-8799-d021d0f6b26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Network Printing : Avantages</a:t>
            </a:r>
            <a:endParaRPr lang="fr-FR" dirty="0"/>
          </a:p>
        </p:txBody>
      </p:sp>
      <p:sp>
        <p:nvSpPr>
          <p:cNvPr id="4" name="Rounded Rectangle 3"/>
          <p:cNvSpPr>
            <a:spLocks noChangeArrowheads="1"/>
          </p:cNvSpPr>
          <p:nvPr/>
        </p:nvSpPr>
        <p:spPr bwMode="auto">
          <a:xfrm>
            <a:off x="211138" y="956248"/>
            <a:ext cx="8721725" cy="2915362"/>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buNone/>
            </a:pPr>
            <a:endParaRPr lang="en-CA" sz="2400" dirty="0">
              <a:latin typeface="Segoe UI" pitchFamily="34" charset="0"/>
              <a:ea typeface="Segoe UI" pitchFamily="34" charset="0"/>
              <a:cs typeface="Segoe UI" pitchFamily="34" charset="0"/>
            </a:endParaRPr>
          </a:p>
        </p:txBody>
      </p:sp>
      <p:sp>
        <p:nvSpPr>
          <p:cNvPr id="5" name="Rounded Rectangle 4"/>
          <p:cNvSpPr>
            <a:spLocks noChangeArrowheads="1"/>
          </p:cNvSpPr>
          <p:nvPr/>
        </p:nvSpPr>
        <p:spPr bwMode="auto">
          <a:xfrm>
            <a:off x="347223" y="1172148"/>
            <a:ext cx="7908135" cy="2915362"/>
          </a:xfrm>
          <a:prstGeom prst="roundRect">
            <a:avLst>
              <a:gd name="adj" fmla="val 4167"/>
            </a:avLst>
          </a:prstGeom>
          <a:ln>
            <a:headEnd/>
            <a:tailEnd/>
          </a:ln>
        </p:spPr>
        <p:style>
          <a:lnRef idx="2">
            <a:schemeClr val="accent1"/>
          </a:lnRef>
          <a:fillRef idx="1">
            <a:schemeClr val="lt1"/>
          </a:fillRef>
          <a:effectRef idx="0">
            <a:schemeClr val="accent1"/>
          </a:effectRef>
          <a:fontRef idx="minor">
            <a:schemeClr val="dk1"/>
          </a:fontRef>
        </p:style>
        <p:txBody>
          <a:bodyPr wrap="squar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228600" indent="-228600">
              <a:spcBef>
                <a:spcPct val="40000"/>
              </a:spcBef>
              <a:buClr>
                <a:srgbClr val="006699"/>
              </a:buClr>
              <a:buFontTx/>
              <a:buChar char="•"/>
            </a:pPr>
            <a:endParaRPr lang="fr-FR" sz="2800" b="0" dirty="0" smtClean="0">
              <a:solidFill>
                <a:schemeClr val="tx1"/>
              </a:solidFill>
              <a:latin typeface="Segoe UI" pitchFamily="34" charset="0"/>
              <a:ea typeface="Segoe UI" pitchFamily="34" charset="0"/>
              <a:cs typeface="Segoe UI" pitchFamily="34" charset="0"/>
            </a:endParaRPr>
          </a:p>
          <a:p>
            <a:pPr marL="228600" indent="-228600">
              <a:spcBef>
                <a:spcPct val="40000"/>
              </a:spcBef>
              <a:buClr>
                <a:srgbClr val="006699"/>
              </a:buClr>
              <a:buFontTx/>
              <a:buChar char="•"/>
            </a:pPr>
            <a:r>
              <a:rPr lang="fr-FR" sz="2800" b="0" dirty="0" smtClean="0">
                <a:solidFill>
                  <a:schemeClr val="tx1"/>
                </a:solidFill>
                <a:latin typeface="Segoe UI" pitchFamily="34" charset="0"/>
                <a:ea typeface="Segoe UI" pitchFamily="34" charset="0"/>
                <a:cs typeface="Segoe UI" pitchFamily="34" charset="0"/>
              </a:rPr>
              <a:t>Gestion centralisée avec </a:t>
            </a:r>
            <a:r>
              <a:rPr lang="fr-FR" sz="2800" b="0" dirty="0" err="1" smtClean="0">
                <a:solidFill>
                  <a:schemeClr val="tx1"/>
                </a:solidFill>
                <a:latin typeface="Segoe UI" pitchFamily="34" charset="0"/>
                <a:ea typeface="Segoe UI" pitchFamily="34" charset="0"/>
                <a:cs typeface="Segoe UI" pitchFamily="34" charset="0"/>
              </a:rPr>
              <a:t>Print</a:t>
            </a:r>
            <a:r>
              <a:rPr lang="fr-FR" sz="2800" b="0" dirty="0" smtClean="0">
                <a:solidFill>
                  <a:schemeClr val="tx1"/>
                </a:solidFill>
                <a:latin typeface="Segoe UI" pitchFamily="34" charset="0"/>
                <a:ea typeface="Segoe UI" pitchFamily="34" charset="0"/>
                <a:cs typeface="Segoe UI" pitchFamily="34" charset="0"/>
              </a:rPr>
              <a:t> Management Console</a:t>
            </a:r>
          </a:p>
          <a:p>
            <a:pPr marL="228600" indent="-228600">
              <a:spcBef>
                <a:spcPct val="40000"/>
              </a:spcBef>
              <a:buClr>
                <a:srgbClr val="006699"/>
              </a:buClr>
              <a:buFontTx/>
              <a:buChar char="•"/>
            </a:pPr>
            <a:r>
              <a:rPr lang="fr-FR" sz="2800" b="0" dirty="0" smtClean="0">
                <a:solidFill>
                  <a:schemeClr val="tx1"/>
                </a:solidFill>
                <a:latin typeface="Segoe UI" pitchFamily="34" charset="0"/>
                <a:ea typeface="Segoe UI" pitchFamily="34" charset="0"/>
                <a:cs typeface="Segoe UI" pitchFamily="34" charset="0"/>
              </a:rPr>
              <a:t>Dépannage simplifié</a:t>
            </a:r>
          </a:p>
          <a:p>
            <a:pPr marL="228600" indent="-228600">
              <a:spcBef>
                <a:spcPct val="40000"/>
              </a:spcBef>
              <a:buClr>
                <a:srgbClr val="006699"/>
              </a:buClr>
              <a:buFontTx/>
              <a:buChar char="•"/>
            </a:pPr>
            <a:r>
              <a:rPr lang="fr-FR" sz="2800" b="0" dirty="0" smtClean="0">
                <a:solidFill>
                  <a:schemeClr val="tx1"/>
                </a:solidFill>
                <a:latin typeface="Segoe UI" pitchFamily="34" charset="0"/>
                <a:ea typeface="Segoe UI" pitchFamily="34" charset="0"/>
                <a:cs typeface="Segoe UI" pitchFamily="34" charset="0"/>
              </a:rPr>
              <a:t>Coûts totaux réduits</a:t>
            </a:r>
          </a:p>
          <a:p>
            <a:pPr marL="228600" indent="-228600">
              <a:spcBef>
                <a:spcPct val="40000"/>
              </a:spcBef>
              <a:buClr>
                <a:srgbClr val="006699"/>
              </a:buClr>
              <a:buFontTx/>
              <a:buChar char="•"/>
            </a:pPr>
            <a:r>
              <a:rPr lang="fr-FR" sz="2800" b="0" dirty="0" smtClean="0">
                <a:solidFill>
                  <a:schemeClr val="tx1"/>
                </a:solidFill>
                <a:latin typeface="Segoe UI" pitchFamily="34" charset="0"/>
                <a:ea typeface="Segoe UI" pitchFamily="34" charset="0"/>
                <a:cs typeface="Segoe UI" pitchFamily="34" charset="0"/>
              </a:rPr>
              <a:t>Recherche facile dans Active Directory</a:t>
            </a:r>
          </a:p>
          <a:p>
            <a:pPr marL="228600" indent="-228600">
              <a:lnSpc>
                <a:spcPct val="90000"/>
              </a:lnSpc>
              <a:spcBef>
                <a:spcPct val="40000"/>
              </a:spcBef>
              <a:buClr>
                <a:srgbClr val="006699"/>
              </a:buClr>
              <a:buFontTx/>
              <a:buChar char="•"/>
            </a:pPr>
            <a:endParaRPr lang="fr-FR" sz="1200" b="0" dirty="0">
              <a:solidFill>
                <a:srgbClr val="FF0000"/>
              </a:soli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xmlns="" val="37057514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98c45024-7d91-4a08-927d-f8e107e1c64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Enhanced Point and Print</a:t>
            </a:r>
            <a:endParaRPr lang="en-CA" dirty="0"/>
          </a:p>
        </p:txBody>
      </p:sp>
      <p:sp>
        <p:nvSpPr>
          <p:cNvPr id="4" name="Content Placeholder 2"/>
          <p:cNvSpPr>
            <a:spLocks noGrp="1"/>
          </p:cNvSpPr>
          <p:nvPr/>
        </p:nvSpPr>
        <p:spPr bwMode="auto">
          <a:xfrm>
            <a:off x="450046" y="987346"/>
            <a:ext cx="8658458" cy="587065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lnSpc>
                <a:spcPct val="110000"/>
              </a:lnSpc>
            </a:pPr>
            <a:r>
              <a:rPr lang="fr-FR" sz="2600" dirty="0" smtClean="0"/>
              <a:t>Nouvelle version (v4) de pilote d’impression apportant </a:t>
            </a:r>
            <a:r>
              <a:rPr lang="fr-BE" sz="2600" dirty="0"/>
              <a:t>une structure de gestion simplifiée pour </a:t>
            </a:r>
            <a:r>
              <a:rPr lang="fr-BE" sz="2600" dirty="0" smtClean="0"/>
              <a:t>les imprimantes réseau</a:t>
            </a:r>
            <a:r>
              <a:rPr lang="fr-FR" sz="2600" dirty="0"/>
              <a:t/>
            </a:r>
            <a:br>
              <a:rPr lang="fr-FR" sz="2600" dirty="0"/>
            </a:br>
            <a:endParaRPr lang="fr-FR" sz="2600" dirty="0" smtClean="0"/>
          </a:p>
          <a:p>
            <a:r>
              <a:rPr lang="fr-FR" sz="2600" dirty="0" smtClean="0"/>
              <a:t>Avantages :</a:t>
            </a:r>
          </a:p>
          <a:p>
            <a:pPr lvl="1"/>
            <a:r>
              <a:rPr lang="fr-FR" dirty="0" smtClean="0"/>
              <a:t>Les pilotes d’impression client ne doivent plus être stockés sur le serveur d’impression</a:t>
            </a:r>
          </a:p>
          <a:p>
            <a:pPr lvl="1"/>
            <a:r>
              <a:rPr lang="fr-BE" dirty="0" smtClean="0"/>
              <a:t>Les pilotes </a:t>
            </a:r>
            <a:r>
              <a:rPr lang="fr-BE" dirty="0"/>
              <a:t>sont isolés sur une base par pilote, ce qui empêche les conflits de nom de fichier </a:t>
            </a:r>
            <a:r>
              <a:rPr lang="fr-BE" dirty="0" smtClean="0"/>
              <a:t>pilote</a:t>
            </a:r>
            <a:endParaRPr lang="fr-FR" dirty="0" smtClean="0"/>
          </a:p>
          <a:p>
            <a:pPr lvl="1"/>
            <a:r>
              <a:rPr lang="fr-FR" dirty="0" smtClean="0"/>
              <a:t>Un seul pilote pour plusieurs périphériques (plus générique)</a:t>
            </a:r>
          </a:p>
          <a:p>
            <a:pPr lvl="1"/>
            <a:r>
              <a:rPr lang="fr-FR" dirty="0" smtClean="0"/>
              <a:t>Les pilotes sont plus légers et plus faciles à installer</a:t>
            </a:r>
          </a:p>
          <a:p>
            <a:pPr lvl="1"/>
            <a:r>
              <a:rPr lang="fr-BE" dirty="0"/>
              <a:t>Le pilote d'impression et l'interface utilisateur de l'imprimante peuvent être déployés indépendamment</a:t>
            </a:r>
            <a:endParaRPr lang="fr-FR" dirty="0"/>
          </a:p>
        </p:txBody>
      </p:sp>
    </p:spTree>
    <p:extLst>
      <p:ext uri="{BB962C8B-B14F-4D97-AF65-F5344CB8AC3E}">
        <p14:creationId xmlns:p14="http://schemas.microsoft.com/office/powerpoint/2010/main" xmlns="" val="33923615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88f9bc03-9a1b-4e94-90a2-cd39670f82f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Sécurité</a:t>
            </a:r>
            <a:endParaRPr lang="fr-FR" dirty="0"/>
          </a:p>
        </p:txBody>
      </p:sp>
      <p:sp>
        <p:nvSpPr>
          <p:cNvPr id="4" name="Rounded Rectangle 3"/>
          <p:cNvSpPr>
            <a:spLocks noChangeArrowheads="1"/>
          </p:cNvSpPr>
          <p:nvPr/>
        </p:nvSpPr>
        <p:spPr bwMode="auto">
          <a:xfrm>
            <a:off x="191683" y="800609"/>
            <a:ext cx="8721725" cy="3368912"/>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buNone/>
            </a:pPr>
            <a:endParaRPr lang="en-CA" sz="2400" dirty="0">
              <a:latin typeface="Segoe UI" pitchFamily="34" charset="0"/>
              <a:ea typeface="Segoe UI" pitchFamily="34" charset="0"/>
              <a:cs typeface="Segoe UI" pitchFamily="34" charset="0"/>
            </a:endParaRPr>
          </a:p>
        </p:txBody>
      </p:sp>
      <p:sp>
        <p:nvSpPr>
          <p:cNvPr id="5" name="Rounded Rectangle 4"/>
          <p:cNvSpPr>
            <a:spLocks noChangeArrowheads="1"/>
          </p:cNvSpPr>
          <p:nvPr/>
        </p:nvSpPr>
        <p:spPr bwMode="auto">
          <a:xfrm>
            <a:off x="325644" y="902676"/>
            <a:ext cx="8172450" cy="5334636"/>
          </a:xfrm>
          <a:prstGeom prst="roundRect">
            <a:avLst>
              <a:gd name="adj" fmla="val 4167"/>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228600" indent="-228600">
              <a:lnSpc>
                <a:spcPct val="110000"/>
              </a:lnSpc>
              <a:spcBef>
                <a:spcPts val="600"/>
              </a:spcBef>
              <a:buClr>
                <a:srgbClr val="006699"/>
              </a:buClr>
              <a:buFontTx/>
              <a:buChar char="•"/>
            </a:pPr>
            <a:r>
              <a:rPr lang="fr-FR" sz="2600" b="0" dirty="0" smtClean="0">
                <a:latin typeface="Segoe UI" pitchFamily="34" charset="0"/>
                <a:ea typeface="Segoe UI" pitchFamily="34" charset="0"/>
                <a:cs typeface="Segoe UI" pitchFamily="34" charset="0"/>
              </a:rPr>
              <a:t>La sécurité par default autorise tout le monde à :</a:t>
            </a:r>
          </a:p>
          <a:p>
            <a:pPr marL="685800" lvl="1" indent="-228600">
              <a:lnSpc>
                <a:spcPct val="110000"/>
              </a:lnSpc>
              <a:spcBef>
                <a:spcPts val="600"/>
              </a:spcBef>
              <a:buClr>
                <a:srgbClr val="006699"/>
              </a:buClr>
              <a:buFontTx/>
              <a:buChar char="•"/>
            </a:pPr>
            <a:r>
              <a:rPr lang="fr-FR" sz="2600" b="0" dirty="0" smtClean="0">
                <a:latin typeface="Segoe UI" pitchFamily="34" charset="0"/>
                <a:ea typeface="Segoe UI" pitchFamily="34" charset="0"/>
                <a:cs typeface="Segoe UI" pitchFamily="34" charset="0"/>
              </a:rPr>
              <a:t>Imprimer</a:t>
            </a:r>
          </a:p>
          <a:p>
            <a:pPr marL="685800" lvl="1" indent="-228600">
              <a:lnSpc>
                <a:spcPct val="110000"/>
              </a:lnSpc>
              <a:spcBef>
                <a:spcPts val="600"/>
              </a:spcBef>
              <a:buClr>
                <a:srgbClr val="006699"/>
              </a:buClr>
              <a:buFontTx/>
              <a:buChar char="•"/>
            </a:pPr>
            <a:r>
              <a:rPr lang="fr-FR" sz="2600" b="0" dirty="0" smtClean="0">
                <a:latin typeface="Segoe UI" pitchFamily="34" charset="0"/>
                <a:ea typeface="Segoe UI" pitchFamily="34" charset="0"/>
                <a:cs typeface="Segoe UI" pitchFamily="34" charset="0"/>
              </a:rPr>
              <a:t>Gérer le « job » de leurs impressions</a:t>
            </a:r>
          </a:p>
          <a:p>
            <a:pPr marL="228600" indent="-228600">
              <a:lnSpc>
                <a:spcPct val="110000"/>
              </a:lnSpc>
              <a:spcBef>
                <a:spcPts val="600"/>
              </a:spcBef>
              <a:buClr>
                <a:srgbClr val="006699"/>
              </a:buClr>
              <a:buFontTx/>
              <a:buChar char="•"/>
            </a:pPr>
            <a:r>
              <a:rPr lang="fr-FR" sz="2600" b="0" dirty="0" smtClean="0">
                <a:latin typeface="Segoe UI" pitchFamily="34" charset="0"/>
                <a:ea typeface="Segoe UI" pitchFamily="34" charset="0"/>
                <a:cs typeface="Segoe UI" pitchFamily="34" charset="0"/>
              </a:rPr>
              <a:t>Les autorisations disponibles sont :</a:t>
            </a:r>
          </a:p>
          <a:p>
            <a:pPr marL="685800" lvl="1" indent="-228600">
              <a:lnSpc>
                <a:spcPct val="110000"/>
              </a:lnSpc>
              <a:spcBef>
                <a:spcPts val="600"/>
              </a:spcBef>
              <a:buClr>
                <a:srgbClr val="006699"/>
              </a:buClr>
              <a:buFontTx/>
              <a:buChar char="•"/>
            </a:pPr>
            <a:r>
              <a:rPr lang="fr-FR" sz="2600" b="0" dirty="0" smtClean="0">
                <a:latin typeface="Segoe UI" pitchFamily="34" charset="0"/>
                <a:ea typeface="Segoe UI" pitchFamily="34" charset="0"/>
                <a:cs typeface="Segoe UI" pitchFamily="34" charset="0"/>
              </a:rPr>
              <a:t>Imprimer</a:t>
            </a:r>
          </a:p>
          <a:p>
            <a:pPr marL="685800" lvl="1" indent="-228600">
              <a:lnSpc>
                <a:spcPct val="110000"/>
              </a:lnSpc>
              <a:spcBef>
                <a:spcPts val="600"/>
              </a:spcBef>
              <a:buClr>
                <a:srgbClr val="006699"/>
              </a:buClr>
              <a:buFontTx/>
              <a:buChar char="•"/>
            </a:pPr>
            <a:r>
              <a:rPr lang="fr-FR" sz="2600" b="0" dirty="0" smtClean="0">
                <a:latin typeface="Segoe UI" pitchFamily="34" charset="0"/>
                <a:ea typeface="Segoe UI" pitchFamily="34" charset="0"/>
                <a:cs typeface="Segoe UI" pitchFamily="34" charset="0"/>
              </a:rPr>
              <a:t>Gérer les options d’impression, ainsi que </a:t>
            </a:r>
            <a:br>
              <a:rPr lang="fr-FR" sz="2600" b="0" dirty="0" smtClean="0">
                <a:latin typeface="Segoe UI" pitchFamily="34" charset="0"/>
                <a:ea typeface="Segoe UI" pitchFamily="34" charset="0"/>
                <a:cs typeface="Segoe UI" pitchFamily="34" charset="0"/>
              </a:rPr>
            </a:br>
            <a:r>
              <a:rPr lang="fr-FR" sz="2600" b="0" dirty="0" smtClean="0">
                <a:latin typeface="Segoe UI" pitchFamily="34" charset="0"/>
                <a:ea typeface="Segoe UI" pitchFamily="34" charset="0"/>
                <a:cs typeface="Segoe UI" pitchFamily="34" charset="0"/>
              </a:rPr>
              <a:t>les mises-à-jour du pilote</a:t>
            </a:r>
          </a:p>
          <a:p>
            <a:pPr marL="685800" lvl="1" indent="-228600">
              <a:lnSpc>
                <a:spcPct val="110000"/>
              </a:lnSpc>
              <a:spcBef>
                <a:spcPts val="600"/>
              </a:spcBef>
              <a:buClr>
                <a:srgbClr val="006699"/>
              </a:buClr>
              <a:buFontTx/>
              <a:buChar char="•"/>
            </a:pPr>
            <a:r>
              <a:rPr lang="fr-FR" sz="2600" b="0" dirty="0" smtClean="0">
                <a:latin typeface="Segoe UI" pitchFamily="34" charset="0"/>
                <a:ea typeface="Segoe UI" pitchFamily="34" charset="0"/>
                <a:cs typeface="Segoe UI" pitchFamily="34" charset="0"/>
              </a:rPr>
              <a:t>Modifier la file d’impression (job)</a:t>
            </a:r>
            <a:endParaRPr lang="fr-FR" sz="2600" b="0"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xmlns="" val="2071153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f27aaf5d-b350-4344-a257-c8fb7760e7c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Demonstration: Creating Multiple Configurations for a Print Device</a:t>
            </a:r>
            <a:endParaRPr lang="en-CA" dirty="0"/>
          </a:p>
        </p:txBody>
      </p:sp>
      <p:sp>
        <p:nvSpPr>
          <p:cNvPr id="4" name="Content Placeholder 2"/>
          <p:cNvSpPr>
            <a:spLocks noGrp="1"/>
          </p:cNvSpPr>
          <p:nvPr/>
        </p:nvSpPr>
        <p:spPr bwMode="auto">
          <a:xfrm>
            <a:off x="487364"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buNone/>
            </a:pPr>
            <a:r>
              <a:rPr lang="en-US" dirty="0"/>
              <a:t>In this demonstration, you will see how to:</a:t>
            </a:r>
            <a:endParaRPr lang="en-CA" dirty="0"/>
          </a:p>
          <a:p>
            <a:pPr lvl="1"/>
            <a:r>
              <a:rPr lang="en-US" sz="2600" dirty="0"/>
              <a:t>Create a shared printer</a:t>
            </a:r>
            <a:endParaRPr lang="en-CA" sz="2600" dirty="0"/>
          </a:p>
          <a:p>
            <a:pPr lvl="1"/>
            <a:r>
              <a:rPr lang="en-US" sz="2600" dirty="0"/>
              <a:t>Create a second shared printer using the same port</a:t>
            </a:r>
            <a:endParaRPr lang="en-CA" sz="2600" dirty="0"/>
          </a:p>
          <a:p>
            <a:pPr lvl="1"/>
            <a:r>
              <a:rPr lang="en-US" sz="2600" dirty="0"/>
              <a:t>Increase printing priority for a high priority print queue</a:t>
            </a:r>
            <a:endParaRPr lang="en-CA" sz="2600" dirty="0"/>
          </a:p>
          <a:p>
            <a:endParaRPr lang="en-US" dirty="0"/>
          </a:p>
        </p:txBody>
      </p:sp>
    </p:spTree>
    <p:extLst>
      <p:ext uri="{BB962C8B-B14F-4D97-AF65-F5344CB8AC3E}">
        <p14:creationId xmlns:p14="http://schemas.microsoft.com/office/powerpoint/2010/main" xmlns="" val="24557788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xmlns="" val="1368125205"/>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name="bcb09ebf-7498-4a82-a3d3-9018631b741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Printer Pooling</a:t>
            </a:r>
            <a:endParaRPr lang="en-CA" dirty="0"/>
          </a:p>
        </p:txBody>
      </p:sp>
      <p:sp>
        <p:nvSpPr>
          <p:cNvPr id="4" name="Content Placeholder 2"/>
          <p:cNvSpPr>
            <a:spLocks noGrp="1"/>
          </p:cNvSpPr>
          <p:nvPr/>
        </p:nvSpPr>
        <p:spPr bwMode="auto">
          <a:xfrm>
            <a:off x="458788" y="1021215"/>
            <a:ext cx="8505700"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r>
              <a:rPr lang="fr-FR" dirty="0" smtClean="0"/>
              <a:t>Le pool d'imprimantes combine plusieurs imprimantes physiques en une seule unité logique</a:t>
            </a:r>
          </a:p>
          <a:p>
            <a:pPr lvl="0"/>
            <a:r>
              <a:rPr lang="fr-FR" dirty="0" smtClean="0"/>
              <a:t>Un pool d'imprimantes augmente la disponibilité et l'évolutivité</a:t>
            </a:r>
          </a:p>
          <a:p>
            <a:pPr lvl="0"/>
            <a:r>
              <a:rPr lang="fr-FR" dirty="0" smtClean="0"/>
              <a:t>Contraintes :</a:t>
            </a:r>
          </a:p>
          <a:p>
            <a:pPr lvl="1"/>
            <a:r>
              <a:rPr lang="fr-FR" dirty="0" smtClean="0"/>
              <a:t>Même pilote pour toutes les imprimantes</a:t>
            </a:r>
          </a:p>
          <a:p>
            <a:pPr lvl="1"/>
            <a:r>
              <a:rPr lang="fr-FR" dirty="0" smtClean="0"/>
              <a:t>Placer toutes les imprimantes dans un même emplacement physique (l’utilisateur ne sait pas à l’avance quelle imprimante va imprimer son document)</a:t>
            </a:r>
          </a:p>
          <a:p>
            <a:endParaRPr lang="fr-FR" dirty="0"/>
          </a:p>
        </p:txBody>
      </p:sp>
    </p:spTree>
    <p:extLst>
      <p:ext uri="{BB962C8B-B14F-4D97-AF65-F5344CB8AC3E}">
        <p14:creationId xmlns:p14="http://schemas.microsoft.com/office/powerpoint/2010/main" xmlns="" val="13625436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e9260957-9013-4bd5-8d6f-863a206949f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Branch Office Direct Printing</a:t>
            </a:r>
            <a:endParaRPr lang="en-CA" dirty="0"/>
          </a:p>
        </p:txBody>
      </p:sp>
      <p:sp>
        <p:nvSpPr>
          <p:cNvPr id="4" name="text box"/>
          <p:cNvSpPr txBox="1">
            <a:spLocks/>
          </p:cNvSpPr>
          <p:nvPr/>
        </p:nvSpPr>
        <p:spPr bwMode="auto">
          <a:xfrm>
            <a:off x="35496" y="949124"/>
            <a:ext cx="9073008" cy="805929"/>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vert="horz" wrap="square" lIns="0" tIns="0" rIns="0" bIns="0" numCol="1" anchor="t" anchorCtr="0" compatLnSpc="1">
            <a:prstTxWarp prst="textNoShape">
              <a:avLst/>
            </a:prstTxWarp>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ctr"/>
            <a:r>
              <a:rPr lang="fr-BE" sz="2400" b="0" dirty="0" smtClean="0">
                <a:solidFill>
                  <a:schemeClr val="tx1"/>
                </a:solidFill>
                <a:latin typeface="Segoe UI" panose="020B0502040204020203" pitchFamily="34" charset="0"/>
                <a:ea typeface="Segoe UI" panose="020B0502040204020203" pitchFamily="34" charset="0"/>
                <a:cs typeface="Segoe UI" panose="020B0502040204020203" pitchFamily="34" charset="0"/>
              </a:rPr>
              <a:t>Permet </a:t>
            </a:r>
            <a:r>
              <a:rPr lang="fr-BE" sz="2400" b="0" dirty="0">
                <a:solidFill>
                  <a:schemeClr val="tx1"/>
                </a:solidFill>
                <a:latin typeface="Segoe UI" panose="020B0502040204020203" pitchFamily="34" charset="0"/>
                <a:ea typeface="Segoe UI" panose="020B0502040204020203" pitchFamily="34" charset="0"/>
                <a:cs typeface="Segoe UI" panose="020B0502040204020203" pitchFamily="34" charset="0"/>
              </a:rPr>
              <a:t>aux ordinateurs clients d'imprimer directement sur </a:t>
            </a:r>
            <a:r>
              <a:rPr lang="fr-BE" sz="2400" b="0" dirty="0" smtClean="0">
                <a:solidFill>
                  <a:schemeClr val="tx1"/>
                </a:solidFill>
                <a:latin typeface="Segoe UI" panose="020B0502040204020203" pitchFamily="34" charset="0"/>
                <a:ea typeface="Segoe UI" panose="020B0502040204020203" pitchFamily="34" charset="0"/>
                <a:cs typeface="Segoe UI" panose="020B0502040204020203" pitchFamily="34" charset="0"/>
              </a:rPr>
              <a:t>les </a:t>
            </a:r>
            <a:r>
              <a:rPr lang="fr-BE" sz="2400" b="0" dirty="0">
                <a:solidFill>
                  <a:schemeClr val="tx1"/>
                </a:solidFill>
                <a:latin typeface="Segoe UI" panose="020B0502040204020203" pitchFamily="34" charset="0"/>
                <a:ea typeface="Segoe UI" panose="020B0502040204020203" pitchFamily="34" charset="0"/>
                <a:cs typeface="Segoe UI" panose="020B0502040204020203" pitchFamily="34" charset="0"/>
              </a:rPr>
              <a:t>imprimantes réseau </a:t>
            </a:r>
            <a:r>
              <a:rPr lang="fr-BE" sz="2400" b="0" dirty="0" smtClean="0">
                <a:solidFill>
                  <a:schemeClr val="tx1"/>
                </a:solidFill>
                <a:latin typeface="Segoe UI" panose="020B0502040204020203" pitchFamily="34" charset="0"/>
                <a:ea typeface="Segoe UI" panose="020B0502040204020203" pitchFamily="34" charset="0"/>
                <a:cs typeface="Segoe UI" panose="020B0502040204020203" pitchFamily="34" charset="0"/>
              </a:rPr>
              <a:t>au lieu de passer par un serveur d’impression</a:t>
            </a:r>
            <a:endParaRPr lang="en-CA" sz="2400" b="0" kern="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
        <p:nvSpPr>
          <p:cNvPr id="5" name="TextBox 20"/>
          <p:cNvSpPr txBox="1"/>
          <p:nvPr/>
        </p:nvSpPr>
        <p:spPr>
          <a:xfrm>
            <a:off x="1716350" y="2946349"/>
            <a:ext cx="1315493" cy="680186"/>
          </a:xfrm>
          <a:prstGeom prst="rect">
            <a:avLst/>
          </a:prstGeom>
          <a:solidFill>
            <a:schemeClr val="bg1"/>
          </a:solid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r">
              <a:lnSpc>
                <a:spcPct val="85000"/>
              </a:lnSpc>
            </a:pPr>
            <a:r>
              <a:rPr lang="en-US" sz="2600" b="0" dirty="0" smtClean="0">
                <a:latin typeface="Segoe UI" pitchFamily="34" charset="0"/>
                <a:ea typeface="Segoe UI" pitchFamily="34" charset="0"/>
                <a:cs typeface="Segoe UI" pitchFamily="34" charset="0"/>
              </a:rPr>
              <a:t>Print Request</a:t>
            </a:r>
            <a:endParaRPr lang="en-US" sz="2600" b="0" dirty="0">
              <a:latin typeface="Segoe UI" pitchFamily="34" charset="0"/>
              <a:ea typeface="Segoe UI" pitchFamily="34" charset="0"/>
              <a:cs typeface="Segoe UI" pitchFamily="34" charset="0"/>
            </a:endParaRPr>
          </a:p>
        </p:txBody>
      </p:sp>
      <p:cxnSp>
        <p:nvCxnSpPr>
          <p:cNvPr id="6" name="Straight Arrow Connector 5"/>
          <p:cNvCxnSpPr/>
          <p:nvPr/>
        </p:nvCxnSpPr>
        <p:spPr bwMode="auto">
          <a:xfrm flipV="1">
            <a:off x="1527859" y="2776302"/>
            <a:ext cx="2768718" cy="1849708"/>
          </a:xfrm>
          <a:prstGeom prst="straightConnector1">
            <a:avLst/>
          </a:prstGeom>
          <a:gradFill rotWithShape="1">
            <a:gsLst>
              <a:gs pos="0">
                <a:srgbClr val="E4CD9A"/>
              </a:gs>
              <a:gs pos="100000">
                <a:srgbClr val="EEEFD7"/>
              </a:gs>
            </a:gsLst>
            <a:lin ang="2700000" scaled="1"/>
          </a:gradFill>
          <a:ln w="53975" cap="flat" cmpd="sng" algn="ctr">
            <a:solidFill>
              <a:srgbClr val="00B050"/>
            </a:solidFill>
            <a:prstDash val="solid"/>
            <a:round/>
            <a:headEnd type="none" w="med" len="med"/>
            <a:tailEnd type="arrow"/>
          </a:ln>
          <a:effectLst/>
        </p:spPr>
      </p:cxnSp>
      <p:cxnSp>
        <p:nvCxnSpPr>
          <p:cNvPr id="7" name="Straight Arrow Connector 6"/>
          <p:cNvCxnSpPr/>
          <p:nvPr/>
        </p:nvCxnSpPr>
        <p:spPr bwMode="auto">
          <a:xfrm flipH="1">
            <a:off x="1867455" y="3135707"/>
            <a:ext cx="2429122" cy="1673941"/>
          </a:xfrm>
          <a:prstGeom prst="straightConnector1">
            <a:avLst/>
          </a:prstGeom>
          <a:gradFill rotWithShape="1">
            <a:gsLst>
              <a:gs pos="0">
                <a:srgbClr val="E4CD9A"/>
              </a:gs>
              <a:gs pos="100000">
                <a:srgbClr val="EEEFD7"/>
              </a:gs>
            </a:gsLst>
            <a:lin ang="2700000" scaled="1"/>
          </a:gradFill>
          <a:ln w="53975" cap="flat" cmpd="sng" algn="ctr">
            <a:solidFill>
              <a:srgbClr val="00B050"/>
            </a:solidFill>
            <a:prstDash val="solid"/>
            <a:round/>
            <a:headEnd type="none" w="med" len="med"/>
            <a:tailEnd type="arrow"/>
          </a:ln>
          <a:effectLst/>
        </p:spPr>
      </p:cxnSp>
      <p:grpSp>
        <p:nvGrpSpPr>
          <p:cNvPr id="8" name="Group 7"/>
          <p:cNvGrpSpPr/>
          <p:nvPr/>
        </p:nvGrpSpPr>
        <p:grpSpPr>
          <a:xfrm>
            <a:off x="602683" y="4639602"/>
            <a:ext cx="7874566" cy="2029758"/>
            <a:chOff x="602683" y="4409141"/>
            <a:chExt cx="7874566" cy="2029758"/>
          </a:xfrm>
        </p:grpSpPr>
        <p:sp>
          <p:nvSpPr>
            <p:cNvPr id="9" name="Oval 8"/>
            <p:cNvSpPr/>
            <p:nvPr/>
          </p:nvSpPr>
          <p:spPr bwMode="auto">
            <a:xfrm>
              <a:off x="838200" y="4579187"/>
              <a:ext cx="6960615" cy="1859712"/>
            </a:xfrm>
            <a:prstGeom prst="ellipse">
              <a:avLst/>
            </a:prstGeom>
            <a:noFill/>
            <a:ln w="44450" cap="flat" cmpd="sng" algn="ctr">
              <a:solidFill>
                <a:schemeClr val="bg1">
                  <a:lumMod val="65000"/>
                </a:schemeClr>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smtClean="0">
                <a:ln>
                  <a:noFill/>
                </a:ln>
                <a:solidFill>
                  <a:schemeClr val="tx1"/>
                </a:solidFill>
                <a:effectLst/>
                <a:latin typeface="Verdana" pitchFamily="34" charset="0"/>
              </a:endParaRPr>
            </a:p>
          </p:txBody>
        </p:sp>
        <p:sp>
          <p:nvSpPr>
            <p:cNvPr id="10" name="TextBox 19"/>
            <p:cNvSpPr txBox="1"/>
            <p:nvPr/>
          </p:nvSpPr>
          <p:spPr>
            <a:xfrm>
              <a:off x="3865839" y="4534445"/>
              <a:ext cx="1968488" cy="340093"/>
            </a:xfrm>
            <a:prstGeom prst="rect">
              <a:avLst/>
            </a:prstGeom>
            <a:solidFill>
              <a:schemeClr val="bg1"/>
            </a:solidFill>
          </p:spPr>
          <p:txBody>
            <a:bodyPr wrap="non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85000"/>
                </a:lnSpc>
              </a:pPr>
              <a:r>
                <a:rPr lang="en-US" sz="2600" b="0" dirty="0" smtClean="0">
                  <a:latin typeface="Segoe UI" pitchFamily="34" charset="0"/>
                  <a:ea typeface="Segoe UI" pitchFamily="34" charset="0"/>
                  <a:cs typeface="Segoe UI" pitchFamily="34" charset="0"/>
                </a:rPr>
                <a:t>Branch Office</a:t>
              </a:r>
              <a:endParaRPr lang="en-US" sz="2600" b="0" dirty="0">
                <a:latin typeface="Segoe UI" pitchFamily="34" charset="0"/>
                <a:ea typeface="Segoe UI" pitchFamily="34" charset="0"/>
                <a:cs typeface="Segoe UI" pitchFamily="34" charset="0"/>
              </a:endParaRPr>
            </a:p>
          </p:txBody>
        </p:sp>
        <p:cxnSp>
          <p:nvCxnSpPr>
            <p:cNvPr id="11" name="Straight Arrow Connector 10"/>
            <p:cNvCxnSpPr/>
            <p:nvPr/>
          </p:nvCxnSpPr>
          <p:spPr bwMode="auto">
            <a:xfrm>
              <a:off x="1867454" y="5222352"/>
              <a:ext cx="4453626" cy="0"/>
            </a:xfrm>
            <a:prstGeom prst="straightConnector1">
              <a:avLst/>
            </a:prstGeom>
            <a:gradFill rotWithShape="1">
              <a:gsLst>
                <a:gs pos="0">
                  <a:srgbClr val="E4CD9A"/>
                </a:gs>
                <a:gs pos="100000">
                  <a:srgbClr val="EEEFD7"/>
                </a:gs>
              </a:gsLst>
              <a:lin ang="2700000" scaled="1"/>
            </a:gradFill>
            <a:ln w="53975" cap="flat" cmpd="sng" algn="ctr">
              <a:solidFill>
                <a:srgbClr val="00B050"/>
              </a:solidFill>
              <a:prstDash val="solid"/>
              <a:round/>
              <a:headEnd type="none" w="med" len="med"/>
              <a:tailEnd type="arrow"/>
            </a:ln>
            <a:effectLst/>
          </p:spPr>
        </p:cxnSp>
        <p:sp>
          <p:nvSpPr>
            <p:cNvPr id="12" name="TextBox 23"/>
            <p:cNvSpPr txBox="1"/>
            <p:nvPr/>
          </p:nvSpPr>
          <p:spPr>
            <a:xfrm>
              <a:off x="3591208" y="5308988"/>
              <a:ext cx="1410738" cy="400110"/>
            </a:xfrm>
            <a:prstGeom prst="rect">
              <a:avLst/>
            </a:prstGeom>
            <a:solidFill>
              <a:schemeClr val="bg1"/>
            </a:solid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r>
                <a:rPr lang="en-US" sz="2600" b="0" dirty="0" smtClean="0">
                  <a:latin typeface="Segoe UI" pitchFamily="34" charset="0"/>
                  <a:ea typeface="Segoe UI" pitchFamily="34" charset="0"/>
                  <a:cs typeface="Segoe UI" pitchFamily="34" charset="0"/>
                </a:rPr>
                <a:t>Print Job</a:t>
              </a:r>
              <a:endParaRPr lang="en-US" sz="2600" b="0" dirty="0">
                <a:latin typeface="Segoe UI" pitchFamily="34" charset="0"/>
                <a:ea typeface="Segoe UI" pitchFamily="34" charset="0"/>
                <a:cs typeface="Segoe UI" pitchFamily="34" charset="0"/>
              </a:endParaRPr>
            </a:p>
          </p:txBody>
        </p:sp>
        <p:sp>
          <p:nvSpPr>
            <p:cNvPr id="13" name="TextBox 25"/>
            <p:cNvSpPr txBox="1"/>
            <p:nvPr/>
          </p:nvSpPr>
          <p:spPr>
            <a:xfrm>
              <a:off x="5614868" y="5730626"/>
              <a:ext cx="2862381" cy="340093"/>
            </a:xfrm>
            <a:prstGeom prst="rect">
              <a:avLst/>
            </a:prstGeom>
            <a:solidFill>
              <a:schemeClr val="bg1"/>
            </a:solid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85000"/>
                </a:lnSpc>
              </a:pPr>
              <a:r>
                <a:rPr lang="en-US" sz="2600" b="0" dirty="0" smtClean="0">
                  <a:latin typeface="Segoe UI" pitchFamily="34" charset="0"/>
                  <a:ea typeface="Segoe UI" pitchFamily="34" charset="0"/>
                  <a:cs typeface="Segoe UI" pitchFamily="34" charset="0"/>
                </a:rPr>
                <a:t>Managed Printer</a:t>
              </a:r>
              <a:endParaRPr lang="en-US" sz="2600" b="0" dirty="0">
                <a:latin typeface="Segoe UI" pitchFamily="34" charset="0"/>
                <a:ea typeface="Segoe UI" pitchFamily="34" charset="0"/>
                <a:cs typeface="Segoe UI" pitchFamily="34" charset="0"/>
              </a:endParaRPr>
            </a:p>
          </p:txBody>
        </p:sp>
        <p:pic>
          <p:nvPicPr>
            <p:cNvPr id="14" name="Client computer"/>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rot="540000">
              <a:off x="602683" y="4409141"/>
              <a:ext cx="1173171" cy="1263416"/>
            </a:xfrm>
            <a:prstGeom prst="rect">
              <a:avLst/>
            </a:prstGeom>
          </p:spPr>
        </p:pic>
        <p:pic>
          <p:nvPicPr>
            <p:cNvPr id="15" name="Picture 14"/>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6321080" y="4440325"/>
              <a:ext cx="1549867" cy="1182580"/>
            </a:xfrm>
            <a:prstGeom prst="rect">
              <a:avLst/>
            </a:prstGeom>
          </p:spPr>
        </p:pic>
        <p:sp>
          <p:nvSpPr>
            <p:cNvPr id="16" name="TextBox 24"/>
            <p:cNvSpPr txBox="1"/>
            <p:nvPr/>
          </p:nvSpPr>
          <p:spPr>
            <a:xfrm>
              <a:off x="802814" y="5690318"/>
              <a:ext cx="2408288" cy="340093"/>
            </a:xfrm>
            <a:prstGeom prst="rect">
              <a:avLst/>
            </a:prstGeom>
            <a:solidFill>
              <a:schemeClr val="bg1"/>
            </a:solidFill>
          </p:spPr>
          <p:txBody>
            <a:bodyPr wrap="non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ctr">
                <a:lnSpc>
                  <a:spcPct val="85000"/>
                </a:lnSpc>
              </a:pPr>
              <a:r>
                <a:rPr lang="en-US" sz="2600" b="0" dirty="0" smtClean="0">
                  <a:latin typeface="Segoe UI" pitchFamily="34" charset="0"/>
                  <a:ea typeface="Segoe UI" pitchFamily="34" charset="0"/>
                  <a:cs typeface="Segoe UI" pitchFamily="34" charset="0"/>
                </a:rPr>
                <a:t>Client Computer</a:t>
              </a:r>
              <a:endParaRPr lang="en-US" sz="2600" b="0" dirty="0">
                <a:latin typeface="Segoe UI" pitchFamily="34" charset="0"/>
                <a:ea typeface="Segoe UI" pitchFamily="34" charset="0"/>
                <a:cs typeface="Segoe UI" pitchFamily="34" charset="0"/>
              </a:endParaRPr>
            </a:p>
          </p:txBody>
        </p:sp>
      </p:grpSp>
      <p:grpSp>
        <p:nvGrpSpPr>
          <p:cNvPr id="17" name="alt text here Group 1" descr="Illustration depicts a print server located in the main office and a client computer and printer located in a branch office. Bidirectional arrows indicate that print request traffic flows back and forth between the print server and the client computer. A unidirectional arrow indicates the traffic flow for the print job, which goes from the client computer to the printer located in the branch office."/>
          <p:cNvGrpSpPr/>
          <p:nvPr/>
        </p:nvGrpSpPr>
        <p:grpSpPr>
          <a:xfrm>
            <a:off x="3104455" y="2151488"/>
            <a:ext cx="3687853" cy="2150204"/>
            <a:chOff x="3104455" y="1921027"/>
            <a:chExt cx="3687853" cy="2150204"/>
          </a:xfrm>
        </p:grpSpPr>
        <p:sp>
          <p:nvSpPr>
            <p:cNvPr id="18" name="TextBox 21"/>
            <p:cNvSpPr txBox="1"/>
            <p:nvPr/>
          </p:nvSpPr>
          <p:spPr>
            <a:xfrm>
              <a:off x="3104455" y="3731138"/>
              <a:ext cx="2729872" cy="340093"/>
            </a:xfrm>
            <a:prstGeom prst="rect">
              <a:avLst/>
            </a:prstGeom>
            <a:solidFill>
              <a:schemeClr val="bg1"/>
            </a:solid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85000"/>
                </a:lnSpc>
              </a:pPr>
              <a:r>
                <a:rPr lang="en-US" sz="2600" b="0" dirty="0" smtClean="0">
                  <a:latin typeface="Segoe UI" pitchFamily="34" charset="0"/>
                  <a:ea typeface="Segoe UI" pitchFamily="34" charset="0"/>
                  <a:cs typeface="Segoe UI" pitchFamily="34" charset="0"/>
                </a:rPr>
                <a:t>Print Redirect</a:t>
              </a:r>
              <a:endParaRPr lang="en-US" sz="2600" b="0" dirty="0">
                <a:latin typeface="Segoe UI" pitchFamily="34" charset="0"/>
                <a:ea typeface="Segoe UI" pitchFamily="34" charset="0"/>
                <a:cs typeface="Segoe UI" pitchFamily="34" charset="0"/>
              </a:endParaRPr>
            </a:p>
          </p:txBody>
        </p:sp>
        <p:sp>
          <p:nvSpPr>
            <p:cNvPr id="19" name="TextBox 26"/>
            <p:cNvSpPr txBox="1"/>
            <p:nvPr/>
          </p:nvSpPr>
          <p:spPr>
            <a:xfrm>
              <a:off x="5088124" y="2375795"/>
              <a:ext cx="1704184" cy="340093"/>
            </a:xfrm>
            <a:prstGeom prst="rect">
              <a:avLst/>
            </a:prstGeom>
            <a:solidFill>
              <a:schemeClr val="bg1"/>
            </a:solidFill>
          </p:spPr>
          <p:txBody>
            <a:bodyPr wrap="non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nSpc>
                  <a:spcPct val="85000"/>
                </a:lnSpc>
              </a:pPr>
              <a:r>
                <a:rPr lang="en-US" sz="2600" b="0" dirty="0" smtClean="0">
                  <a:latin typeface="Segoe UI" pitchFamily="34" charset="0"/>
                  <a:ea typeface="Segoe UI" pitchFamily="34" charset="0"/>
                  <a:cs typeface="Segoe UI" pitchFamily="34" charset="0"/>
                </a:rPr>
                <a:t>Print Server</a:t>
              </a:r>
              <a:endParaRPr lang="en-US" sz="2600" b="0" dirty="0">
                <a:latin typeface="Segoe UI" pitchFamily="34" charset="0"/>
                <a:ea typeface="Segoe UI" pitchFamily="34" charset="0"/>
                <a:cs typeface="Segoe UI" pitchFamily="34" charset="0"/>
              </a:endParaRPr>
            </a:p>
          </p:txBody>
        </p:sp>
        <p:sp>
          <p:nvSpPr>
            <p:cNvPr id="20" name="TextBox 18"/>
            <p:cNvSpPr txBox="1"/>
            <p:nvPr/>
          </p:nvSpPr>
          <p:spPr>
            <a:xfrm>
              <a:off x="5106383" y="1921027"/>
              <a:ext cx="1685925" cy="400110"/>
            </a:xfrm>
            <a:prstGeom prst="rect">
              <a:avLst/>
            </a:prstGeom>
            <a:solidFill>
              <a:schemeClr val="bg1"/>
            </a:solidFill>
          </p:spPr>
          <p:txBody>
            <a:bodyPr wrap="square" lIns="0" tIns="0" rIns="0" bIns="0" rtlCol="0">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r>
                <a:rPr lang="en-US" sz="2600" b="0" dirty="0" smtClean="0">
                  <a:latin typeface="Segoe UI" pitchFamily="34" charset="0"/>
                  <a:ea typeface="Segoe UI" pitchFamily="34" charset="0"/>
                  <a:cs typeface="Segoe UI" pitchFamily="34" charset="0"/>
                </a:rPr>
                <a:t>Main Office</a:t>
              </a:r>
              <a:endParaRPr lang="en-US" sz="2600" b="0" dirty="0">
                <a:latin typeface="Segoe UI" pitchFamily="34" charset="0"/>
                <a:ea typeface="Segoe UI" pitchFamily="34" charset="0"/>
                <a:cs typeface="Segoe UI" pitchFamily="34" charset="0"/>
              </a:endParaRPr>
            </a:p>
          </p:txBody>
        </p:sp>
        <p:pic>
          <p:nvPicPr>
            <p:cNvPr id="21" name="Print Server"/>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4318507" y="1988679"/>
              <a:ext cx="717827" cy="1272993"/>
            </a:xfrm>
            <a:prstGeom prst="rect">
              <a:avLst/>
            </a:prstGeom>
          </p:spPr>
        </p:pic>
      </p:grpSp>
    </p:spTree>
    <p:extLst>
      <p:ext uri="{BB962C8B-B14F-4D97-AF65-F5344CB8AC3E}">
        <p14:creationId xmlns:p14="http://schemas.microsoft.com/office/powerpoint/2010/main" xmlns="" val="22112457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a6463720-00b5-4870-b99d-00a71b73b17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Déploiement vers les clients</a:t>
            </a:r>
            <a:endParaRPr lang="fr-FR" dirty="0"/>
          </a:p>
        </p:txBody>
      </p:sp>
      <p:sp>
        <p:nvSpPr>
          <p:cNvPr id="4" name="text box"/>
          <p:cNvSpPr>
            <a:spLocks noChangeArrowheads="1"/>
          </p:cNvSpPr>
          <p:nvPr/>
        </p:nvSpPr>
        <p:spPr bwMode="auto">
          <a:xfrm>
            <a:off x="336499" y="1163233"/>
            <a:ext cx="7853362" cy="2333946"/>
          </a:xfrm>
          <a:prstGeom prst="roundRect">
            <a:avLst>
              <a:gd name="adj" fmla="val 4167"/>
            </a:avLst>
          </a:prstGeom>
          <a:ln>
            <a:headEnd/>
            <a:tailEnd/>
          </a:ln>
        </p:spPr>
        <p:style>
          <a:lnRef idx="2">
            <a:schemeClr val="accent1"/>
          </a:lnRef>
          <a:fillRef idx="1">
            <a:schemeClr val="lt1"/>
          </a:fillRef>
          <a:effectRef idx="0">
            <a:schemeClr val="accent1"/>
          </a:effectRef>
          <a:fontRef idx="minor">
            <a:schemeClr val="dk1"/>
          </a:fontRef>
        </p:style>
        <p:txBody>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228600" indent="-228600">
              <a:lnSpc>
                <a:spcPct val="90000"/>
              </a:lnSpc>
              <a:spcBef>
                <a:spcPct val="40000"/>
              </a:spcBef>
              <a:buClr>
                <a:srgbClr val="006699"/>
              </a:buClr>
              <a:buFontTx/>
              <a:buChar char="•"/>
            </a:pPr>
            <a:r>
              <a:rPr lang="fr-FR" sz="2800" b="0" smtClean="0">
                <a:solidFill>
                  <a:schemeClr val="tx2"/>
                </a:solidFill>
                <a:latin typeface="Segoe UI" pitchFamily="34" charset="0"/>
                <a:ea typeface="Segoe UI" pitchFamily="34" charset="0"/>
                <a:cs typeface="Segoe UI" pitchFamily="34" charset="0"/>
              </a:rPr>
              <a:t>Création </a:t>
            </a:r>
            <a:r>
              <a:rPr lang="fr-FR" sz="2800" b="0" dirty="0" smtClean="0">
                <a:solidFill>
                  <a:schemeClr val="tx2"/>
                </a:solidFill>
                <a:latin typeface="Segoe UI" pitchFamily="34" charset="0"/>
                <a:ea typeface="Segoe UI" pitchFamily="34" charset="0"/>
                <a:cs typeface="Segoe UI" pitchFamily="34" charset="0"/>
              </a:rPr>
              <a:t>d’une GPO</a:t>
            </a:r>
          </a:p>
          <a:p>
            <a:pPr marL="228600" indent="-228600">
              <a:lnSpc>
                <a:spcPct val="90000"/>
              </a:lnSpc>
              <a:spcBef>
                <a:spcPct val="40000"/>
              </a:spcBef>
              <a:buClr>
                <a:srgbClr val="006699"/>
              </a:buClr>
              <a:buFontTx/>
              <a:buChar char="•"/>
            </a:pPr>
            <a:r>
              <a:rPr lang="fr-FR" sz="2800" b="0" dirty="0" smtClean="0">
                <a:solidFill>
                  <a:schemeClr val="tx2"/>
                </a:solidFill>
                <a:latin typeface="Segoe UI" pitchFamily="34" charset="0"/>
                <a:ea typeface="Segoe UI" pitchFamily="34" charset="0"/>
                <a:cs typeface="Segoe UI" pitchFamily="34" charset="0"/>
              </a:rPr>
              <a:t>Installation manuelle</a:t>
            </a:r>
            <a:endParaRPr lang="fr-FR" sz="2800" b="0" dirty="0">
              <a:solidFill>
                <a:srgbClr val="FF0000"/>
              </a:solidFill>
              <a:latin typeface="Segoe UI" pitchFamily="34" charset="0"/>
              <a:ea typeface="Segoe UI" pitchFamily="34" charset="0"/>
              <a:cs typeface="Segoe UI" pitchFamily="34" charset="0"/>
            </a:endParaRPr>
          </a:p>
        </p:txBody>
      </p:sp>
      <p:grpSp>
        <p:nvGrpSpPr>
          <p:cNvPr id="5" name="Group 4"/>
          <p:cNvGrpSpPr/>
          <p:nvPr/>
        </p:nvGrpSpPr>
        <p:grpSpPr>
          <a:xfrm>
            <a:off x="5929258" y="4595063"/>
            <a:ext cx="1205799" cy="1226229"/>
            <a:chOff x="6812280" y="2964180"/>
            <a:chExt cx="1205799" cy="1226229"/>
          </a:xfrm>
        </p:grpSpPr>
        <p:pic>
          <p:nvPicPr>
            <p:cNvPr id="6" name="new workstation"/>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7135957" y="2964180"/>
              <a:ext cx="882121" cy="995854"/>
            </a:xfrm>
            <a:prstGeom prst="rect">
              <a:avLst/>
            </a:prstGeom>
          </p:spPr>
        </p:pic>
        <p:pic>
          <p:nvPicPr>
            <p:cNvPr id="7" name="new blue user"/>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6812280" y="3146084"/>
              <a:ext cx="660965" cy="1044325"/>
            </a:xfrm>
            <a:prstGeom prst="rect">
              <a:avLst/>
            </a:prstGeom>
          </p:spPr>
        </p:pic>
        <p:pic>
          <p:nvPicPr>
            <p:cNvPr id="8" name="new window"/>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7650253" y="3232608"/>
              <a:ext cx="367826" cy="375168"/>
            </a:xfrm>
            <a:prstGeom prst="rect">
              <a:avLst/>
            </a:prstGeom>
          </p:spPr>
        </p:pic>
      </p:grpSp>
      <p:sp>
        <p:nvSpPr>
          <p:cNvPr id="9" name="arrow"/>
          <p:cNvSpPr>
            <a:spLocks noChangeShapeType="1"/>
          </p:cNvSpPr>
          <p:nvPr/>
        </p:nvSpPr>
        <p:spPr bwMode="auto">
          <a:xfrm flipH="1">
            <a:off x="2636671" y="5325882"/>
            <a:ext cx="3147805" cy="0"/>
          </a:xfrm>
          <a:prstGeom prst="line">
            <a:avLst/>
          </a:prstGeom>
          <a:noFill/>
          <a:ln w="19050">
            <a:solidFill>
              <a:srgbClr val="CC0000"/>
            </a:solidFill>
            <a:round/>
            <a:headEnd type="triangle" w="med" len="med"/>
            <a:tailEnd/>
          </a:ln>
          <a:extLst>
            <a:ext uri="{909E8E84-426E-40DD-AFC4-6F175D3DCCD1}">
              <a14:hiddenFill xmlns:a14="http://schemas.microsoft.com/office/drawing/2010/main" xmlns="">
                <a:noFill/>
              </a14:hiddenFill>
            </a:ext>
          </a:extLst>
        </p:spPr>
        <p:txBody>
          <a:bodyPr wrap="none" tIns="27432" bIns="27432" anchor="ct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endParaRPr lang="en-US" dirty="0">
              <a:latin typeface="Segoe UI" pitchFamily="34" charset="0"/>
              <a:ea typeface="Segoe UI" pitchFamily="34" charset="0"/>
              <a:cs typeface="Segoe UI" pitchFamily="34" charset="0"/>
            </a:endParaRPr>
          </a:p>
        </p:txBody>
      </p:sp>
      <p:grpSp>
        <p:nvGrpSpPr>
          <p:cNvPr id="10" name="Group 9"/>
          <p:cNvGrpSpPr/>
          <p:nvPr/>
        </p:nvGrpSpPr>
        <p:grpSpPr>
          <a:xfrm>
            <a:off x="3246079" y="3735782"/>
            <a:ext cx="1799259" cy="1191285"/>
            <a:chOff x="3473781" y="3979524"/>
            <a:chExt cx="1799259" cy="1191285"/>
          </a:xfrm>
        </p:grpSpPr>
        <p:sp>
          <p:nvSpPr>
            <p:cNvPr id="11" name="new blue oval" descr="&quot;&quot;"/>
            <p:cNvSpPr/>
            <p:nvPr/>
          </p:nvSpPr>
          <p:spPr bwMode="auto">
            <a:xfrm>
              <a:off x="3473781" y="4418375"/>
              <a:ext cx="1577011" cy="752434"/>
            </a:xfrm>
            <a:prstGeom prst="ellipse">
              <a:avLst/>
            </a:prstGeom>
            <a:noFill/>
            <a:ln w="31750" cap="flat" cmpd="sng" algn="ctr">
              <a:solidFill>
                <a:srgbClr val="C8D8FF"/>
              </a:solidFill>
              <a:prstDash val="solid"/>
              <a:round/>
              <a:headEnd type="none" w="med" len="med"/>
              <a:tailEnd type="none" w="med" len="med"/>
            </a:ln>
            <a:effectLst/>
          </p:spPr>
          <p:txBody>
            <a:bodyPr vert="horz" wrap="square" lIns="182880" tIns="45720" rIns="182880" bIns="45720" numCol="1" rtlCol="0" anchor="ctr" anchorCtr="0" compatLnSpc="1">
              <a:prstTxWarp prst="textNoShape">
                <a:avLst/>
              </a:prstTxWarp>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CA" sz="1800" b="1" i="0" u="none" strike="noStrike" cap="none" normalizeH="0" baseline="0" dirty="0" smtClean="0">
                <a:ln>
                  <a:noFill/>
                </a:ln>
                <a:solidFill>
                  <a:schemeClr val="tx1"/>
                </a:solidFill>
                <a:effectLst/>
                <a:latin typeface="Verdana" pitchFamily="34" charset="0"/>
              </a:endParaRPr>
            </a:p>
          </p:txBody>
        </p:sp>
        <p:pic>
          <p:nvPicPr>
            <p:cNvPr id="12" name="new doc"/>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a:off x="4683359" y="4143632"/>
              <a:ext cx="589681" cy="985610"/>
            </a:xfrm>
            <a:prstGeom prst="rect">
              <a:avLst/>
            </a:prstGeom>
          </p:spPr>
        </p:pic>
        <p:pic>
          <p:nvPicPr>
            <p:cNvPr id="13" name="new 3 users"/>
            <p:cNvPicPr>
              <a:picLocks noChangeAspect="1"/>
            </p:cNvPicPr>
            <p:nvPr/>
          </p:nvPicPr>
          <p:blipFill>
            <a:blip r:embed="rId7" cstate="print">
              <a:extLst>
                <a:ext uri="{28A0092B-C50C-407E-A947-70E740481C1C}">
                  <a14:useLocalDpi xmlns:a14="http://schemas.microsoft.com/office/drawing/2010/main" xmlns="" val="0"/>
                </a:ext>
              </a:extLst>
            </a:blip>
            <a:stretch>
              <a:fillRect/>
            </a:stretch>
          </p:blipFill>
          <p:spPr>
            <a:xfrm>
              <a:off x="3824290" y="3979524"/>
              <a:ext cx="876610" cy="1162790"/>
            </a:xfrm>
            <a:prstGeom prst="rect">
              <a:avLst/>
            </a:prstGeom>
          </p:spPr>
        </p:pic>
      </p:grpSp>
      <p:pic>
        <p:nvPicPr>
          <p:cNvPr id="14" name="Picture 13"/>
          <p:cNvPicPr>
            <a:picLocks noChangeAspect="1"/>
          </p:cNvPicPr>
          <p:nvPr/>
        </p:nvPicPr>
        <p:blipFill>
          <a:blip r:embed="rId8" cstate="print">
            <a:extLst>
              <a:ext uri="{28A0092B-C50C-407E-A947-70E740481C1C}">
                <a14:useLocalDpi xmlns:a14="http://schemas.microsoft.com/office/drawing/2010/main" xmlns="" val="0"/>
              </a:ext>
            </a:extLst>
          </a:blip>
          <a:stretch>
            <a:fillRect/>
          </a:stretch>
        </p:blipFill>
        <p:spPr>
          <a:xfrm>
            <a:off x="913344" y="4322724"/>
            <a:ext cx="1549867" cy="1654352"/>
          </a:xfrm>
          <a:prstGeom prst="rect">
            <a:avLst/>
          </a:prstGeom>
        </p:spPr>
      </p:pic>
    </p:spTree>
    <p:extLst>
      <p:ext uri="{BB962C8B-B14F-4D97-AF65-F5344CB8AC3E}">
        <p14:creationId xmlns:p14="http://schemas.microsoft.com/office/powerpoint/2010/main" xmlns="" val="35850967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a78524f4-f525-4971-9089-e4c6054d3a9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Implementing File and Print Services</a:t>
            </a:r>
            <a:endParaRPr lang="en-CA" dirty="0"/>
          </a:p>
        </p:txBody>
      </p:sp>
      <p:sp>
        <p:nvSpPr>
          <p:cNvPr id="3" name="Text Placeholder 2"/>
          <p:cNvSpPr>
            <a:spLocks noGrp="1"/>
          </p:cNvSpPr>
          <p:nvPr>
            <p:ph type="body" idx="1"/>
          </p:nvPr>
        </p:nvSpPr>
        <p:spPr>
          <a:xfrm>
            <a:off x="458788" y="1021215"/>
            <a:ext cx="8119156" cy="1975737"/>
          </a:xfrm>
        </p:spPr>
        <p:txBody>
          <a:bodyPr/>
          <a:lstStyle/>
          <a:p>
            <a:r>
              <a:rPr lang="en-CA" dirty="0" smtClean="0"/>
              <a:t>Exercise 1: Creating and Configuring a File Share
Exercise 2: Configuring Shadow Copies
Exercise 3: Enabling and Configuring Work Folders
Exercise 4: Creating and Configuring a Printer Pool</a:t>
            </a:r>
            <a:endParaRPr lang="en-CA" dirty="0"/>
          </a:p>
        </p:txBody>
      </p:sp>
      <p:sp>
        <p:nvSpPr>
          <p:cNvPr id="4" name="TextBox 3"/>
          <p:cNvSpPr txBox="1"/>
          <p:nvPr/>
        </p:nvSpPr>
        <p:spPr>
          <a:xfrm>
            <a:off x="458788" y="4047455"/>
            <a:ext cx="2920287" cy="461665"/>
          </a:xfrm>
          <a:prstGeom prst="rect">
            <a:avLst/>
          </a:prstGeom>
          <a:noFill/>
        </p:spPr>
        <p:txBody>
          <a:bodyPr vert="horz" wrap="none" rtlCol="0">
            <a:spAutoFit/>
          </a:bodyPr>
          <a:lstStyle/>
          <a:p>
            <a:r>
              <a:rPr lang="en-CA" sz="2400" b="1" dirty="0" smtClean="0">
                <a:latin typeface="Segoe UI"/>
              </a:rPr>
              <a:t>Logon Information</a:t>
            </a:r>
            <a:endParaRPr lang="en-CA" sz="2400" b="1" dirty="0">
              <a:latin typeface="Segoe UI"/>
            </a:endParaRPr>
          </a:p>
        </p:txBody>
      </p:sp>
      <p:sp>
        <p:nvSpPr>
          <p:cNvPr id="5" name="TextBox 4"/>
          <p:cNvSpPr txBox="1"/>
          <p:nvPr/>
        </p:nvSpPr>
        <p:spPr>
          <a:xfrm>
            <a:off x="458788" y="4534088"/>
            <a:ext cx="5697388" cy="1631216"/>
          </a:xfrm>
          <a:prstGeom prst="rect">
            <a:avLst/>
          </a:prstGeom>
          <a:noFill/>
        </p:spPr>
        <p:txBody>
          <a:bodyPr vert="horz" wrap="square" rtlCol="0">
            <a:spAutoFit/>
          </a:bodyPr>
          <a:lstStyle/>
          <a:p>
            <a:pPr defTabSz="648000"/>
            <a:r>
              <a:rPr lang="en-US" sz="2000" b="0" i="0" u="none" strike="noStrike" baseline="0" dirty="0" smtClean="0">
                <a:latin typeface="Segoe UI"/>
              </a:rPr>
              <a:t>Virtual machines		</a:t>
            </a:r>
            <a:r>
              <a:rPr lang="en-US" sz="2000" b="1" i="0" u="none" strike="noStrike" baseline="0" dirty="0" smtClean="0">
                <a:latin typeface="Segoe UI"/>
              </a:rPr>
              <a:t>20410D‑LON‑</a:t>
            </a:r>
            <a:r>
              <a:rPr lang="fr-CA" sz="2000" b="1" i="0" u="none" strike="noStrike" baseline="0" dirty="0" smtClean="0">
                <a:latin typeface="Segoe UI"/>
              </a:rPr>
              <a:t>CL1</a:t>
            </a:r>
          </a:p>
          <a:p>
            <a:pPr defTabSz="648000"/>
            <a:r>
              <a:rPr lang="fr-CA" sz="2000" b="1" i="0" u="none" strike="noStrike" baseline="0" dirty="0" smtClean="0">
                <a:latin typeface="Segoe UI"/>
              </a:rPr>
              <a:t>				20410D‑LON‑DC1</a:t>
            </a:r>
          </a:p>
          <a:p>
            <a:pPr defTabSz="648000"/>
            <a:r>
              <a:rPr lang="fr-CA" sz="2000" b="1" i="0" u="none" strike="noStrike" baseline="0" dirty="0" smtClean="0">
                <a:latin typeface="Segoe UI"/>
              </a:rPr>
              <a:t>				20410D‑LON‑SVR1</a:t>
            </a:r>
            <a:r>
              <a:rPr lang="en-US" sz="2000" b="0" i="0" u="none" strike="noStrike" baseline="0" dirty="0" smtClean="0">
                <a:latin typeface="Segoe UI"/>
              </a:rPr>
              <a:t>	</a:t>
            </a:r>
          </a:p>
          <a:p>
            <a:pPr defTabSz="648000"/>
            <a:r>
              <a:rPr lang="en-US" sz="2000" b="0" i="0" u="none" strike="noStrike" baseline="0" dirty="0" smtClean="0">
                <a:latin typeface="Segoe UI"/>
              </a:rPr>
              <a:t>User name			</a:t>
            </a:r>
            <a:r>
              <a:rPr lang="en-US" sz="2000" b="1" i="0" u="none" strike="noStrike" baseline="0" dirty="0" err="1" smtClean="0">
                <a:latin typeface="Segoe UI"/>
              </a:rPr>
              <a:t>Adatum</a:t>
            </a:r>
            <a:r>
              <a:rPr lang="en-US" sz="2000" b="1" i="0" u="none" strike="noStrike" baseline="0" dirty="0" smtClean="0">
                <a:latin typeface="Segoe UI"/>
              </a:rPr>
              <a:t>\Administrator</a:t>
            </a:r>
          </a:p>
          <a:p>
            <a:pPr defTabSz="648000"/>
            <a:r>
              <a:rPr lang="en-US" sz="2000" b="0" i="0" u="none" strike="noStrike" baseline="0" dirty="0" smtClean="0">
                <a:latin typeface="Segoe UI"/>
              </a:rPr>
              <a:t>Password			</a:t>
            </a:r>
            <a:r>
              <a:rPr lang="en-US" sz="2000" b="1" i="0" u="none" strike="noStrike" baseline="0" dirty="0" smtClean="0">
                <a:latin typeface="Segoe UI"/>
              </a:rPr>
              <a:t>Pa$$w0rd	</a:t>
            </a:r>
            <a:endParaRPr lang="en-US" sz="2000" b="0" i="0" u="none" strike="noStrike" baseline="0" dirty="0" smtClean="0">
              <a:latin typeface="Segoe UI"/>
            </a:endParaRPr>
          </a:p>
        </p:txBody>
      </p:sp>
      <p:sp>
        <p:nvSpPr>
          <p:cNvPr id="6" name="TextBox 5"/>
          <p:cNvSpPr txBox="1"/>
          <p:nvPr/>
        </p:nvSpPr>
        <p:spPr>
          <a:xfrm>
            <a:off x="458788" y="6163356"/>
            <a:ext cx="3516860" cy="400110"/>
          </a:xfrm>
          <a:prstGeom prst="rect">
            <a:avLst/>
          </a:prstGeom>
          <a:noFill/>
        </p:spPr>
        <p:txBody>
          <a:bodyPr vert="horz" wrap="none" rtlCol="0">
            <a:spAutoFit/>
          </a:bodyPr>
          <a:lstStyle/>
          <a:p>
            <a:r>
              <a:rPr lang="en-CA" sz="2000" b="1" dirty="0" smtClean="0">
                <a:latin typeface="Segoe UI"/>
              </a:rPr>
              <a:t>Estimated Time: 60 minutes</a:t>
            </a:r>
            <a:endParaRPr lang="en-CA" sz="2000" b="1" dirty="0">
              <a:latin typeface="Segoe UI"/>
            </a:endParaRPr>
          </a:p>
        </p:txBody>
      </p:sp>
    </p:spTree>
    <p:extLst>
      <p:ext uri="{BB962C8B-B14F-4D97-AF65-F5344CB8AC3E}">
        <p14:creationId xmlns:p14="http://schemas.microsoft.com/office/powerpoint/2010/main" xmlns="" val="27139442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xmlns="" val="252726091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name="Lab Scenario86070727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Scenario</a:t>
            </a:r>
            <a:endParaRPr lang="en-CA" dirty="0"/>
          </a:p>
        </p:txBody>
      </p:sp>
      <p:sp>
        <p:nvSpPr>
          <p:cNvPr id="4" name="TextBox 3"/>
          <p:cNvSpPr txBox="1"/>
          <p:nvPr/>
        </p:nvSpPr>
        <p:spPr>
          <a:xfrm>
            <a:off x="458788" y="908720"/>
            <a:ext cx="8119156" cy="5693866"/>
          </a:xfrm>
          <a:prstGeom prst="rect">
            <a:avLst/>
          </a:prstGeom>
          <a:noFill/>
        </p:spPr>
        <p:txBody>
          <a:bodyPr vert="horz" wrap="square" rtlCol="0">
            <a:spAutoFit/>
          </a:bodyPr>
          <a:lstStyle/>
          <a:p>
            <a:r>
              <a:rPr lang="en-US" sz="2800" dirty="0" smtClean="0">
                <a:effectLst/>
                <a:latin typeface="Segoe UI" panose="020B0502040204020203" pitchFamily="34" charset="0"/>
                <a:ea typeface="Segoe UI" panose="020B0502040204020203" pitchFamily="34" charset="0"/>
                <a:cs typeface="Segoe UI" panose="020B0502040204020203" pitchFamily="34" charset="0"/>
              </a:rPr>
              <a:t>Your manager has recently asked you to configure file and print services for the branch office. This requires you to configure a new shared folder that will have subfolders for multiple departments, configure shadow copies on the file servers, and configure a printer pool.</a:t>
            </a:r>
            <a:endParaRPr lang="en-CA" sz="2800" dirty="0" smtClean="0">
              <a:effectLst/>
              <a:latin typeface="Segoe UI" panose="020B0502040204020203" pitchFamily="34" charset="0"/>
              <a:ea typeface="Segoe UI" panose="020B0502040204020203" pitchFamily="34" charset="0"/>
              <a:cs typeface="Segoe UI" panose="020B0502040204020203" pitchFamily="34" charset="0"/>
            </a:endParaRPr>
          </a:p>
          <a:p>
            <a:endParaRPr lang="en-CA" sz="2800" dirty="0" smtClean="0">
              <a:effectLst/>
              <a:latin typeface="Segoe UI" panose="020B0502040204020203" pitchFamily="34" charset="0"/>
              <a:ea typeface="Segoe UI" panose="020B0502040204020203" pitchFamily="34" charset="0"/>
              <a:cs typeface="Segoe UI" panose="020B0502040204020203" pitchFamily="34" charset="0"/>
            </a:endParaRPr>
          </a:p>
          <a:p>
            <a:r>
              <a:rPr lang="en-US" sz="2800" dirty="0">
                <a:solidFill>
                  <a:srgbClr val="000000"/>
                </a:solidFill>
                <a:latin typeface="Segoe UI" panose="020B0502040204020203" pitchFamily="34" charset="0"/>
                <a:ea typeface="Segoe UI" panose="020B0502040204020203" pitchFamily="34" charset="0"/>
                <a:cs typeface="Segoe UI" panose="020B0502040204020203" pitchFamily="34" charset="0"/>
              </a:rPr>
              <a:t>Additionally, many users want to be able to work on their data files while they are </a:t>
            </a:r>
            <a:r>
              <a:rPr lang="en-US" sz="2800" dirty="0" smtClean="0">
                <a:effectLst/>
                <a:latin typeface="Segoe UI" panose="020B0502040204020203" pitchFamily="34" charset="0"/>
                <a:ea typeface="Segoe UI" panose="020B0502040204020203" pitchFamily="34" charset="0"/>
                <a:cs typeface="Segoe UI" panose="020B0502040204020203" pitchFamily="34" charset="0"/>
              </a:rPr>
              <a:t>out of the office</a:t>
            </a:r>
            <a:r>
              <a:rPr lang="en-US" sz="2800" dirty="0">
                <a:solidFill>
                  <a:srgbClr val="000000"/>
                </a:solidFill>
                <a:latin typeface="Segoe UI" panose="020B0502040204020203" pitchFamily="34" charset="0"/>
                <a:ea typeface="Segoe UI" panose="020B0502040204020203" pitchFamily="34" charset="0"/>
                <a:cs typeface="Segoe UI" panose="020B0502040204020203" pitchFamily="34" charset="0"/>
              </a:rPr>
              <a:t> and working on devices such as on </a:t>
            </a:r>
            <a:r>
              <a:rPr lang="en-US" sz="2800" dirty="0" smtClean="0">
                <a:solidFill>
                  <a:srgbClr val="000000"/>
                </a:solidFill>
                <a:latin typeface="Segoe UI" panose="020B0502040204020203" pitchFamily="34" charset="0"/>
                <a:ea typeface="Segoe UI" panose="020B0502040204020203" pitchFamily="34" charset="0"/>
                <a:cs typeface="Segoe UI" panose="020B0502040204020203" pitchFamily="34" charset="0"/>
              </a:rPr>
              <a:t>Windows</a:t>
            </a:r>
            <a:r>
              <a:rPr lang="en-US" sz="2800" dirty="0">
                <a:solidFill>
                  <a:srgbClr val="000000"/>
                </a:solidFill>
                <a:latin typeface="Segoe UI" panose="020B0502040204020203" pitchFamily="34" charset="0"/>
                <a:ea typeface="Segoe UI" panose="020B0502040204020203" pitchFamily="34" charset="0"/>
                <a:cs typeface="Segoe UI" panose="020B0502040204020203" pitchFamily="34" charset="0"/>
              </a:rPr>
              <a:t> </a:t>
            </a:r>
            <a:r>
              <a:rPr lang="en-US" sz="2800" dirty="0" smtClean="0">
                <a:solidFill>
                  <a:srgbClr val="000000"/>
                </a:solidFill>
                <a:latin typeface="Segoe UI" panose="020B0502040204020203" pitchFamily="34" charset="0"/>
                <a:ea typeface="Segoe UI" panose="020B0502040204020203" pitchFamily="34" charset="0"/>
                <a:cs typeface="Segoe UI" panose="020B0502040204020203" pitchFamily="34" charset="0"/>
              </a:rPr>
              <a:t>RT</a:t>
            </a:r>
            <a:r>
              <a:rPr lang="en-US" sz="2800" dirty="0" smtClean="0">
                <a:latin typeface="Segoe UI" panose="020B0502040204020203" pitchFamily="34" charset="0"/>
                <a:ea typeface="Segoe UI" panose="020B0502040204020203" pitchFamily="34" charset="0"/>
                <a:cs typeface="Segoe UI" panose="020B0502040204020203" pitchFamily="34" charset="0"/>
              </a:rPr>
              <a:t>‑</a:t>
            </a:r>
            <a:r>
              <a:rPr lang="en-US" sz="2800" dirty="0" smtClean="0">
                <a:solidFill>
                  <a:srgbClr val="000000"/>
                </a:solidFill>
                <a:latin typeface="Segoe UI" panose="020B0502040204020203" pitchFamily="34" charset="0"/>
                <a:ea typeface="Segoe UI" panose="020B0502040204020203" pitchFamily="34" charset="0"/>
                <a:cs typeface="Segoe UI" panose="020B0502040204020203" pitchFamily="34" charset="0"/>
              </a:rPr>
              <a:t>based </a:t>
            </a:r>
            <a:r>
              <a:rPr lang="en-US" sz="2800" dirty="0">
                <a:solidFill>
                  <a:srgbClr val="000000"/>
                </a:solidFill>
                <a:latin typeface="Segoe UI" panose="020B0502040204020203" pitchFamily="34" charset="0"/>
                <a:ea typeface="Segoe UI" panose="020B0502040204020203" pitchFamily="34" charset="0"/>
                <a:cs typeface="Segoe UI" panose="020B0502040204020203" pitchFamily="34" charset="0"/>
              </a:rPr>
              <a:t>tablets. You must ensure that these users are able to access their work-related data </a:t>
            </a:r>
            <a:r>
              <a:rPr lang="en-US" sz="2800" dirty="0" smtClean="0">
                <a:solidFill>
                  <a:srgbClr val="000000"/>
                </a:solidFill>
                <a:latin typeface="Segoe UI" panose="020B0502040204020203" pitchFamily="34" charset="0"/>
                <a:ea typeface="Segoe UI" panose="020B0502040204020203" pitchFamily="34" charset="0"/>
                <a:cs typeface="Segoe UI" panose="020B0502040204020203" pitchFamily="34" charset="0"/>
              </a:rPr>
              <a:t>files </a:t>
            </a:r>
            <a:r>
              <a:rPr lang="en-US" sz="2800" dirty="0">
                <a:solidFill>
                  <a:srgbClr val="000000"/>
                </a:solidFill>
                <a:latin typeface="Segoe UI" panose="020B0502040204020203" pitchFamily="34" charset="0"/>
                <a:ea typeface="Segoe UI" panose="020B0502040204020203" pitchFamily="34" charset="0"/>
                <a:cs typeface="Segoe UI" panose="020B0502040204020203" pitchFamily="34" charset="0"/>
              </a:rPr>
              <a:t>from other locations when offline.</a:t>
            </a:r>
            <a:endParaRPr lang="en-CA" sz="2800" dirty="0">
              <a:effectLst/>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xmlns="" val="17871869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8ea2466a-6329-45fb-8421-c224f363a42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Lab Review</a:t>
            </a:r>
            <a:endParaRPr lang="en-CA" dirty="0"/>
          </a:p>
        </p:txBody>
      </p:sp>
      <p:sp>
        <p:nvSpPr>
          <p:cNvPr id="3" name="Text Placeholder 2"/>
          <p:cNvSpPr>
            <a:spLocks noGrp="1"/>
          </p:cNvSpPr>
          <p:nvPr>
            <p:ph type="body" idx="1"/>
          </p:nvPr>
        </p:nvSpPr>
        <p:spPr/>
        <p:txBody>
          <a:bodyPr/>
          <a:lstStyle/>
          <a:p>
            <a:r>
              <a:rPr lang="en-CA" dirty="0" smtClean="0"/>
              <a:t>How does implementing access-based enumeration benefit the users of the Data shared folder in this lab?
Is there another way you could recover the file in the shadow copy exercise? What benefit do shadow copies provide in comparison?
In Exercise 3, how could you configure Branch Office Direct Printing if you were in a remote location and did not have access to the Windows Server 2012 GUI for the print server?</a:t>
            </a:r>
            <a:endParaRPr lang="en-CA" dirty="0"/>
          </a:p>
        </p:txBody>
      </p:sp>
    </p:spTree>
    <p:extLst>
      <p:ext uri="{BB962C8B-B14F-4D97-AF65-F5344CB8AC3E}">
        <p14:creationId xmlns:p14="http://schemas.microsoft.com/office/powerpoint/2010/main" xmlns="" val="11908384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Module_Review">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Module Review and Takeaways</a:t>
            </a:r>
            <a:endParaRPr lang="en-CA" dirty="0"/>
          </a:p>
        </p:txBody>
      </p:sp>
      <p:sp>
        <p:nvSpPr>
          <p:cNvPr id="3" name="Text Placeholder 2"/>
          <p:cNvSpPr>
            <a:spLocks noGrp="1"/>
          </p:cNvSpPr>
          <p:nvPr>
            <p:ph type="body" idx="1"/>
          </p:nvPr>
        </p:nvSpPr>
        <p:spPr/>
        <p:txBody>
          <a:bodyPr/>
          <a:lstStyle/>
          <a:p>
            <a:r>
              <a:rPr lang="en-CA" dirty="0" smtClean="0"/>
              <a:t>Review Questions
Tools</a:t>
            </a:r>
            <a:endParaRPr lang="en-CA" dirty="0"/>
          </a:p>
        </p:txBody>
      </p:sp>
    </p:spTree>
    <p:extLst>
      <p:ext uri="{BB962C8B-B14F-4D97-AF65-F5344CB8AC3E}">
        <p14:creationId xmlns:p14="http://schemas.microsoft.com/office/powerpoint/2010/main" xmlns="" val="717813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xmlns="" val="3249906659"/>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sld>
</file>

<file path=ppt/theme/theme1.xml><?xml version="1.0" encoding="utf-8"?>
<a:theme xmlns:a="http://schemas.openxmlformats.org/drawingml/2006/main" name="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NG_MOC_Core_ModuleNew</Template>
  <TotalTime>668</TotalTime>
  <Words>5497</Words>
  <Application>Microsoft Office PowerPoint</Application>
  <PresentationFormat>Affichage à l'écran (4:3)</PresentationFormat>
  <Paragraphs>659</Paragraphs>
  <Slides>40</Slides>
  <Notes>40</Notes>
  <HiddenSlides>7</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40</vt:i4>
      </vt:variant>
    </vt:vector>
  </HeadingPairs>
  <TitlesOfParts>
    <vt:vector size="51" baseType="lpstr">
      <vt:lpstr>Arial</vt:lpstr>
      <vt:lpstr>Segoe Light</vt:lpstr>
      <vt:lpstr>Segoe UI</vt:lpstr>
      <vt:lpstr>Wingdings</vt:lpstr>
      <vt:lpstr>Verdana</vt:lpstr>
      <vt:lpstr>Calibri</vt:lpstr>
      <vt:lpstr>Times New Roman</vt:lpstr>
      <vt:lpstr>Gulim</vt:lpstr>
      <vt:lpstr>Symbol</vt:lpstr>
      <vt:lpstr>Segoe UI Light</vt:lpstr>
      <vt:lpstr>Presentation1</vt:lpstr>
      <vt:lpstr>Module 10</vt:lpstr>
      <vt:lpstr>Module Overview</vt:lpstr>
      <vt:lpstr>Lesson 1: Securing Files and Folders</vt:lpstr>
      <vt:lpstr>File Permissions</vt:lpstr>
      <vt:lpstr>Dossiers partagés</vt:lpstr>
      <vt:lpstr>Permissions héritées</vt:lpstr>
      <vt:lpstr>Permissions effectives</vt:lpstr>
      <vt:lpstr>Access-Based Enumeration</vt:lpstr>
      <vt:lpstr>Offline Files Feature</vt:lpstr>
      <vt:lpstr>Demonstration: Creating and Configuring a Shared Folder</vt:lpstr>
      <vt:lpstr>Diapositive 11</vt:lpstr>
      <vt:lpstr>Lesson 2: Protecting Shared Files and Folders by Using Shadow Copies</vt:lpstr>
      <vt:lpstr>Shadow Copies</vt:lpstr>
      <vt:lpstr>Considerations for Scheduling Shadow Copies</vt:lpstr>
      <vt:lpstr>Restauration de données à partir d’une Shadow Copy</vt:lpstr>
      <vt:lpstr>Demonstration: Restoring Data from a Shadow Copy</vt:lpstr>
      <vt:lpstr>Diapositive 17</vt:lpstr>
      <vt:lpstr>Lesson 3: Configuring Work Folders</vt:lpstr>
      <vt:lpstr>Work Folders</vt:lpstr>
      <vt:lpstr>Avantages et limitations des Work Folders</vt:lpstr>
      <vt:lpstr>Work Folders : Besoins</vt:lpstr>
      <vt:lpstr>Work Folders : Configuration</vt:lpstr>
      <vt:lpstr>Demonstration: How to Configure Work Folders</vt:lpstr>
      <vt:lpstr>Diapositive 24</vt:lpstr>
      <vt:lpstr>Diapositive 25</vt:lpstr>
      <vt:lpstr>Lesson 4: Configuring Network Printing</vt:lpstr>
      <vt:lpstr>Network Printing : Avantages</vt:lpstr>
      <vt:lpstr>Enhanced Point and Print</vt:lpstr>
      <vt:lpstr>Sécurité</vt:lpstr>
      <vt:lpstr>Demonstration: Creating Multiple Configurations for a Print Device</vt:lpstr>
      <vt:lpstr>Diapositive 31</vt:lpstr>
      <vt:lpstr>Printer Pooling</vt:lpstr>
      <vt:lpstr>Branch Office Direct Printing</vt:lpstr>
      <vt:lpstr>Déploiement vers les clients</vt:lpstr>
      <vt:lpstr>Lab: Implementing File and Print Services</vt:lpstr>
      <vt:lpstr>Diapositive 36</vt:lpstr>
      <vt:lpstr>Lab Scenario</vt:lpstr>
      <vt:lpstr>Lab Review</vt:lpstr>
      <vt:lpstr>Module Review and Takeaways</vt:lpstr>
      <vt:lpstr>Diapositive 40</vt:lpstr>
    </vt:vector>
  </TitlesOfParts>
  <Company>Microsoft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10</dc:title>
  <dc:creator>Colleen Walsh</dc:creator>
  <cp:lastModifiedBy>srodrigues</cp:lastModifiedBy>
  <cp:revision>74</cp:revision>
  <dcterms:created xsi:type="dcterms:W3CDTF">2014-03-06T04:54:58Z</dcterms:created>
  <dcterms:modified xsi:type="dcterms:W3CDTF">2017-06-21T11:46:57Z</dcterms:modified>
</cp:coreProperties>
</file>