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7"/>
  </p:notesMasterIdLst>
  <p:sldIdLst>
    <p:sldId id="256" r:id="rId2"/>
    <p:sldId id="257" r:id="rId3"/>
    <p:sldId id="259" r:id="rId4"/>
    <p:sldId id="260" r:id="rId5"/>
    <p:sldId id="286" r:id="rId6"/>
    <p:sldId id="287" r:id="rId7"/>
    <p:sldId id="261" r:id="rId8"/>
    <p:sldId id="263" r:id="rId9"/>
    <p:sldId id="269" r:id="rId10"/>
    <p:sldId id="268" r:id="rId11"/>
    <p:sldId id="271" r:id="rId12"/>
    <p:sldId id="273" r:id="rId13"/>
    <p:sldId id="288" r:id="rId14"/>
    <p:sldId id="289" r:id="rId15"/>
    <p:sldId id="277" r:id="rId16"/>
  </p:sldIdLst>
  <p:sldSz cx="9144000" cy="6858000" type="screen4x3"/>
  <p:notesSz cx="6858000" cy="9144000"/>
  <p:embeddedFontLst>
    <p:embeddedFont>
      <p:font typeface="Segoe UI" panose="020B0502040204020203" pitchFamily="34" charset="0"/>
      <p:regular r:id="rId18"/>
      <p:bold r:id="rId19"/>
      <p:italic r:id="rId20"/>
      <p:boldItalic r:id="rId21"/>
    </p:embeddedFont>
    <p:embeddedFont>
      <p:font typeface="Segoe UI Light" panose="020B0502040204020203" pitchFamily="34" charset="0"/>
      <p:regular r:id="rId22"/>
      <p:italic r:id="rId23"/>
    </p:embeddedFont>
    <p:embeddedFont>
      <p:font typeface="Segoe Light" panose="020B0604020202020204" charset="0"/>
      <p:regular r:id="rId24"/>
      <p:italic r:id="rId25"/>
    </p:embeddedFont>
    <p:embeddedFont>
      <p:font typeface="Verdana" panose="020B0604030504040204" pitchFamily="34" charset="0"/>
      <p:regular r:id="rId26"/>
      <p:bold r:id="rId27"/>
      <p:italic r:id="rId28"/>
      <p:boldItalic r:id="rId29"/>
    </p:embeddedFont>
    <p:embeddedFont>
      <p:font typeface="Calibri" panose="020F0502020204030204" pitchFamily="3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535" autoAdjust="0"/>
    <p:restoredTop sz="74327" autoAdjust="0"/>
  </p:normalViewPr>
  <p:slideViewPr>
    <p:cSldViewPr>
      <p:cViewPr varScale="1">
        <p:scale>
          <a:sx n="81" d="100"/>
          <a:sy n="81" d="100"/>
        </p:scale>
        <p:origin x="2484" y="68"/>
      </p:cViewPr>
      <p:guideLst>
        <p:guide orient="horz" pos="2160"/>
        <p:guide pos="2880"/>
      </p:guideLst>
    </p:cSldViewPr>
  </p:slideViewPr>
  <p:notesTextViewPr>
    <p:cViewPr>
      <p:scale>
        <a:sx n="1" d="1"/>
        <a:sy n="1" d="1"/>
      </p:scale>
      <p:origin x="0" y="-236"/>
    </p:cViewPr>
  </p:notesTextViewPr>
  <p:sorterViewPr>
    <p:cViewPr>
      <p:scale>
        <a:sx n="100" d="100"/>
        <a:sy n="100" d="100"/>
      </p:scale>
      <p:origin x="0" y="1302"/>
    </p:cViewPr>
  </p:sorterViewPr>
  <p:notesViewPr>
    <p:cSldViewPr>
      <p:cViewPr varScale="1">
        <p:scale>
          <a:sx n="64" d="100"/>
          <a:sy n="64" d="100"/>
        </p:scale>
        <p:origin x="1656"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5580A4-E0D3-424E-8280-AC7B6CF3605D}" type="datetimeFigureOut">
              <a:rPr lang="en-CA" smtClean="0"/>
              <a:t>2017-05-03</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AEEBBA-4BE6-4868-B96C-1EFBA8B820E6}" type="slidenum">
              <a:rPr lang="en-CA" smtClean="0"/>
              <a:t>‹N°›</a:t>
            </a:fld>
            <a:endParaRPr lang="en-CA" dirty="0"/>
          </a:p>
        </p:txBody>
      </p:sp>
    </p:spTree>
    <p:extLst>
      <p:ext uri="{BB962C8B-B14F-4D97-AF65-F5344CB8AC3E}">
        <p14:creationId xmlns:p14="http://schemas.microsoft.com/office/powerpoint/2010/main" val="71008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b="1" dirty="0">
                <a:latin typeface="Arial"/>
                <a:ea typeface="Calibri"/>
                <a:cs typeface="Times New Roman"/>
              </a:rPr>
              <a:t>Presentation: </a:t>
            </a:r>
            <a:r>
              <a:rPr lang="en-CA" sz="1000" dirty="0">
                <a:latin typeface="Arial"/>
                <a:ea typeface="Calibri"/>
                <a:cs typeface="Times New Roman"/>
              </a:rPr>
              <a:t>75 minutes</a:t>
            </a:r>
          </a:p>
          <a:p>
            <a:pPr>
              <a:lnSpc>
                <a:spcPct val="115000"/>
              </a:lnSpc>
              <a:spcAft>
                <a:spcPts val="1000"/>
              </a:spcAft>
            </a:pPr>
            <a:r>
              <a:rPr lang="en-CA" sz="1000" b="1" dirty="0">
                <a:latin typeface="Arial"/>
                <a:ea typeface="Calibri"/>
                <a:cs typeface="Times New Roman"/>
              </a:rPr>
              <a:t>Lab:</a:t>
            </a:r>
            <a:r>
              <a:rPr lang="en-CA" sz="1000" dirty="0">
                <a:latin typeface="Arial"/>
                <a:ea typeface="Calibri"/>
                <a:cs typeface="Times New Roman"/>
              </a:rPr>
              <a:t> 50 minutes</a:t>
            </a:r>
          </a:p>
          <a:p>
            <a:pPr>
              <a:lnSpc>
                <a:spcPct val="115000"/>
              </a:lnSpc>
              <a:spcAft>
                <a:spcPts val="1000"/>
              </a:spcAft>
            </a:pPr>
            <a:r>
              <a:rPr lang="en-CA" sz="1000" dirty="0">
                <a:latin typeface="Arial"/>
                <a:ea typeface="Calibri"/>
                <a:cs typeface="Segoe UI"/>
              </a:rPr>
              <a:t>After completing this module, students should be able to:</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the structure of Active Directory</a:t>
            </a:r>
            <a:r>
              <a:rPr lang="en-US" sz="1000" baseline="30000" dirty="0" smtClean="0">
                <a:effectLst/>
                <a:latin typeface="Arial"/>
                <a:ea typeface="Times New Roman"/>
                <a:cs typeface="Segoe UI"/>
              </a:rPr>
              <a:t>®</a:t>
            </a:r>
            <a:r>
              <a:rPr lang="en-US" sz="1000" dirty="0" smtClean="0">
                <a:effectLst/>
                <a:latin typeface="Arial"/>
                <a:ea typeface="Times New Roman"/>
                <a:cs typeface="Segoe UI"/>
              </a:rPr>
              <a:t> Domain Services (AD DS).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the purpose of domain controllers.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Install a domain controller.</a:t>
            </a:r>
            <a:endParaRPr lang="en-CA" sz="1000" dirty="0" smtClean="0">
              <a:effectLst/>
              <a:latin typeface="Arial"/>
              <a:ea typeface="Times New Roman"/>
              <a:cs typeface="Times New Roman"/>
            </a:endParaRPr>
          </a:p>
          <a:p>
            <a:pPr>
              <a:lnSpc>
                <a:spcPct val="115000"/>
              </a:lnSpc>
              <a:spcAft>
                <a:spcPts val="1000"/>
              </a:spcAft>
            </a:pPr>
            <a:r>
              <a:rPr lang="en-CA" sz="1000" b="1" dirty="0">
                <a:latin typeface="Arial"/>
                <a:ea typeface="Calibri"/>
                <a:cs typeface="Times New Roman"/>
              </a:rPr>
              <a:t>Required Materials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teach this module, you need the Microsoft</a:t>
            </a:r>
            <a:r>
              <a:rPr lang="en-CA" sz="1000" baseline="30000" dirty="0">
                <a:latin typeface="Arial"/>
                <a:ea typeface="Calibri"/>
                <a:cs typeface="Segoe UI"/>
              </a:rPr>
              <a:t>®</a:t>
            </a:r>
            <a:r>
              <a:rPr lang="en-CA" sz="1000" dirty="0">
                <a:latin typeface="Arial"/>
                <a:ea typeface="Calibri"/>
                <a:cs typeface="Segoe UI"/>
              </a:rPr>
              <a:t> Office PowerPoint</a:t>
            </a:r>
            <a:r>
              <a:rPr lang="en-CA" sz="1000" baseline="30000" dirty="0">
                <a:latin typeface="Arial"/>
                <a:ea typeface="Calibri"/>
                <a:cs typeface="Segoe UI"/>
              </a:rPr>
              <a:t>®</a:t>
            </a:r>
            <a:r>
              <a:rPr lang="en-CA" sz="1000" dirty="0">
                <a:latin typeface="Arial"/>
                <a:ea typeface="Calibri"/>
                <a:cs typeface="Segoe UI"/>
              </a:rPr>
              <a:t> file 20410D_02.pptx.</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Important:</a:t>
            </a:r>
            <a:r>
              <a:rPr lang="en-CA" sz="1000" dirty="0">
                <a:latin typeface="Arial"/>
                <a:ea typeface="Calibri"/>
                <a:cs typeface="Segoe UI"/>
              </a:rPr>
              <a:t> </a:t>
            </a:r>
            <a:r>
              <a:rPr lang="en-CA" sz="1000" dirty="0">
                <a:latin typeface="Arial"/>
                <a:ea typeface="Calibri"/>
                <a:cs typeface="Times New Roman"/>
              </a:rPr>
              <a:t>We recommend </a:t>
            </a:r>
            <a:r>
              <a:rPr lang="en-CA" sz="1000" dirty="0">
                <a:latin typeface="Arial"/>
                <a:ea typeface="Calibri"/>
                <a:cs typeface="Segoe UI"/>
              </a:rPr>
              <a:t>that you use Office PowerPoint 2007 or a newer version to display the slides for this course. If you use PowerPoint Viewer or an earlier version of PowerPoint, all the features of the slides might not be displayed correctly.</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Preparation Tasks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prepare for this module:</a:t>
            </a:r>
            <a:endParaRPr lang="en-CA" sz="1000" dirty="0">
              <a:latin typeface="Arial"/>
              <a:ea typeface="Calibri"/>
              <a:cs typeface="Times New Roman"/>
            </a:endParaRPr>
          </a:p>
          <a:p>
            <a:pPr marL="342900" lvl="0" indent="-342900">
              <a:spcAft>
                <a:spcPts val="995"/>
              </a:spcAft>
              <a:buFont typeface="Symbol"/>
              <a:buChar char=""/>
            </a:pPr>
            <a:r>
              <a:rPr lang="en-CA" sz="1000" dirty="0" smtClean="0">
                <a:effectLst/>
                <a:latin typeface="Arial"/>
                <a:ea typeface="Times New Roman"/>
                <a:cs typeface="Segoe UI"/>
              </a:rPr>
              <a:t>Read all of the materials for this module.</a:t>
            </a:r>
            <a:endParaRPr lang="en-CA" sz="1000" dirty="0" smtClean="0">
              <a:effectLst/>
              <a:latin typeface="Arial"/>
            </a:endParaRPr>
          </a:p>
          <a:p>
            <a:pPr marL="342900" lvl="0" indent="-342900">
              <a:spcAft>
                <a:spcPts val="995"/>
              </a:spcAft>
              <a:buFont typeface="Symbol"/>
              <a:buChar char=""/>
            </a:pPr>
            <a:r>
              <a:rPr lang="en-CA" sz="1000" dirty="0" smtClean="0">
                <a:effectLst/>
                <a:latin typeface="Arial"/>
                <a:ea typeface="Times New Roman"/>
                <a:cs typeface="Segoe UI"/>
              </a:rPr>
              <a:t>Practice performing </a:t>
            </a:r>
            <a:r>
              <a:rPr lang="en-CA" sz="1000" dirty="0" smtClean="0">
                <a:effectLst/>
                <a:latin typeface="Arial"/>
              </a:rPr>
              <a:t>the demonstrations and </a:t>
            </a:r>
            <a:r>
              <a:rPr lang="en-CA" sz="1000" dirty="0" smtClean="0">
                <a:effectLst/>
                <a:latin typeface="Arial"/>
                <a:ea typeface="Times New Roman"/>
                <a:cs typeface="Segoe UI"/>
              </a:rPr>
              <a:t>the lab exercises.</a:t>
            </a:r>
            <a:endParaRPr lang="en-CA" sz="1000" dirty="0" smtClean="0">
              <a:effectLst/>
              <a:latin typeface="Arial"/>
            </a:endParaRPr>
          </a:p>
          <a:p>
            <a:pPr marL="342900" lvl="0" indent="-342900">
              <a:spcAft>
                <a:spcPts val="995"/>
              </a:spcAft>
              <a:buFont typeface="Symbol"/>
              <a:buChar char=""/>
            </a:pPr>
            <a:r>
              <a:rPr lang="en-CA" sz="1000" dirty="0" smtClean="0">
                <a:effectLst/>
                <a:latin typeface="Arial"/>
                <a:ea typeface="Times New Roman"/>
                <a:cs typeface="Segoe UI"/>
              </a:rPr>
              <a:t>Work through the Module Review and Takeaways section, and determine how you will use this section to reinforce student learning and promote knowledge transfer to on‑the‑job performance.</a:t>
            </a:r>
            <a:endParaRPr lang="en-CA" sz="1000" dirty="0">
              <a:effectLst/>
              <a:latin typeface="Arial"/>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2276348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34AEEBBA-4BE6-4868-B96C-1EFBA8B820E6}" type="slidenum">
              <a:rPr lang="en-CA" smtClean="0"/>
              <a:t>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1302448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1773782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Explain that a multimaster replication model means that every domain controller can make changes to most directory objects. Emphasize that the AD DS domain provides structure for managing users and computers.</a:t>
            </a:r>
          </a:p>
        </p:txBody>
      </p:sp>
      <p:sp>
        <p:nvSpPr>
          <p:cNvPr id="4" name="Slide Number Placeholder 3"/>
          <p:cNvSpPr>
            <a:spLocks noGrp="1"/>
          </p:cNvSpPr>
          <p:nvPr>
            <p:ph type="sldNum" sz="quarter" idx="10"/>
          </p:nvPr>
        </p:nvSpPr>
        <p:spPr/>
        <p:txBody>
          <a:bodyPr/>
          <a:lstStyle/>
          <a:p>
            <a:fld id="{34AEEBBA-4BE6-4868-B96C-1EFBA8B820E6}" type="slidenum">
              <a:rPr lang="en-CA" smtClean="0"/>
              <a:t>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4167716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3246956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2570070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2235123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1627275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1928482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10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2925643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200" b="0" i="0" kern="1200" dirty="0" smtClean="0">
                <a:solidFill>
                  <a:schemeClr val="tx1"/>
                </a:solidFill>
                <a:effectLst/>
                <a:latin typeface="+mn-lt"/>
                <a:ea typeface="+mn-ea"/>
                <a:cs typeface="+mn-cs"/>
              </a:rPr>
              <a:t>FSMO signifie «</a:t>
            </a:r>
            <a:r>
              <a:rPr lang="fr-FR" sz="1200" b="0" i="1" kern="1200" dirty="0" smtClean="0">
                <a:solidFill>
                  <a:schemeClr val="tx1"/>
                </a:solidFill>
                <a:effectLst/>
                <a:latin typeface="+mn-lt"/>
                <a:ea typeface="+mn-ea"/>
                <a:cs typeface="+mn-cs"/>
              </a:rPr>
              <a:t> Flexible Single Master </a:t>
            </a:r>
            <a:r>
              <a:rPr lang="fr-FR" sz="1200" b="0" i="1" kern="1200" dirty="0" err="1" smtClean="0">
                <a:solidFill>
                  <a:schemeClr val="tx1"/>
                </a:solidFill>
                <a:effectLst/>
                <a:latin typeface="+mn-lt"/>
                <a:ea typeface="+mn-ea"/>
                <a:cs typeface="+mn-cs"/>
              </a:rPr>
              <a:t>Operation</a:t>
            </a:r>
            <a:r>
              <a:rPr lang="fr-FR" sz="1200" b="0" i="0" kern="1200" dirty="0" smtClean="0">
                <a:solidFill>
                  <a:schemeClr val="tx1"/>
                </a:solidFill>
                <a:effectLst/>
                <a:latin typeface="+mn-lt"/>
                <a:ea typeface="+mn-ea"/>
                <a:cs typeface="+mn-cs"/>
              </a:rPr>
              <a:t> »</a:t>
            </a:r>
          </a:p>
          <a:p>
            <a:pPr>
              <a:lnSpc>
                <a:spcPct val="115000"/>
              </a:lnSpc>
              <a:spcAft>
                <a:spcPts val="1000"/>
              </a:spcAft>
            </a:pPr>
            <a:endParaRPr lang="fr-FR" sz="1200" b="0" i="0" kern="1200" dirty="0" smtClean="0">
              <a:solidFill>
                <a:schemeClr val="tx1"/>
              </a:solidFill>
              <a:effectLst/>
              <a:latin typeface="+mn-lt"/>
              <a:ea typeface="+mn-ea"/>
              <a:cs typeface="+mn-cs"/>
            </a:endParaRPr>
          </a:p>
          <a:p>
            <a:r>
              <a:rPr lang="fr-FR" sz="1200" b="0" i="0" kern="1200" dirty="0" smtClean="0">
                <a:solidFill>
                  <a:schemeClr val="tx1"/>
                </a:solidFill>
                <a:effectLst/>
                <a:latin typeface="+mn-lt"/>
                <a:ea typeface="+mn-ea"/>
                <a:cs typeface="+mn-cs"/>
              </a:rPr>
              <a:t>L’émulateur PDC (</a:t>
            </a:r>
            <a:r>
              <a:rPr lang="fr-FR" sz="1200" b="0" i="1" kern="1200" dirty="0" err="1" smtClean="0">
                <a:solidFill>
                  <a:schemeClr val="tx1"/>
                </a:solidFill>
                <a:effectLst/>
                <a:latin typeface="+mn-lt"/>
                <a:ea typeface="+mn-ea"/>
                <a:cs typeface="+mn-cs"/>
              </a:rPr>
              <a:t>Primary</a:t>
            </a:r>
            <a:r>
              <a:rPr lang="fr-FR" sz="1200" b="0" i="1" kern="1200" dirty="0" smtClean="0">
                <a:solidFill>
                  <a:schemeClr val="tx1"/>
                </a:solidFill>
                <a:effectLst/>
                <a:latin typeface="+mn-lt"/>
                <a:ea typeface="+mn-ea"/>
                <a:cs typeface="+mn-cs"/>
              </a:rPr>
              <a:t> Domain Controller</a:t>
            </a:r>
            <a:r>
              <a:rPr lang="fr-FR" sz="1200" b="0" i="0" kern="1200" dirty="0" smtClean="0">
                <a:solidFill>
                  <a:schemeClr val="tx1"/>
                </a:solidFill>
                <a:effectLst/>
                <a:latin typeface="+mn-lt"/>
                <a:ea typeface="+mn-ea"/>
                <a:cs typeface="+mn-cs"/>
              </a:rPr>
              <a:t>) est unique au sein d’un domaine et se doit d’assurer cinq missions principales :</a:t>
            </a:r>
          </a:p>
          <a:p>
            <a:r>
              <a:rPr lang="fr-FR" sz="1200" b="0" i="0" kern="1200" dirty="0" smtClean="0">
                <a:solidFill>
                  <a:schemeClr val="tx1"/>
                </a:solidFill>
                <a:effectLst/>
                <a:latin typeface="+mn-lt"/>
                <a:ea typeface="+mn-ea"/>
                <a:cs typeface="+mn-cs"/>
              </a:rPr>
              <a:t>- Modification des stratégies de groupe du domaine (éviter les conflits et les écrasements)</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 Synchroniser les horloges sur tous les contrôleurs de domaine (heure et date)</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 Gérer le verrouillage des comptes</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 Changer les mots de passe</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 Assure la compatibilité avec les contrôleurs de domaine Windows NT</a:t>
            </a:r>
          </a:p>
          <a:p>
            <a:r>
              <a:rPr lang="fr-FR" sz="1200" b="1" i="0" kern="1200" dirty="0" smtClean="0">
                <a:solidFill>
                  <a:schemeClr val="tx1"/>
                </a:solidFill>
                <a:effectLst/>
                <a:latin typeface="+mn-lt"/>
                <a:ea typeface="+mn-ea"/>
                <a:cs typeface="+mn-cs"/>
              </a:rPr>
              <a:t>En résumé, il est unique au sein d’un domaine et assure diverses missions liées à la sécurité et par défaut il joue le rôle de serveur de temps pour l’ensemble du domaine.</a:t>
            </a:r>
          </a:p>
          <a:p>
            <a:endParaRPr lang="fr-FR" sz="1200" b="1" i="0" kern="1200" dirty="0" smtClean="0">
              <a:solidFill>
                <a:schemeClr val="tx1"/>
              </a:solidFill>
              <a:effectLst/>
              <a:latin typeface="+mn-lt"/>
              <a:ea typeface="+mn-ea"/>
              <a:cs typeface="+mn-cs"/>
            </a:endParaRPr>
          </a:p>
          <a:p>
            <a:r>
              <a:rPr lang="fr-FR" sz="1400" b="0" i="0" u="sng" kern="1200" dirty="0" smtClean="0">
                <a:solidFill>
                  <a:schemeClr val="tx1"/>
                </a:solidFill>
                <a:effectLst/>
                <a:latin typeface="+mn-lt"/>
                <a:ea typeface="+mn-ea"/>
                <a:cs typeface="+mn-cs"/>
              </a:rPr>
              <a:t>Qui est contrôleur de schéma</a:t>
            </a:r>
            <a:r>
              <a:rPr lang="fr-FR" sz="1400" b="0" i="0" u="none" kern="1200" dirty="0" smtClean="0">
                <a:solidFill>
                  <a:schemeClr val="tx1"/>
                </a:solidFill>
                <a:effectLst/>
                <a:latin typeface="+mn-lt"/>
                <a:ea typeface="+mn-ea"/>
                <a:cs typeface="+mn-cs"/>
              </a:rPr>
              <a:t> </a:t>
            </a:r>
            <a:r>
              <a:rPr lang="fr-FR" sz="1400" b="0" i="0" kern="1200" dirty="0" smtClean="0">
                <a:solidFill>
                  <a:schemeClr val="tx1"/>
                </a:solidFill>
                <a:effectLst/>
                <a:latin typeface="+mn-lt"/>
                <a:ea typeface="+mn-ea"/>
                <a:cs typeface="+mn-cs"/>
              </a:rPr>
              <a:t>: </a:t>
            </a:r>
            <a:r>
              <a:rPr lang="fr-FR" sz="1400" b="0" i="0" kern="1200" dirty="0" err="1" smtClean="0">
                <a:solidFill>
                  <a:schemeClr val="tx1"/>
                </a:solidFill>
                <a:effectLst/>
                <a:latin typeface="+mn-lt"/>
                <a:ea typeface="+mn-ea"/>
                <a:cs typeface="+mn-cs"/>
              </a:rPr>
              <a:t>dsquery</a:t>
            </a:r>
            <a:r>
              <a:rPr lang="fr-FR" sz="1400" b="0" i="0" kern="1200" dirty="0" smtClean="0">
                <a:solidFill>
                  <a:schemeClr val="tx1"/>
                </a:solidFill>
                <a:effectLst/>
                <a:latin typeface="+mn-lt"/>
                <a:ea typeface="+mn-ea"/>
                <a:cs typeface="+mn-cs"/>
              </a:rPr>
              <a:t> server -</a:t>
            </a:r>
            <a:r>
              <a:rPr lang="fr-FR" sz="1400" b="0" i="0" kern="1200" dirty="0" err="1" smtClean="0">
                <a:solidFill>
                  <a:schemeClr val="tx1"/>
                </a:solidFill>
                <a:effectLst/>
                <a:latin typeface="+mn-lt"/>
                <a:ea typeface="+mn-ea"/>
                <a:cs typeface="+mn-cs"/>
              </a:rPr>
              <a:t>hasfsmo</a:t>
            </a:r>
            <a:r>
              <a:rPr lang="fr-FR" sz="1400" b="0" i="0" kern="1200" dirty="0" smtClean="0">
                <a:solidFill>
                  <a:schemeClr val="tx1"/>
                </a:solidFill>
                <a:effectLst/>
                <a:latin typeface="+mn-lt"/>
                <a:ea typeface="+mn-ea"/>
                <a:cs typeface="+mn-cs"/>
              </a:rPr>
              <a:t> </a:t>
            </a:r>
            <a:r>
              <a:rPr lang="fr-FR" sz="1400" b="0" i="0" kern="1200" dirty="0" err="1" smtClean="0">
                <a:solidFill>
                  <a:schemeClr val="tx1"/>
                </a:solidFill>
                <a:effectLst/>
                <a:latin typeface="+mn-lt"/>
                <a:ea typeface="+mn-ea"/>
                <a:cs typeface="+mn-cs"/>
              </a:rPr>
              <a:t>schema</a:t>
            </a:r>
            <a:r>
              <a:rPr lang="fr-FR" sz="1400" b="0" i="0" kern="1200" baseline="0" dirty="0" smtClean="0">
                <a:solidFill>
                  <a:schemeClr val="tx1"/>
                </a:solidFill>
                <a:effectLst/>
                <a:latin typeface="+mn-lt"/>
                <a:ea typeface="+mn-ea"/>
                <a:cs typeface="+mn-cs"/>
              </a:rPr>
              <a:t>   OU ALORS   </a:t>
            </a:r>
            <a:r>
              <a:rPr lang="fr-FR" sz="1200" b="0" i="0" u="none" strike="noStrike" kern="1200" baseline="0" dirty="0" smtClean="0">
                <a:solidFill>
                  <a:schemeClr val="tx1"/>
                </a:solidFill>
                <a:latin typeface="+mn-lt"/>
                <a:ea typeface="+mn-ea"/>
                <a:cs typeface="+mn-cs"/>
              </a:rPr>
              <a:t>regsvr32 schmmgmt.dll </a:t>
            </a:r>
            <a:r>
              <a:rPr lang="fr-FR" sz="1200" b="0" i="0" u="none" strike="noStrike" kern="1200" baseline="0" smtClean="0">
                <a:solidFill>
                  <a:schemeClr val="tx1"/>
                </a:solidFill>
                <a:latin typeface="+mn-lt"/>
                <a:ea typeface="+mn-ea"/>
                <a:cs typeface="+mn-cs"/>
              </a:rPr>
              <a:t>dans cmd et </a:t>
            </a:r>
            <a:r>
              <a:rPr lang="fr-FR" sz="1200" b="0" i="0" u="none" strike="noStrike" kern="1200" baseline="0" dirty="0" smtClean="0">
                <a:solidFill>
                  <a:schemeClr val="tx1"/>
                </a:solidFill>
                <a:latin typeface="+mn-lt"/>
                <a:ea typeface="+mn-ea"/>
                <a:cs typeface="+mn-cs"/>
              </a:rPr>
              <a:t>ensuite </a:t>
            </a:r>
            <a:r>
              <a:rPr lang="fr-FR" sz="1200" b="0" i="0" u="none" strike="noStrike" kern="1200" baseline="0" dirty="0" err="1" smtClean="0">
                <a:solidFill>
                  <a:schemeClr val="tx1"/>
                </a:solidFill>
                <a:latin typeface="+mn-lt"/>
                <a:ea typeface="+mn-ea"/>
                <a:cs typeface="+mn-cs"/>
              </a:rPr>
              <a:t>run</a:t>
            </a:r>
            <a:r>
              <a:rPr lang="fr-FR" sz="1200" b="0" i="0" u="none" strike="noStrike" kern="1200" baseline="0" dirty="0" smtClean="0">
                <a:solidFill>
                  <a:schemeClr val="tx1"/>
                </a:solidFill>
                <a:latin typeface="+mn-lt"/>
                <a:ea typeface="+mn-ea"/>
                <a:cs typeface="+mn-cs"/>
              </a:rPr>
              <a:t>&gt;mmc.</a:t>
            </a:r>
            <a:endParaRPr lang="fr-FR" sz="1400" b="0" i="0" kern="1200" dirty="0" smtClean="0">
              <a:solidFill>
                <a:schemeClr val="tx1"/>
              </a:solidFill>
              <a:effectLst/>
              <a:latin typeface="+mn-lt"/>
              <a:ea typeface="+mn-ea"/>
              <a:cs typeface="+mn-cs"/>
            </a:endParaRPr>
          </a:p>
          <a:p>
            <a:r>
              <a:rPr lang="fr-FR" sz="1400" b="0" i="0" u="sng" kern="1200" dirty="0" smtClean="0">
                <a:solidFill>
                  <a:schemeClr val="tx1"/>
                </a:solidFill>
                <a:effectLst/>
                <a:latin typeface="+mn-lt"/>
                <a:ea typeface="+mn-ea"/>
                <a:cs typeface="+mn-cs"/>
              </a:rPr>
              <a:t>Qui est maître</a:t>
            </a:r>
            <a:r>
              <a:rPr lang="fr-FR" sz="1400" b="0" i="0" u="sng" kern="1200" baseline="0" dirty="0" smtClean="0">
                <a:solidFill>
                  <a:schemeClr val="tx1"/>
                </a:solidFill>
                <a:effectLst/>
                <a:latin typeface="+mn-lt"/>
                <a:ea typeface="+mn-ea"/>
                <a:cs typeface="+mn-cs"/>
              </a:rPr>
              <a:t> d’attribution des noms de domaine</a:t>
            </a:r>
            <a:r>
              <a:rPr lang="fr-FR" sz="1400" b="0" i="0" kern="1200" baseline="0" dirty="0" smtClean="0">
                <a:solidFill>
                  <a:schemeClr val="tx1"/>
                </a:solidFill>
                <a:effectLst/>
                <a:latin typeface="+mn-lt"/>
                <a:ea typeface="+mn-ea"/>
                <a:cs typeface="+mn-cs"/>
              </a:rPr>
              <a:t> : Active Directory </a:t>
            </a:r>
            <a:r>
              <a:rPr lang="fr-FR" sz="1400" b="0" i="0" kern="1200" baseline="0" dirty="0" err="1" smtClean="0">
                <a:solidFill>
                  <a:schemeClr val="tx1"/>
                </a:solidFill>
                <a:effectLst/>
                <a:latin typeface="+mn-lt"/>
                <a:ea typeface="+mn-ea"/>
                <a:cs typeface="+mn-cs"/>
              </a:rPr>
              <a:t>Domains</a:t>
            </a:r>
            <a:r>
              <a:rPr lang="fr-FR" sz="1400" b="0" i="0" kern="1200" baseline="0" dirty="0" smtClean="0">
                <a:solidFill>
                  <a:schemeClr val="tx1"/>
                </a:solidFill>
                <a:effectLst/>
                <a:latin typeface="+mn-lt"/>
                <a:ea typeface="+mn-ea"/>
                <a:cs typeface="+mn-cs"/>
              </a:rPr>
              <a:t> and Trusts.</a:t>
            </a:r>
          </a:p>
          <a:p>
            <a:r>
              <a:rPr lang="fr-FR" sz="1400" b="0" i="0" kern="1200" baseline="0" dirty="0" smtClean="0">
                <a:solidFill>
                  <a:schemeClr val="tx1"/>
                </a:solidFill>
                <a:effectLst/>
                <a:latin typeface="+mn-lt"/>
                <a:ea typeface="+mn-ea"/>
                <a:cs typeface="+mn-cs"/>
              </a:rPr>
              <a:t>Qui est maître RID, maître d’infrastructure et maître émulateur PDC : Active Directory </a:t>
            </a:r>
            <a:r>
              <a:rPr lang="fr-FR" sz="1400" b="0" i="0" kern="1200" baseline="0" dirty="0" err="1" smtClean="0">
                <a:solidFill>
                  <a:schemeClr val="tx1"/>
                </a:solidFill>
                <a:effectLst/>
                <a:latin typeface="+mn-lt"/>
                <a:ea typeface="+mn-ea"/>
                <a:cs typeface="+mn-cs"/>
              </a:rPr>
              <a:t>Users</a:t>
            </a:r>
            <a:r>
              <a:rPr lang="fr-FR" sz="1400" b="0" i="0" kern="1200" baseline="0" dirty="0" smtClean="0">
                <a:solidFill>
                  <a:schemeClr val="tx1"/>
                </a:solidFill>
                <a:effectLst/>
                <a:latin typeface="+mn-lt"/>
                <a:ea typeface="+mn-ea"/>
                <a:cs typeface="+mn-cs"/>
              </a:rPr>
              <a:t> and Computers.</a:t>
            </a:r>
            <a:endParaRPr lang="fr-FR" sz="1400" b="0" i="0" kern="1200" dirty="0" smtClean="0">
              <a:solidFill>
                <a:schemeClr val="tx1"/>
              </a:solidFill>
              <a:effectLst/>
              <a:latin typeface="+mn-lt"/>
              <a:ea typeface="+mn-ea"/>
              <a:cs typeface="+mn-cs"/>
            </a:endParaRPr>
          </a:p>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11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1990897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12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1788033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13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1994085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smtClean="0">
                <a:latin typeface="Arial"/>
                <a:ea typeface="Calibri"/>
                <a:cs typeface="Times New Roman"/>
              </a:rPr>
              <a:t>IFM = Install from Media</a:t>
            </a:r>
          </a:p>
          <a:p>
            <a:pPr>
              <a:lnSpc>
                <a:spcPct val="115000"/>
              </a:lnSpc>
              <a:spcAft>
                <a:spcPts val="1000"/>
              </a:spcAft>
            </a:pPr>
            <a:endParaRPr lang="en-CA" sz="1000" dirty="0" smtClean="0">
              <a:latin typeface="Arial"/>
              <a:ea typeface="Calibri"/>
              <a:cs typeface="Times New Roman"/>
            </a:endParaRPr>
          </a:p>
          <a:p>
            <a:pPr>
              <a:lnSpc>
                <a:spcPct val="115000"/>
              </a:lnSpc>
              <a:spcAft>
                <a:spcPts val="1000"/>
              </a:spcAft>
            </a:pPr>
            <a:r>
              <a:rPr lang="fr-FR" sz="1000" noProof="0" dirty="0" smtClean="0">
                <a:latin typeface="Arial"/>
                <a:ea typeface="Calibri"/>
                <a:cs typeface="Times New Roman"/>
              </a:rPr>
              <a:t>Dans</a:t>
            </a:r>
            <a:r>
              <a:rPr lang="fr-FR" sz="1000" baseline="0" noProof="0" dirty="0" smtClean="0">
                <a:latin typeface="Arial"/>
                <a:ea typeface="Calibri"/>
                <a:cs typeface="Times New Roman"/>
              </a:rPr>
              <a:t> un contrôleur de domaine, tapez :</a:t>
            </a:r>
            <a:endParaRPr lang="fr-FR" sz="1000" noProof="0" dirty="0" smtClean="0">
              <a:latin typeface="Arial"/>
              <a:ea typeface="Calibri"/>
              <a:cs typeface="Times New Roman"/>
            </a:endParaRPr>
          </a:p>
          <a:p>
            <a:pPr>
              <a:lnSpc>
                <a:spcPct val="115000"/>
              </a:lnSpc>
              <a:spcAft>
                <a:spcPts val="1000"/>
              </a:spcAft>
            </a:pPr>
            <a:endParaRPr lang="fr-FR" sz="1000" noProof="0" dirty="0" smtClean="0">
              <a:latin typeface="Arial"/>
              <a:ea typeface="Calibri"/>
              <a:cs typeface="Times New Roman"/>
            </a:endParaRPr>
          </a:p>
          <a:p>
            <a:pPr lvl="1"/>
            <a:r>
              <a:rPr lang="fr-FR" sz="1200" b="0" i="0" u="none" strike="noStrike" kern="1200" baseline="0" noProof="0" dirty="0" err="1" smtClean="0">
                <a:solidFill>
                  <a:schemeClr val="tx1"/>
                </a:solidFill>
                <a:latin typeface="Courier New" panose="02070309020205020404" pitchFamily="49" charset="0"/>
                <a:ea typeface="+mn-ea"/>
                <a:cs typeface="Courier New" panose="02070309020205020404" pitchFamily="49" charset="0"/>
              </a:rPr>
              <a:t>Ntdsutil</a:t>
            </a:r>
            <a:endParaRPr lang="fr-FR" sz="1200" b="0" i="0" u="none" strike="noStrike" kern="1200" baseline="0" noProof="0" dirty="0" smtClean="0">
              <a:solidFill>
                <a:schemeClr val="tx1"/>
              </a:solidFill>
              <a:latin typeface="Courier New" panose="02070309020205020404" pitchFamily="49" charset="0"/>
              <a:ea typeface="+mn-ea"/>
              <a:cs typeface="Courier New" panose="02070309020205020404" pitchFamily="49" charset="0"/>
            </a:endParaRPr>
          </a:p>
          <a:p>
            <a:pPr lvl="1"/>
            <a:r>
              <a:rPr lang="fr-FR" sz="1200" b="0" i="0" u="none" strike="noStrike" kern="1200" baseline="0" noProof="0" dirty="0" err="1" smtClean="0">
                <a:solidFill>
                  <a:schemeClr val="tx1"/>
                </a:solidFill>
                <a:latin typeface="Courier New" panose="02070309020205020404" pitchFamily="49" charset="0"/>
                <a:ea typeface="+mn-ea"/>
                <a:cs typeface="Courier New" panose="02070309020205020404" pitchFamily="49" charset="0"/>
              </a:rPr>
              <a:t>Activate</a:t>
            </a:r>
            <a:r>
              <a:rPr lang="fr-FR" sz="1200" b="0" i="0" u="none" strike="noStrike" kern="1200" baseline="0" noProof="0" dirty="0" smtClean="0">
                <a:solidFill>
                  <a:schemeClr val="tx1"/>
                </a:solidFill>
                <a:latin typeface="Courier New" panose="02070309020205020404" pitchFamily="49" charset="0"/>
                <a:ea typeface="+mn-ea"/>
                <a:cs typeface="Courier New" panose="02070309020205020404" pitchFamily="49" charset="0"/>
              </a:rPr>
              <a:t> instance </a:t>
            </a:r>
            <a:r>
              <a:rPr lang="fr-FR" sz="1200" b="0" i="0" u="none" strike="noStrike" kern="1200" baseline="0" noProof="0" dirty="0" err="1" smtClean="0">
                <a:solidFill>
                  <a:schemeClr val="tx1"/>
                </a:solidFill>
                <a:latin typeface="Courier New" panose="02070309020205020404" pitchFamily="49" charset="0"/>
                <a:ea typeface="+mn-ea"/>
                <a:cs typeface="Courier New" panose="02070309020205020404" pitchFamily="49" charset="0"/>
              </a:rPr>
              <a:t>ntds</a:t>
            </a:r>
            <a:endParaRPr lang="fr-FR" sz="1200" b="0" i="0" u="none" strike="noStrike" kern="1200" baseline="0" noProof="0" dirty="0" smtClean="0">
              <a:solidFill>
                <a:schemeClr val="tx1"/>
              </a:solidFill>
              <a:latin typeface="Courier New" panose="02070309020205020404" pitchFamily="49" charset="0"/>
              <a:ea typeface="+mn-ea"/>
              <a:cs typeface="Courier New" panose="02070309020205020404" pitchFamily="49" charset="0"/>
            </a:endParaRPr>
          </a:p>
          <a:p>
            <a:pPr lvl="1"/>
            <a:r>
              <a:rPr lang="fr-FR" sz="1200" b="0" i="0" u="none" strike="noStrike" kern="1200" baseline="0" noProof="0" dirty="0" err="1" smtClean="0">
                <a:solidFill>
                  <a:schemeClr val="tx1"/>
                </a:solidFill>
                <a:latin typeface="Courier New" panose="02070309020205020404" pitchFamily="49" charset="0"/>
                <a:ea typeface="+mn-ea"/>
                <a:cs typeface="Courier New" panose="02070309020205020404" pitchFamily="49" charset="0"/>
              </a:rPr>
              <a:t>Ifm</a:t>
            </a:r>
            <a:endParaRPr lang="fr-FR" sz="1200" b="0" i="0" u="none" strike="noStrike" kern="1200" baseline="0" noProof="0" dirty="0" smtClean="0">
              <a:solidFill>
                <a:schemeClr val="tx1"/>
              </a:solidFill>
              <a:latin typeface="Courier New" panose="02070309020205020404" pitchFamily="49" charset="0"/>
              <a:ea typeface="+mn-ea"/>
              <a:cs typeface="Courier New" panose="02070309020205020404" pitchFamily="49" charset="0"/>
            </a:endParaRPr>
          </a:p>
          <a:p>
            <a:pPr lvl="1"/>
            <a:r>
              <a:rPr lang="fr-FR" sz="1200" b="0" i="0" u="none" strike="noStrike" kern="1200" baseline="0" noProof="0" dirty="0" err="1" smtClean="0">
                <a:solidFill>
                  <a:schemeClr val="tx1"/>
                </a:solidFill>
                <a:latin typeface="Courier New" panose="02070309020205020404" pitchFamily="49" charset="0"/>
                <a:ea typeface="+mn-ea"/>
                <a:cs typeface="Courier New" panose="02070309020205020404" pitchFamily="49" charset="0"/>
              </a:rPr>
              <a:t>create</a:t>
            </a:r>
            <a:r>
              <a:rPr lang="fr-FR" sz="1200" b="0" i="0" u="none" strike="noStrike" kern="1200" baseline="0" noProof="0" dirty="0" smtClean="0">
                <a:solidFill>
                  <a:schemeClr val="tx1"/>
                </a:solidFill>
                <a:latin typeface="Courier New" panose="02070309020205020404" pitchFamily="49" charset="0"/>
                <a:ea typeface="+mn-ea"/>
                <a:cs typeface="Courier New" panose="02070309020205020404" pitchFamily="49" charset="0"/>
              </a:rPr>
              <a:t> </a:t>
            </a:r>
            <a:r>
              <a:rPr lang="fr-FR" sz="1200" b="0" i="0" u="none" strike="noStrike" kern="1200" baseline="0" noProof="0" dirty="0" smtClean="0">
                <a:solidFill>
                  <a:schemeClr val="tx1"/>
                </a:solidFill>
                <a:latin typeface="Courier New" panose="02070309020205020404" pitchFamily="49" charset="0"/>
                <a:ea typeface="+mn-ea"/>
                <a:cs typeface="Courier New" panose="02070309020205020404" pitchFamily="49" charset="0"/>
              </a:rPr>
              <a:t>SYSVOL </a:t>
            </a:r>
            <a:r>
              <a:rPr lang="fr-FR" sz="1200" b="0" i="0" u="none" strike="noStrike" kern="1200" baseline="0" noProof="0" dirty="0" smtClean="0">
                <a:solidFill>
                  <a:schemeClr val="tx1"/>
                </a:solidFill>
                <a:latin typeface="Courier New" panose="02070309020205020404" pitchFamily="49" charset="0"/>
                <a:ea typeface="+mn-ea"/>
                <a:cs typeface="Courier New" panose="02070309020205020404" pitchFamily="49" charset="0"/>
              </a:rPr>
              <a:t>full C:\</a:t>
            </a:r>
            <a:r>
              <a:rPr lang="fr-FR" sz="1200" b="0" i="0" u="none" strike="noStrike" kern="1200" baseline="0" noProof="0" dirty="0" smtClean="0">
                <a:solidFill>
                  <a:schemeClr val="tx1"/>
                </a:solidFill>
                <a:latin typeface="Courier New" panose="02070309020205020404" pitchFamily="49" charset="0"/>
                <a:ea typeface="+mn-ea"/>
                <a:cs typeface="Courier New" panose="02070309020205020404" pitchFamily="49" charset="0"/>
              </a:rPr>
              <a:t>IFM</a:t>
            </a:r>
          </a:p>
          <a:p>
            <a:pPr lvl="1"/>
            <a:endParaRPr lang="fr-FR" sz="1000" b="0" i="0" u="none" strike="noStrike" kern="1200" baseline="0" noProof="0" dirty="0">
              <a:solidFill>
                <a:schemeClr val="tx1"/>
              </a:solidFill>
              <a:latin typeface="Courier New" panose="02070309020205020404" pitchFamily="49" charset="0"/>
              <a:ea typeface="+mn-ea"/>
              <a:cs typeface="Courier New" panose="02070309020205020404" pitchFamily="49" charset="0"/>
            </a:endParaRPr>
          </a:p>
          <a:p>
            <a:pPr lvl="0"/>
            <a:r>
              <a:rPr lang="en-US" sz="1200" b="0" i="0" u="none" strike="noStrike" kern="1200" baseline="0" dirty="0" smtClean="0">
                <a:solidFill>
                  <a:schemeClr val="tx1"/>
                </a:solidFill>
                <a:latin typeface="+mn-lt"/>
                <a:ea typeface="+mn-ea"/>
                <a:cs typeface="+mn-cs"/>
              </a:rPr>
              <a:t>Map the drive letter </a:t>
            </a:r>
            <a:r>
              <a:rPr lang="en-US" sz="1200" b="1" i="0" u="none" strike="noStrike" kern="1200" baseline="0" dirty="0" smtClean="0">
                <a:solidFill>
                  <a:schemeClr val="tx1"/>
                </a:solidFill>
                <a:latin typeface="+mn-lt"/>
                <a:ea typeface="+mn-ea"/>
                <a:cs typeface="+mn-cs"/>
              </a:rPr>
              <a:t>K: </a:t>
            </a:r>
            <a:r>
              <a:rPr lang="en-US" sz="1200" b="0" i="0" u="none" strike="noStrike" kern="1200" baseline="0" dirty="0" smtClean="0">
                <a:solidFill>
                  <a:schemeClr val="tx1"/>
                </a:solidFill>
                <a:latin typeface="+mn-lt"/>
                <a:ea typeface="+mn-ea"/>
                <a:cs typeface="+mn-cs"/>
              </a:rPr>
              <a:t>to </a:t>
            </a:r>
            <a:r>
              <a:rPr lang="en-US" sz="1200" b="1" i="0" u="none" strike="noStrike" kern="1200" baseline="0" dirty="0" smtClean="0">
                <a:solidFill>
                  <a:schemeClr val="tx1"/>
                </a:solidFill>
                <a:latin typeface="+mn-lt"/>
                <a:ea typeface="+mn-ea"/>
                <a:cs typeface="+mn-cs"/>
              </a:rPr>
              <a:t>\\LON-DC1\C$\IFM</a:t>
            </a:r>
            <a:r>
              <a:rPr lang="en-US" sz="1200" b="0" i="0" u="none" strike="noStrike" kern="1200" baseline="0" dirty="0" smtClean="0">
                <a:solidFill>
                  <a:schemeClr val="tx1"/>
                </a:solidFill>
                <a:latin typeface="+mn-lt"/>
                <a:ea typeface="+mn-ea"/>
                <a:cs typeface="+mn-cs"/>
              </a:rPr>
              <a:t>.</a:t>
            </a:r>
            <a:endParaRPr lang="fr-FR" sz="1200" b="0" i="0" u="none" strike="noStrike" kern="1200" baseline="0" noProof="0" dirty="0" smtClean="0">
              <a:solidFill>
                <a:schemeClr val="tx1"/>
              </a:solidFill>
              <a:latin typeface="Courier New" panose="02070309020205020404" pitchFamily="49" charset="0"/>
              <a:ea typeface="+mn-ea"/>
              <a:cs typeface="Courier New" panose="02070309020205020404" pitchFamily="49" charset="0"/>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14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1142126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15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2: Introduction to Active Directory Domain Services</a:t>
            </a:r>
            <a:endParaRPr lang="en-CA" sz="1200" b="1" dirty="0">
              <a:solidFill>
                <a:srgbClr val="336699"/>
              </a:solidFill>
              <a:latin typeface="Arial"/>
            </a:endParaRPr>
          </a:p>
        </p:txBody>
      </p:sp>
    </p:spTree>
    <p:extLst>
      <p:ext uri="{BB962C8B-B14F-4D97-AF65-F5344CB8AC3E}">
        <p14:creationId xmlns:p14="http://schemas.microsoft.com/office/powerpoint/2010/main" val="71485524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40996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microsoft.com/office/2007/relationships/hdphoto" Target="../media/hdphoto2.wdp"/><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8c790333-064c-4985-a532-d483aa476908">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2</a:t>
            </a:r>
            <a:endParaRPr lang="en-CA" sz="2600" dirty="0"/>
          </a:p>
        </p:txBody>
      </p:sp>
      <p:sp>
        <p:nvSpPr>
          <p:cNvPr id="3" name="Subtitle 2"/>
          <p:cNvSpPr>
            <a:spLocks noGrp="1"/>
          </p:cNvSpPr>
          <p:nvPr>
            <p:ph type="subTitle" sz="quarter" idx="1"/>
          </p:nvPr>
        </p:nvSpPr>
        <p:spPr/>
        <p:txBody>
          <a:bodyPr/>
          <a:lstStyle/>
          <a:p>
            <a:r>
              <a:rPr lang="en-CA" dirty="0" smtClean="0"/>
              <a:t>Introduction to Active Directory Domain Services
</a:t>
            </a:r>
            <a:endParaRPr lang="en-CA" dirty="0"/>
          </a:p>
        </p:txBody>
      </p:sp>
    </p:spTree>
    <p:extLst>
      <p:ext uri="{BB962C8B-B14F-4D97-AF65-F5344CB8AC3E}">
        <p14:creationId xmlns:p14="http://schemas.microsoft.com/office/powerpoint/2010/main" val="1207310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6862dd46-c73d-450c-9723-c11b8fceb54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Planning</a:t>
            </a:r>
            <a:endParaRPr lang="en-CA" dirty="0"/>
          </a:p>
        </p:txBody>
      </p:sp>
      <p:sp>
        <p:nvSpPr>
          <p:cNvPr id="3" name="Text Placeholder 2"/>
          <p:cNvSpPr>
            <a:spLocks noGrp="1"/>
          </p:cNvSpPr>
          <p:nvPr>
            <p:ph type="body" idx="1"/>
          </p:nvPr>
        </p:nvSpPr>
        <p:spPr/>
        <p:txBody>
          <a:bodyPr/>
          <a:lstStyle/>
          <a:p>
            <a:r>
              <a:rPr lang="fr-FR" dirty="0" smtClean="0"/>
              <a:t>AD DS: vue d’ensemble
Contrôleurs de domaine : vue d’ensemble
Installation d’un contrôleur de domaine</a:t>
            </a:r>
            <a:endParaRPr lang="fr-FR" dirty="0"/>
          </a:p>
        </p:txBody>
      </p:sp>
    </p:spTree>
    <p:extLst>
      <p:ext uri="{BB962C8B-B14F-4D97-AF65-F5344CB8AC3E}">
        <p14:creationId xmlns:p14="http://schemas.microsoft.com/office/powerpoint/2010/main" val="2678110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cb66d8e2-d667-4923-b250-b8ac5062bc4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AD DS : vue d’ensemble</a:t>
            </a:r>
            <a:endParaRPr lang="fr-FR" dirty="0"/>
          </a:p>
        </p:txBody>
      </p:sp>
      <p:graphicFrame>
        <p:nvGraphicFramePr>
          <p:cNvPr id="4" name="Group 81"/>
          <p:cNvGraphicFramePr>
            <a:graphicFrameLocks/>
          </p:cNvGraphicFramePr>
          <p:nvPr>
            <p:extLst>
              <p:ext uri="{D42A27DB-BD31-4B8C-83A1-F6EECF244321}">
                <p14:modId xmlns:p14="http://schemas.microsoft.com/office/powerpoint/2010/main" val="1273626347"/>
              </p:ext>
            </p:extLst>
          </p:nvPr>
        </p:nvGraphicFramePr>
        <p:xfrm>
          <a:off x="755576" y="2010880"/>
          <a:ext cx="7632848" cy="4154424"/>
        </p:xfrm>
        <a:graphic>
          <a:graphicData uri="http://schemas.openxmlformats.org/drawingml/2006/table">
            <a:tbl>
              <a:tblPr>
                <a:tableStyleId>{5DA37D80-6434-44D0-A028-1B22A696006F}</a:tableStyleId>
              </a:tblPr>
              <a:tblGrid>
                <a:gridCol w="3888432"/>
                <a:gridCol w="3744416"/>
              </a:tblGrid>
              <a:tr h="482600">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fr-FR" sz="2400" b="0" i="0" u="none" strike="noStrike" cap="none" normalizeH="0" baseline="0" noProof="0" dirty="0" smtClean="0">
                          <a:ln>
                            <a:noFill/>
                          </a:ln>
                          <a:effectLst/>
                          <a:latin typeface="Segoe UI" pitchFamily="34" charset="0"/>
                          <a:ea typeface="Segoe UI" pitchFamily="34" charset="0"/>
                          <a:cs typeface="Segoe UI" pitchFamily="34" charset="0"/>
                        </a:rPr>
                        <a:t>Composants logiques</a:t>
                      </a:r>
                      <a:endParaRPr kumimoji="0" lang="fr-FR" sz="24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0" marB="91440" anchor="ctr" horzOverflow="overflow"/>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fr-FR" sz="2400" b="0" i="0" u="none" strike="noStrike" cap="none" normalizeH="0" baseline="0" noProof="0" dirty="0" smtClean="0">
                          <a:ln>
                            <a:noFill/>
                          </a:ln>
                          <a:effectLst/>
                          <a:latin typeface="Segoe UI" pitchFamily="34" charset="0"/>
                          <a:ea typeface="Segoe UI" pitchFamily="34" charset="0"/>
                          <a:cs typeface="Segoe UI" pitchFamily="34" charset="0"/>
                        </a:rPr>
                        <a:t>Composants physiques</a:t>
                      </a:r>
                      <a:endParaRPr kumimoji="0" lang="fr-FR" sz="24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0" marB="91440" anchor="ctr" horzOverflow="overflow"/>
                </a:tc>
              </a:tr>
              <a:tr h="3175000">
                <a:tc>
                  <a:txBody>
                    <a:bodyPr/>
                    <a:lstStyle/>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Partition</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Schéma</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Domaine</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Arbre</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Forêt</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Site</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Unité</a:t>
                      </a:r>
                      <a:r>
                        <a:rPr lang="fr-FR" sz="2400" kern="1200" baseline="0" noProof="0" dirty="0" smtClean="0">
                          <a:solidFill>
                            <a:schemeClr val="tx1"/>
                          </a:solidFill>
                          <a:effectLst/>
                          <a:latin typeface="Segoe UI" pitchFamily="34" charset="0"/>
                          <a:ea typeface="Segoe UI" pitchFamily="34" charset="0"/>
                          <a:cs typeface="Segoe UI" pitchFamily="34" charset="0"/>
                        </a:rPr>
                        <a:t> organisationnelle</a:t>
                      </a:r>
                      <a:endParaRPr lang="fr-FR" sz="2400" kern="1200" noProof="0" dirty="0" smtClean="0">
                        <a:solidFill>
                          <a:schemeClr val="tx1"/>
                        </a:solidFill>
                        <a:effectLst/>
                        <a:latin typeface="Segoe UI" pitchFamily="34" charset="0"/>
                        <a:ea typeface="Segoe UI" pitchFamily="34" charset="0"/>
                        <a:cs typeface="Segoe UI" pitchFamily="34" charset="0"/>
                      </a:endParaRP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Conteneur</a:t>
                      </a:r>
                    </a:p>
                  </a:txBody>
                  <a:tcPr marT="91440" marB="91440" horzOverflow="overflow"/>
                </a:tc>
                <a:tc>
                  <a:txBody>
                    <a:bodyPr/>
                    <a:lstStyle/>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Contrôleur</a:t>
                      </a:r>
                      <a:r>
                        <a:rPr lang="fr-FR" sz="2400" kern="1200" baseline="0" noProof="0" dirty="0" smtClean="0">
                          <a:solidFill>
                            <a:schemeClr val="tx1"/>
                          </a:solidFill>
                          <a:effectLst/>
                          <a:latin typeface="Segoe UI" pitchFamily="34" charset="0"/>
                          <a:ea typeface="Segoe UI" pitchFamily="34" charset="0"/>
                          <a:cs typeface="Segoe UI" pitchFamily="34" charset="0"/>
                        </a:rPr>
                        <a:t> de domaine</a:t>
                      </a:r>
                      <a:endParaRPr lang="fr-FR" sz="2400" kern="1200" noProof="0" dirty="0" smtClean="0">
                        <a:solidFill>
                          <a:schemeClr val="tx1"/>
                        </a:solidFill>
                        <a:effectLst/>
                        <a:latin typeface="Segoe UI" pitchFamily="34" charset="0"/>
                        <a:ea typeface="Segoe UI" pitchFamily="34" charset="0"/>
                        <a:cs typeface="Segoe UI" pitchFamily="34" charset="0"/>
                      </a:endParaRP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defRPr/>
                      </a:pPr>
                      <a:r>
                        <a:rPr lang="fr-FR" sz="2400" kern="1200" noProof="0" dirty="0" smtClean="0">
                          <a:solidFill>
                            <a:schemeClr val="tx1"/>
                          </a:solidFill>
                          <a:effectLst/>
                          <a:latin typeface="Segoe UI" pitchFamily="34" charset="0"/>
                          <a:ea typeface="Segoe UI" pitchFamily="34" charset="0"/>
                          <a:cs typeface="Segoe UI" pitchFamily="34" charset="0"/>
                        </a:rPr>
                        <a:t>Base</a:t>
                      </a:r>
                      <a:r>
                        <a:rPr lang="fr-FR" sz="2400" kern="1200" baseline="0" noProof="0" dirty="0" smtClean="0">
                          <a:solidFill>
                            <a:schemeClr val="tx1"/>
                          </a:solidFill>
                          <a:effectLst/>
                          <a:latin typeface="Segoe UI" pitchFamily="34" charset="0"/>
                          <a:ea typeface="Segoe UI" pitchFamily="34" charset="0"/>
                          <a:cs typeface="Segoe UI" pitchFamily="34" charset="0"/>
                        </a:rPr>
                        <a:t> de données</a:t>
                      </a:r>
                      <a:endParaRPr lang="fr-FR" sz="2400" kern="1200" noProof="0" dirty="0" smtClean="0">
                        <a:solidFill>
                          <a:schemeClr val="tx1"/>
                        </a:solidFill>
                        <a:effectLst/>
                        <a:latin typeface="Segoe UI" pitchFamily="34" charset="0"/>
                        <a:ea typeface="Segoe UI" pitchFamily="34" charset="0"/>
                        <a:cs typeface="Segoe UI" pitchFamily="34" charset="0"/>
                      </a:endParaRP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Catalogue</a:t>
                      </a:r>
                      <a:r>
                        <a:rPr lang="fr-FR" sz="2400" kern="1200" baseline="0" noProof="0" dirty="0" smtClean="0">
                          <a:solidFill>
                            <a:schemeClr val="tx1"/>
                          </a:solidFill>
                          <a:effectLst/>
                          <a:latin typeface="Segoe UI" pitchFamily="34" charset="0"/>
                          <a:ea typeface="Segoe UI" pitchFamily="34" charset="0"/>
                          <a:cs typeface="Segoe UI" pitchFamily="34" charset="0"/>
                        </a:rPr>
                        <a:t> global</a:t>
                      </a:r>
                      <a:endParaRPr lang="fr-FR" sz="2400" kern="1200" noProof="0" dirty="0" smtClean="0">
                        <a:solidFill>
                          <a:schemeClr val="tx1"/>
                        </a:solidFill>
                        <a:effectLst/>
                        <a:latin typeface="Segoe UI" pitchFamily="34" charset="0"/>
                        <a:ea typeface="Segoe UI" pitchFamily="34" charset="0"/>
                        <a:cs typeface="Segoe UI" pitchFamily="34" charset="0"/>
                      </a:endParaRP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noProof="0" dirty="0" smtClean="0">
                          <a:solidFill>
                            <a:schemeClr val="tx1"/>
                          </a:solidFill>
                          <a:effectLst/>
                          <a:latin typeface="Segoe UI" pitchFamily="34" charset="0"/>
                          <a:ea typeface="Segoe UI" pitchFamily="34" charset="0"/>
                          <a:cs typeface="Segoe UI" pitchFamily="34" charset="0"/>
                        </a:rPr>
                        <a:t>RODC</a:t>
                      </a:r>
                      <a:endParaRPr kumimoji="0" lang="fr-FR" sz="2400" u="none" strike="noStrike" cap="none" normalizeH="0" baseline="0" noProof="0" dirty="0" smtClean="0">
                        <a:ln>
                          <a:noFill/>
                        </a:ln>
                        <a:effectLst/>
                        <a:latin typeface="Segoe UI" pitchFamily="34" charset="0"/>
                        <a:ea typeface="Segoe UI" pitchFamily="34" charset="0"/>
                        <a:cs typeface="Segoe UI" pitchFamily="34" charset="0"/>
                      </a:endParaRPr>
                    </a:p>
                    <a:p>
                      <a:pPr marL="233363" marR="0" lvl="0" indent="-233363" algn="l" defTabSz="914400" rtl="0" eaLnBrk="1" fontAlgn="base" latinLnBrk="0" hangingPunct="1">
                        <a:lnSpc>
                          <a:spcPct val="100000"/>
                        </a:lnSpc>
                        <a:spcBef>
                          <a:spcPts val="600"/>
                        </a:spcBef>
                        <a:spcAft>
                          <a:spcPct val="0"/>
                        </a:spcAft>
                        <a:buClr>
                          <a:schemeClr val="hlink"/>
                        </a:buClr>
                        <a:buSzPct val="90000"/>
                        <a:buFontTx/>
                        <a:buNone/>
                        <a:tabLst/>
                      </a:pPr>
                      <a:endParaRPr kumimoji="0" lang="fr-FR" sz="24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0" marB="91440" horzOverflow="overflow"/>
                </a:tc>
              </a:tr>
            </a:tbl>
          </a:graphicData>
        </a:graphic>
      </p:graphicFrame>
      <p:sp>
        <p:nvSpPr>
          <p:cNvPr id="5" name="AutoShape 29"/>
          <p:cNvSpPr>
            <a:spLocks noChangeArrowheads="1"/>
          </p:cNvSpPr>
          <p:nvPr/>
        </p:nvSpPr>
        <p:spPr bwMode="auto">
          <a:xfrm>
            <a:off x="342647" y="739659"/>
            <a:ext cx="8399416" cy="1097042"/>
          </a:xfrm>
          <a:prstGeom prst="roundRect">
            <a:avLst>
              <a:gd name="adj" fmla="val 8718"/>
            </a:avLst>
          </a:prstGeom>
          <a:noFill/>
          <a:ln w="9525" algn="ctr">
            <a:noFill/>
            <a:round/>
            <a:headEnd/>
            <a:tailEnd/>
          </a:ln>
          <a:effectLst/>
        </p:spPr>
        <p:txBody>
          <a:bodyPr wrap="square" tIns="91440" bIns="9144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lang="fr-FR" sz="2800" b="0" dirty="0" smtClean="0">
                <a:latin typeface="Segoe UI" pitchFamily="34" charset="0"/>
                <a:ea typeface="Segoe UI" pitchFamily="34" charset="0"/>
                <a:cs typeface="Segoe UI" pitchFamily="34" charset="0"/>
              </a:rPr>
              <a:t>AD </a:t>
            </a:r>
            <a:r>
              <a:rPr lang="fr-FR" sz="2800" b="0" dirty="0">
                <a:latin typeface="Segoe UI" pitchFamily="34" charset="0"/>
                <a:ea typeface="Segoe UI" pitchFamily="34" charset="0"/>
                <a:cs typeface="Segoe UI" pitchFamily="34" charset="0"/>
              </a:rPr>
              <a:t>DS </a:t>
            </a:r>
            <a:r>
              <a:rPr lang="fr-FR" sz="2800" b="0" dirty="0" smtClean="0">
                <a:latin typeface="Segoe UI" pitchFamily="34" charset="0"/>
                <a:ea typeface="Segoe UI" pitchFamily="34" charset="0"/>
                <a:cs typeface="Segoe UI" pitchFamily="34" charset="0"/>
              </a:rPr>
              <a:t>se structure autour des </a:t>
            </a:r>
            <a:r>
              <a:rPr lang="fr-FR" sz="2800" b="0" dirty="0">
                <a:latin typeface="Segoe UI" pitchFamily="34" charset="0"/>
                <a:ea typeface="Segoe UI" pitchFamily="34" charset="0"/>
                <a:cs typeface="Segoe UI" pitchFamily="34" charset="0"/>
              </a:rPr>
              <a:t>composants logiques et </a:t>
            </a:r>
            <a:r>
              <a:rPr lang="fr-FR" sz="2800" b="0" dirty="0" smtClean="0">
                <a:latin typeface="Segoe UI" pitchFamily="34" charset="0"/>
                <a:ea typeface="Segoe UI" pitchFamily="34" charset="0"/>
                <a:cs typeface="Segoe UI" pitchFamily="34" charset="0"/>
              </a:rPr>
              <a:t>physiques suivants :</a:t>
            </a:r>
            <a:endParaRPr lang="en-US" sz="28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525221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3cc778dc-bb23-4c31-9c73-a24a2ff1b08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La notion de domaine AD DS</a:t>
            </a:r>
            <a:endParaRPr lang="fr-FR" dirty="0"/>
          </a:p>
        </p:txBody>
      </p:sp>
      <p:sp>
        <p:nvSpPr>
          <p:cNvPr id="4" name="bottom bullets"/>
          <p:cNvSpPr>
            <a:spLocks noChangeArrowheads="1"/>
          </p:cNvSpPr>
          <p:nvPr/>
        </p:nvSpPr>
        <p:spPr bwMode="auto">
          <a:xfrm>
            <a:off x="260117" y="1988840"/>
            <a:ext cx="5065365" cy="4237745"/>
          </a:xfrm>
          <a:prstGeom prst="roundRect">
            <a:avLst>
              <a:gd name="adj" fmla="val 8866"/>
            </a:avLst>
          </a:prstGeom>
          <a:ln>
            <a:headEnd/>
            <a:tailEnd/>
          </a:ln>
        </p:spPr>
        <p:style>
          <a:lnRef idx="2">
            <a:schemeClr val="accent1"/>
          </a:lnRef>
          <a:fillRef idx="1">
            <a:schemeClr val="lt1"/>
          </a:fillRef>
          <a:effectRef idx="0">
            <a:schemeClr val="accent1"/>
          </a:effectRef>
          <a:fontRef idx="minor">
            <a:schemeClr val="dk1"/>
          </a:fontRef>
        </p:style>
        <p:txBody>
          <a:bodyPr tIns="0" numCol="1" spcCol="274320" anchor="t" anchorCtr="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80000" indent="-180000">
              <a:spcAft>
                <a:spcPts val="300"/>
              </a:spcAft>
              <a:buClr>
                <a:srgbClr val="0070C0"/>
              </a:buClr>
              <a:buSzPct val="120000"/>
              <a:buFont typeface="Arial" pitchFamily="34" charset="0"/>
              <a:buChar char="•"/>
            </a:pPr>
            <a:r>
              <a:rPr lang="fr-FR" sz="2400" b="0" dirty="0">
                <a:solidFill>
                  <a:srgbClr val="000000"/>
                </a:solidFill>
                <a:latin typeface="Segoe UI" pitchFamily="34" charset="0"/>
                <a:ea typeface="Segoe UI" pitchFamily="34" charset="0"/>
                <a:cs typeface="Segoe UI" pitchFamily="34" charset="0"/>
              </a:rPr>
              <a:t>Le domaine est le contexte dans lequel les comptes utilisateur, les comptes ordinateur et les groupes sont créés.</a:t>
            </a:r>
          </a:p>
          <a:p>
            <a:pPr marL="180000" indent="-180000">
              <a:spcAft>
                <a:spcPts val="300"/>
              </a:spcAft>
              <a:buClr>
                <a:srgbClr val="0070C0"/>
              </a:buClr>
              <a:buSzPct val="120000"/>
              <a:buFont typeface="Arial" pitchFamily="34" charset="0"/>
              <a:buChar char="•"/>
            </a:pPr>
            <a:r>
              <a:rPr lang="fr-FR" sz="2400" b="0" dirty="0" smtClean="0">
                <a:solidFill>
                  <a:srgbClr val="000000"/>
                </a:solidFill>
                <a:latin typeface="Segoe UI" pitchFamily="34" charset="0"/>
                <a:ea typeface="Segoe UI" pitchFamily="34" charset="0"/>
                <a:cs typeface="Segoe UI" pitchFamily="34" charset="0"/>
              </a:rPr>
              <a:t>Le domaine est une frontière à la réplication.</a:t>
            </a:r>
          </a:p>
          <a:p>
            <a:pPr marL="180000" indent="-180000">
              <a:spcAft>
                <a:spcPts val="300"/>
              </a:spcAft>
              <a:buClr>
                <a:srgbClr val="0070C0"/>
              </a:buClr>
              <a:buSzPct val="120000"/>
              <a:buFont typeface="Arial" pitchFamily="34" charset="0"/>
              <a:buChar char="•"/>
            </a:pPr>
            <a:r>
              <a:rPr lang="fr-FR" sz="2400" b="0" dirty="0" smtClean="0">
                <a:solidFill>
                  <a:srgbClr val="000000"/>
                </a:solidFill>
                <a:latin typeface="Segoe UI" pitchFamily="34" charset="0"/>
                <a:ea typeface="Segoe UI" pitchFamily="34" charset="0"/>
                <a:cs typeface="Segoe UI" pitchFamily="34" charset="0"/>
              </a:rPr>
              <a:t>Le </a:t>
            </a:r>
            <a:r>
              <a:rPr lang="fr-FR" sz="2400" b="0" dirty="0">
                <a:solidFill>
                  <a:srgbClr val="000000"/>
                </a:solidFill>
                <a:latin typeface="Segoe UI" pitchFamily="34" charset="0"/>
                <a:ea typeface="Segoe UI" pitchFamily="34" charset="0"/>
                <a:cs typeface="Segoe UI" pitchFamily="34" charset="0"/>
              </a:rPr>
              <a:t>domaine est un centre administratif pour la configuration et la gestion des </a:t>
            </a:r>
            <a:r>
              <a:rPr lang="fr-FR" sz="2400" b="0" dirty="0" smtClean="0">
                <a:solidFill>
                  <a:srgbClr val="000000"/>
                </a:solidFill>
                <a:latin typeface="Segoe UI" pitchFamily="34" charset="0"/>
                <a:ea typeface="Segoe UI" pitchFamily="34" charset="0"/>
                <a:cs typeface="Segoe UI" pitchFamily="34" charset="0"/>
              </a:rPr>
              <a:t>objets.</a:t>
            </a:r>
          </a:p>
        </p:txBody>
      </p:sp>
      <p:grpSp>
        <p:nvGrpSpPr>
          <p:cNvPr id="5" name="alt text here  diagram of AD DS" descr="A simple diagram of an AD DS domain (represented by a triangle) which contains users, computers, and groups."/>
          <p:cNvGrpSpPr/>
          <p:nvPr/>
        </p:nvGrpSpPr>
        <p:grpSpPr>
          <a:xfrm>
            <a:off x="5364088" y="2420888"/>
            <a:ext cx="3422982" cy="3323944"/>
            <a:chOff x="5318605" y="2548745"/>
            <a:chExt cx="3422982" cy="3323944"/>
          </a:xfrm>
        </p:grpSpPr>
        <p:sp>
          <p:nvSpPr>
            <p:cNvPr id="6" name="triangle"/>
            <p:cNvSpPr>
              <a:spLocks noChangeAspect="1"/>
            </p:cNvSpPr>
            <p:nvPr/>
          </p:nvSpPr>
          <p:spPr>
            <a:xfrm>
              <a:off x="5318605" y="2548745"/>
              <a:ext cx="3422982" cy="2849531"/>
            </a:xfrm>
            <a:prstGeom prst="triangle">
              <a:avLst/>
            </a:prstGeom>
            <a:noFill/>
            <a:ln>
              <a:solidFill>
                <a:srgbClr val="569A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sp>
          <p:nvSpPr>
            <p:cNvPr id="7" name="&quot;AD DS"/>
            <p:cNvSpPr>
              <a:spLocks noChangeArrowheads="1"/>
            </p:cNvSpPr>
            <p:nvPr/>
          </p:nvSpPr>
          <p:spPr bwMode="auto">
            <a:xfrm>
              <a:off x="7376637" y="3973510"/>
              <a:ext cx="1056840" cy="362366"/>
            </a:xfrm>
            <a:prstGeom prst="roundRect">
              <a:avLst>
                <a:gd name="adj" fmla="val 5798"/>
              </a:avLst>
            </a:prstGeom>
            <a:solidFill>
              <a:schemeClr val="lt1"/>
            </a:solid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fontAlgn="base">
                <a:spcBef>
                  <a:spcPct val="0"/>
                </a:spcBef>
                <a:spcAft>
                  <a:spcPts val="600"/>
                </a:spcAft>
                <a:buClr>
                  <a:srgbClr val="0070C0"/>
                </a:buClr>
                <a:buSzPct val="120000"/>
              </a:pPr>
              <a:r>
                <a:rPr lang="en-US" sz="2400" b="0" dirty="0" smtClean="0">
                  <a:solidFill>
                    <a:srgbClr val="000000"/>
                  </a:solidFill>
                  <a:latin typeface="Segoe UI" pitchFamily="34" charset="0"/>
                  <a:ea typeface="Segoe UI" pitchFamily="34" charset="0"/>
                  <a:cs typeface="Segoe UI" pitchFamily="34" charset="0"/>
                </a:rPr>
                <a:t>AD DS</a:t>
              </a:r>
              <a:endParaRPr lang="en-US" sz="24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p:txBody>
        </p:sp>
        <p:grpSp>
          <p:nvGrpSpPr>
            <p:cNvPr id="8" name="computers"/>
            <p:cNvGrpSpPr/>
            <p:nvPr/>
          </p:nvGrpSpPr>
          <p:grpSpPr>
            <a:xfrm>
              <a:off x="5537882" y="4545870"/>
              <a:ext cx="1389288" cy="1326819"/>
              <a:chOff x="7662969" y="4596840"/>
              <a:chExt cx="1389288" cy="1326819"/>
            </a:xfrm>
          </p:grpSpPr>
          <p:sp>
            <p:nvSpPr>
              <p:cNvPr id="17" name="&quot;Computers"/>
              <p:cNvSpPr>
                <a:spLocks noChangeArrowheads="1"/>
              </p:cNvSpPr>
              <p:nvPr/>
            </p:nvSpPr>
            <p:spPr bwMode="auto">
              <a:xfrm>
                <a:off x="7662969" y="5561293"/>
                <a:ext cx="1389288" cy="362366"/>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fontAlgn="base">
                  <a:spcBef>
                    <a:spcPct val="0"/>
                  </a:spcBef>
                  <a:spcAft>
                    <a:spcPts val="600"/>
                  </a:spcAft>
                  <a:buClr>
                    <a:srgbClr val="0070C0"/>
                  </a:buClr>
                  <a:buSzPct val="120000"/>
                </a:pPr>
                <a:r>
                  <a:rPr lang="en-US" sz="2000" b="0" dirty="0" smtClean="0">
                    <a:solidFill>
                      <a:srgbClr val="000000"/>
                    </a:solidFill>
                    <a:latin typeface="Segoe UI" pitchFamily="34" charset="0"/>
                    <a:ea typeface="Segoe UI" pitchFamily="34" charset="0"/>
                    <a:cs typeface="Segoe UI" pitchFamily="34" charset="0"/>
                  </a:rPr>
                  <a:t>Computers</a:t>
                </a:r>
                <a:endParaRPr lang="en-US" sz="2000" b="0" dirty="0">
                  <a:solidFill>
                    <a:srgbClr val="000000"/>
                  </a:solidFill>
                  <a:latin typeface="Segoe UI" pitchFamily="34" charset="0"/>
                  <a:ea typeface="Segoe UI" pitchFamily="34" charset="0"/>
                  <a:cs typeface="Segoe UI" pitchFamily="34" charset="0"/>
                </a:endParaRPr>
              </a:p>
            </p:txBody>
          </p:sp>
          <p:pic>
            <p:nvPicPr>
              <p:cNvPr id="18" name="serve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1461" y="4626008"/>
                <a:ext cx="528210" cy="923459"/>
              </a:xfrm>
              <a:prstGeom prst="rect">
                <a:avLst/>
              </a:prstGeom>
            </p:spPr>
          </p:pic>
          <p:pic>
            <p:nvPicPr>
              <p:cNvPr id="19" name="folder w document"/>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76843" y="4596840"/>
                <a:ext cx="409622" cy="543989"/>
              </a:xfrm>
              <a:prstGeom prst="rect">
                <a:avLst/>
              </a:prstGeom>
            </p:spPr>
          </p:pic>
          <p:pic>
            <p:nvPicPr>
              <p:cNvPr id="20" name="lock"/>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32309" y="4961839"/>
                <a:ext cx="441154" cy="591399"/>
              </a:xfrm>
              <a:prstGeom prst="rect">
                <a:avLst/>
              </a:prstGeom>
            </p:spPr>
          </p:pic>
        </p:grpSp>
        <p:grpSp>
          <p:nvGrpSpPr>
            <p:cNvPr id="9" name="users"/>
            <p:cNvGrpSpPr/>
            <p:nvPr/>
          </p:nvGrpSpPr>
          <p:grpSpPr>
            <a:xfrm>
              <a:off x="6596357" y="2718311"/>
              <a:ext cx="920159" cy="1255199"/>
              <a:chOff x="5368956" y="4601713"/>
              <a:chExt cx="920159" cy="1255199"/>
            </a:xfrm>
          </p:grpSpPr>
          <p:sp>
            <p:nvSpPr>
              <p:cNvPr id="14" name="&quot;Users"/>
              <p:cNvSpPr>
                <a:spLocks noChangeArrowheads="1"/>
              </p:cNvSpPr>
              <p:nvPr/>
            </p:nvSpPr>
            <p:spPr bwMode="auto">
              <a:xfrm>
                <a:off x="5368956" y="5494546"/>
                <a:ext cx="661627" cy="362366"/>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fontAlgn="base">
                  <a:spcBef>
                    <a:spcPct val="0"/>
                  </a:spcBef>
                  <a:spcAft>
                    <a:spcPts val="600"/>
                  </a:spcAft>
                  <a:buClr>
                    <a:srgbClr val="0070C0"/>
                  </a:buClr>
                  <a:buSzPct val="120000"/>
                </a:pPr>
                <a:r>
                  <a:rPr lang="en-US" sz="2000" b="0" dirty="0" smtClean="0">
                    <a:solidFill>
                      <a:srgbClr val="000000"/>
                    </a:solidFill>
                    <a:latin typeface="Segoe UI" pitchFamily="34" charset="0"/>
                    <a:ea typeface="Segoe UI" pitchFamily="34" charset="0"/>
                    <a:cs typeface="Segoe UI" pitchFamily="34" charset="0"/>
                  </a:rPr>
                  <a:t>Users</a:t>
                </a:r>
                <a:endParaRPr lang="en-US" sz="2000" b="0" dirty="0">
                  <a:solidFill>
                    <a:srgbClr val="000000"/>
                  </a:solidFill>
                  <a:latin typeface="Segoe UI" pitchFamily="34" charset="0"/>
                  <a:ea typeface="Segoe UI" pitchFamily="34" charset="0"/>
                  <a:cs typeface="Segoe UI" pitchFamily="34" charset="0"/>
                </a:endParaRPr>
              </a:p>
            </p:txBody>
          </p:sp>
          <p:pic>
            <p:nvPicPr>
              <p:cNvPr id="15" name="work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49474" y="4601713"/>
                <a:ext cx="681396" cy="769246"/>
              </a:xfrm>
              <a:prstGeom prst="rect">
                <a:avLst/>
              </a:prstGeom>
            </p:spPr>
          </p:pic>
          <p:pic>
            <p:nvPicPr>
              <p:cNvPr id="16" name="use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72052" y="4768271"/>
                <a:ext cx="517063" cy="816956"/>
              </a:xfrm>
              <a:prstGeom prst="rect">
                <a:avLst/>
              </a:prstGeom>
            </p:spPr>
          </p:pic>
        </p:grpSp>
        <p:grpSp>
          <p:nvGrpSpPr>
            <p:cNvPr id="10" name="groups"/>
            <p:cNvGrpSpPr/>
            <p:nvPr/>
          </p:nvGrpSpPr>
          <p:grpSpPr>
            <a:xfrm>
              <a:off x="7376637" y="4575038"/>
              <a:ext cx="1117188" cy="1297651"/>
              <a:chOff x="6857913" y="2113829"/>
              <a:chExt cx="1117188" cy="1297651"/>
            </a:xfrm>
          </p:grpSpPr>
          <p:sp>
            <p:nvSpPr>
              <p:cNvPr id="11" name="&quot;Gropus"/>
              <p:cNvSpPr>
                <a:spLocks noChangeArrowheads="1"/>
              </p:cNvSpPr>
              <p:nvPr/>
            </p:nvSpPr>
            <p:spPr bwMode="auto">
              <a:xfrm>
                <a:off x="7097479" y="3049114"/>
                <a:ext cx="877622" cy="362366"/>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fontAlgn="base">
                  <a:spcBef>
                    <a:spcPct val="0"/>
                  </a:spcBef>
                  <a:spcAft>
                    <a:spcPts val="600"/>
                  </a:spcAft>
                  <a:buClr>
                    <a:srgbClr val="0070C0"/>
                  </a:buClr>
                  <a:buSzPct val="120000"/>
                </a:pPr>
                <a:r>
                  <a:rPr lang="en-US" sz="2000" b="0" dirty="0" smtClean="0">
                    <a:solidFill>
                      <a:srgbClr val="000000"/>
                    </a:solidFill>
                    <a:latin typeface="Segoe UI" pitchFamily="34" charset="0"/>
                    <a:ea typeface="Segoe UI" pitchFamily="34" charset="0"/>
                    <a:cs typeface="Segoe UI" pitchFamily="34" charset="0"/>
                  </a:rPr>
                  <a:t>Groups</a:t>
                </a: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p:txBody>
          </p:sp>
          <p:pic>
            <p:nvPicPr>
              <p:cNvPr id="12" name="gropus"/>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3594" y="2113829"/>
                <a:ext cx="542797" cy="720000"/>
              </a:xfrm>
              <a:prstGeom prst="rect">
                <a:avLst/>
              </a:prstGeom>
            </p:spPr>
          </p:pic>
          <p:pic>
            <p:nvPicPr>
              <p:cNvPr id="13" name="groups"/>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57913" y="2393771"/>
                <a:ext cx="542797" cy="720000"/>
              </a:xfrm>
              <a:prstGeom prst="rect">
                <a:avLst/>
              </a:prstGeom>
            </p:spPr>
          </p:pic>
        </p:grpSp>
      </p:grpSp>
      <p:sp>
        <p:nvSpPr>
          <p:cNvPr id="21" name="top bullets"/>
          <p:cNvSpPr>
            <a:spLocks noChangeArrowheads="1"/>
          </p:cNvSpPr>
          <p:nvPr/>
        </p:nvSpPr>
        <p:spPr bwMode="auto">
          <a:xfrm>
            <a:off x="327022" y="825303"/>
            <a:ext cx="8709474" cy="1888295"/>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80000" indent="-180000" fontAlgn="base">
              <a:spcBef>
                <a:spcPct val="0"/>
              </a:spcBef>
              <a:spcAft>
                <a:spcPts val="300"/>
              </a:spcAft>
              <a:buClr>
                <a:srgbClr val="0070C0"/>
              </a:buClr>
              <a:buSzPct val="120000"/>
              <a:buFont typeface="Arial" pitchFamily="34" charset="0"/>
              <a:buChar char="•"/>
            </a:pPr>
            <a:r>
              <a:rPr lang="fr-FR" sz="2400" b="0" dirty="0" smtClean="0">
                <a:solidFill>
                  <a:srgbClr val="000000"/>
                </a:solidFill>
                <a:latin typeface="Segoe UI" pitchFamily="34" charset="0"/>
                <a:ea typeface="Segoe UI" pitchFamily="34" charset="0"/>
                <a:cs typeface="Segoe UI" pitchFamily="34" charset="0"/>
              </a:rPr>
              <a:t>AD DS requiert un ou plusieurs contrôleurs de domaine</a:t>
            </a:r>
          </a:p>
          <a:p>
            <a:pPr marL="180000" indent="-180000">
              <a:spcAft>
                <a:spcPts val="300"/>
              </a:spcAft>
              <a:buClr>
                <a:srgbClr val="0070C0"/>
              </a:buClr>
              <a:buSzPct val="120000"/>
              <a:buFont typeface="Arial" pitchFamily="34" charset="0"/>
              <a:buChar char="•"/>
            </a:pPr>
            <a:r>
              <a:rPr lang="fr-FR" sz="2400" b="0" dirty="0" smtClean="0">
                <a:solidFill>
                  <a:srgbClr val="000000"/>
                </a:solidFill>
                <a:latin typeface="Segoe UI" pitchFamily="34" charset="0"/>
                <a:ea typeface="Segoe UI" pitchFamily="34" charset="0"/>
                <a:cs typeface="Segoe UI" pitchFamily="34" charset="0"/>
              </a:rPr>
              <a:t>Tous </a:t>
            </a:r>
            <a:r>
              <a:rPr lang="fr-FR" sz="2400" b="0" dirty="0">
                <a:solidFill>
                  <a:srgbClr val="000000"/>
                </a:solidFill>
                <a:latin typeface="Segoe UI" pitchFamily="34" charset="0"/>
                <a:ea typeface="Segoe UI" pitchFamily="34" charset="0"/>
                <a:cs typeface="Segoe UI" pitchFamily="34" charset="0"/>
              </a:rPr>
              <a:t>les contrôleurs de domaine contiennent une copie de la base de </a:t>
            </a:r>
            <a:r>
              <a:rPr lang="fr-FR" sz="2400" b="0" dirty="0" smtClean="0">
                <a:solidFill>
                  <a:srgbClr val="000000"/>
                </a:solidFill>
                <a:latin typeface="Segoe UI" pitchFamily="34" charset="0"/>
                <a:ea typeface="Segoe UI" pitchFamily="34" charset="0"/>
                <a:cs typeface="Segoe UI" pitchFamily="34" charset="0"/>
              </a:rPr>
              <a:t>données, </a:t>
            </a:r>
            <a:r>
              <a:rPr lang="fr-FR" sz="2400" b="0" dirty="0">
                <a:solidFill>
                  <a:srgbClr val="000000"/>
                </a:solidFill>
                <a:latin typeface="Segoe UI" pitchFamily="34" charset="0"/>
                <a:ea typeface="Segoe UI" pitchFamily="34" charset="0"/>
                <a:cs typeface="Segoe UI" pitchFamily="34" charset="0"/>
              </a:rPr>
              <a:t>qui est continuellement </a:t>
            </a:r>
            <a:r>
              <a:rPr lang="fr-FR" sz="2400" b="0" dirty="0" smtClean="0">
                <a:solidFill>
                  <a:srgbClr val="000000"/>
                </a:solidFill>
                <a:latin typeface="Segoe UI" pitchFamily="34" charset="0"/>
                <a:ea typeface="Segoe UI" pitchFamily="34" charset="0"/>
                <a:cs typeface="Segoe UI" pitchFamily="34" charset="0"/>
              </a:rPr>
              <a:t>synchronisée.</a:t>
            </a:r>
          </a:p>
          <a:p>
            <a:pPr marL="285750" indent="-285750" fontAlgn="base">
              <a:spcBef>
                <a:spcPct val="0"/>
              </a:spcBef>
              <a:spcAft>
                <a:spcPts val="600"/>
              </a:spcAft>
              <a:buClr>
                <a:srgbClr val="0070C0"/>
              </a:buClr>
              <a:buSzPct val="120000"/>
              <a:buFont typeface="Arial" pitchFamily="34" charset="0"/>
              <a:buChar char="•"/>
            </a:pPr>
            <a:endParaRPr lang="fr-FR" sz="2400" b="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53970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La notion d’arbre</a:t>
            </a:r>
            <a:endParaRPr lang="fr-FR" dirty="0"/>
          </a:p>
        </p:txBody>
      </p:sp>
      <p:sp>
        <p:nvSpPr>
          <p:cNvPr id="5" name="AutoShape 29"/>
          <p:cNvSpPr>
            <a:spLocks noChangeArrowheads="1"/>
          </p:cNvSpPr>
          <p:nvPr/>
        </p:nvSpPr>
        <p:spPr bwMode="auto">
          <a:xfrm>
            <a:off x="327600" y="764704"/>
            <a:ext cx="8399416" cy="5904656"/>
          </a:xfrm>
          <a:prstGeom prst="roundRect">
            <a:avLst>
              <a:gd name="adj" fmla="val 8718"/>
            </a:avLst>
          </a:prstGeom>
          <a:noFill/>
          <a:ln w="9525" algn="ctr">
            <a:noFill/>
            <a:round/>
            <a:headEnd/>
            <a:tailEnd/>
          </a:ln>
          <a:effectLst/>
        </p:spPr>
        <p:txBody>
          <a:bodyPr wrap="square" lIns="0" tIns="0" rIns="0" bIns="0" anchor="t" anchorCtr="0">
            <a:no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lang="fr-FR" sz="2400" b="0" dirty="0" smtClean="0">
                <a:latin typeface="Segoe UI" pitchFamily="34" charset="0"/>
                <a:ea typeface="Segoe UI" pitchFamily="34" charset="0"/>
                <a:cs typeface="Segoe UI" pitchFamily="34" charset="0"/>
              </a:rPr>
              <a:t>Lorsqu’un domaine principal contient plusieurs sous-domaines partageant </a:t>
            </a:r>
            <a:r>
              <a:rPr lang="fr-FR" sz="2400" dirty="0" smtClean="0">
                <a:latin typeface="Segoe UI" pitchFamily="34" charset="0"/>
                <a:ea typeface="Segoe UI" pitchFamily="34" charset="0"/>
                <a:cs typeface="Segoe UI" pitchFamily="34" charset="0"/>
              </a:rPr>
              <a:t>un espace de nom contigu</a:t>
            </a:r>
            <a:r>
              <a:rPr lang="fr-FR" sz="2400" b="0" dirty="0" smtClean="0">
                <a:latin typeface="Segoe UI" pitchFamily="34" charset="0"/>
                <a:ea typeface="Segoe UI" pitchFamily="34" charset="0"/>
                <a:cs typeface="Segoe UI" pitchFamily="34" charset="0"/>
              </a:rPr>
              <a:t>, on parle alors d’arbre. Chaque sous-domaine au domaine racine (</a:t>
            </a:r>
            <a:r>
              <a:rPr lang="fr-FR" sz="2400" b="0" dirty="0" err="1" smtClean="0">
                <a:latin typeface="Segoe UI" pitchFamily="34" charset="0"/>
                <a:ea typeface="Segoe UI" pitchFamily="34" charset="0"/>
                <a:cs typeface="Segoe UI" pitchFamily="34" charset="0"/>
              </a:rPr>
              <a:t>it-connect.local</a:t>
            </a:r>
            <a:r>
              <a:rPr lang="fr-FR" sz="2400" b="0" dirty="0" smtClean="0">
                <a:latin typeface="Segoe UI" pitchFamily="34" charset="0"/>
                <a:ea typeface="Segoe UI" pitchFamily="34" charset="0"/>
                <a:cs typeface="Segoe UI" pitchFamily="34" charset="0"/>
              </a:rPr>
              <a:t>) représente une branche de l’arbre.</a:t>
            </a:r>
            <a:endParaRPr lang="fr-FR" sz="2400" b="0" dirty="0">
              <a:latin typeface="Segoe UI" pitchFamily="34" charset="0"/>
              <a:ea typeface="Segoe UI" pitchFamily="34" charset="0"/>
              <a:cs typeface="Segoe UI" pitchFamily="34" charset="0"/>
            </a:endParaRPr>
          </a:p>
        </p:txBody>
      </p:sp>
      <p:pic>
        <p:nvPicPr>
          <p:cNvPr id="7" name="Image 6"/>
          <p:cNvPicPr>
            <a:picLocks noChangeAspect="1"/>
          </p:cNvPicPr>
          <p:nvPr/>
        </p:nvPicPr>
        <p:blipFill>
          <a:blip r:embed="rId3"/>
          <a:stretch>
            <a:fillRect/>
          </a:stretch>
        </p:blipFill>
        <p:spPr>
          <a:xfrm>
            <a:off x="1933574" y="2622624"/>
            <a:ext cx="5590753" cy="4046736"/>
          </a:xfrm>
          <a:prstGeom prst="rect">
            <a:avLst/>
          </a:prstGeom>
        </p:spPr>
      </p:pic>
    </p:spTree>
    <p:extLst>
      <p:ext uri="{BB962C8B-B14F-4D97-AF65-F5344CB8AC3E}">
        <p14:creationId xmlns:p14="http://schemas.microsoft.com/office/powerpoint/2010/main" val="776176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La notion de forêt</a:t>
            </a:r>
            <a:endParaRPr lang="fr-FR" dirty="0"/>
          </a:p>
        </p:txBody>
      </p:sp>
      <p:sp>
        <p:nvSpPr>
          <p:cNvPr id="5" name="AutoShape 29"/>
          <p:cNvSpPr>
            <a:spLocks noChangeArrowheads="1"/>
          </p:cNvSpPr>
          <p:nvPr/>
        </p:nvSpPr>
        <p:spPr bwMode="auto">
          <a:xfrm>
            <a:off x="327600" y="764704"/>
            <a:ext cx="8399416" cy="5904656"/>
          </a:xfrm>
          <a:prstGeom prst="roundRect">
            <a:avLst>
              <a:gd name="adj" fmla="val 8718"/>
            </a:avLst>
          </a:prstGeom>
          <a:noFill/>
          <a:ln w="9525" algn="ctr">
            <a:noFill/>
            <a:round/>
            <a:headEnd/>
            <a:tailEnd/>
          </a:ln>
          <a:effectLst/>
        </p:spPr>
        <p:txBody>
          <a:bodyPr wrap="square" lIns="0" tIns="0" rIns="0" bIns="0" anchor="t" anchorCtr="0">
            <a:no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lang="fr-FR" sz="2400" b="0" dirty="0">
                <a:latin typeface="Segoe UI" pitchFamily="34" charset="0"/>
                <a:ea typeface="Segoe UI" pitchFamily="34" charset="0"/>
                <a:cs typeface="Segoe UI" pitchFamily="34" charset="0"/>
              </a:rPr>
              <a:t>U</a:t>
            </a:r>
            <a:r>
              <a:rPr lang="fr-FR" sz="2400" b="0" dirty="0" smtClean="0">
                <a:latin typeface="Segoe UI" pitchFamily="34" charset="0"/>
                <a:ea typeface="Segoe UI" pitchFamily="34" charset="0"/>
                <a:cs typeface="Segoe UI" pitchFamily="34" charset="0"/>
              </a:rPr>
              <a:t>ne </a:t>
            </a:r>
            <a:r>
              <a:rPr lang="fr-FR" sz="2400" b="0" dirty="0">
                <a:latin typeface="Segoe UI" pitchFamily="34" charset="0"/>
                <a:ea typeface="Segoe UI" pitchFamily="34" charset="0"/>
                <a:cs typeface="Segoe UI" pitchFamily="34" charset="0"/>
              </a:rPr>
              <a:t>forêt est un regroupement d’une ou plusieurs arborescences de domaine, autrement dit d’un ou plusieurs </a:t>
            </a:r>
            <a:r>
              <a:rPr lang="fr-FR" sz="2400" b="0" dirty="0" smtClean="0">
                <a:latin typeface="Segoe UI" pitchFamily="34" charset="0"/>
                <a:ea typeface="Segoe UI" pitchFamily="34" charset="0"/>
                <a:cs typeface="Segoe UI" pitchFamily="34" charset="0"/>
              </a:rPr>
              <a:t>arbres.</a:t>
            </a:r>
            <a:endParaRPr lang="fr-FR" sz="2400" b="0" dirty="0">
              <a:latin typeface="Segoe UI" pitchFamily="34" charset="0"/>
              <a:ea typeface="Segoe UI" pitchFamily="34" charset="0"/>
              <a:cs typeface="Segoe UI" pitchFamily="34" charset="0"/>
            </a:endParaRPr>
          </a:p>
        </p:txBody>
      </p:sp>
      <p:pic>
        <p:nvPicPr>
          <p:cNvPr id="4" name="Image 3"/>
          <p:cNvPicPr>
            <a:picLocks noChangeAspect="1"/>
          </p:cNvPicPr>
          <p:nvPr/>
        </p:nvPicPr>
        <p:blipFill>
          <a:blip r:embed="rId3"/>
          <a:stretch>
            <a:fillRect/>
          </a:stretch>
        </p:blipFill>
        <p:spPr>
          <a:xfrm>
            <a:off x="755576" y="2276872"/>
            <a:ext cx="7633287" cy="4104456"/>
          </a:xfrm>
          <a:prstGeom prst="rect">
            <a:avLst/>
          </a:prstGeom>
        </p:spPr>
      </p:pic>
    </p:spTree>
    <p:extLst>
      <p:ext uri="{BB962C8B-B14F-4D97-AF65-F5344CB8AC3E}">
        <p14:creationId xmlns:p14="http://schemas.microsoft.com/office/powerpoint/2010/main" val="271250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832d31d-07bb-4ba1-bbd0-83dea35c6d0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La notion d’unité organisationnelle (OU)</a:t>
            </a:r>
            <a:endParaRPr lang="fr-FR" dirty="0"/>
          </a:p>
        </p:txBody>
      </p:sp>
      <p:sp>
        <p:nvSpPr>
          <p:cNvPr id="4" name="Rounded Rectangle 3"/>
          <p:cNvSpPr>
            <a:spLocks noChangeArrowheads="1"/>
          </p:cNvSpPr>
          <p:nvPr/>
        </p:nvSpPr>
        <p:spPr bwMode="auto">
          <a:xfrm>
            <a:off x="301133" y="828529"/>
            <a:ext cx="3982835" cy="3542404"/>
          </a:xfrm>
          <a:prstGeom prst="roundRect">
            <a:avLst>
              <a:gd name="adj" fmla="val 6533"/>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80000" indent="-180000">
              <a:lnSpc>
                <a:spcPct val="90000"/>
              </a:lnSpc>
              <a:spcBef>
                <a:spcPts val="600"/>
              </a:spcBef>
              <a:buClr>
                <a:srgbClr val="006699"/>
              </a:buClr>
              <a:buFontTx/>
              <a:buChar char="•"/>
            </a:pPr>
            <a:r>
              <a:rPr lang="fr-FR" sz="2400" b="0" dirty="0" smtClean="0">
                <a:latin typeface="Segoe UI" pitchFamily="34" charset="0"/>
                <a:ea typeface="Segoe UI" pitchFamily="34" charset="0"/>
                <a:cs typeface="Segoe UI" pitchFamily="34" charset="0"/>
              </a:rPr>
              <a:t>Conteneurs pouvant être utilisés pour grouper des objets dans un domaine.</a:t>
            </a:r>
          </a:p>
          <a:p>
            <a:pPr marL="180000" indent="-180000">
              <a:lnSpc>
                <a:spcPct val="90000"/>
              </a:lnSpc>
              <a:spcBef>
                <a:spcPct val="40000"/>
              </a:spcBef>
              <a:buClr>
                <a:srgbClr val="006699"/>
              </a:buClr>
              <a:buFontTx/>
              <a:buChar char="•"/>
            </a:pPr>
            <a:r>
              <a:rPr lang="fr-FR" sz="2400" b="0" dirty="0" smtClean="0">
                <a:latin typeface="Segoe UI" pitchFamily="34" charset="0"/>
                <a:ea typeface="Segoe UI" pitchFamily="34" charset="0"/>
                <a:cs typeface="Segoe UI" pitchFamily="34" charset="0"/>
              </a:rPr>
              <a:t>On crée des OU pour :</a:t>
            </a:r>
          </a:p>
          <a:p>
            <a:pPr marL="468000" lvl="1" indent="-180000">
              <a:lnSpc>
                <a:spcPct val="90000"/>
              </a:lnSpc>
              <a:spcBef>
                <a:spcPts val="600"/>
              </a:spcBef>
              <a:buClr>
                <a:srgbClr val="006699"/>
              </a:buClr>
              <a:buFontTx/>
              <a:buChar char="•"/>
            </a:pPr>
            <a:r>
              <a:rPr lang="fr-FR" sz="2200" b="0" dirty="0" smtClean="0">
                <a:latin typeface="Segoe UI" pitchFamily="34" charset="0"/>
                <a:ea typeface="Segoe UI" pitchFamily="34" charset="0"/>
                <a:cs typeface="Segoe UI" pitchFamily="34" charset="0"/>
              </a:rPr>
              <a:t>Assigner une police de groupe (GPO) à un groupe d’objets.</a:t>
            </a:r>
          </a:p>
          <a:p>
            <a:pPr marL="468000" lvl="1" indent="-180000">
              <a:lnSpc>
                <a:spcPct val="90000"/>
              </a:lnSpc>
              <a:spcBef>
                <a:spcPts val="600"/>
              </a:spcBef>
              <a:buClr>
                <a:srgbClr val="006699"/>
              </a:buClr>
              <a:buFontTx/>
              <a:buChar char="•"/>
            </a:pPr>
            <a:r>
              <a:rPr lang="fr-FR" sz="2200" b="0" dirty="0" smtClean="0">
                <a:latin typeface="Segoe UI" pitchFamily="34" charset="0"/>
                <a:ea typeface="Segoe UI" pitchFamily="34" charset="0"/>
                <a:cs typeface="Segoe UI" pitchFamily="34" charset="0"/>
              </a:rPr>
              <a:t>Déléguer des permissions administratives.</a:t>
            </a:r>
            <a:endParaRPr lang="fr-FR" sz="2200" b="0" dirty="0">
              <a:latin typeface="Segoe UI" pitchFamily="34" charset="0"/>
              <a:ea typeface="Segoe UI" pitchFamily="34" charset="0"/>
              <a:cs typeface="Segoe UI" pitchFamily="34" charset="0"/>
            </a:endParaRPr>
          </a:p>
        </p:txBody>
      </p:sp>
      <p:grpSp>
        <p:nvGrpSpPr>
          <p:cNvPr id="5" name="alt text Group 14" descr="Screen shot of a possible OU structure with several levels of OUs. The structure has both OUs and containers. OUs are represented by a folder with a book on it, and containers are represented by a blank folder."/>
          <p:cNvGrpSpPr/>
          <p:nvPr/>
        </p:nvGrpSpPr>
        <p:grpSpPr>
          <a:xfrm>
            <a:off x="5392563" y="784050"/>
            <a:ext cx="3085231" cy="5512245"/>
            <a:chOff x="5396216" y="825375"/>
            <a:chExt cx="3424256" cy="5902596"/>
          </a:xfrm>
        </p:grpSpPr>
        <p:pic>
          <p:nvPicPr>
            <p:cNvPr id="6"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t="72874" b="18382"/>
            <a:stretch/>
          </p:blipFill>
          <p:spPr bwMode="auto">
            <a:xfrm>
              <a:off x="5396216" y="4666264"/>
              <a:ext cx="3424256" cy="891504"/>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b="81630"/>
            <a:stretch/>
          </p:blipFill>
          <p:spPr bwMode="auto">
            <a:xfrm>
              <a:off x="5396216" y="825375"/>
              <a:ext cx="3424256" cy="1872967"/>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pic>
          <p:nvPicPr>
            <p:cNvPr id="8"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t="48222" b="36312"/>
            <a:stretch/>
          </p:blipFill>
          <p:spPr bwMode="auto">
            <a:xfrm>
              <a:off x="5396216" y="3089455"/>
              <a:ext cx="3424256" cy="1576809"/>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pic>
          <p:nvPicPr>
            <p:cNvPr id="9"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t="38956" b="57435"/>
            <a:stretch/>
          </p:blipFill>
          <p:spPr bwMode="auto">
            <a:xfrm>
              <a:off x="5396216" y="2721521"/>
              <a:ext cx="3424256" cy="367935"/>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pic>
          <p:nvPicPr>
            <p:cNvPr id="10" name="Picture 9"/>
            <p:cNvPicPr>
              <a:picLocks noChangeAspect="1" noChangeArrowheads="1"/>
            </p:cNvPicPr>
            <p:nvPr/>
          </p:nvPicPr>
          <p:blipFill rotWithShape="1">
            <a:blip r:embed="rId3">
              <a:extLst>
                <a:ext uri="{28A0092B-C50C-407E-A947-70E740481C1C}">
                  <a14:useLocalDpi xmlns:a14="http://schemas.microsoft.com/office/drawing/2010/main" val="0"/>
                </a:ext>
              </a:extLst>
            </a:blip>
            <a:srcRect t="87685" b="838"/>
            <a:stretch/>
          </p:blipFill>
          <p:spPr bwMode="auto">
            <a:xfrm>
              <a:off x="5396216" y="5557768"/>
              <a:ext cx="3424256" cy="1170203"/>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grpSp>
      <p:sp>
        <p:nvSpPr>
          <p:cNvPr id="11" name="TextBox 1"/>
          <p:cNvSpPr txBox="1"/>
          <p:nvPr/>
        </p:nvSpPr>
        <p:spPr>
          <a:xfrm>
            <a:off x="953492" y="4246109"/>
            <a:ext cx="3750734" cy="4247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r">
              <a:lnSpc>
                <a:spcPct val="90000"/>
              </a:lnSpc>
              <a:spcBef>
                <a:spcPct val="40000"/>
              </a:spcBef>
              <a:buClr>
                <a:srgbClr val="006699"/>
              </a:buClr>
            </a:pPr>
            <a:r>
              <a:rPr lang="en-US" sz="2400" b="0" dirty="0" smtClean="0">
                <a:latin typeface="Segoe UI" pitchFamily="34" charset="0"/>
                <a:ea typeface="Segoe UI" pitchFamily="34" charset="0"/>
                <a:cs typeface="Segoe UI" pitchFamily="34" charset="0"/>
              </a:rPr>
              <a:t>OU</a:t>
            </a:r>
          </a:p>
        </p:txBody>
      </p:sp>
      <p:sp>
        <p:nvSpPr>
          <p:cNvPr id="12" name="TextBox 9"/>
          <p:cNvSpPr txBox="1"/>
          <p:nvPr/>
        </p:nvSpPr>
        <p:spPr>
          <a:xfrm>
            <a:off x="716014" y="5408174"/>
            <a:ext cx="3848705" cy="424732"/>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r">
              <a:lnSpc>
                <a:spcPct val="90000"/>
              </a:lnSpc>
              <a:spcBef>
                <a:spcPct val="40000"/>
              </a:spcBef>
              <a:buClr>
                <a:srgbClr val="006699"/>
              </a:buClr>
            </a:pPr>
            <a:r>
              <a:rPr lang="en-US" sz="2400" b="0" dirty="0" err="1" smtClean="0">
                <a:latin typeface="Segoe UI" pitchFamily="34" charset="0"/>
                <a:ea typeface="Segoe UI" pitchFamily="34" charset="0"/>
                <a:cs typeface="Segoe UI" pitchFamily="34" charset="0"/>
              </a:rPr>
              <a:t>Conteneur</a:t>
            </a:r>
            <a:endParaRPr lang="en-CA" sz="2400" b="0" dirty="0">
              <a:latin typeface="Segoe UI" pitchFamily="34" charset="0"/>
              <a:ea typeface="Segoe UI" pitchFamily="34" charset="0"/>
              <a:cs typeface="Segoe UI" pitchFamily="34" charset="0"/>
            </a:endParaRPr>
          </a:p>
        </p:txBody>
      </p:sp>
      <p:cxnSp>
        <p:nvCxnSpPr>
          <p:cNvPr id="13" name="Straight Arrow Connector 12"/>
          <p:cNvCxnSpPr/>
          <p:nvPr/>
        </p:nvCxnSpPr>
        <p:spPr bwMode="auto">
          <a:xfrm flipV="1">
            <a:off x="4704226" y="3438146"/>
            <a:ext cx="1083926" cy="932789"/>
          </a:xfrm>
          <a:prstGeom prst="straightConnector1">
            <a:avLst/>
          </a:prstGeom>
          <a:gradFill rotWithShape="1">
            <a:gsLst>
              <a:gs pos="0">
                <a:srgbClr val="E4CD9A"/>
              </a:gs>
              <a:gs pos="100000">
                <a:srgbClr val="EEEFD7"/>
              </a:gs>
            </a:gsLst>
            <a:lin ang="2700000" scaled="1"/>
          </a:gradFill>
          <a:ln w="19050" cap="flat" cmpd="sng" algn="ctr">
            <a:solidFill>
              <a:srgbClr val="FF0000"/>
            </a:solidFill>
            <a:prstDash val="solid"/>
            <a:round/>
            <a:headEnd type="none" w="med" len="med"/>
            <a:tailEnd type="arrow"/>
          </a:ln>
          <a:effectLst/>
        </p:spPr>
      </p:cxnSp>
      <p:cxnSp>
        <p:nvCxnSpPr>
          <p:cNvPr id="14" name="Straight Arrow Connector 13"/>
          <p:cNvCxnSpPr/>
          <p:nvPr/>
        </p:nvCxnSpPr>
        <p:spPr bwMode="auto">
          <a:xfrm>
            <a:off x="4564719" y="5646057"/>
            <a:ext cx="1206015" cy="481868"/>
          </a:xfrm>
          <a:prstGeom prst="straightConnector1">
            <a:avLst/>
          </a:prstGeom>
          <a:gradFill rotWithShape="1">
            <a:gsLst>
              <a:gs pos="0">
                <a:srgbClr val="E4CD9A"/>
              </a:gs>
              <a:gs pos="100000">
                <a:srgbClr val="EEEFD7"/>
              </a:gs>
            </a:gsLst>
            <a:lin ang="2700000" scaled="1"/>
          </a:gradFill>
          <a:ln w="1905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186597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5818e18f-0a98-4179-9402-69fa22e691b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La notion de schéma</a:t>
            </a:r>
            <a:endParaRPr lang="fr-FR" dirty="0"/>
          </a:p>
        </p:txBody>
      </p:sp>
      <p:sp>
        <p:nvSpPr>
          <p:cNvPr id="5" name="Rounded Rectangle 4"/>
          <p:cNvSpPr>
            <a:spLocks noChangeArrowheads="1"/>
          </p:cNvSpPr>
          <p:nvPr/>
        </p:nvSpPr>
        <p:spPr bwMode="auto">
          <a:xfrm>
            <a:off x="356049" y="1037432"/>
            <a:ext cx="8353509" cy="433460"/>
          </a:xfrm>
          <a:prstGeom prst="roundRect">
            <a:avLst>
              <a:gd name="adj" fmla="val 6533"/>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spcBef>
                <a:spcPts val="600"/>
              </a:spcBef>
              <a:buClr>
                <a:srgbClr val="006699"/>
              </a:buClr>
            </a:pPr>
            <a:r>
              <a:rPr lang="fr-FR" sz="2400" b="0" dirty="0" smtClean="0">
                <a:latin typeface="Segoe UI" pitchFamily="34" charset="0"/>
                <a:ea typeface="Segoe UI" pitchFamily="34" charset="0"/>
                <a:cs typeface="Segoe UI" pitchFamily="34" charset="0"/>
              </a:rPr>
              <a:t>Le </a:t>
            </a:r>
            <a:r>
              <a:rPr lang="fr-FR" sz="2400" b="0" dirty="0">
                <a:latin typeface="Segoe UI" pitchFamily="34" charset="0"/>
                <a:ea typeface="Segoe UI" pitchFamily="34" charset="0"/>
                <a:cs typeface="Segoe UI" pitchFamily="34" charset="0"/>
              </a:rPr>
              <a:t>schéma contient la définition de toutes les classes et de tous les attributs disponibles et autorisés au sein de votre </a:t>
            </a:r>
            <a:r>
              <a:rPr lang="fr-FR" sz="2400" b="0" dirty="0" smtClean="0">
                <a:latin typeface="Segoe UI" pitchFamily="34" charset="0"/>
                <a:ea typeface="Segoe UI" pitchFamily="34" charset="0"/>
                <a:cs typeface="Segoe UI" pitchFamily="34" charset="0"/>
              </a:rPr>
              <a:t>annuaire.</a:t>
            </a:r>
            <a:endParaRPr lang="fr-FR" sz="2200" b="0" dirty="0">
              <a:latin typeface="Segoe UI" pitchFamily="34" charset="0"/>
              <a:ea typeface="Segoe UI" pitchFamily="34" charset="0"/>
              <a:cs typeface="Segoe UI" pitchFamily="34" charset="0"/>
            </a:endParaRPr>
          </a:p>
        </p:txBody>
      </p:sp>
      <p:pic>
        <p:nvPicPr>
          <p:cNvPr id="6" name="Image 5"/>
          <p:cNvPicPr>
            <a:picLocks noChangeAspect="1"/>
          </p:cNvPicPr>
          <p:nvPr/>
        </p:nvPicPr>
        <p:blipFill>
          <a:blip r:embed="rId3"/>
          <a:stretch>
            <a:fillRect/>
          </a:stretch>
        </p:blipFill>
        <p:spPr>
          <a:xfrm>
            <a:off x="584557" y="2708920"/>
            <a:ext cx="8019891" cy="31683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15287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733a5a02-eefd-45e0-990d-3d14f9ceb33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La notion de partition</a:t>
            </a:r>
            <a:endParaRPr lang="fr-FR" dirty="0"/>
          </a:p>
        </p:txBody>
      </p:sp>
      <p:sp>
        <p:nvSpPr>
          <p:cNvPr id="18" name="text box on the left"/>
          <p:cNvSpPr/>
          <p:nvPr/>
        </p:nvSpPr>
        <p:spPr>
          <a:xfrm>
            <a:off x="320171" y="799384"/>
            <a:ext cx="8572309" cy="757130"/>
          </a:xfrm>
          <a:prstGeom prst="rect">
            <a:avLst/>
          </a:prstGeom>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nSpc>
                <a:spcPct val="90000"/>
              </a:lnSpc>
              <a:spcBef>
                <a:spcPts val="0"/>
              </a:spcBef>
              <a:spcAft>
                <a:spcPts val="600"/>
              </a:spcAft>
              <a:buClr>
                <a:srgbClr val="006699"/>
              </a:buClr>
            </a:pPr>
            <a:r>
              <a:rPr lang="fr-FR" sz="2400" b="0" dirty="0" smtClean="0">
                <a:solidFill>
                  <a:srgbClr val="000000"/>
                </a:solidFill>
                <a:latin typeface="Segoe UI" pitchFamily="34" charset="0"/>
                <a:ea typeface="Segoe UI" pitchFamily="34" charset="0"/>
                <a:cs typeface="Segoe UI" pitchFamily="34" charset="0"/>
              </a:rPr>
              <a:t>La </a:t>
            </a:r>
            <a:r>
              <a:rPr lang="fr-FR" sz="2400" b="0" dirty="0">
                <a:solidFill>
                  <a:srgbClr val="000000"/>
                </a:solidFill>
                <a:latin typeface="Segoe UI" pitchFamily="34" charset="0"/>
                <a:ea typeface="Segoe UI" pitchFamily="34" charset="0"/>
                <a:cs typeface="Segoe UI" pitchFamily="34" charset="0"/>
              </a:rPr>
              <a:t>base de données Active Directory est divisée de façon logique </a:t>
            </a:r>
            <a:r>
              <a:rPr lang="fr-FR" sz="2400" b="0" dirty="0" smtClean="0">
                <a:solidFill>
                  <a:srgbClr val="000000"/>
                </a:solidFill>
                <a:latin typeface="Segoe UI" pitchFamily="34" charset="0"/>
                <a:ea typeface="Segoe UI" pitchFamily="34" charset="0"/>
                <a:cs typeface="Segoe UI" pitchFamily="34" charset="0"/>
              </a:rPr>
              <a:t>en </a:t>
            </a:r>
            <a:r>
              <a:rPr lang="fr-FR" sz="2400" b="0" dirty="0">
                <a:solidFill>
                  <a:srgbClr val="000000"/>
                </a:solidFill>
                <a:latin typeface="Segoe UI" pitchFamily="34" charset="0"/>
                <a:ea typeface="Segoe UI" pitchFamily="34" charset="0"/>
                <a:cs typeface="Segoe UI" pitchFamily="34" charset="0"/>
              </a:rPr>
              <a:t>partitions </a:t>
            </a:r>
            <a:r>
              <a:rPr lang="fr-FR" sz="2400" b="0" dirty="0" smtClean="0">
                <a:solidFill>
                  <a:srgbClr val="000000"/>
                </a:solidFill>
                <a:latin typeface="Segoe UI" pitchFamily="34" charset="0"/>
                <a:ea typeface="Segoe UI" pitchFamily="34" charset="0"/>
                <a:cs typeface="Segoe UI" pitchFamily="34" charset="0"/>
              </a:rPr>
              <a:t>appelées </a:t>
            </a:r>
            <a:r>
              <a:rPr lang="fr-FR" sz="2400" b="0" dirty="0">
                <a:solidFill>
                  <a:srgbClr val="000000"/>
                </a:solidFill>
                <a:latin typeface="Segoe UI" pitchFamily="34" charset="0"/>
                <a:ea typeface="Segoe UI" pitchFamily="34" charset="0"/>
                <a:cs typeface="Segoe UI" pitchFamily="34" charset="0"/>
              </a:rPr>
              <a:t>« </a:t>
            </a:r>
            <a:r>
              <a:rPr lang="fr-FR" sz="2400" b="0" dirty="0" err="1">
                <a:solidFill>
                  <a:srgbClr val="000000"/>
                </a:solidFill>
                <a:latin typeface="Segoe UI" pitchFamily="34" charset="0"/>
                <a:ea typeface="Segoe UI" pitchFamily="34" charset="0"/>
                <a:cs typeface="Segoe UI" pitchFamily="34" charset="0"/>
              </a:rPr>
              <a:t>Naming</a:t>
            </a:r>
            <a:r>
              <a:rPr lang="fr-FR" sz="2400" b="0" dirty="0">
                <a:solidFill>
                  <a:srgbClr val="000000"/>
                </a:solidFill>
                <a:latin typeface="Segoe UI" pitchFamily="34" charset="0"/>
                <a:ea typeface="Segoe UI" pitchFamily="34" charset="0"/>
                <a:cs typeface="Segoe UI" pitchFamily="34" charset="0"/>
              </a:rPr>
              <a:t> </a:t>
            </a:r>
            <a:r>
              <a:rPr lang="fr-FR" sz="2400" b="0" dirty="0" err="1">
                <a:solidFill>
                  <a:srgbClr val="000000"/>
                </a:solidFill>
                <a:latin typeface="Segoe UI" pitchFamily="34" charset="0"/>
                <a:ea typeface="Segoe UI" pitchFamily="34" charset="0"/>
                <a:cs typeface="Segoe UI" pitchFamily="34" charset="0"/>
              </a:rPr>
              <a:t>Context</a:t>
            </a:r>
            <a:r>
              <a:rPr lang="fr-FR" sz="2400" b="0" dirty="0">
                <a:solidFill>
                  <a:srgbClr val="000000"/>
                </a:solidFill>
                <a:latin typeface="Segoe UI" pitchFamily="34" charset="0"/>
                <a:ea typeface="Segoe UI" pitchFamily="34" charset="0"/>
                <a:cs typeface="Segoe UI" pitchFamily="34" charset="0"/>
              </a:rPr>
              <a:t> </a:t>
            </a:r>
            <a:r>
              <a:rPr lang="fr-FR" sz="2400" b="0" dirty="0" smtClean="0">
                <a:solidFill>
                  <a:srgbClr val="000000"/>
                </a:solidFill>
                <a:latin typeface="Segoe UI" pitchFamily="34" charset="0"/>
                <a:ea typeface="Segoe UI" pitchFamily="34" charset="0"/>
                <a:cs typeface="Segoe UI" pitchFamily="34" charset="0"/>
              </a:rPr>
              <a:t>».</a:t>
            </a:r>
          </a:p>
        </p:txBody>
      </p:sp>
      <p:pic>
        <p:nvPicPr>
          <p:cNvPr id="19" name="Image 18"/>
          <p:cNvPicPr>
            <a:picLocks noChangeAspect="1"/>
          </p:cNvPicPr>
          <p:nvPr/>
        </p:nvPicPr>
        <p:blipFill>
          <a:blip r:embed="rId3"/>
          <a:stretch>
            <a:fillRect/>
          </a:stretch>
        </p:blipFill>
        <p:spPr>
          <a:xfrm>
            <a:off x="6804248" y="2276872"/>
            <a:ext cx="2088232" cy="3509756"/>
          </a:xfrm>
          <a:prstGeom prst="rect">
            <a:avLst/>
          </a:prstGeom>
        </p:spPr>
      </p:pic>
      <p:sp>
        <p:nvSpPr>
          <p:cNvPr id="21" name="Rectangle 20"/>
          <p:cNvSpPr/>
          <p:nvPr/>
        </p:nvSpPr>
        <p:spPr>
          <a:xfrm>
            <a:off x="467544" y="1628800"/>
            <a:ext cx="6048672" cy="4955203"/>
          </a:xfrm>
          <a:prstGeom prst="rect">
            <a:avLst/>
          </a:prstGeom>
        </p:spPr>
        <p:txBody>
          <a:bodyPr wrap="square">
            <a:spAutoFit/>
          </a:bodyPr>
          <a:lstStyle/>
          <a:p>
            <a:pPr marL="342900" lvl="0" indent="-342900">
              <a:spcBef>
                <a:spcPts val="400"/>
              </a:spcBef>
              <a:buClr>
                <a:srgbClr val="006699"/>
              </a:buClr>
              <a:buFont typeface="Arial" panose="020B0604020202020204" pitchFamily="34" charset="0"/>
              <a:buChar char="•"/>
            </a:pPr>
            <a:r>
              <a:rPr lang="fr-FR" b="1" dirty="0" smtClean="0">
                <a:solidFill>
                  <a:srgbClr val="000000"/>
                </a:solidFill>
                <a:latin typeface="Segoe UI" pitchFamily="34" charset="0"/>
                <a:ea typeface="Segoe UI" pitchFamily="34" charset="0"/>
                <a:cs typeface="Segoe UI" pitchFamily="34" charset="0"/>
              </a:rPr>
              <a:t>La </a:t>
            </a:r>
            <a:r>
              <a:rPr lang="fr-FR" b="1" dirty="0">
                <a:solidFill>
                  <a:srgbClr val="000000"/>
                </a:solidFill>
                <a:latin typeface="Segoe UI" pitchFamily="34" charset="0"/>
                <a:ea typeface="Segoe UI" pitchFamily="34" charset="0"/>
                <a:cs typeface="Segoe UI" pitchFamily="34" charset="0"/>
              </a:rPr>
              <a:t>partition de schéma </a:t>
            </a:r>
            <a:r>
              <a:rPr lang="fr-FR" dirty="0">
                <a:solidFill>
                  <a:srgbClr val="000000"/>
                </a:solidFill>
                <a:latin typeface="Segoe UI" pitchFamily="34" charset="0"/>
                <a:ea typeface="Segoe UI" pitchFamily="34" charset="0"/>
                <a:cs typeface="Segoe UI" pitchFamily="34" charset="0"/>
              </a:rPr>
              <a:t>: cette partition contient l'ensemble des définitions des classes et attributs d’objets, qu’il est possible de créer au sein de l'annuaire Active Directory. Cette partition est unique au sein d’une forêt</a:t>
            </a:r>
            <a:r>
              <a:rPr lang="fr-FR" dirty="0" smtClean="0">
                <a:solidFill>
                  <a:srgbClr val="000000"/>
                </a:solidFill>
                <a:latin typeface="Segoe UI" pitchFamily="34" charset="0"/>
                <a:ea typeface="Segoe UI" pitchFamily="34" charset="0"/>
                <a:cs typeface="Segoe UI" pitchFamily="34" charset="0"/>
              </a:rPr>
              <a:t>.</a:t>
            </a:r>
            <a:endParaRPr lang="fr-FR" dirty="0">
              <a:solidFill>
                <a:srgbClr val="000000"/>
              </a:solidFill>
              <a:latin typeface="Segoe UI" pitchFamily="34" charset="0"/>
              <a:ea typeface="Segoe UI" pitchFamily="34" charset="0"/>
              <a:cs typeface="Segoe UI" pitchFamily="34" charset="0"/>
            </a:endParaRPr>
          </a:p>
          <a:p>
            <a:pPr marL="342900" lvl="0" indent="-342900">
              <a:spcBef>
                <a:spcPts val="400"/>
              </a:spcBef>
              <a:buClr>
                <a:srgbClr val="006699"/>
              </a:buClr>
              <a:buFont typeface="Arial" panose="020B0604020202020204" pitchFamily="34" charset="0"/>
              <a:buChar char="•"/>
            </a:pPr>
            <a:r>
              <a:rPr lang="fr-FR" b="1" dirty="0" smtClean="0">
                <a:solidFill>
                  <a:srgbClr val="000000"/>
                </a:solidFill>
                <a:latin typeface="Segoe UI" pitchFamily="34" charset="0"/>
                <a:ea typeface="Segoe UI" pitchFamily="34" charset="0"/>
                <a:cs typeface="Segoe UI" pitchFamily="34" charset="0"/>
              </a:rPr>
              <a:t>La </a:t>
            </a:r>
            <a:r>
              <a:rPr lang="fr-FR" b="1" dirty="0">
                <a:solidFill>
                  <a:srgbClr val="000000"/>
                </a:solidFill>
                <a:latin typeface="Segoe UI" pitchFamily="34" charset="0"/>
                <a:ea typeface="Segoe UI" pitchFamily="34" charset="0"/>
                <a:cs typeface="Segoe UI" pitchFamily="34" charset="0"/>
              </a:rPr>
              <a:t>partition de configuration</a:t>
            </a:r>
            <a:r>
              <a:rPr lang="fr-FR" dirty="0">
                <a:solidFill>
                  <a:srgbClr val="000000"/>
                </a:solidFill>
                <a:latin typeface="Segoe UI" pitchFamily="34" charset="0"/>
                <a:ea typeface="Segoe UI" pitchFamily="34" charset="0"/>
                <a:cs typeface="Segoe UI" pitchFamily="34" charset="0"/>
              </a:rPr>
              <a:t> : cette partition contient la topologie de la forêt (informations sur les domaines, les liens entre les contrôleurs de domaines, les sites, etc.). Cette partition est unique au sein d’une forêt</a:t>
            </a:r>
            <a:r>
              <a:rPr lang="fr-FR" dirty="0" smtClean="0">
                <a:solidFill>
                  <a:srgbClr val="000000"/>
                </a:solidFill>
                <a:latin typeface="Segoe UI" pitchFamily="34" charset="0"/>
                <a:ea typeface="Segoe UI" pitchFamily="34" charset="0"/>
                <a:cs typeface="Segoe UI" pitchFamily="34" charset="0"/>
              </a:rPr>
              <a:t>.</a:t>
            </a:r>
            <a:endParaRPr lang="fr-FR" dirty="0">
              <a:solidFill>
                <a:srgbClr val="000000"/>
              </a:solidFill>
              <a:latin typeface="Segoe UI" pitchFamily="34" charset="0"/>
              <a:ea typeface="Segoe UI" pitchFamily="34" charset="0"/>
              <a:cs typeface="Segoe UI" pitchFamily="34" charset="0"/>
            </a:endParaRPr>
          </a:p>
          <a:p>
            <a:pPr marL="342900" lvl="0" indent="-342900">
              <a:spcBef>
                <a:spcPts val="400"/>
              </a:spcBef>
              <a:buClr>
                <a:srgbClr val="006699"/>
              </a:buClr>
              <a:buFont typeface="Arial" panose="020B0604020202020204" pitchFamily="34" charset="0"/>
              <a:buChar char="•"/>
            </a:pPr>
            <a:r>
              <a:rPr lang="fr-FR" b="1" dirty="0" smtClean="0">
                <a:solidFill>
                  <a:srgbClr val="000000"/>
                </a:solidFill>
                <a:latin typeface="Segoe UI" pitchFamily="34" charset="0"/>
                <a:ea typeface="Segoe UI" pitchFamily="34" charset="0"/>
                <a:cs typeface="Segoe UI" pitchFamily="34" charset="0"/>
              </a:rPr>
              <a:t>La </a:t>
            </a:r>
            <a:r>
              <a:rPr lang="fr-FR" b="1" dirty="0">
                <a:solidFill>
                  <a:srgbClr val="000000"/>
                </a:solidFill>
                <a:latin typeface="Segoe UI" pitchFamily="34" charset="0"/>
                <a:ea typeface="Segoe UI" pitchFamily="34" charset="0"/>
                <a:cs typeface="Segoe UI" pitchFamily="34" charset="0"/>
              </a:rPr>
              <a:t>partition de domaine</a:t>
            </a:r>
            <a:r>
              <a:rPr lang="fr-FR" dirty="0">
                <a:solidFill>
                  <a:srgbClr val="000000"/>
                </a:solidFill>
                <a:latin typeface="Segoe UI" pitchFamily="34" charset="0"/>
                <a:ea typeface="Segoe UI" pitchFamily="34" charset="0"/>
                <a:cs typeface="Segoe UI" pitchFamily="34" charset="0"/>
              </a:rPr>
              <a:t> : cette partition contient les informations de tous les objets d'un domaine (ordinateur, groupe, utilisateur, etc.). Cette partition est unique au sein d’un domaine, il y aura donc autant de partitions de domaine qu’il y a de </a:t>
            </a:r>
            <a:r>
              <a:rPr lang="fr-FR" dirty="0" smtClean="0">
                <a:solidFill>
                  <a:srgbClr val="000000"/>
                </a:solidFill>
                <a:latin typeface="Segoe UI" pitchFamily="34" charset="0"/>
                <a:ea typeface="Segoe UI" pitchFamily="34" charset="0"/>
                <a:cs typeface="Segoe UI" pitchFamily="34" charset="0"/>
              </a:rPr>
              <a:t>domaines.</a:t>
            </a:r>
          </a:p>
          <a:p>
            <a:pPr marL="342900" lvl="0" indent="-342900">
              <a:spcBef>
                <a:spcPts val="400"/>
              </a:spcBef>
              <a:buClr>
                <a:srgbClr val="006699"/>
              </a:buClr>
              <a:buFont typeface="Arial" panose="020B0604020202020204" pitchFamily="34" charset="0"/>
              <a:buChar char="•"/>
            </a:pPr>
            <a:r>
              <a:rPr lang="fr-FR" b="1" dirty="0" smtClean="0">
                <a:solidFill>
                  <a:srgbClr val="000000"/>
                </a:solidFill>
                <a:latin typeface="Segoe UI" pitchFamily="34" charset="0"/>
                <a:ea typeface="Segoe UI" pitchFamily="34" charset="0"/>
                <a:cs typeface="Segoe UI" pitchFamily="34" charset="0"/>
              </a:rPr>
              <a:t>La </a:t>
            </a:r>
            <a:r>
              <a:rPr lang="fr-FR" b="1" dirty="0">
                <a:solidFill>
                  <a:srgbClr val="000000"/>
                </a:solidFill>
                <a:latin typeface="Segoe UI" pitchFamily="34" charset="0"/>
                <a:ea typeface="Segoe UI" pitchFamily="34" charset="0"/>
                <a:cs typeface="Segoe UI" pitchFamily="34" charset="0"/>
              </a:rPr>
              <a:t>partition d’application</a:t>
            </a:r>
            <a:r>
              <a:rPr lang="fr-FR" dirty="0">
                <a:solidFill>
                  <a:srgbClr val="000000"/>
                </a:solidFill>
                <a:latin typeface="Segoe UI" pitchFamily="34" charset="0"/>
                <a:ea typeface="Segoe UI" pitchFamily="34" charset="0"/>
                <a:cs typeface="Segoe UI" pitchFamily="34" charset="0"/>
              </a:rPr>
              <a:t> : </a:t>
            </a:r>
            <a:r>
              <a:rPr lang="fr-FR" dirty="0" smtClean="0">
                <a:solidFill>
                  <a:srgbClr val="000000"/>
                </a:solidFill>
                <a:latin typeface="Segoe UI" pitchFamily="34" charset="0"/>
                <a:ea typeface="Segoe UI" pitchFamily="34" charset="0"/>
                <a:cs typeface="Segoe UI" pitchFamily="34" charset="0"/>
              </a:rPr>
              <a:t>cette partition contient les </a:t>
            </a:r>
            <a:r>
              <a:rPr lang="fr-FR" dirty="0">
                <a:solidFill>
                  <a:srgbClr val="000000"/>
                </a:solidFill>
                <a:latin typeface="Segoe UI" pitchFamily="34" charset="0"/>
                <a:ea typeface="Segoe UI" pitchFamily="34" charset="0"/>
                <a:cs typeface="Segoe UI" pitchFamily="34" charset="0"/>
              </a:rPr>
              <a:t>données utilisées par </a:t>
            </a:r>
            <a:r>
              <a:rPr lang="fr-FR" dirty="0" smtClean="0">
                <a:solidFill>
                  <a:srgbClr val="000000"/>
                </a:solidFill>
                <a:latin typeface="Segoe UI" pitchFamily="34" charset="0"/>
                <a:ea typeface="Segoe UI" pitchFamily="34" charset="0"/>
                <a:cs typeface="Segoe UI" pitchFamily="34" charset="0"/>
              </a:rPr>
              <a:t>les </a:t>
            </a:r>
            <a:r>
              <a:rPr lang="fr-FR" dirty="0">
                <a:solidFill>
                  <a:srgbClr val="000000"/>
                </a:solidFill>
                <a:latin typeface="Segoe UI" pitchFamily="34" charset="0"/>
                <a:ea typeface="Segoe UI" pitchFamily="34" charset="0"/>
                <a:cs typeface="Segoe UI" pitchFamily="34" charset="0"/>
              </a:rPr>
              <a:t>applications.</a:t>
            </a:r>
            <a:endParaRPr lang="fr-FR" dirty="0" smtClean="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176923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b2e7debd-3a38-40a7-aedd-c3cd6f70d6e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La notion de catalogue global</a:t>
            </a:r>
            <a:endParaRPr lang="fr-FR" dirty="0"/>
          </a:p>
        </p:txBody>
      </p:sp>
      <p:sp>
        <p:nvSpPr>
          <p:cNvPr id="4" name="text box"/>
          <p:cNvSpPr txBox="1">
            <a:spLocks/>
          </p:cNvSpPr>
          <p:nvPr/>
        </p:nvSpPr>
        <p:spPr>
          <a:xfrm>
            <a:off x="4787174" y="757311"/>
            <a:ext cx="4249322" cy="1879601"/>
          </a:xfrm>
          <a:prstGeom prst="rect">
            <a:avLst/>
          </a:prstGeom>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lvl="1">
              <a:spcBef>
                <a:spcPts val="600"/>
              </a:spcBef>
            </a:pPr>
            <a:r>
              <a:rPr lang="en-US" sz="2400" b="0" dirty="0">
                <a:latin typeface="Segoe UI" pitchFamily="34" charset="0"/>
                <a:ea typeface="Segoe UI" pitchFamily="34" charset="0"/>
                <a:cs typeface="Segoe UI" pitchFamily="34" charset="0"/>
              </a:rPr>
              <a:t>L</a:t>
            </a:r>
            <a:r>
              <a:rPr lang="fr-FR" sz="2400" b="0" dirty="0" smtClean="0">
                <a:latin typeface="Segoe UI" pitchFamily="34" charset="0"/>
                <a:ea typeface="Segoe UI" pitchFamily="34" charset="0"/>
                <a:cs typeface="Segoe UI" pitchFamily="34" charset="0"/>
              </a:rPr>
              <a:t>e </a:t>
            </a:r>
            <a:r>
              <a:rPr lang="fr-FR" sz="2400" b="0" dirty="0">
                <a:latin typeface="Segoe UI" pitchFamily="34" charset="0"/>
                <a:ea typeface="Segoe UI" pitchFamily="34" charset="0"/>
                <a:cs typeface="Segoe UI" pitchFamily="34" charset="0"/>
              </a:rPr>
              <a:t>catalogue global est </a:t>
            </a:r>
            <a:r>
              <a:rPr lang="fr-FR" sz="2400" b="0" dirty="0" smtClean="0">
                <a:latin typeface="Segoe UI" pitchFamily="34" charset="0"/>
                <a:ea typeface="Segoe UI" pitchFamily="34" charset="0"/>
                <a:cs typeface="Segoe UI" pitchFamily="34" charset="0"/>
              </a:rPr>
              <a:t>un rassemblement </a:t>
            </a:r>
            <a:r>
              <a:rPr lang="fr-FR" sz="2400" b="0" dirty="0">
                <a:latin typeface="Segoe UI" pitchFamily="34" charset="0"/>
                <a:ea typeface="Segoe UI" pitchFamily="34" charset="0"/>
                <a:cs typeface="Segoe UI" pitchFamily="34" charset="0"/>
              </a:rPr>
              <a:t>de certains </a:t>
            </a:r>
            <a:r>
              <a:rPr lang="fr-FR" sz="2400" b="0" dirty="0" smtClean="0">
                <a:latin typeface="Segoe UI" pitchFamily="34" charset="0"/>
                <a:ea typeface="Segoe UI" pitchFamily="34" charset="0"/>
                <a:cs typeface="Segoe UI" pitchFamily="34" charset="0"/>
              </a:rPr>
              <a:t>attributs (choisis) </a:t>
            </a:r>
            <a:r>
              <a:rPr lang="fr-FR" sz="2400" b="0" dirty="0">
                <a:latin typeface="Segoe UI" pitchFamily="34" charset="0"/>
                <a:ea typeface="Segoe UI" pitchFamily="34" charset="0"/>
                <a:cs typeface="Segoe UI" pitchFamily="34" charset="0"/>
              </a:rPr>
              <a:t>d’objets créés dans Active </a:t>
            </a:r>
            <a:r>
              <a:rPr lang="fr-FR" sz="2400" b="0" dirty="0" smtClean="0">
                <a:latin typeface="Segoe UI" pitchFamily="34" charset="0"/>
                <a:ea typeface="Segoe UI" pitchFamily="34" charset="0"/>
                <a:cs typeface="Segoe UI" pitchFamily="34" charset="0"/>
              </a:rPr>
              <a:t>Directory.</a:t>
            </a:r>
            <a:endParaRPr lang="en-US" sz="2400" b="0" dirty="0" smtClean="0">
              <a:latin typeface="Segoe UI" pitchFamily="34" charset="0"/>
              <a:ea typeface="Segoe UI" pitchFamily="34" charset="0"/>
              <a:cs typeface="Segoe UI" pitchFamily="34" charset="0"/>
            </a:endParaRPr>
          </a:p>
        </p:txBody>
      </p:sp>
      <p:grpSp>
        <p:nvGrpSpPr>
          <p:cNvPr id="5" name="globe, mag glass arrow etc"/>
          <p:cNvGrpSpPr/>
          <p:nvPr/>
        </p:nvGrpSpPr>
        <p:grpSpPr>
          <a:xfrm>
            <a:off x="2111589" y="4574435"/>
            <a:ext cx="1655550" cy="1805153"/>
            <a:chOff x="2111589" y="4574435"/>
            <a:chExt cx="1655550" cy="1805153"/>
          </a:xfrm>
        </p:grpSpPr>
        <p:sp>
          <p:nvSpPr>
            <p:cNvPr id="6" name="arrow"/>
            <p:cNvSpPr>
              <a:spLocks noChangeArrowheads="1"/>
            </p:cNvSpPr>
            <p:nvPr/>
          </p:nvSpPr>
          <p:spPr bwMode="auto">
            <a:xfrm rot="8412092">
              <a:off x="2111589" y="4574435"/>
              <a:ext cx="337606" cy="812787"/>
            </a:xfrm>
            <a:prstGeom prst="downArrow">
              <a:avLst>
                <a:gd name="adj1" fmla="val 52602"/>
                <a:gd name="adj2" fmla="val 51155"/>
              </a:avLst>
            </a:prstGeom>
            <a:solidFill>
              <a:srgbClr val="FF0000">
                <a:alpha val="7490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sr-Latn-RS" sz="2400">
                <a:latin typeface="Segoe UI" pitchFamily="34" charset="0"/>
                <a:ea typeface="Segoe UI" pitchFamily="34" charset="0"/>
                <a:cs typeface="Segoe UI" pitchFamily="34" charset="0"/>
              </a:endParaRPr>
            </a:p>
          </p:txBody>
        </p:sp>
        <p:pic>
          <p:nvPicPr>
            <p:cNvPr id="7"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14074" y="5121077"/>
              <a:ext cx="589943" cy="589943"/>
            </a:xfrm>
            <a:prstGeom prst="rect">
              <a:avLst/>
            </a:prstGeom>
          </p:spPr>
        </p:pic>
        <p:pic>
          <p:nvPicPr>
            <p:cNvPr id="8" name="database"/>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1032" y="5393823"/>
              <a:ext cx="541387" cy="756436"/>
            </a:xfrm>
            <a:prstGeom prst="rect">
              <a:avLst/>
            </a:prstGeom>
          </p:spPr>
        </p:pic>
        <p:sp>
          <p:nvSpPr>
            <p:cNvPr id="9" name="&quot;AD DS&quot;"/>
            <p:cNvSpPr txBox="1"/>
            <p:nvPr/>
          </p:nvSpPr>
          <p:spPr>
            <a:xfrm>
              <a:off x="2927783" y="5684435"/>
              <a:ext cx="839356" cy="276999"/>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b="1" dirty="0" smtClean="0"/>
                <a:t>AD DS</a:t>
              </a:r>
              <a:r>
                <a:rPr lang="en-CA" dirty="0" smtClean="0"/>
                <a:t> </a:t>
              </a:r>
              <a:endParaRPr lang="en-CA" dirty="0"/>
            </a:p>
          </p:txBody>
        </p:sp>
        <p:pic>
          <p:nvPicPr>
            <p:cNvPr id="10" name="mag glass"/>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01613" y="5515158"/>
              <a:ext cx="695048" cy="864430"/>
            </a:xfrm>
            <a:prstGeom prst="rect">
              <a:avLst/>
            </a:prstGeom>
          </p:spPr>
        </p:pic>
      </p:grpSp>
      <p:sp>
        <p:nvSpPr>
          <p:cNvPr id="11" name="a blue Isosceles Triangle 95"/>
          <p:cNvSpPr/>
          <p:nvPr/>
        </p:nvSpPr>
        <p:spPr>
          <a:xfrm>
            <a:off x="308194" y="936107"/>
            <a:ext cx="4044245" cy="3614136"/>
          </a:xfrm>
          <a:prstGeom prst="triangle">
            <a:avLst>
              <a:gd name="adj" fmla="val 48593"/>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sp>
        <p:nvSpPr>
          <p:cNvPr id="12" name="a &quot;Global catalog server&quot;"/>
          <p:cNvSpPr>
            <a:spLocks noChangeArrowheads="1"/>
          </p:cNvSpPr>
          <p:nvPr/>
        </p:nvSpPr>
        <p:spPr bwMode="auto">
          <a:xfrm>
            <a:off x="542978" y="4148044"/>
            <a:ext cx="2889456" cy="376476"/>
          </a:xfrm>
          <a:prstGeom prst="roundRect">
            <a:avLst>
              <a:gd name="adj" fmla="val 4167"/>
            </a:avLst>
          </a:prstGeom>
          <a:ln>
            <a:noFill/>
            <a:headEnd/>
            <a:tailEnd/>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r>
              <a:rPr lang="en-US" sz="2400" b="0" dirty="0">
                <a:latin typeface="Segoe UI" pitchFamily="34" charset="0"/>
                <a:ea typeface="Segoe UI" pitchFamily="34" charset="0"/>
                <a:cs typeface="Segoe UI" pitchFamily="34" charset="0"/>
              </a:rPr>
              <a:t>Global </a:t>
            </a:r>
            <a:r>
              <a:rPr lang="en-US" sz="2400" b="0" dirty="0" smtClean="0">
                <a:latin typeface="Segoe UI" pitchFamily="34" charset="0"/>
                <a:ea typeface="Segoe UI" pitchFamily="34" charset="0"/>
                <a:cs typeface="Segoe UI" pitchFamily="34" charset="0"/>
              </a:rPr>
              <a:t>catalog </a:t>
            </a:r>
            <a:r>
              <a:rPr lang="en-US" sz="2400" b="0" dirty="0">
                <a:latin typeface="Segoe UI" pitchFamily="34" charset="0"/>
                <a:ea typeface="Segoe UI" pitchFamily="34" charset="0"/>
                <a:cs typeface="Segoe UI" pitchFamily="34" charset="0"/>
              </a:rPr>
              <a:t>s</a:t>
            </a:r>
            <a:r>
              <a:rPr lang="en-US" sz="2400" b="0" dirty="0" smtClean="0">
                <a:latin typeface="Segoe UI" pitchFamily="34" charset="0"/>
                <a:ea typeface="Segoe UI" pitchFamily="34" charset="0"/>
                <a:cs typeface="Segoe UI" pitchFamily="34" charset="0"/>
              </a:rPr>
              <a:t>erver</a:t>
            </a:r>
            <a:endParaRPr lang="en-US" sz="2400" b="0" dirty="0">
              <a:latin typeface="Segoe UI" pitchFamily="34" charset="0"/>
              <a:ea typeface="Segoe UI" pitchFamily="34" charset="0"/>
              <a:cs typeface="Segoe UI" pitchFamily="34" charset="0"/>
            </a:endParaRPr>
          </a:p>
        </p:txBody>
      </p:sp>
      <p:grpSp>
        <p:nvGrpSpPr>
          <p:cNvPr id="13" name="a   4 databases w labelsGroup 84"/>
          <p:cNvGrpSpPr/>
          <p:nvPr/>
        </p:nvGrpSpPr>
        <p:grpSpPr>
          <a:xfrm>
            <a:off x="355562" y="2073742"/>
            <a:ext cx="1426424" cy="2062526"/>
            <a:chOff x="2010385" y="2968129"/>
            <a:chExt cx="1428323" cy="2280136"/>
          </a:xfrm>
        </p:grpSpPr>
        <p:pic>
          <p:nvPicPr>
            <p:cNvPr id="14" name="Picture 13"/>
            <p:cNvPicPr>
              <a:picLocks noChangeAspect="1"/>
            </p:cNvPicPr>
            <p:nvPr/>
          </p:nvPicPr>
          <p:blipFill>
            <a:blip r:embed="rId6">
              <a:extLst>
                <a:ext uri="{BEBA8EAE-BF5A-486C-A8C5-ECC9F3942E4B}">
                  <a14:imgProps xmlns:a14="http://schemas.microsoft.com/office/drawing/2010/main">
                    <a14:imgLayer r:embed="rId7">
                      <a14:imgEffect>
                        <a14:colorTemperature colorTemp="112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2012361" y="4309561"/>
              <a:ext cx="1426346" cy="938704"/>
            </a:xfrm>
            <a:prstGeom prst="rect">
              <a:avLst/>
            </a:prstGeom>
          </p:spPr>
        </p:pic>
        <p:pic>
          <p:nvPicPr>
            <p:cNvPr id="15" name="Picture 1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12359" y="3862433"/>
              <a:ext cx="1426345" cy="938704"/>
            </a:xfrm>
            <a:prstGeom prst="rect">
              <a:avLst/>
            </a:prstGeom>
          </p:spPr>
        </p:pic>
        <p:pic>
          <p:nvPicPr>
            <p:cNvPr id="16" name="Picture 1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10385" y="3412872"/>
              <a:ext cx="1426345" cy="938704"/>
            </a:xfrm>
            <a:prstGeom prst="rect">
              <a:avLst/>
            </a:prstGeom>
          </p:spPr>
        </p:pic>
        <p:pic>
          <p:nvPicPr>
            <p:cNvPr id="17" name="Picture 1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12362" y="2968129"/>
              <a:ext cx="1426346" cy="938704"/>
            </a:xfrm>
            <a:prstGeom prst="rect">
              <a:avLst/>
            </a:prstGeom>
          </p:spPr>
        </p:pic>
        <p:sp>
          <p:nvSpPr>
            <p:cNvPr id="18" name="&quot;schema"/>
            <p:cNvSpPr/>
            <p:nvPr/>
          </p:nvSpPr>
          <p:spPr>
            <a:xfrm>
              <a:off x="2329935" y="3537888"/>
              <a:ext cx="746389" cy="272199"/>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Schema</a:t>
              </a:r>
              <a:endParaRPr lang="en-CA" sz="1600" dirty="0"/>
            </a:p>
          </p:txBody>
        </p:sp>
        <p:sp>
          <p:nvSpPr>
            <p:cNvPr id="19" name="&quot;configuration"/>
            <p:cNvSpPr/>
            <p:nvPr/>
          </p:nvSpPr>
          <p:spPr>
            <a:xfrm>
              <a:off x="2046554" y="3932849"/>
              <a:ext cx="1343500" cy="272199"/>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smtClean="0">
                  <a:latin typeface="Segoe UI" pitchFamily="34" charset="0"/>
                  <a:ea typeface="Segoe UI" pitchFamily="34" charset="0"/>
                  <a:cs typeface="Segoe UI" pitchFamily="34" charset="0"/>
                </a:rPr>
                <a:t>Configuration</a:t>
              </a:r>
              <a:endParaRPr lang="en-CA" sz="1600" dirty="0"/>
            </a:p>
          </p:txBody>
        </p:sp>
        <p:sp>
          <p:nvSpPr>
            <p:cNvPr id="20" name="&quot;domain A"/>
            <p:cNvSpPr/>
            <p:nvPr/>
          </p:nvSpPr>
          <p:spPr>
            <a:xfrm>
              <a:off x="2236969" y="4398339"/>
              <a:ext cx="956661" cy="272199"/>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smtClean="0">
                  <a:latin typeface="Segoe UI" pitchFamily="34" charset="0"/>
                  <a:ea typeface="Segoe UI" pitchFamily="34" charset="0"/>
                  <a:cs typeface="Segoe UI" pitchFamily="34" charset="0"/>
                </a:rPr>
                <a:t>Domain A</a:t>
              </a:r>
              <a:endParaRPr lang="en-CA" sz="1600" dirty="0"/>
            </a:p>
          </p:txBody>
        </p:sp>
        <p:sp>
          <p:nvSpPr>
            <p:cNvPr id="21" name="&quot;domain B"/>
            <p:cNvSpPr/>
            <p:nvPr/>
          </p:nvSpPr>
          <p:spPr>
            <a:xfrm>
              <a:off x="2225447" y="4831805"/>
              <a:ext cx="943820" cy="272199"/>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smtClean="0">
                  <a:latin typeface="Segoe UI" pitchFamily="34" charset="0"/>
                  <a:ea typeface="Segoe UI" pitchFamily="34" charset="0"/>
                  <a:cs typeface="Segoe UI" pitchFamily="34" charset="0"/>
                </a:rPr>
                <a:t>Domain B</a:t>
              </a:r>
              <a:endParaRPr lang="en-CA" sz="1600" dirty="0"/>
            </a:p>
          </p:txBody>
        </p:sp>
      </p:grpSp>
      <p:pic>
        <p:nvPicPr>
          <p:cNvPr id="22" name="a serve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789194" y="2790179"/>
            <a:ext cx="713755" cy="1265772"/>
          </a:xfrm>
          <a:prstGeom prst="rect">
            <a:avLst/>
          </a:prstGeom>
        </p:spPr>
      </p:pic>
      <p:sp>
        <p:nvSpPr>
          <p:cNvPr id="23" name="b blue Isosceles Triangle 95"/>
          <p:cNvSpPr/>
          <p:nvPr/>
        </p:nvSpPr>
        <p:spPr>
          <a:xfrm>
            <a:off x="4572000" y="2653736"/>
            <a:ext cx="3876329" cy="3805014"/>
          </a:xfrm>
          <a:prstGeom prst="triangle">
            <a:avLst>
              <a:gd name="adj" fmla="val 48912"/>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grpSp>
        <p:nvGrpSpPr>
          <p:cNvPr id="24" name="3 pucks and labels, , B (yellow)"/>
          <p:cNvGrpSpPr/>
          <p:nvPr/>
        </p:nvGrpSpPr>
        <p:grpSpPr>
          <a:xfrm>
            <a:off x="4555319" y="4192458"/>
            <a:ext cx="1481790" cy="1704532"/>
            <a:chOff x="4414162" y="3099085"/>
            <a:chExt cx="1481790" cy="1704532"/>
          </a:xfrm>
        </p:grpSpPr>
        <p:pic>
          <p:nvPicPr>
            <p:cNvPr id="25" name="yellow puck"/>
            <p:cNvPicPr>
              <a:picLocks noChangeAspect="1"/>
            </p:cNvPicPr>
            <p:nvPr/>
          </p:nvPicPr>
          <p:blipFill>
            <a:blip r:embed="rId6">
              <a:extLst>
                <a:ext uri="{BEBA8EAE-BF5A-486C-A8C5-ECC9F3942E4B}">
                  <a14:imgProps xmlns:a14="http://schemas.microsoft.com/office/drawing/2010/main">
                    <a14:imgLayer r:embed="rId7">
                      <a14:imgEffect>
                        <a14:colorTemperature colorTemp="112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4414164" y="3954500"/>
              <a:ext cx="1481788" cy="849117"/>
            </a:xfrm>
            <a:prstGeom prst="rect">
              <a:avLst/>
            </a:prstGeom>
          </p:spPr>
        </p:pic>
        <p:pic>
          <p:nvPicPr>
            <p:cNvPr id="26"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14162" y="3449347"/>
              <a:ext cx="1481790" cy="946930"/>
            </a:xfrm>
            <a:prstGeom prst="rect">
              <a:avLst/>
            </a:prstGeom>
          </p:spPr>
        </p:pic>
        <p:pic>
          <p:nvPicPr>
            <p:cNvPr id="27"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14164" y="3099085"/>
              <a:ext cx="1481788" cy="849117"/>
            </a:xfrm>
            <a:prstGeom prst="rect">
              <a:avLst/>
            </a:prstGeom>
          </p:spPr>
        </p:pic>
        <p:sp>
          <p:nvSpPr>
            <p:cNvPr id="28" name="&quot;domain B"/>
            <p:cNvSpPr/>
            <p:nvPr/>
          </p:nvSpPr>
          <p:spPr>
            <a:xfrm>
              <a:off x="4689244" y="4450117"/>
              <a:ext cx="942566"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smtClean="0">
                  <a:latin typeface="Segoe UI" pitchFamily="34" charset="0"/>
                  <a:ea typeface="Segoe UI" pitchFamily="34" charset="0"/>
                  <a:cs typeface="Segoe UI" pitchFamily="34" charset="0"/>
                </a:rPr>
                <a:t>Domain B</a:t>
              </a:r>
              <a:endParaRPr lang="en-CA" sz="1600" dirty="0"/>
            </a:p>
          </p:txBody>
        </p:sp>
        <p:sp>
          <p:nvSpPr>
            <p:cNvPr id="29" name="&quot;configuration"/>
            <p:cNvSpPr/>
            <p:nvPr/>
          </p:nvSpPr>
          <p:spPr>
            <a:xfrm>
              <a:off x="4471499" y="4006828"/>
              <a:ext cx="1341714"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smtClean="0">
                  <a:latin typeface="Segoe UI" pitchFamily="34" charset="0"/>
                  <a:ea typeface="Segoe UI" pitchFamily="34" charset="0"/>
                  <a:cs typeface="Segoe UI" pitchFamily="34" charset="0"/>
                </a:rPr>
                <a:t>Configuration</a:t>
              </a:r>
              <a:endParaRPr lang="en-CA" sz="1600" dirty="0"/>
            </a:p>
          </p:txBody>
        </p:sp>
        <p:sp>
          <p:nvSpPr>
            <p:cNvPr id="30" name="&quot;schema"/>
            <p:cNvSpPr/>
            <p:nvPr/>
          </p:nvSpPr>
          <p:spPr>
            <a:xfrm>
              <a:off x="4775740" y="3628759"/>
              <a:ext cx="745397"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Schema</a:t>
              </a:r>
              <a:endParaRPr lang="en-CA" sz="1600" dirty="0"/>
            </a:p>
          </p:txBody>
        </p:sp>
      </p:grpSp>
      <p:grpSp>
        <p:nvGrpSpPr>
          <p:cNvPr id="31" name="3 pucks and labels, B (yellow)"/>
          <p:cNvGrpSpPr/>
          <p:nvPr/>
        </p:nvGrpSpPr>
        <p:grpSpPr>
          <a:xfrm>
            <a:off x="6528134" y="2769456"/>
            <a:ext cx="1487259" cy="1695836"/>
            <a:chOff x="4414162" y="3107781"/>
            <a:chExt cx="1487259" cy="1695836"/>
          </a:xfrm>
        </p:grpSpPr>
        <p:pic>
          <p:nvPicPr>
            <p:cNvPr id="32" name="yellow puck"/>
            <p:cNvPicPr>
              <a:picLocks noChangeAspect="1"/>
            </p:cNvPicPr>
            <p:nvPr/>
          </p:nvPicPr>
          <p:blipFill>
            <a:blip r:embed="rId6">
              <a:extLst>
                <a:ext uri="{BEBA8EAE-BF5A-486C-A8C5-ECC9F3942E4B}">
                  <a14:imgProps xmlns:a14="http://schemas.microsoft.com/office/drawing/2010/main">
                    <a14:imgLayer r:embed="rId7">
                      <a14:imgEffect>
                        <a14:colorTemperature colorTemp="112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4414164" y="3954500"/>
              <a:ext cx="1481788" cy="849117"/>
            </a:xfrm>
            <a:prstGeom prst="rect">
              <a:avLst/>
            </a:prstGeom>
          </p:spPr>
        </p:pic>
        <p:pic>
          <p:nvPicPr>
            <p:cNvPr id="33"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14162" y="3449347"/>
              <a:ext cx="1481790" cy="946930"/>
            </a:xfrm>
            <a:prstGeom prst="rect">
              <a:avLst/>
            </a:prstGeom>
            <a:effectLst>
              <a:reflection endPos="0" dir="5400000" sy="-100000" algn="bl" rotWithShape="0"/>
            </a:effectLst>
          </p:spPr>
        </p:pic>
        <p:pic>
          <p:nvPicPr>
            <p:cNvPr id="34"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19633" y="3107781"/>
              <a:ext cx="1481788" cy="849117"/>
            </a:xfrm>
            <a:prstGeom prst="rect">
              <a:avLst/>
            </a:prstGeom>
          </p:spPr>
        </p:pic>
        <p:sp>
          <p:nvSpPr>
            <p:cNvPr id="35" name="&quot;domain B"/>
            <p:cNvSpPr/>
            <p:nvPr/>
          </p:nvSpPr>
          <p:spPr>
            <a:xfrm>
              <a:off x="4689244" y="4450117"/>
              <a:ext cx="942566"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smtClean="0">
                  <a:latin typeface="Segoe UI" pitchFamily="34" charset="0"/>
                  <a:ea typeface="Segoe UI" pitchFamily="34" charset="0"/>
                  <a:cs typeface="Segoe UI" pitchFamily="34" charset="0"/>
                </a:rPr>
                <a:t>Domain B</a:t>
              </a:r>
              <a:endParaRPr lang="en-CA" sz="1600" dirty="0"/>
            </a:p>
          </p:txBody>
        </p:sp>
        <p:sp>
          <p:nvSpPr>
            <p:cNvPr id="36" name="&quot;configuration"/>
            <p:cNvSpPr/>
            <p:nvPr/>
          </p:nvSpPr>
          <p:spPr>
            <a:xfrm>
              <a:off x="4500074" y="4014448"/>
              <a:ext cx="1341714"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smtClean="0">
                  <a:latin typeface="Segoe UI" pitchFamily="34" charset="0"/>
                  <a:ea typeface="Segoe UI" pitchFamily="34" charset="0"/>
                  <a:cs typeface="Segoe UI" pitchFamily="34" charset="0"/>
                </a:rPr>
                <a:t>Configuration</a:t>
              </a:r>
              <a:endParaRPr lang="en-CA" sz="1600" dirty="0"/>
            </a:p>
          </p:txBody>
        </p:sp>
        <p:sp>
          <p:nvSpPr>
            <p:cNvPr id="37" name="&quot;schema"/>
            <p:cNvSpPr/>
            <p:nvPr/>
          </p:nvSpPr>
          <p:spPr>
            <a:xfrm>
              <a:off x="4775740" y="3628759"/>
              <a:ext cx="745397"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Schema</a:t>
              </a:r>
              <a:endParaRPr lang="en-CA" sz="1600" dirty="0"/>
            </a:p>
          </p:txBody>
        </p:sp>
      </p:grpSp>
      <p:pic>
        <p:nvPicPr>
          <p:cNvPr id="38" name="b serve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954370" y="5139673"/>
            <a:ext cx="713755" cy="1265772"/>
          </a:xfrm>
          <a:prstGeom prst="rect">
            <a:avLst/>
          </a:prstGeom>
        </p:spPr>
      </p:pic>
      <p:pic>
        <p:nvPicPr>
          <p:cNvPr id="39" name="b serve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524236" y="4316417"/>
            <a:ext cx="713755" cy="1265772"/>
          </a:xfrm>
          <a:prstGeom prst="rect">
            <a:avLst/>
          </a:prstGeom>
        </p:spPr>
      </p:pic>
      <p:grpSp>
        <p:nvGrpSpPr>
          <p:cNvPr id="40" name="3 pucks and labels, A (green) alt text here" descr="An illustration of a two-domain forest with the schema, configuration, and domain partition stored on each domain controller. One domain controller is also a global catalog server, so it has information from the domain partitions for both domains.&#10;&#10;"/>
          <p:cNvGrpSpPr/>
          <p:nvPr/>
        </p:nvGrpSpPr>
        <p:grpSpPr>
          <a:xfrm>
            <a:off x="2266621" y="883036"/>
            <a:ext cx="1490207" cy="1692862"/>
            <a:chOff x="4207357" y="2063541"/>
            <a:chExt cx="1490207" cy="1692862"/>
          </a:xfrm>
        </p:grpSpPr>
        <p:pic>
          <p:nvPicPr>
            <p:cNvPr id="41"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15776" y="2907286"/>
              <a:ext cx="1481788" cy="849117"/>
            </a:xfrm>
            <a:prstGeom prst="rect">
              <a:avLst/>
            </a:prstGeom>
          </p:spPr>
        </p:pic>
        <p:pic>
          <p:nvPicPr>
            <p:cNvPr id="42"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07357" y="2413803"/>
              <a:ext cx="1481790" cy="946930"/>
            </a:xfrm>
            <a:prstGeom prst="rect">
              <a:avLst/>
            </a:prstGeom>
          </p:spPr>
        </p:pic>
        <p:pic>
          <p:nvPicPr>
            <p:cNvPr id="43"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07359" y="2063541"/>
              <a:ext cx="1481788" cy="849117"/>
            </a:xfrm>
            <a:prstGeom prst="rect">
              <a:avLst/>
            </a:prstGeom>
          </p:spPr>
        </p:pic>
        <p:sp>
          <p:nvSpPr>
            <p:cNvPr id="44" name="&quot;domain B"/>
            <p:cNvSpPr/>
            <p:nvPr/>
          </p:nvSpPr>
          <p:spPr>
            <a:xfrm>
              <a:off x="4463389" y="3395523"/>
              <a:ext cx="955390"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smtClean="0">
                  <a:latin typeface="Segoe UI" pitchFamily="34" charset="0"/>
                  <a:ea typeface="Segoe UI" pitchFamily="34" charset="0"/>
                  <a:cs typeface="Segoe UI" pitchFamily="34" charset="0"/>
                </a:rPr>
                <a:t>Domain A</a:t>
              </a:r>
              <a:endParaRPr lang="en-CA" sz="1600" dirty="0"/>
            </a:p>
          </p:txBody>
        </p:sp>
        <p:sp>
          <p:nvSpPr>
            <p:cNvPr id="45" name="&quot;configuration"/>
            <p:cNvSpPr/>
            <p:nvPr/>
          </p:nvSpPr>
          <p:spPr>
            <a:xfrm>
              <a:off x="4293269" y="2971284"/>
              <a:ext cx="1341714"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smtClean="0">
                  <a:latin typeface="Segoe UI" pitchFamily="34" charset="0"/>
                  <a:ea typeface="Segoe UI" pitchFamily="34" charset="0"/>
                  <a:cs typeface="Segoe UI" pitchFamily="34" charset="0"/>
                </a:rPr>
                <a:t>Configuration</a:t>
              </a:r>
              <a:endParaRPr lang="en-CA" sz="1600" dirty="0"/>
            </a:p>
          </p:txBody>
        </p:sp>
        <p:sp>
          <p:nvSpPr>
            <p:cNvPr id="46" name="&quot;schema"/>
            <p:cNvSpPr/>
            <p:nvPr/>
          </p:nvSpPr>
          <p:spPr>
            <a:xfrm>
              <a:off x="4568935" y="2593215"/>
              <a:ext cx="745397"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Schema</a:t>
              </a:r>
              <a:endParaRPr lang="en-CA" sz="1600" dirty="0"/>
            </a:p>
          </p:txBody>
        </p:sp>
      </p:grpSp>
      <p:pic>
        <p:nvPicPr>
          <p:cNvPr id="47" name="a serve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02880" y="2407246"/>
            <a:ext cx="713755" cy="1265772"/>
          </a:xfrm>
          <a:prstGeom prst="rect">
            <a:avLst/>
          </a:prstGeom>
        </p:spPr>
      </p:pic>
    </p:spTree>
    <p:extLst>
      <p:ext uri="{BB962C8B-B14F-4D97-AF65-F5344CB8AC3E}">
        <p14:creationId xmlns:p14="http://schemas.microsoft.com/office/powerpoint/2010/main" val="1261487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359b1312-e05f-4941-888f-ed8aceda762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La notion de maître d’opération (FSMO)</a:t>
            </a:r>
            <a:endParaRPr lang="fr-FR" dirty="0"/>
          </a:p>
        </p:txBody>
      </p:sp>
      <p:sp>
        <p:nvSpPr>
          <p:cNvPr id="4" name="AutoShape 3"/>
          <p:cNvSpPr>
            <a:spLocks noChangeArrowheads="1"/>
          </p:cNvSpPr>
          <p:nvPr/>
        </p:nvSpPr>
        <p:spPr bwMode="auto">
          <a:xfrm>
            <a:off x="341362" y="855897"/>
            <a:ext cx="8407101" cy="2501095"/>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buClr>
                <a:srgbClr val="0070C0"/>
              </a:buClr>
              <a:buSzPct val="120000"/>
            </a:pPr>
            <a:r>
              <a:rPr lang="fr-FR" sz="2400" b="0" dirty="0" smtClean="0">
                <a:latin typeface="Segoe UI" pitchFamily="34" charset="0"/>
                <a:ea typeface="Segoe UI" pitchFamily="34" charset="0"/>
                <a:cs typeface="Segoe UI" pitchFamily="34" charset="0"/>
              </a:rPr>
              <a:t>Les </a:t>
            </a:r>
            <a:r>
              <a:rPr lang="fr-FR" sz="2400" b="0" dirty="0">
                <a:latin typeface="Segoe UI" pitchFamily="34" charset="0"/>
                <a:ea typeface="Segoe UI" pitchFamily="34" charset="0"/>
                <a:cs typeface="Segoe UI" pitchFamily="34" charset="0"/>
              </a:rPr>
              <a:t>contrôleurs de domaine </a:t>
            </a:r>
            <a:r>
              <a:rPr lang="fr-FR" sz="2400" b="0" dirty="0" smtClean="0">
                <a:latin typeface="Segoe UI" pitchFamily="34" charset="0"/>
                <a:ea typeface="Segoe UI" pitchFamily="34" charset="0"/>
                <a:cs typeface="Segoe UI" pitchFamily="34" charset="0"/>
              </a:rPr>
              <a:t>disposent </a:t>
            </a:r>
            <a:r>
              <a:rPr lang="fr-FR" sz="2400" b="0" dirty="0">
                <a:latin typeface="Segoe UI" pitchFamily="34" charset="0"/>
                <a:ea typeface="Segoe UI" pitchFamily="34" charset="0"/>
                <a:cs typeface="Segoe UI" pitchFamily="34" charset="0"/>
              </a:rPr>
              <a:t>d’un accès en écriture sur </a:t>
            </a:r>
            <a:r>
              <a:rPr lang="fr-FR" sz="2400" b="0" dirty="0" smtClean="0">
                <a:latin typeface="Segoe UI" pitchFamily="34" charset="0"/>
                <a:ea typeface="Segoe UI" pitchFamily="34" charset="0"/>
                <a:cs typeface="Segoe UI" pitchFamily="34" charset="0"/>
              </a:rPr>
              <a:t>l’annuaire</a:t>
            </a:r>
            <a:r>
              <a:rPr lang="fr-FR" sz="2400" b="0" dirty="0">
                <a:latin typeface="Segoe UI" pitchFamily="34" charset="0"/>
                <a:ea typeface="Segoe UI" pitchFamily="34" charset="0"/>
                <a:cs typeface="Segoe UI" pitchFamily="34" charset="0"/>
              </a:rPr>
              <a:t>. </a:t>
            </a:r>
            <a:r>
              <a:rPr lang="fr-FR" sz="2400" b="0" dirty="0" smtClean="0">
                <a:latin typeface="Segoe UI" pitchFamily="34" charset="0"/>
                <a:ea typeface="Segoe UI" pitchFamily="34" charset="0"/>
                <a:cs typeface="Segoe UI" pitchFamily="34" charset="0"/>
              </a:rPr>
              <a:t>Il </a:t>
            </a:r>
            <a:r>
              <a:rPr lang="fr-FR" sz="2400" b="0" dirty="0">
                <a:latin typeface="Segoe UI" pitchFamily="34" charset="0"/>
                <a:ea typeface="Segoe UI" pitchFamily="34" charset="0"/>
                <a:cs typeface="Segoe UI" pitchFamily="34" charset="0"/>
              </a:rPr>
              <a:t>serait dangereux d’autoriser la modification de certaines données sur deux contrôleurs de domaine différents, en même temps. P</a:t>
            </a:r>
            <a:r>
              <a:rPr lang="fr-FR" sz="2400" b="0" dirty="0" smtClean="0">
                <a:latin typeface="Segoe UI" pitchFamily="34" charset="0"/>
                <a:ea typeface="Segoe UI" pitchFamily="34" charset="0"/>
                <a:cs typeface="Segoe UI" pitchFamily="34" charset="0"/>
              </a:rPr>
              <a:t>our </a:t>
            </a:r>
            <a:r>
              <a:rPr lang="fr-FR" sz="2400" b="0" dirty="0">
                <a:latin typeface="Segoe UI" pitchFamily="34" charset="0"/>
                <a:ea typeface="Segoe UI" pitchFamily="34" charset="0"/>
                <a:cs typeface="Segoe UI" pitchFamily="34" charset="0"/>
              </a:rPr>
              <a:t>minimiser les risques de conflits, </a:t>
            </a:r>
            <a:r>
              <a:rPr lang="fr-FR" sz="2400" b="0" dirty="0" smtClean="0">
                <a:latin typeface="Segoe UI" pitchFamily="34" charset="0"/>
                <a:ea typeface="Segoe UI" pitchFamily="34" charset="0"/>
                <a:cs typeface="Segoe UI" pitchFamily="34" charset="0"/>
              </a:rPr>
              <a:t>les </a:t>
            </a:r>
            <a:r>
              <a:rPr lang="fr-FR" sz="2400" b="0" dirty="0">
                <a:latin typeface="Segoe UI" pitchFamily="34" charset="0"/>
                <a:ea typeface="Segoe UI" pitchFamily="34" charset="0"/>
                <a:cs typeface="Segoe UI" pitchFamily="34" charset="0"/>
              </a:rPr>
              <a:t>rôles FSMO </a:t>
            </a:r>
            <a:r>
              <a:rPr lang="fr-FR" sz="2400" b="0" dirty="0" smtClean="0">
                <a:latin typeface="Segoe UI" pitchFamily="34" charset="0"/>
                <a:ea typeface="Segoe UI" pitchFamily="34" charset="0"/>
                <a:cs typeface="Segoe UI" pitchFamily="34" charset="0"/>
              </a:rPr>
              <a:t>permettent </a:t>
            </a:r>
            <a:r>
              <a:rPr lang="fr-FR" sz="2400" b="0" dirty="0">
                <a:latin typeface="Segoe UI" pitchFamily="34" charset="0"/>
                <a:ea typeface="Segoe UI" pitchFamily="34" charset="0"/>
                <a:cs typeface="Segoe UI" pitchFamily="34" charset="0"/>
              </a:rPr>
              <a:t>de limiter la modification de certaines données internes à l’annuaire Active Directory.</a:t>
            </a:r>
            <a:endParaRPr lang="en-US" sz="2400" dirty="0" smtClean="0">
              <a:latin typeface="Segoe UI" pitchFamily="34" charset="0"/>
              <a:ea typeface="Segoe UI" pitchFamily="34" charset="0"/>
              <a:cs typeface="Segoe UI" pitchFamily="34" charset="0"/>
            </a:endParaRPr>
          </a:p>
          <a:p>
            <a:pPr algn="ctr">
              <a:buClr>
                <a:srgbClr val="0070C0"/>
              </a:buClr>
              <a:buSzPct val="120000"/>
            </a:pPr>
            <a:endParaRPr lang="en-US" sz="2400" dirty="0" smtClean="0">
              <a:latin typeface="Segoe UI" pitchFamily="34" charset="0"/>
              <a:ea typeface="Segoe UI" pitchFamily="34" charset="0"/>
              <a:cs typeface="Segoe UI" pitchFamily="34" charset="0"/>
            </a:endParaRPr>
          </a:p>
          <a:p>
            <a:pPr>
              <a:buClr>
                <a:srgbClr val="0070C0"/>
              </a:buClr>
              <a:buSzPct val="120000"/>
            </a:pPr>
            <a:endParaRPr lang="en-US" sz="2400" dirty="0">
              <a:latin typeface="Segoe UI" pitchFamily="34" charset="0"/>
              <a:ea typeface="Segoe UI" pitchFamily="34" charset="0"/>
              <a:cs typeface="Segoe UI" pitchFamily="34" charset="0"/>
            </a:endParaRPr>
          </a:p>
          <a:p>
            <a:pPr>
              <a:buClr>
                <a:srgbClr val="0070C0"/>
              </a:buClr>
              <a:buSzPct val="120000"/>
            </a:pPr>
            <a:endParaRPr lang="en-US" sz="2400" dirty="0">
              <a:latin typeface="Segoe UI" pitchFamily="34" charset="0"/>
              <a:ea typeface="Segoe UI" pitchFamily="34" charset="0"/>
              <a:cs typeface="Segoe UI" pitchFamily="34" charset="0"/>
            </a:endParaRPr>
          </a:p>
        </p:txBody>
      </p:sp>
      <p:sp>
        <p:nvSpPr>
          <p:cNvPr id="5" name="AutoShape 3"/>
          <p:cNvSpPr>
            <a:spLocks noChangeArrowheads="1"/>
          </p:cNvSpPr>
          <p:nvPr/>
        </p:nvSpPr>
        <p:spPr bwMode="auto">
          <a:xfrm>
            <a:off x="539552" y="3803105"/>
            <a:ext cx="7992888" cy="512370"/>
          </a:xfrm>
          <a:prstGeom prst="roundRect">
            <a:avLst>
              <a:gd name="adj" fmla="val 4167"/>
            </a:avLst>
          </a:prstGeom>
          <a:ln w="22225">
            <a:solidFill>
              <a:srgbClr val="569AD2"/>
            </a:solidFill>
            <a:headEnd/>
            <a:tailEnd/>
          </a:ln>
        </p:spPr>
        <p:style>
          <a:lnRef idx="2">
            <a:schemeClr val="dk1"/>
          </a:lnRef>
          <a:fillRef idx="1">
            <a:schemeClr val="lt1"/>
          </a:fillRef>
          <a:effectRef idx="0">
            <a:schemeClr val="dk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buClr>
                <a:srgbClr val="0070C0"/>
              </a:buClr>
              <a:buSzPct val="120000"/>
            </a:pPr>
            <a:r>
              <a:rPr lang="fr-FR" sz="2400" b="0" dirty="0" smtClean="0">
                <a:latin typeface="Segoe UI" pitchFamily="34" charset="0"/>
                <a:ea typeface="Segoe UI" pitchFamily="34" charset="0"/>
                <a:cs typeface="Segoe UI" pitchFamily="34" charset="0"/>
              </a:rPr>
              <a:t>Les 5 maîtres d’opération sont :</a:t>
            </a:r>
            <a:endParaRPr lang="fr-FR" sz="2400" b="0" dirty="0">
              <a:latin typeface="Segoe UI" pitchFamily="34" charset="0"/>
              <a:ea typeface="Segoe UI" pitchFamily="34" charset="0"/>
              <a:cs typeface="Segoe UI" pitchFamily="34" charset="0"/>
            </a:endParaRPr>
          </a:p>
        </p:txBody>
      </p:sp>
      <p:sp>
        <p:nvSpPr>
          <p:cNvPr id="6" name="Rounded Rectangle 5"/>
          <p:cNvSpPr>
            <a:spLocks noChangeArrowheads="1"/>
          </p:cNvSpPr>
          <p:nvPr/>
        </p:nvSpPr>
        <p:spPr bwMode="auto">
          <a:xfrm>
            <a:off x="539552" y="4315474"/>
            <a:ext cx="4032448" cy="1849830"/>
          </a:xfrm>
          <a:prstGeom prst="roundRect">
            <a:avLst>
              <a:gd name="adj" fmla="val 4167"/>
            </a:avLst>
          </a:prstGeom>
          <a:ln w="22225">
            <a:solidFill>
              <a:srgbClr val="569AD2"/>
            </a:solidFill>
            <a:headEnd/>
            <a:tailEnd/>
          </a:ln>
        </p:spPr>
        <p:style>
          <a:lnRef idx="2">
            <a:schemeClr val="dk1"/>
          </a:lnRef>
          <a:fillRef idx="1">
            <a:schemeClr val="lt1"/>
          </a:fillRef>
          <a:effectRef idx="0">
            <a:schemeClr val="dk1"/>
          </a:effectRef>
          <a:fontRef idx="minor">
            <a:schemeClr val="dk1"/>
          </a:fontRef>
        </p:style>
        <p:txBody>
          <a:bodyPr anchor="t" anchorCtr="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69863" lvl="1" indent="-169863" eaLnBrk="0" hangingPunct="0">
              <a:lnSpc>
                <a:spcPct val="90000"/>
              </a:lnSpc>
              <a:spcBef>
                <a:spcPct val="40000"/>
              </a:spcBef>
              <a:buClr>
                <a:srgbClr val="006699"/>
              </a:buClr>
              <a:buFontTx/>
              <a:buChar char="•"/>
            </a:pPr>
            <a:r>
              <a:rPr lang="fr-FR" altLang="zh-TW" sz="2400" b="0" dirty="0" smtClean="0">
                <a:solidFill>
                  <a:srgbClr val="000000"/>
                </a:solidFill>
                <a:latin typeface="Segoe UI" pitchFamily="34" charset="0"/>
                <a:ea typeface="Segoe UI" pitchFamily="34" charset="0"/>
                <a:cs typeface="Segoe UI" pitchFamily="34" charset="0"/>
              </a:rPr>
              <a:t>Forêt :</a:t>
            </a:r>
          </a:p>
          <a:p>
            <a:pPr marL="360000" lvl="2" indent="-169863" eaLnBrk="0" hangingPunct="0">
              <a:lnSpc>
                <a:spcPct val="90000"/>
              </a:lnSpc>
              <a:spcBef>
                <a:spcPct val="40000"/>
              </a:spcBef>
              <a:buClr>
                <a:srgbClr val="006699"/>
              </a:buClr>
              <a:buFontTx/>
              <a:buChar char="•"/>
            </a:pPr>
            <a:r>
              <a:rPr lang="fr-FR" altLang="zh-TW" sz="2000" b="0" dirty="0" smtClean="0">
                <a:solidFill>
                  <a:srgbClr val="000000"/>
                </a:solidFill>
                <a:latin typeface="Segoe UI" pitchFamily="34" charset="0"/>
                <a:ea typeface="Segoe UI" pitchFamily="34" charset="0"/>
                <a:cs typeface="Segoe UI" pitchFamily="34" charset="0"/>
              </a:rPr>
              <a:t>Maître </a:t>
            </a:r>
            <a:r>
              <a:rPr lang="fr-FR" altLang="zh-TW" sz="2000" b="0" dirty="0">
                <a:solidFill>
                  <a:srgbClr val="000000"/>
                </a:solidFill>
                <a:latin typeface="Segoe UI" pitchFamily="34" charset="0"/>
                <a:ea typeface="Segoe UI" pitchFamily="34" charset="0"/>
                <a:cs typeface="Segoe UI" pitchFamily="34" charset="0"/>
              </a:rPr>
              <a:t>d’attribution </a:t>
            </a:r>
            <a:r>
              <a:rPr lang="fr-FR" altLang="zh-TW" sz="2000" b="0" dirty="0" smtClean="0">
                <a:solidFill>
                  <a:srgbClr val="000000"/>
                </a:solidFill>
                <a:latin typeface="Segoe UI" pitchFamily="34" charset="0"/>
                <a:ea typeface="Segoe UI" pitchFamily="34" charset="0"/>
                <a:cs typeface="Segoe UI" pitchFamily="34" charset="0"/>
              </a:rPr>
              <a:t>des noms </a:t>
            </a:r>
            <a:r>
              <a:rPr lang="fr-FR" altLang="zh-TW" sz="2000" b="0" dirty="0">
                <a:solidFill>
                  <a:srgbClr val="000000"/>
                </a:solidFill>
                <a:latin typeface="Segoe UI" pitchFamily="34" charset="0"/>
                <a:ea typeface="Segoe UI" pitchFamily="34" charset="0"/>
                <a:cs typeface="Segoe UI" pitchFamily="34" charset="0"/>
              </a:rPr>
              <a:t>de </a:t>
            </a:r>
            <a:r>
              <a:rPr lang="fr-FR" altLang="zh-TW" sz="2000" b="0" dirty="0" smtClean="0">
                <a:solidFill>
                  <a:srgbClr val="000000"/>
                </a:solidFill>
                <a:latin typeface="Segoe UI" pitchFamily="34" charset="0"/>
                <a:ea typeface="Segoe UI" pitchFamily="34" charset="0"/>
                <a:cs typeface="Segoe UI" pitchFamily="34" charset="0"/>
              </a:rPr>
              <a:t>domaine.</a:t>
            </a:r>
          </a:p>
          <a:p>
            <a:pPr marL="360000" lvl="2" indent="-169863" eaLnBrk="0" hangingPunct="0">
              <a:lnSpc>
                <a:spcPct val="90000"/>
              </a:lnSpc>
              <a:spcBef>
                <a:spcPct val="40000"/>
              </a:spcBef>
              <a:buClr>
                <a:srgbClr val="006699"/>
              </a:buClr>
              <a:buFontTx/>
              <a:buChar char="•"/>
            </a:pPr>
            <a:r>
              <a:rPr lang="fr-FR" altLang="zh-TW" sz="2000" b="0" dirty="0" smtClean="0">
                <a:solidFill>
                  <a:srgbClr val="000000"/>
                </a:solidFill>
                <a:latin typeface="Segoe UI" pitchFamily="34" charset="0"/>
                <a:ea typeface="Segoe UI" pitchFamily="34" charset="0"/>
                <a:cs typeface="Segoe UI" pitchFamily="34" charset="0"/>
              </a:rPr>
              <a:t>Contrôleur </a:t>
            </a:r>
            <a:r>
              <a:rPr lang="fr-FR" altLang="zh-TW" sz="2000" b="0" dirty="0">
                <a:solidFill>
                  <a:srgbClr val="000000"/>
                </a:solidFill>
                <a:latin typeface="Segoe UI" pitchFamily="34" charset="0"/>
                <a:ea typeface="Segoe UI" pitchFamily="34" charset="0"/>
                <a:cs typeface="Segoe UI" pitchFamily="34" charset="0"/>
              </a:rPr>
              <a:t>de schéma</a:t>
            </a:r>
          </a:p>
        </p:txBody>
      </p:sp>
      <p:sp>
        <p:nvSpPr>
          <p:cNvPr id="7" name="Rounded Rectangle 6"/>
          <p:cNvSpPr>
            <a:spLocks noChangeArrowheads="1"/>
          </p:cNvSpPr>
          <p:nvPr/>
        </p:nvSpPr>
        <p:spPr bwMode="auto">
          <a:xfrm>
            <a:off x="4572000" y="4315474"/>
            <a:ext cx="3960440" cy="1849830"/>
          </a:xfrm>
          <a:prstGeom prst="roundRect">
            <a:avLst>
              <a:gd name="adj" fmla="val 4167"/>
            </a:avLst>
          </a:prstGeom>
          <a:ln w="22225">
            <a:solidFill>
              <a:srgbClr val="569AD2"/>
            </a:solidFill>
            <a:headEnd/>
            <a:tailEnd/>
          </a:ln>
        </p:spPr>
        <p:style>
          <a:lnRef idx="2">
            <a:schemeClr val="dk1"/>
          </a:lnRef>
          <a:fillRef idx="1">
            <a:schemeClr val="lt1"/>
          </a:fillRef>
          <a:effectRef idx="0">
            <a:schemeClr val="dk1"/>
          </a:effectRef>
          <a:fontRef idx="minor">
            <a:schemeClr val="dk1"/>
          </a:fontRef>
        </p:style>
        <p:txBody>
          <a:bodyPr anchor="t" anchorCtr="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69863" lvl="1" indent="-169863" eaLnBrk="0" hangingPunct="0">
              <a:lnSpc>
                <a:spcPct val="90000"/>
              </a:lnSpc>
              <a:spcBef>
                <a:spcPct val="40000"/>
              </a:spcBef>
              <a:buClr>
                <a:srgbClr val="006699"/>
              </a:buClr>
              <a:buFontTx/>
              <a:buChar char="•"/>
            </a:pPr>
            <a:r>
              <a:rPr lang="fr-FR" altLang="zh-TW" sz="2400" b="0" dirty="0" smtClean="0">
                <a:solidFill>
                  <a:srgbClr val="000000"/>
                </a:solidFill>
                <a:latin typeface="Segoe UI" pitchFamily="34" charset="0"/>
                <a:ea typeface="Segoe UI" pitchFamily="34" charset="0"/>
                <a:cs typeface="Segoe UI" pitchFamily="34" charset="0"/>
              </a:rPr>
              <a:t>Domaine :</a:t>
            </a:r>
          </a:p>
          <a:p>
            <a:pPr marL="360000" lvl="2" indent="-169863" eaLnBrk="0" hangingPunct="0">
              <a:spcBef>
                <a:spcPts val="600"/>
              </a:spcBef>
              <a:buClr>
                <a:srgbClr val="006699"/>
              </a:buClr>
              <a:buFontTx/>
              <a:buChar char="•"/>
            </a:pPr>
            <a:r>
              <a:rPr lang="fr-FR" altLang="zh-TW" sz="2000" b="0" dirty="0" smtClean="0">
                <a:solidFill>
                  <a:srgbClr val="000000"/>
                </a:solidFill>
                <a:latin typeface="Segoe UI" pitchFamily="34" charset="0"/>
                <a:ea typeface="Segoe UI" pitchFamily="34" charset="0"/>
                <a:cs typeface="Segoe UI" pitchFamily="34" charset="0"/>
              </a:rPr>
              <a:t>Maître RID</a:t>
            </a:r>
            <a:endParaRPr lang="fr-FR" altLang="zh-TW" sz="2000" b="0" dirty="0">
              <a:solidFill>
                <a:srgbClr val="000000"/>
              </a:solidFill>
              <a:latin typeface="Segoe UI" pitchFamily="34" charset="0"/>
              <a:ea typeface="Segoe UI" pitchFamily="34" charset="0"/>
              <a:cs typeface="Segoe UI" pitchFamily="34" charset="0"/>
            </a:endParaRPr>
          </a:p>
          <a:p>
            <a:pPr marL="360000" lvl="2" indent="-169863" eaLnBrk="0" hangingPunct="0">
              <a:spcBef>
                <a:spcPts val="600"/>
              </a:spcBef>
              <a:buClr>
                <a:srgbClr val="006699"/>
              </a:buClr>
              <a:buFontTx/>
              <a:buChar char="•"/>
            </a:pPr>
            <a:r>
              <a:rPr lang="fr-FR" altLang="zh-TW" sz="2000" b="0" dirty="0" smtClean="0">
                <a:solidFill>
                  <a:srgbClr val="000000"/>
                </a:solidFill>
                <a:latin typeface="Segoe UI" pitchFamily="34" charset="0"/>
                <a:ea typeface="Segoe UI" pitchFamily="34" charset="0"/>
                <a:cs typeface="Segoe UI" pitchFamily="34" charset="0"/>
              </a:rPr>
              <a:t>Maître d’infrastructure</a:t>
            </a:r>
          </a:p>
          <a:p>
            <a:pPr marL="360000" lvl="2" indent="-169863" eaLnBrk="0" hangingPunct="0">
              <a:spcBef>
                <a:spcPts val="600"/>
              </a:spcBef>
              <a:buClr>
                <a:srgbClr val="006699"/>
              </a:buClr>
              <a:buFontTx/>
              <a:buChar char="•"/>
            </a:pPr>
            <a:r>
              <a:rPr lang="fr-FR" altLang="zh-TW" sz="2000" b="0" dirty="0" smtClean="0">
                <a:solidFill>
                  <a:srgbClr val="000000"/>
                </a:solidFill>
                <a:latin typeface="Segoe UI" pitchFamily="34" charset="0"/>
                <a:ea typeface="Segoe UI" pitchFamily="34" charset="0"/>
                <a:cs typeface="Segoe UI" pitchFamily="34" charset="0"/>
              </a:rPr>
              <a:t>Maître émulateur PDC</a:t>
            </a:r>
            <a:endParaRPr lang="fr-FR" altLang="zh-TW" sz="2000" b="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015303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227a4b2-fd7a-4968-904c-0db7357a2877">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288089" cy="740664"/>
          </a:xfrm>
        </p:spPr>
        <p:txBody>
          <a:bodyPr/>
          <a:lstStyle/>
          <a:p>
            <a:r>
              <a:rPr lang="fr-FR" dirty="0" smtClean="0"/>
              <a:t>Installation d’un contrôleur de domaine</a:t>
            </a:r>
            <a:endParaRPr lang="fr-FR" dirty="0"/>
          </a:p>
        </p:txBody>
      </p:sp>
      <p:sp>
        <p:nvSpPr>
          <p:cNvPr id="4" name="TextBox 2"/>
          <p:cNvSpPr txBox="1"/>
          <p:nvPr/>
        </p:nvSpPr>
        <p:spPr>
          <a:xfrm>
            <a:off x="625643" y="1023119"/>
            <a:ext cx="7964904"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2400" b="0" dirty="0" smtClean="0">
                <a:latin typeface="Segoe UI" pitchFamily="34" charset="0"/>
                <a:ea typeface="Segoe UI" pitchFamily="34" charset="0"/>
                <a:cs typeface="Segoe UI" pitchFamily="34" charset="0"/>
              </a:rPr>
              <a:t>En utilisant l’assistant d’installation graphique :</a:t>
            </a:r>
            <a:endParaRPr lang="fr-FR" sz="2400" b="0" dirty="0">
              <a:latin typeface="Segoe UI" pitchFamily="34" charset="0"/>
              <a:ea typeface="Segoe UI" pitchFamily="34" charset="0"/>
              <a:cs typeface="Segoe UI" pitchFamily="34" charset="0"/>
            </a:endParaRPr>
          </a:p>
        </p:txBody>
      </p:sp>
      <p:pic>
        <p:nvPicPr>
          <p:cNvPr id="5" name="Picture 4" descr="Screen shot of the Deployment Configuration section of the Active Directory Domain Services Configuration Wizard."/>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839753"/>
            <a:ext cx="7086551" cy="4325551"/>
          </a:xfrm>
          <a:prstGeom prst="rect">
            <a:avLst/>
          </a:prstGeom>
          <a:noFill/>
          <a:ln w="9525">
            <a:solidFill>
              <a:schemeClr val="tx1"/>
            </a:solidFill>
            <a:miter lim="800000"/>
            <a:headEnd/>
            <a:tailEnd/>
          </a:ln>
          <a:extLst/>
        </p:spPr>
      </p:pic>
    </p:spTree>
    <p:extLst>
      <p:ext uri="{BB962C8B-B14F-4D97-AF65-F5344CB8AC3E}">
        <p14:creationId xmlns:p14="http://schemas.microsoft.com/office/powerpoint/2010/main" val="2956210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288089" cy="740664"/>
          </a:xfrm>
        </p:spPr>
        <p:txBody>
          <a:bodyPr/>
          <a:lstStyle/>
          <a:p>
            <a:r>
              <a:rPr lang="fr-FR" dirty="0" smtClean="0"/>
              <a:t>Installation d’un contrôleur de domaine</a:t>
            </a:r>
            <a:endParaRPr lang="fr-FR" dirty="0"/>
          </a:p>
        </p:txBody>
      </p:sp>
      <p:sp>
        <p:nvSpPr>
          <p:cNvPr id="4" name="TextBox 2"/>
          <p:cNvSpPr txBox="1"/>
          <p:nvPr/>
        </p:nvSpPr>
        <p:spPr>
          <a:xfrm>
            <a:off x="611560" y="1249596"/>
            <a:ext cx="7964904" cy="52322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2800" b="0" dirty="0" smtClean="0">
                <a:latin typeface="Segoe UI" pitchFamily="34" charset="0"/>
                <a:ea typeface="Segoe UI" pitchFamily="34" charset="0"/>
                <a:cs typeface="Segoe UI" pitchFamily="34" charset="0"/>
              </a:rPr>
              <a:t>En utilisant les commandes power </a:t>
            </a:r>
            <a:r>
              <a:rPr lang="fr-FR" sz="2800" b="0" dirty="0" err="1" smtClean="0">
                <a:latin typeface="Segoe UI" pitchFamily="34" charset="0"/>
                <a:ea typeface="Segoe UI" pitchFamily="34" charset="0"/>
                <a:cs typeface="Segoe UI" pitchFamily="34" charset="0"/>
              </a:rPr>
              <a:t>shell</a:t>
            </a:r>
            <a:r>
              <a:rPr lang="fr-FR" sz="2800" b="0" dirty="0" smtClean="0">
                <a:latin typeface="Segoe UI" pitchFamily="34" charset="0"/>
                <a:ea typeface="Segoe UI" pitchFamily="34" charset="0"/>
                <a:cs typeface="Segoe UI" pitchFamily="34" charset="0"/>
              </a:rPr>
              <a:t> (</a:t>
            </a:r>
            <a:r>
              <a:rPr lang="fr-FR" sz="2800" b="0" dirty="0" err="1" smtClean="0">
                <a:latin typeface="Segoe UI" pitchFamily="34" charset="0"/>
                <a:ea typeface="Segoe UI" pitchFamily="34" charset="0"/>
                <a:cs typeface="Segoe UI" pitchFamily="34" charset="0"/>
              </a:rPr>
              <a:t>Core</a:t>
            </a:r>
            <a:r>
              <a:rPr lang="fr-FR" sz="2800" b="0" dirty="0" smtClean="0">
                <a:latin typeface="Segoe UI" pitchFamily="34" charset="0"/>
                <a:ea typeface="Segoe UI" pitchFamily="34" charset="0"/>
                <a:cs typeface="Segoe UI" pitchFamily="34" charset="0"/>
              </a:rPr>
              <a:t>) :</a:t>
            </a:r>
            <a:endParaRPr lang="fr-FR" sz="2800" b="0" dirty="0">
              <a:latin typeface="Segoe UI" pitchFamily="34" charset="0"/>
              <a:ea typeface="Segoe UI" pitchFamily="34" charset="0"/>
              <a:cs typeface="Segoe UI" pitchFamily="34" charset="0"/>
            </a:endParaRPr>
          </a:p>
        </p:txBody>
      </p:sp>
      <p:sp>
        <p:nvSpPr>
          <p:cNvPr id="3" name="Rectangle 2"/>
          <p:cNvSpPr/>
          <p:nvPr/>
        </p:nvSpPr>
        <p:spPr>
          <a:xfrm>
            <a:off x="323528" y="2358459"/>
            <a:ext cx="8576122" cy="1646605"/>
          </a:xfrm>
          <a:prstGeom prst="rect">
            <a:avLst/>
          </a:prstGeom>
        </p:spPr>
        <p:txBody>
          <a:bodyPr wrap="square">
            <a:spAutoFit/>
          </a:bodyPr>
          <a:lstStyle/>
          <a:p>
            <a:pPr marL="720000" lvl="1" indent="-457200">
              <a:spcBef>
                <a:spcPts val="600"/>
              </a:spcBef>
              <a:buFont typeface="+mj-lt"/>
              <a:buAutoNum type="arabicPeriod"/>
            </a:pPr>
            <a:r>
              <a:rPr lang="fr-FR" sz="2400" dirty="0" smtClean="0">
                <a:latin typeface="Segoe UI" pitchFamily="34" charset="0"/>
                <a:ea typeface="Segoe UI" pitchFamily="34" charset="0"/>
                <a:cs typeface="Segoe UI" pitchFamily="34" charset="0"/>
              </a:rPr>
              <a:t>Installation des fichiers du rôle</a:t>
            </a:r>
            <a:br>
              <a:rPr lang="fr-FR" sz="2400" dirty="0" smtClean="0">
                <a:latin typeface="Segoe UI" pitchFamily="34" charset="0"/>
                <a:ea typeface="Segoe UI" pitchFamily="34" charset="0"/>
                <a:cs typeface="Segoe UI" pitchFamily="34" charset="0"/>
              </a:rPr>
            </a:br>
            <a:r>
              <a:rPr lang="fr-FR" sz="2400" b="1" dirty="0" smtClean="0">
                <a:latin typeface="Courier New" panose="02070309020205020404" pitchFamily="49" charset="0"/>
                <a:ea typeface="Segoe UI" pitchFamily="34" charset="0"/>
                <a:cs typeface="Courier New" panose="02070309020205020404" pitchFamily="49" charset="0"/>
              </a:rPr>
              <a:t>Install-</a:t>
            </a:r>
            <a:r>
              <a:rPr lang="fr-FR" sz="2400" b="1" dirty="0" err="1" smtClean="0">
                <a:latin typeface="Courier New" panose="02070309020205020404" pitchFamily="49" charset="0"/>
                <a:ea typeface="Segoe UI" pitchFamily="34" charset="0"/>
                <a:cs typeface="Courier New" panose="02070309020205020404" pitchFamily="49" charset="0"/>
              </a:rPr>
              <a:t>WindowsFeature</a:t>
            </a:r>
            <a:r>
              <a:rPr lang="fr-FR" sz="2400" b="1" dirty="0" smtClean="0">
                <a:latin typeface="Courier New" panose="02070309020205020404" pitchFamily="49" charset="0"/>
                <a:ea typeface="Segoe UI" pitchFamily="34" charset="0"/>
                <a:cs typeface="Courier New" panose="02070309020205020404" pitchFamily="49" charset="0"/>
              </a:rPr>
              <a:t> AD-Domain-Services</a:t>
            </a:r>
          </a:p>
          <a:p>
            <a:pPr marL="720000" lvl="1" indent="-457200">
              <a:spcBef>
                <a:spcPts val="600"/>
              </a:spcBef>
              <a:buFont typeface="+mj-lt"/>
              <a:buAutoNum type="arabicPeriod"/>
            </a:pPr>
            <a:r>
              <a:rPr lang="fr-FR" sz="2400" dirty="0" smtClean="0">
                <a:latin typeface="Segoe UI" pitchFamily="34" charset="0"/>
                <a:ea typeface="Segoe UI" pitchFamily="34" charset="0"/>
                <a:cs typeface="Segoe UI" pitchFamily="34" charset="0"/>
              </a:rPr>
              <a:t>Création et configuration du contrôleur de domaine</a:t>
            </a:r>
            <a:br>
              <a:rPr lang="fr-FR" sz="2400" dirty="0" smtClean="0">
                <a:latin typeface="Segoe UI" pitchFamily="34" charset="0"/>
                <a:ea typeface="Segoe UI" pitchFamily="34" charset="0"/>
                <a:cs typeface="Segoe UI" pitchFamily="34" charset="0"/>
              </a:rPr>
            </a:br>
            <a:r>
              <a:rPr lang="fr-FR" sz="2400" b="1" dirty="0" smtClean="0">
                <a:latin typeface="Courier New" panose="02070309020205020404" pitchFamily="49" charset="0"/>
                <a:ea typeface="Segoe UI" pitchFamily="34" charset="0"/>
                <a:cs typeface="Courier New" panose="02070309020205020404" pitchFamily="49" charset="0"/>
              </a:rPr>
              <a:t>Install-</a:t>
            </a:r>
            <a:r>
              <a:rPr lang="fr-FR" sz="2400" b="1" dirty="0" err="1" smtClean="0">
                <a:latin typeface="Courier New" panose="02070309020205020404" pitchFamily="49" charset="0"/>
                <a:ea typeface="Segoe UI" pitchFamily="34" charset="0"/>
                <a:cs typeface="Courier New" panose="02070309020205020404" pitchFamily="49" charset="0"/>
              </a:rPr>
              <a:t>ADDSDomainController</a:t>
            </a:r>
            <a:endParaRPr lang="fr-FR" sz="2400" b="1" dirty="0">
              <a:latin typeface="Courier New" panose="02070309020205020404" pitchFamily="49" charset="0"/>
              <a:ea typeface="Segoe UI" pitchFamily="34" charset="0"/>
              <a:cs typeface="Courier New" panose="02070309020205020404" pitchFamily="49" charset="0"/>
            </a:endParaRPr>
          </a:p>
        </p:txBody>
      </p:sp>
    </p:spTree>
    <p:extLst>
      <p:ext uri="{BB962C8B-B14F-4D97-AF65-F5344CB8AC3E}">
        <p14:creationId xmlns:p14="http://schemas.microsoft.com/office/powerpoint/2010/main" val="65996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288089" cy="740664"/>
          </a:xfrm>
        </p:spPr>
        <p:txBody>
          <a:bodyPr/>
          <a:lstStyle/>
          <a:p>
            <a:r>
              <a:rPr lang="fr-FR" dirty="0" smtClean="0"/>
              <a:t>Installation d’un contrôleur de domaine</a:t>
            </a:r>
            <a:endParaRPr lang="fr-FR" dirty="0"/>
          </a:p>
        </p:txBody>
      </p:sp>
      <p:sp>
        <p:nvSpPr>
          <p:cNvPr id="4" name="TextBox 2"/>
          <p:cNvSpPr txBox="1"/>
          <p:nvPr/>
        </p:nvSpPr>
        <p:spPr>
          <a:xfrm>
            <a:off x="625643" y="1023119"/>
            <a:ext cx="7964904"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2400" b="0" dirty="0" smtClean="0">
                <a:latin typeface="Segoe UI" pitchFamily="34" charset="0"/>
                <a:ea typeface="Segoe UI" pitchFamily="34" charset="0"/>
                <a:cs typeface="Segoe UI" pitchFamily="34" charset="0"/>
              </a:rPr>
              <a:t>En utilisant un périphérique de stockage (IFM) :</a:t>
            </a:r>
            <a:endParaRPr lang="fr-FR" sz="2400" b="0" dirty="0">
              <a:latin typeface="Segoe UI" pitchFamily="34" charset="0"/>
              <a:ea typeface="Segoe UI" pitchFamily="34" charset="0"/>
              <a:cs typeface="Segoe UI" pitchFamily="34" charset="0"/>
            </a:endParaRPr>
          </a:p>
        </p:txBody>
      </p:sp>
      <p:pic>
        <p:nvPicPr>
          <p:cNvPr id="6" name="Picture 4" descr="Screen shot of the Install from Media section on the Additional Options page of the Active Directory Domain Services Configuration Wizard. Under Specify IFM options, the Install From Media Path check box is selected."/>
          <p:cNvPicPr>
            <a:picLocks noChangeAspect="1"/>
          </p:cNvPicPr>
          <p:nvPr/>
        </p:nvPicPr>
        <p:blipFill>
          <a:blip r:embed="rId3"/>
          <a:stretch>
            <a:fillRect/>
          </a:stretch>
        </p:blipFill>
        <p:spPr>
          <a:xfrm>
            <a:off x="692227" y="1844824"/>
            <a:ext cx="8120063" cy="3052763"/>
          </a:xfrm>
          <a:prstGeom prst="rect">
            <a:avLst/>
          </a:prstGeom>
          <a:ln>
            <a:solidFill>
              <a:schemeClr val="tx1">
                <a:lumMod val="50000"/>
                <a:lumOff val="50000"/>
              </a:schemeClr>
            </a:solidFill>
          </a:ln>
        </p:spPr>
      </p:pic>
    </p:spTree>
    <p:extLst>
      <p:ext uri="{BB962C8B-B14F-4D97-AF65-F5344CB8AC3E}">
        <p14:creationId xmlns:p14="http://schemas.microsoft.com/office/powerpoint/2010/main" val="4167586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aaba2467-46ea-4ebe-86d0-bab4fb246c9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Windows Azure Active Directory?</a:t>
            </a:r>
            <a:endParaRPr lang="en-CA" dirty="0"/>
          </a:p>
        </p:txBody>
      </p:sp>
      <p:pic>
        <p:nvPicPr>
          <p:cNvPr id="4" name="cloud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3374701"/>
            <a:ext cx="2510697" cy="1610106"/>
          </a:xfrm>
          <a:prstGeom prst="rect">
            <a:avLst/>
          </a:prstGeom>
        </p:spPr>
      </p:pic>
      <p:sp>
        <p:nvSpPr>
          <p:cNvPr id="5" name="Isosceles Triangle 4"/>
          <p:cNvSpPr/>
          <p:nvPr/>
        </p:nvSpPr>
        <p:spPr>
          <a:xfrm>
            <a:off x="3491976" y="1753884"/>
            <a:ext cx="1987812" cy="1913544"/>
          </a:xfrm>
          <a:prstGeom prst="triangle">
            <a:avLst/>
          </a:prstGeom>
          <a:no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pic>
        <p:nvPicPr>
          <p:cNvPr id="6" name="cloud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886417">
            <a:off x="5658409" y="3590277"/>
            <a:ext cx="1636559" cy="1008089"/>
          </a:xfrm>
          <a:prstGeom prst="rect">
            <a:avLst/>
          </a:prstGeom>
        </p:spPr>
      </p:pic>
      <p:grpSp>
        <p:nvGrpSpPr>
          <p:cNvPr id="7" name="arrows"/>
          <p:cNvGrpSpPr/>
          <p:nvPr/>
        </p:nvGrpSpPr>
        <p:grpSpPr>
          <a:xfrm>
            <a:off x="1891776" y="1791984"/>
            <a:ext cx="5974230" cy="3692977"/>
            <a:chOff x="1955128" y="1820506"/>
            <a:chExt cx="5974230" cy="3692977"/>
          </a:xfrm>
        </p:grpSpPr>
        <p:cxnSp>
          <p:nvCxnSpPr>
            <p:cNvPr id="8" name="Straight Arrow Connector 7"/>
            <p:cNvCxnSpPr/>
            <p:nvPr/>
          </p:nvCxnSpPr>
          <p:spPr>
            <a:xfrm flipH="1" flipV="1">
              <a:off x="5046187" y="2739178"/>
              <a:ext cx="1640215" cy="103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352800" y="1893126"/>
              <a:ext cx="914400" cy="48196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102357" y="2642437"/>
              <a:ext cx="2011448"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4868863" y="1820506"/>
              <a:ext cx="823912" cy="546457"/>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955128" y="3062822"/>
              <a:ext cx="1931072" cy="67097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3210934" y="3709239"/>
              <a:ext cx="1253491" cy="180424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5562600" y="3720874"/>
              <a:ext cx="453483" cy="25124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7176883" y="4216400"/>
              <a:ext cx="752475" cy="20660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6929485" y="4477877"/>
              <a:ext cx="498475" cy="46805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flipV="1">
              <a:off x="6400800" y="4580851"/>
              <a:ext cx="19050" cy="66742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8" name="alt text here Servers" descr="Illustration of various services that connect to Windows Azure AD. Windows Azure AD is in the center. The services that can use Windows Azure AD for identity management are arranged around it. These services are:&#10;• Office 365&#10;• Exchange Online&#10;• SharePoint Online&#10;• Lync Online&#10;• Windows Azure Apps&#10;• Internet connected apps&#10;&#10;The graphic also depicts an on-premises AD DS synchronizing with Windows Azure AD."/>
          <p:cNvGrpSpPr/>
          <p:nvPr/>
        </p:nvGrpSpPr>
        <p:grpSpPr>
          <a:xfrm>
            <a:off x="1404711" y="1333220"/>
            <a:ext cx="6709406" cy="4874288"/>
            <a:chOff x="1662278" y="1300987"/>
            <a:chExt cx="6709406" cy="4874288"/>
          </a:xfrm>
        </p:grpSpPr>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24200" y="1300987"/>
              <a:ext cx="507328" cy="899695"/>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69620" y="1904022"/>
              <a:ext cx="507328" cy="899695"/>
            </a:xfrm>
            <a:prstGeom prst="rect">
              <a:avLst/>
            </a:prstGeom>
          </p:spPr>
        </p:pic>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62278" y="3519479"/>
              <a:ext cx="507328" cy="899695"/>
            </a:xfrm>
            <a:prstGeom prst="rect">
              <a:avLst/>
            </a:prstGeom>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39687" y="5275580"/>
              <a:ext cx="507328" cy="899695"/>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65420" y="5002881"/>
              <a:ext cx="507328" cy="899695"/>
            </a:xfrm>
            <a:prstGeom prst="rect">
              <a:avLst/>
            </a:prstGeom>
          </p:spPr>
        </p:pic>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25513" y="4698549"/>
              <a:ext cx="507328" cy="899695"/>
            </a:xfrm>
            <a:prstGeom prst="rect">
              <a:avLst/>
            </a:prstGeom>
          </p:spPr>
        </p:pic>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64356" y="3751393"/>
              <a:ext cx="507328" cy="899695"/>
            </a:xfrm>
            <a:prstGeom prst="rect">
              <a:avLst/>
            </a:prstGeom>
          </p:spPr>
        </p:pic>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0591" y="2200682"/>
              <a:ext cx="507328" cy="899695"/>
            </a:xfrm>
            <a:prstGeom prst="rect">
              <a:avLst/>
            </a:prstGeom>
          </p:spPr>
        </p:pic>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33326" y="1309903"/>
              <a:ext cx="507328" cy="899695"/>
            </a:xfrm>
            <a:prstGeom prst="rect">
              <a:avLst/>
            </a:prstGeom>
          </p:spPr>
        </p:pic>
      </p:grpSp>
      <p:grpSp>
        <p:nvGrpSpPr>
          <p:cNvPr id="28" name="Labels"/>
          <p:cNvGrpSpPr/>
          <p:nvPr/>
        </p:nvGrpSpPr>
        <p:grpSpPr>
          <a:xfrm>
            <a:off x="958910" y="1295400"/>
            <a:ext cx="7053943" cy="5167966"/>
            <a:chOff x="914400" y="1085607"/>
            <a:chExt cx="7053943" cy="5167966"/>
          </a:xfrm>
        </p:grpSpPr>
        <p:sp>
          <p:nvSpPr>
            <p:cNvPr id="29" name="TextBox 26"/>
            <p:cNvSpPr txBox="1"/>
            <p:nvPr/>
          </p:nvSpPr>
          <p:spPr>
            <a:xfrm>
              <a:off x="3359573" y="1085607"/>
              <a:ext cx="996989"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sp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CA" b="0" dirty="0" smtClean="0">
                  <a:solidFill>
                    <a:schemeClr val="tx1">
                      <a:lumMod val="95000"/>
                      <a:lumOff val="5000"/>
                    </a:schemeClr>
                  </a:solidFill>
                  <a:latin typeface="Segoe UI" pitchFamily="34" charset="0"/>
                  <a:ea typeface="Segoe UI" pitchFamily="34" charset="0"/>
                  <a:cs typeface="Segoe UI" pitchFamily="34" charset="0"/>
                </a:rPr>
                <a:t>Exchange Online</a:t>
              </a:r>
              <a:endParaRPr lang="en-CA" b="0" dirty="0">
                <a:solidFill>
                  <a:schemeClr val="tx1">
                    <a:lumMod val="95000"/>
                    <a:lumOff val="5000"/>
                  </a:schemeClr>
                </a:solidFill>
                <a:latin typeface="Segoe UI" pitchFamily="34" charset="0"/>
                <a:ea typeface="Segoe UI" pitchFamily="34" charset="0"/>
                <a:cs typeface="Segoe UI" pitchFamily="34" charset="0"/>
              </a:endParaRPr>
            </a:p>
          </p:txBody>
        </p:sp>
        <p:sp>
          <p:nvSpPr>
            <p:cNvPr id="30" name="TextBox 27"/>
            <p:cNvSpPr txBox="1"/>
            <p:nvPr/>
          </p:nvSpPr>
          <p:spPr>
            <a:xfrm>
              <a:off x="5882820" y="1331829"/>
              <a:ext cx="1140615"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sp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CA" b="0" dirty="0" smtClean="0">
                  <a:solidFill>
                    <a:schemeClr val="tx1">
                      <a:lumMod val="95000"/>
                      <a:lumOff val="5000"/>
                    </a:schemeClr>
                  </a:solidFill>
                  <a:latin typeface="Segoe UI" pitchFamily="34" charset="0"/>
                  <a:ea typeface="Segoe UI" pitchFamily="34" charset="0"/>
                  <a:cs typeface="Segoe UI" pitchFamily="34" charset="0"/>
                </a:rPr>
                <a:t>SharePoint Online </a:t>
              </a:r>
              <a:endParaRPr lang="en-CA" b="0" dirty="0">
                <a:solidFill>
                  <a:schemeClr val="tx1">
                    <a:lumMod val="95000"/>
                    <a:lumOff val="5000"/>
                  </a:schemeClr>
                </a:solidFill>
                <a:latin typeface="Segoe UI" pitchFamily="34" charset="0"/>
                <a:ea typeface="Segoe UI" pitchFamily="34" charset="0"/>
                <a:cs typeface="Segoe UI" pitchFamily="34" charset="0"/>
              </a:endParaRPr>
            </a:p>
          </p:txBody>
        </p:sp>
        <p:sp>
          <p:nvSpPr>
            <p:cNvPr id="31" name="TextBox 28"/>
            <p:cNvSpPr txBox="1"/>
            <p:nvPr/>
          </p:nvSpPr>
          <p:spPr>
            <a:xfrm>
              <a:off x="3308119" y="5284076"/>
              <a:ext cx="1354433"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sp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CA" b="0" dirty="0" smtClean="0">
                  <a:solidFill>
                    <a:schemeClr val="tx1">
                      <a:lumMod val="95000"/>
                      <a:lumOff val="5000"/>
                    </a:schemeClr>
                  </a:solidFill>
                  <a:latin typeface="Segoe UI" pitchFamily="34" charset="0"/>
                  <a:ea typeface="Segoe UI" pitchFamily="34" charset="0"/>
                  <a:cs typeface="Segoe UI" pitchFamily="34" charset="0"/>
                </a:rPr>
                <a:t>On-premises </a:t>
              </a:r>
            </a:p>
            <a:p>
              <a:r>
                <a:rPr lang="en-CA" b="0" dirty="0" smtClean="0">
                  <a:solidFill>
                    <a:schemeClr val="tx1">
                      <a:lumMod val="95000"/>
                      <a:lumOff val="5000"/>
                    </a:schemeClr>
                  </a:solidFill>
                  <a:latin typeface="Segoe UI" pitchFamily="34" charset="0"/>
                  <a:ea typeface="Segoe UI" pitchFamily="34" charset="0"/>
                  <a:cs typeface="Segoe UI" pitchFamily="34" charset="0"/>
                </a:rPr>
                <a:t>AD DS</a:t>
              </a:r>
              <a:endParaRPr lang="en-CA" b="0" dirty="0">
                <a:solidFill>
                  <a:schemeClr val="tx1">
                    <a:lumMod val="95000"/>
                    <a:lumOff val="5000"/>
                  </a:schemeClr>
                </a:solidFill>
                <a:latin typeface="Segoe UI" pitchFamily="34" charset="0"/>
                <a:ea typeface="Segoe UI" pitchFamily="34" charset="0"/>
                <a:cs typeface="Segoe UI" pitchFamily="34" charset="0"/>
              </a:endParaRPr>
            </a:p>
          </p:txBody>
        </p:sp>
        <p:sp>
          <p:nvSpPr>
            <p:cNvPr id="32" name="TextBox 29"/>
            <p:cNvSpPr txBox="1"/>
            <p:nvPr/>
          </p:nvSpPr>
          <p:spPr>
            <a:xfrm>
              <a:off x="1821207" y="2517238"/>
              <a:ext cx="1057275"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sp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r>
                <a:rPr lang="en-CA" b="0" dirty="0" smtClean="0">
                  <a:solidFill>
                    <a:schemeClr val="tx1">
                      <a:lumMod val="95000"/>
                      <a:lumOff val="5000"/>
                    </a:schemeClr>
                  </a:solidFill>
                  <a:latin typeface="Segoe UI" pitchFamily="34" charset="0"/>
                  <a:ea typeface="Segoe UI" pitchFamily="34" charset="0"/>
                  <a:cs typeface="Segoe UI" pitchFamily="34" charset="0"/>
                </a:rPr>
                <a:t>Office 365</a:t>
              </a:r>
              <a:endParaRPr lang="en-CA" b="0" dirty="0">
                <a:solidFill>
                  <a:schemeClr val="tx1">
                    <a:lumMod val="95000"/>
                    <a:lumOff val="5000"/>
                  </a:schemeClr>
                </a:solidFill>
                <a:latin typeface="Segoe UI" pitchFamily="34" charset="0"/>
                <a:ea typeface="Segoe UI" pitchFamily="34" charset="0"/>
                <a:cs typeface="Segoe UI" pitchFamily="34" charset="0"/>
              </a:endParaRPr>
            </a:p>
          </p:txBody>
        </p:sp>
        <p:sp>
          <p:nvSpPr>
            <p:cNvPr id="33" name="TextBox 30"/>
            <p:cNvSpPr txBox="1"/>
            <p:nvPr/>
          </p:nvSpPr>
          <p:spPr>
            <a:xfrm>
              <a:off x="6727960" y="2273040"/>
              <a:ext cx="685800"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sp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CA" b="0" dirty="0" smtClean="0">
                  <a:solidFill>
                    <a:schemeClr val="tx1">
                      <a:lumMod val="95000"/>
                      <a:lumOff val="5000"/>
                    </a:schemeClr>
                  </a:solidFill>
                  <a:latin typeface="Segoe UI" pitchFamily="34" charset="0"/>
                  <a:ea typeface="Segoe UI" pitchFamily="34" charset="0"/>
                  <a:cs typeface="Segoe UI" pitchFamily="34" charset="0"/>
                </a:rPr>
                <a:t>Lync Online</a:t>
              </a:r>
              <a:endParaRPr lang="en-CA" b="0" dirty="0">
                <a:solidFill>
                  <a:schemeClr val="tx1">
                    <a:lumMod val="95000"/>
                    <a:lumOff val="5000"/>
                  </a:schemeClr>
                </a:solidFill>
                <a:latin typeface="Segoe UI" pitchFamily="34" charset="0"/>
                <a:ea typeface="Segoe UI" pitchFamily="34" charset="0"/>
                <a:cs typeface="Segoe UI" pitchFamily="34" charset="0"/>
              </a:endParaRPr>
            </a:p>
          </p:txBody>
        </p:sp>
        <p:sp>
          <p:nvSpPr>
            <p:cNvPr id="34" name="TextBox 31"/>
            <p:cNvSpPr txBox="1"/>
            <p:nvPr/>
          </p:nvSpPr>
          <p:spPr>
            <a:xfrm>
              <a:off x="6570671" y="5422576"/>
              <a:ext cx="1397672"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sp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r>
                <a:rPr lang="en-CA" b="0" dirty="0" smtClean="0">
                  <a:solidFill>
                    <a:schemeClr val="tx1">
                      <a:lumMod val="95000"/>
                      <a:lumOff val="5000"/>
                    </a:schemeClr>
                  </a:solidFill>
                  <a:latin typeface="Segoe UI" pitchFamily="34" charset="0"/>
                  <a:ea typeface="Segoe UI" pitchFamily="34" charset="0"/>
                  <a:cs typeface="Segoe UI" pitchFamily="34" charset="0"/>
                </a:rPr>
                <a:t>Internet connected apps</a:t>
              </a:r>
              <a:endParaRPr lang="en-CA" b="0" dirty="0">
                <a:solidFill>
                  <a:schemeClr val="tx1">
                    <a:lumMod val="95000"/>
                    <a:lumOff val="5000"/>
                  </a:schemeClr>
                </a:solidFill>
                <a:latin typeface="Segoe UI" pitchFamily="34" charset="0"/>
                <a:ea typeface="Segoe UI" pitchFamily="34" charset="0"/>
                <a:cs typeface="Segoe UI" pitchFamily="34" charset="0"/>
              </a:endParaRPr>
            </a:p>
          </p:txBody>
        </p:sp>
        <p:sp>
          <p:nvSpPr>
            <p:cNvPr id="35" name="TextBox 32"/>
            <p:cNvSpPr txBox="1"/>
            <p:nvPr/>
          </p:nvSpPr>
          <p:spPr>
            <a:xfrm>
              <a:off x="6068736" y="3860614"/>
              <a:ext cx="83820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sp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r>
                <a:rPr lang="en-CA" b="0" dirty="0" smtClean="0">
                  <a:solidFill>
                    <a:schemeClr val="tx1">
                      <a:lumMod val="95000"/>
                      <a:lumOff val="5000"/>
                    </a:schemeClr>
                  </a:solidFill>
                  <a:latin typeface="Segoe UI" pitchFamily="34" charset="0"/>
                  <a:ea typeface="Segoe UI" pitchFamily="34" charset="0"/>
                  <a:cs typeface="Segoe UI" pitchFamily="34" charset="0"/>
                </a:rPr>
                <a:t>Internet </a:t>
              </a:r>
              <a:endParaRPr lang="en-CA" b="0" dirty="0">
                <a:solidFill>
                  <a:schemeClr val="tx1">
                    <a:lumMod val="95000"/>
                    <a:lumOff val="5000"/>
                  </a:schemeClr>
                </a:solidFill>
                <a:latin typeface="Segoe UI" pitchFamily="34" charset="0"/>
                <a:ea typeface="Segoe UI" pitchFamily="34" charset="0"/>
                <a:cs typeface="Segoe UI" pitchFamily="34" charset="0"/>
              </a:endParaRPr>
            </a:p>
          </p:txBody>
        </p:sp>
        <p:sp>
          <p:nvSpPr>
            <p:cNvPr id="36" name="TextBox 33"/>
            <p:cNvSpPr txBox="1"/>
            <p:nvPr/>
          </p:nvSpPr>
          <p:spPr>
            <a:xfrm>
              <a:off x="914400" y="4206371"/>
              <a:ext cx="1458232"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sp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r>
                <a:rPr lang="en-CA" b="0" dirty="0" smtClean="0">
                  <a:solidFill>
                    <a:schemeClr val="tx1">
                      <a:lumMod val="95000"/>
                      <a:lumOff val="5000"/>
                    </a:schemeClr>
                  </a:solidFill>
                  <a:latin typeface="Segoe UI" pitchFamily="34" charset="0"/>
                  <a:ea typeface="Segoe UI" pitchFamily="34" charset="0"/>
                  <a:cs typeface="Segoe UI" pitchFamily="34" charset="0"/>
                </a:rPr>
                <a:t>Windows Azure Apps</a:t>
              </a:r>
              <a:endParaRPr lang="en-CA" b="0" dirty="0">
                <a:solidFill>
                  <a:schemeClr val="tx1">
                    <a:lumMod val="95000"/>
                    <a:lumOff val="5000"/>
                  </a:schemeClr>
                </a:solidFill>
                <a:latin typeface="Segoe UI" pitchFamily="34" charset="0"/>
                <a:ea typeface="Segoe UI" pitchFamily="34" charset="0"/>
                <a:cs typeface="Segoe UI" pitchFamily="34" charset="0"/>
              </a:endParaRPr>
            </a:p>
          </p:txBody>
        </p:sp>
        <p:sp>
          <p:nvSpPr>
            <p:cNvPr id="37" name="TextBox 34"/>
            <p:cNvSpPr txBox="1"/>
            <p:nvPr/>
          </p:nvSpPr>
          <p:spPr>
            <a:xfrm>
              <a:off x="3688797" y="2878302"/>
              <a:ext cx="1521279"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sp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r>
                <a:rPr lang="en-CA" sz="1600" b="0" dirty="0" smtClean="0">
                  <a:solidFill>
                    <a:schemeClr val="tx1">
                      <a:lumMod val="95000"/>
                      <a:lumOff val="5000"/>
                    </a:schemeClr>
                  </a:solidFill>
                  <a:latin typeface="Segoe UI" pitchFamily="34" charset="0"/>
                  <a:ea typeface="Segoe UI" pitchFamily="34" charset="0"/>
                  <a:cs typeface="Segoe UI" pitchFamily="34" charset="0"/>
                </a:rPr>
                <a:t>Windows Azure Active Directory</a:t>
              </a:r>
              <a:endParaRPr lang="en-CA" sz="1600" b="0" dirty="0">
                <a:solidFill>
                  <a:schemeClr val="tx1">
                    <a:lumMod val="95000"/>
                    <a:lumOff val="5000"/>
                  </a:schemeClr>
                </a:solidFill>
                <a:latin typeface="Segoe UI" pitchFamily="34" charset="0"/>
                <a:ea typeface="Segoe UI" pitchFamily="34" charset="0"/>
                <a:cs typeface="Segoe UI" pitchFamily="34" charset="0"/>
              </a:endParaRPr>
            </a:p>
          </p:txBody>
        </p:sp>
        <p:sp>
          <p:nvSpPr>
            <p:cNvPr id="38" name="TextBox 35"/>
            <p:cNvSpPr txBox="1"/>
            <p:nvPr/>
          </p:nvSpPr>
          <p:spPr>
            <a:xfrm rot="18240000">
              <a:off x="3126650" y="4167201"/>
              <a:ext cx="1253272" cy="276999"/>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CA" b="0" dirty="0" smtClean="0">
                  <a:solidFill>
                    <a:schemeClr val="tx1">
                      <a:lumMod val="95000"/>
                      <a:lumOff val="5000"/>
                    </a:schemeClr>
                  </a:solidFill>
                  <a:latin typeface="Segoe UI" pitchFamily="34" charset="0"/>
                  <a:ea typeface="Segoe UI" pitchFamily="34" charset="0"/>
                  <a:cs typeface="Segoe UI" pitchFamily="34" charset="0"/>
                </a:rPr>
                <a:t>Synchronize</a:t>
              </a:r>
              <a:endParaRPr lang="en-CA" b="0" dirty="0">
                <a:solidFill>
                  <a:schemeClr val="tx1">
                    <a:lumMod val="95000"/>
                    <a:lumOff val="5000"/>
                  </a:schemeClr>
                </a:solidFill>
                <a:latin typeface="Segoe UI" pitchFamily="34" charset="0"/>
                <a:ea typeface="Segoe UI" pitchFamily="34" charset="0"/>
                <a:cs typeface="Segoe UI" pitchFamily="34" charset="0"/>
              </a:endParaRPr>
            </a:p>
          </p:txBody>
        </p:sp>
      </p:grpSp>
    </p:spTree>
    <p:extLst>
      <p:ext uri="{BB962C8B-B14F-4D97-AF65-F5344CB8AC3E}">
        <p14:creationId xmlns:p14="http://schemas.microsoft.com/office/powerpoint/2010/main" val="3856224438"/>
      </p:ext>
    </p:extLst>
  </p:cSld>
  <p:clrMapOvr>
    <a:masterClrMapping/>
  </p:clrMapOvr>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565</TotalTime>
  <Words>876</Words>
  <Application>Microsoft Office PowerPoint</Application>
  <PresentationFormat>Affichage à l'écran (4:3)</PresentationFormat>
  <Paragraphs>182</Paragraphs>
  <Slides>15</Slides>
  <Notes>15</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15</vt:i4>
      </vt:variant>
    </vt:vector>
  </HeadingPairs>
  <TitlesOfParts>
    <vt:vector size="26" baseType="lpstr">
      <vt:lpstr>Segoe UI</vt:lpstr>
      <vt:lpstr>Times New Roman</vt:lpstr>
      <vt:lpstr>Wingdings</vt:lpstr>
      <vt:lpstr>Arial</vt:lpstr>
      <vt:lpstr>Symbol</vt:lpstr>
      <vt:lpstr>Segoe UI Light</vt:lpstr>
      <vt:lpstr>Segoe Light</vt:lpstr>
      <vt:lpstr>Verdana</vt:lpstr>
      <vt:lpstr>Calibri</vt:lpstr>
      <vt:lpstr>Courier New</vt:lpstr>
      <vt:lpstr>Presentation1</vt:lpstr>
      <vt:lpstr>Module 2</vt:lpstr>
      <vt:lpstr>Planning</vt:lpstr>
      <vt:lpstr>AD DS : vue d’ensemble</vt:lpstr>
      <vt:lpstr>La notion de domaine AD DS</vt:lpstr>
      <vt:lpstr>La notion d’arbre</vt:lpstr>
      <vt:lpstr>La notion de forêt</vt:lpstr>
      <vt:lpstr>La notion d’unité organisationnelle (OU)</vt:lpstr>
      <vt:lpstr>La notion de schéma</vt:lpstr>
      <vt:lpstr>La notion de partition</vt:lpstr>
      <vt:lpstr>La notion de catalogue global</vt:lpstr>
      <vt:lpstr>La notion de maître d’opération (FSMO)</vt:lpstr>
      <vt:lpstr>Installation d’un contrôleur de domaine</vt:lpstr>
      <vt:lpstr>Installation d’un contrôleur de domaine</vt:lpstr>
      <vt:lpstr>Installation d’un contrôleur de domaine</vt:lpstr>
      <vt:lpstr>Windows Azure Active Directory?</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Colleen Walsh</dc:creator>
  <cp:lastModifiedBy>Sergio Rodrigues</cp:lastModifiedBy>
  <cp:revision>48</cp:revision>
  <dcterms:created xsi:type="dcterms:W3CDTF">2014-03-05T21:20:57Z</dcterms:created>
  <dcterms:modified xsi:type="dcterms:W3CDTF">2017-05-03T15:57:27Z</dcterms:modified>
</cp:coreProperties>
</file>