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1"/>
  </p:sldMasterIdLst>
  <p:notesMasterIdLst>
    <p:notesMasterId r:id="rId18"/>
  </p:notesMasterIdLst>
  <p:sldIdLst>
    <p:sldId id="256" r:id="rId2"/>
    <p:sldId id="260" r:id="rId3"/>
    <p:sldId id="263" r:id="rId4"/>
    <p:sldId id="270" r:id="rId5"/>
    <p:sldId id="264" r:id="rId6"/>
    <p:sldId id="265" r:id="rId7"/>
    <p:sldId id="266" r:id="rId8"/>
    <p:sldId id="275" r:id="rId9"/>
    <p:sldId id="276" r:id="rId10"/>
    <p:sldId id="280" r:id="rId11"/>
    <p:sldId id="282" r:id="rId12"/>
    <p:sldId id="283" r:id="rId13"/>
    <p:sldId id="284" r:id="rId14"/>
    <p:sldId id="286" r:id="rId15"/>
    <p:sldId id="294" r:id="rId16"/>
    <p:sldId id="295" r:id="rId17"/>
  </p:sldIdLst>
  <p:sldSz cx="9144000" cy="6858000" type="screen4x3"/>
  <p:notesSz cx="6858000" cy="9144000"/>
  <p:embeddedFontLst>
    <p:embeddedFont>
      <p:font typeface="Segoe UI Light" panose="020B0502040204020203" pitchFamily="34" charset="0"/>
      <p:regular r:id="rId19"/>
      <p:italic r:id="rId20"/>
    </p:embeddedFont>
    <p:embeddedFont>
      <p:font typeface="Calibri" panose="020F0502020204030204" pitchFamily="34" charset="0"/>
      <p:regular r:id="rId21"/>
      <p:bold r:id="rId22"/>
      <p:italic r:id="rId23"/>
      <p:boldItalic r:id="rId24"/>
    </p:embeddedFont>
    <p:embeddedFont>
      <p:font typeface="Verdana" panose="020B0604030504040204" pitchFamily="34" charset="0"/>
      <p:regular r:id="rId25"/>
      <p:bold r:id="rId26"/>
      <p:italic r:id="rId27"/>
      <p:boldItalic r:id="rId28"/>
    </p:embeddedFont>
    <p:embeddedFont>
      <p:font typeface="Segoe Light" panose="020B0604020202020204" charset="0"/>
      <p:regular r:id="rId29"/>
      <p:italic r:id="rId30"/>
    </p:embeddedFont>
    <p:embeddedFont>
      <p:font typeface="Segoe UI" panose="020B0502040204020203" pitchFamily="34" charset="0"/>
      <p:regular r:id="rId31"/>
      <p:bold r:id="rId32"/>
      <p:italic r:id="rId33"/>
      <p:boldItalic r:id="rId3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inimized">
    <p:restoredLeft sz="7535" autoAdjust="0"/>
    <p:restoredTop sz="69066" autoAdjust="0"/>
  </p:normalViewPr>
  <p:slideViewPr>
    <p:cSldViewPr>
      <p:cViewPr varScale="1">
        <p:scale>
          <a:sx n="75" d="100"/>
          <a:sy n="75" d="100"/>
        </p:scale>
        <p:origin x="2644" y="76"/>
      </p:cViewPr>
      <p:guideLst>
        <p:guide orient="horz" pos="2160"/>
        <p:guide pos="2880"/>
      </p:guideLst>
    </p:cSldViewPr>
  </p:slideViewPr>
  <p:notesTextViewPr>
    <p:cViewPr>
      <p:scale>
        <a:sx n="1" d="1"/>
        <a:sy n="1" d="1"/>
      </p:scale>
      <p:origin x="0" y="0"/>
    </p:cViewPr>
  </p:notesTextViewPr>
  <p:sorterViewPr>
    <p:cViewPr>
      <p:scale>
        <a:sx n="200" d="100"/>
        <a:sy n="200" d="100"/>
      </p:scale>
      <p:origin x="0" y="0"/>
    </p:cViewPr>
  </p:sorterViewPr>
  <p:notesViewPr>
    <p:cSldViewPr>
      <p:cViewPr>
        <p:scale>
          <a:sx n="140" d="100"/>
          <a:sy n="140" d="100"/>
        </p:scale>
        <p:origin x="-1522" y="2035"/>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21" Type="http://schemas.openxmlformats.org/officeDocument/2006/relationships/font" Target="fonts/font3.fntdata"/><Relationship Id="rId34" Type="http://schemas.openxmlformats.org/officeDocument/2006/relationships/font" Target="fonts/font1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33" Type="http://schemas.openxmlformats.org/officeDocument/2006/relationships/font" Target="fonts/font15.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font" Target="fonts/font14.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font" Target="fonts/font1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font" Target="fonts/font12.fntdata"/><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CA"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F3AB017-653D-40CC-B196-AFB0F828C3FA}" type="datetimeFigureOut">
              <a:rPr lang="en-CA" smtClean="0"/>
              <a:pPr/>
              <a:t>2017-06-28</a:t>
            </a:fld>
            <a:endParaRPr lang="en-CA" dirty="0"/>
          </a:p>
        </p:txBody>
      </p:sp>
      <p:sp>
        <p:nvSpPr>
          <p:cNvPr id="4" name="Slide Image Placeholder 3"/>
          <p:cNvSpPr>
            <a:spLocks noGrp="1" noRot="1" noChangeAspect="1"/>
          </p:cNvSpPr>
          <p:nvPr>
            <p:ph type="sldImg" idx="2"/>
          </p:nvPr>
        </p:nvSpPr>
        <p:spPr>
          <a:xfrm>
            <a:off x="4325112" y="73152"/>
            <a:ext cx="2468880" cy="1851660"/>
          </a:xfrm>
          <a:prstGeom prst="rect">
            <a:avLst/>
          </a:prstGeom>
          <a:noFill/>
          <a:ln w="12700">
            <a:solidFill>
              <a:prstClr val="black"/>
            </a:solidFill>
          </a:ln>
        </p:spPr>
        <p:txBody>
          <a:bodyPr vert="horz" lIns="91440" tIns="45720" rIns="91440" bIns="45720" rtlCol="0" anchor="ctr"/>
          <a:lstStyle/>
          <a:p>
            <a:endParaRPr lang="en-CA" dirty="0"/>
          </a:p>
        </p:txBody>
      </p:sp>
      <p:sp>
        <p:nvSpPr>
          <p:cNvPr id="5" name="Notes Placeholder 4"/>
          <p:cNvSpPr>
            <a:spLocks noGrp="1"/>
          </p:cNvSpPr>
          <p:nvPr>
            <p:ph type="body" sz="quarter" idx="3"/>
          </p:nvPr>
        </p:nvSpPr>
        <p:spPr>
          <a:xfrm>
            <a:off x="310896" y="2093976"/>
            <a:ext cx="6153912" cy="66040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CA"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577B5E1-4095-4397-ADB9-F5E0D58B59B6}" type="slidenum">
              <a:rPr lang="en-CA" smtClean="0"/>
              <a:pPr/>
              <a:t>‹N°›</a:t>
            </a:fld>
            <a:endParaRPr lang="en-CA" dirty="0"/>
          </a:p>
        </p:txBody>
      </p:sp>
    </p:spTree>
    <p:extLst>
      <p:ext uri="{BB962C8B-B14F-4D97-AF65-F5344CB8AC3E}">
        <p14:creationId xmlns:p14="http://schemas.microsoft.com/office/powerpoint/2010/main" val="30556182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b="1" dirty="0">
                <a:latin typeface="Arial"/>
                <a:ea typeface="Calibri"/>
                <a:cs typeface="Times New Roman"/>
              </a:rPr>
              <a:t>Presentation: </a:t>
            </a:r>
            <a:r>
              <a:rPr lang="en-CA" sz="1000" dirty="0">
                <a:latin typeface="Arial"/>
                <a:ea typeface="Calibri"/>
                <a:cs typeface="Times New Roman"/>
              </a:rPr>
              <a:t>1:45</a:t>
            </a:r>
          </a:p>
          <a:p>
            <a:pPr>
              <a:lnSpc>
                <a:spcPct val="115000"/>
              </a:lnSpc>
              <a:spcAft>
                <a:spcPts val="1000"/>
              </a:spcAft>
            </a:pPr>
            <a:r>
              <a:rPr lang="en-CA" sz="1000" b="1" dirty="0">
                <a:latin typeface="Arial"/>
                <a:ea typeface="Calibri"/>
                <a:cs typeface="Times New Roman"/>
              </a:rPr>
              <a:t>Lab A: </a:t>
            </a:r>
            <a:r>
              <a:rPr lang="en-CA" sz="1000" dirty="0">
                <a:latin typeface="Arial"/>
                <a:ea typeface="Calibri"/>
                <a:cs typeface="Times New Roman"/>
              </a:rPr>
              <a:t>50 minutes</a:t>
            </a:r>
          </a:p>
          <a:p>
            <a:pPr>
              <a:lnSpc>
                <a:spcPct val="115000"/>
              </a:lnSpc>
              <a:spcAft>
                <a:spcPts val="1000"/>
              </a:spcAft>
            </a:pPr>
            <a:r>
              <a:rPr lang="en-CA" sz="1000" b="1" dirty="0">
                <a:latin typeface="Arial"/>
                <a:ea typeface="Calibri"/>
                <a:cs typeface="Times New Roman"/>
              </a:rPr>
              <a:t>Lab B: </a:t>
            </a:r>
            <a:r>
              <a:rPr lang="en-CA" sz="1000" dirty="0">
                <a:latin typeface="Arial"/>
                <a:ea typeface="Calibri"/>
                <a:cs typeface="Times New Roman"/>
              </a:rPr>
              <a:t>60 minutes</a:t>
            </a:r>
          </a:p>
          <a:p>
            <a:pPr>
              <a:lnSpc>
                <a:spcPct val="115000"/>
              </a:lnSpc>
              <a:spcAft>
                <a:spcPts val="1000"/>
              </a:spcAft>
            </a:pPr>
            <a:r>
              <a:rPr lang="en-CA" sz="1000" dirty="0">
                <a:latin typeface="Arial"/>
                <a:ea typeface="Calibri"/>
                <a:cs typeface="Segoe UI"/>
              </a:rPr>
              <a:t>After completing this module, students should be able to:</a:t>
            </a:r>
            <a:endParaRPr lang="en-CA" sz="1000" dirty="0">
              <a:latin typeface="Arial"/>
              <a:ea typeface="Calibri"/>
              <a:cs typeface="Times New Roman"/>
            </a:endParaRPr>
          </a:p>
          <a:p>
            <a:pPr marL="342900" lvl="0" indent="-342900">
              <a:lnSpc>
                <a:spcPct val="115000"/>
              </a:lnSpc>
              <a:spcAft>
                <a:spcPts val="995"/>
              </a:spcAft>
              <a:buFont typeface="Symbol"/>
              <a:buChar char=""/>
            </a:pPr>
            <a:r>
              <a:rPr lang="en-US" sz="1000" dirty="0" smtClean="0">
                <a:effectLst/>
                <a:latin typeface="Arial"/>
                <a:ea typeface="Times New Roman"/>
                <a:cs typeface="Segoe UI"/>
              </a:rPr>
              <a:t>Describe Windows</a:t>
            </a:r>
            <a:r>
              <a:rPr lang="en-US" sz="1000" baseline="30000" dirty="0" smtClean="0">
                <a:effectLst/>
                <a:latin typeface="Arial"/>
                <a:ea typeface="Times New Roman"/>
                <a:cs typeface="Segoe UI"/>
              </a:rPr>
              <a:t>®</a:t>
            </a:r>
            <a:r>
              <a:rPr lang="en-US" sz="1000" dirty="0" smtClean="0">
                <a:effectLst/>
                <a:latin typeface="Arial"/>
                <a:ea typeface="Times New Roman"/>
                <a:cs typeface="Segoe UI"/>
              </a:rPr>
              <a:t> Server operating-system security.</a:t>
            </a:r>
            <a:endParaRPr lang="en-CA" sz="1000" dirty="0" smtClean="0">
              <a:effectLst/>
              <a:latin typeface="Arial"/>
              <a:ea typeface="Times New Roman"/>
              <a:cs typeface="Times New Roman"/>
            </a:endParaRPr>
          </a:p>
          <a:p>
            <a:pPr marL="342900" lvl="0" indent="-342900">
              <a:lnSpc>
                <a:spcPct val="115000"/>
              </a:lnSpc>
              <a:spcAft>
                <a:spcPts val="995"/>
              </a:spcAft>
              <a:buFont typeface="Symbol"/>
              <a:buChar char=""/>
            </a:pPr>
            <a:r>
              <a:rPr lang="en-US" sz="1000" dirty="0" smtClean="0">
                <a:effectLst/>
                <a:latin typeface="Arial"/>
                <a:ea typeface="Times New Roman"/>
                <a:cs typeface="Segoe UI"/>
              </a:rPr>
              <a:t>Configure security settings by using Group Policy.</a:t>
            </a:r>
            <a:endParaRPr lang="en-CA" sz="1000" dirty="0" smtClean="0">
              <a:effectLst/>
              <a:latin typeface="Arial"/>
              <a:ea typeface="Times New Roman"/>
              <a:cs typeface="Times New Roman"/>
            </a:endParaRPr>
          </a:p>
          <a:p>
            <a:pPr marL="342900" lvl="0" indent="-342900">
              <a:lnSpc>
                <a:spcPct val="115000"/>
              </a:lnSpc>
              <a:spcAft>
                <a:spcPts val="995"/>
              </a:spcAft>
              <a:buFont typeface="Symbol"/>
              <a:buChar char=""/>
            </a:pPr>
            <a:r>
              <a:rPr lang="en-US" sz="1000" dirty="0" smtClean="0">
                <a:effectLst/>
                <a:latin typeface="Arial"/>
                <a:ea typeface="Times New Roman"/>
                <a:cs typeface="Segoe UI"/>
              </a:rPr>
              <a:t>Increase security for server resources.</a:t>
            </a:r>
            <a:endParaRPr lang="en-CA" sz="1000" dirty="0" smtClean="0">
              <a:effectLst/>
              <a:latin typeface="Arial"/>
              <a:ea typeface="Times New Roman"/>
              <a:cs typeface="Times New Roman"/>
            </a:endParaRPr>
          </a:p>
          <a:p>
            <a:pPr marL="342900" lvl="0" indent="-342900">
              <a:lnSpc>
                <a:spcPct val="115000"/>
              </a:lnSpc>
              <a:spcAft>
                <a:spcPts val="995"/>
              </a:spcAft>
              <a:buFont typeface="Symbol"/>
              <a:buChar char=""/>
            </a:pPr>
            <a:r>
              <a:rPr lang="en-US" sz="1000" dirty="0" smtClean="0">
                <a:effectLst/>
                <a:latin typeface="Arial"/>
                <a:ea typeface="Times New Roman"/>
                <a:cs typeface="Segoe UI"/>
              </a:rPr>
              <a:t>Restrict unauthorized software from running on servers and clients.</a:t>
            </a:r>
            <a:endParaRPr lang="en-CA" sz="1000" dirty="0" smtClean="0">
              <a:effectLst/>
              <a:latin typeface="Arial"/>
              <a:ea typeface="Times New Roman"/>
              <a:cs typeface="Times New Roman"/>
            </a:endParaRPr>
          </a:p>
          <a:p>
            <a:pPr marL="342900" lvl="0" indent="-342900">
              <a:lnSpc>
                <a:spcPct val="115000"/>
              </a:lnSpc>
              <a:spcAft>
                <a:spcPts val="995"/>
              </a:spcAft>
              <a:buFont typeface="Symbol"/>
              <a:buChar char=""/>
            </a:pPr>
            <a:r>
              <a:rPr lang="en-US" sz="1000" dirty="0" smtClean="0">
                <a:effectLst/>
                <a:latin typeface="Arial"/>
                <a:ea typeface="Times New Roman"/>
                <a:cs typeface="Segoe UI"/>
              </a:rPr>
              <a:t>Configure Windows Firewall with Advanced Security.</a:t>
            </a:r>
            <a:endParaRPr lang="en-CA" sz="1000" dirty="0" smtClean="0">
              <a:effectLst/>
              <a:latin typeface="Arial"/>
              <a:ea typeface="Times New Roman"/>
              <a:cs typeface="Times New Roman"/>
            </a:endParaRPr>
          </a:p>
          <a:p>
            <a:pPr>
              <a:lnSpc>
                <a:spcPct val="115000"/>
              </a:lnSpc>
              <a:spcAft>
                <a:spcPts val="1000"/>
              </a:spcAft>
            </a:pPr>
            <a:r>
              <a:rPr lang="en-CA" sz="1000" b="1" dirty="0">
                <a:latin typeface="Arial"/>
                <a:ea typeface="Calibri"/>
                <a:cs typeface="Times New Roman"/>
              </a:rPr>
              <a:t>Required Materials</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To teach this module, you need the Microsoft</a:t>
            </a:r>
            <a:r>
              <a:rPr lang="en-CA" sz="1000" baseline="30000" dirty="0">
                <a:latin typeface="Arial"/>
                <a:ea typeface="Calibri"/>
                <a:cs typeface="Segoe UI"/>
              </a:rPr>
              <a:t>®</a:t>
            </a:r>
            <a:r>
              <a:rPr lang="en-CA" sz="1000" dirty="0">
                <a:latin typeface="Arial"/>
                <a:ea typeface="Calibri"/>
                <a:cs typeface="Segoe UI"/>
              </a:rPr>
              <a:t> Office PowerPoint</a:t>
            </a:r>
            <a:r>
              <a:rPr lang="en-CA" sz="1000" baseline="30000" dirty="0">
                <a:latin typeface="Arial"/>
                <a:ea typeface="Calibri"/>
                <a:cs typeface="Segoe UI"/>
              </a:rPr>
              <a:t>®</a:t>
            </a:r>
            <a:r>
              <a:rPr lang="en-CA" sz="1000" dirty="0">
                <a:latin typeface="Arial"/>
                <a:ea typeface="Calibri"/>
                <a:cs typeface="Segoe UI"/>
              </a:rPr>
              <a:t> file 20410D_12.ppt.</a:t>
            </a:r>
            <a:endParaRPr lang="en-CA" sz="1000" dirty="0">
              <a:latin typeface="Arial"/>
              <a:ea typeface="Calibri"/>
              <a:cs typeface="Times New Roman"/>
            </a:endParaRPr>
          </a:p>
          <a:p>
            <a:pPr>
              <a:lnSpc>
                <a:spcPct val="115000"/>
              </a:lnSpc>
              <a:spcAft>
                <a:spcPts val="1000"/>
              </a:spcAft>
            </a:pPr>
            <a:r>
              <a:rPr lang="en-CA" sz="1000" b="1" dirty="0">
                <a:latin typeface="Arial"/>
                <a:ea typeface="Calibri"/>
                <a:cs typeface="Times New Roman"/>
              </a:rPr>
              <a:t>Important:</a:t>
            </a:r>
            <a:r>
              <a:rPr lang="en-CA" sz="1000" dirty="0">
                <a:latin typeface="Arial"/>
                <a:ea typeface="Calibri"/>
                <a:cs typeface="Segoe UI"/>
              </a:rPr>
              <a:t> We recommend that you use Office PowerPoint 2007 or a newer version to display the slides for this course. If you use PowerPoint Viewer or an earlier version of Office PowerPoint, all the features of the slides might not display correctly.</a:t>
            </a:r>
            <a:endParaRPr lang="en-CA" sz="1000" dirty="0">
              <a:latin typeface="Arial"/>
              <a:ea typeface="Calibri"/>
              <a:cs typeface="Times New Roman"/>
            </a:endParaRPr>
          </a:p>
          <a:p>
            <a:pPr>
              <a:lnSpc>
                <a:spcPct val="115000"/>
              </a:lnSpc>
              <a:spcAft>
                <a:spcPts val="1000"/>
              </a:spcAft>
            </a:pPr>
            <a:r>
              <a:rPr lang="en-CA" sz="1000" b="1" dirty="0">
                <a:latin typeface="Arial"/>
                <a:ea typeface="Calibri"/>
                <a:cs typeface="Times New Roman"/>
              </a:rPr>
              <a:t>Preparation Tasks</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To prepare for this module:</a:t>
            </a:r>
            <a:endParaRPr lang="en-CA" sz="1000" dirty="0">
              <a:latin typeface="Arial"/>
              <a:ea typeface="Calibri"/>
              <a:cs typeface="Times New Roman"/>
            </a:endParaRPr>
          </a:p>
          <a:p>
            <a:pPr marL="342900" lvl="0" indent="-342900">
              <a:spcAft>
                <a:spcPts val="995"/>
              </a:spcAft>
              <a:buFont typeface="Symbol"/>
              <a:buChar char=""/>
            </a:pPr>
            <a:r>
              <a:rPr lang="en-CA" sz="1000" dirty="0" smtClean="0">
                <a:effectLst/>
                <a:latin typeface="Arial"/>
                <a:ea typeface="Times New Roman"/>
                <a:cs typeface="Segoe UI"/>
              </a:rPr>
              <a:t>Read all of the materials for this module.</a:t>
            </a:r>
            <a:endParaRPr lang="en-CA" sz="1000" dirty="0" smtClean="0">
              <a:effectLst/>
              <a:latin typeface="Arial"/>
            </a:endParaRPr>
          </a:p>
          <a:p>
            <a:pPr marL="342900" lvl="0" indent="-342900">
              <a:spcAft>
                <a:spcPts val="995"/>
              </a:spcAft>
              <a:buFont typeface="Symbol"/>
              <a:buChar char=""/>
            </a:pPr>
            <a:r>
              <a:rPr lang="en-CA" sz="1000" dirty="0" smtClean="0">
                <a:effectLst/>
                <a:latin typeface="Arial"/>
                <a:ea typeface="Times New Roman"/>
                <a:cs typeface="Segoe UI"/>
              </a:rPr>
              <a:t>Practice performing </a:t>
            </a:r>
            <a:r>
              <a:rPr lang="en-CA" sz="1000" dirty="0" smtClean="0">
                <a:effectLst/>
                <a:latin typeface="Arial"/>
              </a:rPr>
              <a:t>the demonstrations and </a:t>
            </a:r>
            <a:r>
              <a:rPr lang="en-CA" sz="1000" dirty="0" smtClean="0">
                <a:effectLst/>
                <a:latin typeface="Arial"/>
                <a:ea typeface="Times New Roman"/>
                <a:cs typeface="Segoe UI"/>
              </a:rPr>
              <a:t>the lab exercises.</a:t>
            </a:r>
            <a:endParaRPr lang="en-CA" sz="1000" dirty="0" smtClean="0">
              <a:effectLst/>
              <a:latin typeface="Arial"/>
            </a:endParaRPr>
          </a:p>
          <a:p>
            <a:pPr marL="342900" lvl="0" indent="-342900">
              <a:spcAft>
                <a:spcPts val="995"/>
              </a:spcAft>
              <a:buFont typeface="Symbol"/>
              <a:buChar char=""/>
            </a:pPr>
            <a:r>
              <a:rPr lang="en-CA" sz="1000" dirty="0" smtClean="0">
                <a:effectLst/>
                <a:latin typeface="Arial"/>
                <a:ea typeface="Times New Roman"/>
                <a:cs typeface="Segoe UI"/>
              </a:rPr>
              <a:t>Work through the Module Review and Takeaways section, and determine how you will use this section to reinforce student learning and promote knowledge transfer to on-the-job performance.</a:t>
            </a:r>
            <a:endParaRPr lang="en-CA" sz="1000" dirty="0">
              <a:effectLst/>
              <a:latin typeface="Arial"/>
            </a:endParaRPr>
          </a:p>
        </p:txBody>
      </p:sp>
      <p:sp>
        <p:nvSpPr>
          <p:cNvPr id="4" name="Slide Number Placeholder 3"/>
          <p:cNvSpPr>
            <a:spLocks noGrp="1"/>
          </p:cNvSpPr>
          <p:nvPr>
            <p:ph type="sldNum" sz="quarter" idx="10"/>
          </p:nvPr>
        </p:nvSpPr>
        <p:spPr/>
        <p:txBody>
          <a:bodyPr/>
          <a:lstStyle/>
          <a:p>
            <a:fld id="{D577B5E1-4095-4397-ADB9-F5E0D58B59B6}" type="slidenum">
              <a:rPr lang="en-CA" smtClean="0"/>
              <a:pPr/>
              <a:t>1</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12: Securing Windows Servers by Using Group Policy Objects</a:t>
            </a:r>
            <a:endParaRPr lang="en-CA" sz="1200" b="1" dirty="0">
              <a:solidFill>
                <a:srgbClr val="336699"/>
              </a:solidFill>
              <a:latin typeface="Arial"/>
            </a:endParaRPr>
          </a:p>
        </p:txBody>
      </p:sp>
    </p:spTree>
    <p:extLst>
      <p:ext uri="{BB962C8B-B14F-4D97-AF65-F5344CB8AC3E}">
        <p14:creationId xmlns:p14="http://schemas.microsoft.com/office/powerpoint/2010/main" val="41115140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dirty="0">
                <a:latin typeface="Arial"/>
                <a:ea typeface="Calibri"/>
                <a:cs typeface="Segoe UI"/>
              </a:rPr>
              <a:t>Briefly describe each layer of the defense‑in‑depth model. The key point is that creating multiple layers of security is inherently more secure than focusing on a single layer. Do not go into too much detail, because you will discuss increasing security for each of these layers further in the “</a:t>
            </a:r>
            <a:r>
              <a:rPr lang="en-CA" sz="1000" dirty="0">
                <a:latin typeface="Arial"/>
                <a:ea typeface="Calibri"/>
                <a:cs typeface="Times New Roman"/>
              </a:rPr>
              <a:t>Configuring Security Settings” lesson </a:t>
            </a:r>
            <a:r>
              <a:rPr lang="en-CA" sz="1000" dirty="0">
                <a:latin typeface="Arial"/>
                <a:ea typeface="Calibri"/>
                <a:cs typeface="Segoe UI"/>
              </a:rPr>
              <a:t>later in this module.</a:t>
            </a:r>
            <a:endParaRPr lang="en-CA" sz="1000" dirty="0">
              <a:latin typeface="Arial"/>
              <a:ea typeface="Calibri"/>
              <a:cs typeface="Times New Roman"/>
            </a:endParaRPr>
          </a:p>
          <a:p>
            <a:pPr>
              <a:lnSpc>
                <a:spcPct val="115000"/>
              </a:lnSpc>
              <a:spcAft>
                <a:spcPts val="1000"/>
              </a:spcAft>
            </a:pPr>
            <a:r>
              <a:rPr lang="en-CA" sz="1000" b="1" dirty="0">
                <a:latin typeface="Arial"/>
                <a:ea typeface="Calibri"/>
                <a:cs typeface="Times New Roman"/>
              </a:rPr>
              <a:t>Question</a:t>
            </a:r>
            <a:endParaRPr lang="en-CA" sz="1000" dirty="0">
              <a:latin typeface="Arial"/>
              <a:ea typeface="Calibri"/>
              <a:cs typeface="Times New Roman"/>
            </a:endParaRPr>
          </a:p>
          <a:p>
            <a:pPr>
              <a:lnSpc>
                <a:spcPct val="115000"/>
              </a:lnSpc>
              <a:spcAft>
                <a:spcPts val="1000"/>
              </a:spcAft>
            </a:pPr>
            <a:r>
              <a:rPr lang="en-CA" sz="1000" dirty="0">
                <a:solidFill>
                  <a:srgbClr val="000000"/>
                </a:solidFill>
                <a:latin typeface="Arial"/>
                <a:ea typeface="Calibri"/>
                <a:cs typeface="Segoe UI"/>
              </a:rPr>
              <a:t>How many layers of the defense‑in‑depth model should you implement in your organization?</a:t>
            </a:r>
            <a:endParaRPr lang="en-CA" sz="1000" dirty="0">
              <a:latin typeface="Arial"/>
              <a:ea typeface="Calibri"/>
              <a:cs typeface="Times New Roman"/>
            </a:endParaRPr>
          </a:p>
          <a:p>
            <a:pPr>
              <a:lnSpc>
                <a:spcPct val="115000"/>
              </a:lnSpc>
              <a:spcAft>
                <a:spcPts val="1000"/>
              </a:spcAft>
            </a:pPr>
            <a:r>
              <a:rPr lang="en-CA" sz="1000" b="1" dirty="0">
                <a:latin typeface="Arial"/>
                <a:ea typeface="Calibri"/>
                <a:cs typeface="Times New Roman"/>
              </a:rPr>
              <a:t>Answer</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You should implement all </a:t>
            </a:r>
            <a:r>
              <a:rPr lang="en-CA" sz="1000" dirty="0">
                <a:solidFill>
                  <a:srgbClr val="000000"/>
                </a:solidFill>
                <a:latin typeface="Arial"/>
                <a:ea typeface="Calibri"/>
                <a:cs typeface="Segoe UI"/>
              </a:rPr>
              <a:t>layers of the defense‑in‑depth model,</a:t>
            </a:r>
            <a:r>
              <a:rPr lang="en-CA" sz="1000" dirty="0">
                <a:latin typeface="Arial"/>
                <a:ea typeface="Calibri"/>
                <a:cs typeface="Segoe UI"/>
              </a:rPr>
              <a:t> to some extent. You should base the actual measures that you implement on your organization’s needs and budget.</a:t>
            </a:r>
            <a:endParaRPr lang="en-CA"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D577B5E1-4095-4397-ADB9-F5E0D58B59B6}" type="slidenum">
              <a:rPr lang="en-CA" smtClean="0"/>
              <a:pPr/>
              <a:t>2</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12: Securing Windows Servers by Using Group Policy Objects</a:t>
            </a:r>
            <a:endParaRPr lang="en-CA" sz="1200" b="1" dirty="0">
              <a:solidFill>
                <a:srgbClr val="336699"/>
              </a:solidFill>
              <a:latin typeface="Arial"/>
            </a:endParaRPr>
          </a:p>
        </p:txBody>
      </p:sp>
    </p:spTree>
    <p:extLst>
      <p:ext uri="{BB962C8B-B14F-4D97-AF65-F5344CB8AC3E}">
        <p14:creationId xmlns:p14="http://schemas.microsoft.com/office/powerpoint/2010/main" val="24041190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r>
              <a:rPr lang="en-US" sz="1200" b="0" i="0" kern="1200" dirty="0" smtClean="0">
                <a:solidFill>
                  <a:schemeClr val="tx1"/>
                </a:solidFill>
                <a:effectLst/>
                <a:latin typeface="+mn-lt"/>
                <a:ea typeface="+mn-ea"/>
                <a:cs typeface="+mn-cs"/>
              </a:rPr>
              <a:t>To open MMC, choose </a:t>
            </a:r>
            <a:r>
              <a:rPr lang="en-US" sz="1200" b="1" i="0" kern="1200" dirty="0" smtClean="0">
                <a:solidFill>
                  <a:schemeClr val="tx1"/>
                </a:solidFill>
                <a:effectLst/>
                <a:latin typeface="+mn-lt"/>
                <a:ea typeface="+mn-ea"/>
                <a:cs typeface="+mn-cs"/>
              </a:rPr>
              <a:t>Start</a:t>
            </a:r>
            <a:r>
              <a:rPr lang="en-US" sz="1200" b="0" i="0" kern="1200" dirty="0" smtClean="0">
                <a:solidFill>
                  <a:schemeClr val="tx1"/>
                </a:solidFill>
                <a:effectLst/>
                <a:latin typeface="+mn-lt"/>
                <a:ea typeface="+mn-ea"/>
                <a:cs typeface="+mn-cs"/>
              </a:rPr>
              <a:t>, and then choose </a:t>
            </a:r>
            <a:r>
              <a:rPr lang="en-US" sz="1200" b="1" i="0" kern="1200" dirty="0" smtClean="0">
                <a:solidFill>
                  <a:schemeClr val="tx1"/>
                </a:solidFill>
                <a:effectLst/>
                <a:latin typeface="+mn-lt"/>
                <a:ea typeface="+mn-ea"/>
                <a:cs typeface="+mn-cs"/>
              </a:rPr>
              <a:t>Run</a:t>
            </a:r>
            <a:r>
              <a:rPr lang="en-US" sz="1200" b="0" i="0" kern="1200" dirty="0" smtClean="0">
                <a:solidFill>
                  <a:schemeClr val="tx1"/>
                </a:solidFill>
                <a:effectLst/>
                <a:latin typeface="+mn-lt"/>
                <a:ea typeface="+mn-ea"/>
                <a:cs typeface="+mn-cs"/>
              </a:rPr>
              <a:t>.</a:t>
            </a:r>
          </a:p>
          <a:p>
            <a:r>
              <a:rPr lang="en-US" sz="1200" b="0" i="0" kern="1200" dirty="0" smtClean="0">
                <a:solidFill>
                  <a:schemeClr val="tx1"/>
                </a:solidFill>
                <a:effectLst/>
                <a:latin typeface="+mn-lt"/>
                <a:ea typeface="+mn-ea"/>
                <a:cs typeface="+mn-cs"/>
              </a:rPr>
              <a:t>Type </a:t>
            </a:r>
            <a:r>
              <a:rPr lang="en-US" sz="1200" b="1" i="0" kern="1200" dirty="0" smtClean="0">
                <a:solidFill>
                  <a:schemeClr val="tx1"/>
                </a:solidFill>
                <a:effectLst/>
                <a:latin typeface="+mn-lt"/>
                <a:ea typeface="+mn-ea"/>
                <a:cs typeface="+mn-cs"/>
              </a:rPr>
              <a:t>mmc</a:t>
            </a:r>
            <a:r>
              <a:rPr lang="en-US" sz="1200" b="0" i="0" kern="1200" dirty="0" smtClean="0">
                <a:solidFill>
                  <a:schemeClr val="tx1"/>
                </a:solidFill>
                <a:effectLst/>
                <a:latin typeface="+mn-lt"/>
                <a:ea typeface="+mn-ea"/>
                <a:cs typeface="+mn-cs"/>
              </a:rPr>
              <a:t> in the </a:t>
            </a:r>
            <a:r>
              <a:rPr lang="en-US" sz="1200" b="1" i="0" kern="1200" dirty="0" smtClean="0">
                <a:solidFill>
                  <a:schemeClr val="tx1"/>
                </a:solidFill>
                <a:effectLst/>
                <a:latin typeface="+mn-lt"/>
                <a:ea typeface="+mn-ea"/>
                <a:cs typeface="+mn-cs"/>
              </a:rPr>
              <a:t>Open</a:t>
            </a:r>
            <a:r>
              <a:rPr lang="en-US" sz="1200" b="0" i="0" kern="1200" dirty="0" smtClean="0">
                <a:solidFill>
                  <a:schemeClr val="tx1"/>
                </a:solidFill>
                <a:effectLst/>
                <a:latin typeface="+mn-lt"/>
                <a:ea typeface="+mn-ea"/>
                <a:cs typeface="+mn-cs"/>
              </a:rPr>
              <a:t> box, and then choose </a:t>
            </a:r>
            <a:r>
              <a:rPr lang="en-US" sz="1200" b="1" i="0" kern="1200" dirty="0" smtClean="0">
                <a:solidFill>
                  <a:schemeClr val="tx1"/>
                </a:solidFill>
                <a:effectLst/>
                <a:latin typeface="+mn-lt"/>
                <a:ea typeface="+mn-ea"/>
                <a:cs typeface="+mn-cs"/>
              </a:rPr>
              <a:t>OK</a:t>
            </a:r>
            <a:r>
              <a:rPr lang="en-US" sz="1200" b="0" i="0" kern="1200" dirty="0" smtClean="0">
                <a:solidFill>
                  <a:schemeClr val="tx1"/>
                </a:solidFill>
                <a:effectLst/>
                <a:latin typeface="+mn-lt"/>
                <a:ea typeface="+mn-ea"/>
                <a:cs typeface="+mn-cs"/>
              </a:rPr>
              <a:t>.</a:t>
            </a:r>
          </a:p>
          <a:p>
            <a:r>
              <a:rPr lang="en-US" sz="1200" b="0" i="0" kern="1200" dirty="0" smtClean="0">
                <a:solidFill>
                  <a:schemeClr val="tx1"/>
                </a:solidFill>
                <a:effectLst/>
                <a:latin typeface="+mn-lt"/>
                <a:ea typeface="+mn-ea"/>
                <a:cs typeface="+mn-cs"/>
              </a:rPr>
              <a:t>From the </a:t>
            </a:r>
            <a:r>
              <a:rPr lang="en-US" sz="1200" b="1" i="0" kern="1200" dirty="0" smtClean="0">
                <a:solidFill>
                  <a:schemeClr val="tx1"/>
                </a:solidFill>
                <a:effectLst/>
                <a:latin typeface="+mn-lt"/>
                <a:ea typeface="+mn-ea"/>
                <a:cs typeface="+mn-cs"/>
              </a:rPr>
              <a:t>File</a:t>
            </a:r>
            <a:r>
              <a:rPr lang="en-US" sz="1200" b="0" i="0" kern="1200" dirty="0" smtClean="0">
                <a:solidFill>
                  <a:schemeClr val="tx1"/>
                </a:solidFill>
                <a:effectLst/>
                <a:latin typeface="+mn-lt"/>
                <a:ea typeface="+mn-ea"/>
                <a:cs typeface="+mn-cs"/>
              </a:rPr>
              <a:t> menu, choose </a:t>
            </a:r>
            <a:r>
              <a:rPr lang="en-US" sz="1200" b="1" i="0" kern="1200" dirty="0" smtClean="0">
                <a:solidFill>
                  <a:schemeClr val="tx1"/>
                </a:solidFill>
                <a:effectLst/>
                <a:latin typeface="+mn-lt"/>
                <a:ea typeface="+mn-ea"/>
                <a:cs typeface="+mn-cs"/>
              </a:rPr>
              <a:t>Add/Remove Snap-in</a:t>
            </a:r>
            <a:r>
              <a:rPr lang="en-US" sz="1200" b="0" i="0" kern="1200" dirty="0" smtClean="0">
                <a:solidFill>
                  <a:schemeClr val="tx1"/>
                </a:solidFill>
                <a:effectLst/>
                <a:latin typeface="+mn-lt"/>
                <a:ea typeface="+mn-ea"/>
                <a:cs typeface="+mn-cs"/>
              </a:rPr>
              <a:t>.</a:t>
            </a:r>
          </a:p>
          <a:p>
            <a:r>
              <a:rPr lang="en-US" sz="1200" b="0" i="0" kern="1200" dirty="0" smtClean="0">
                <a:solidFill>
                  <a:schemeClr val="tx1"/>
                </a:solidFill>
                <a:effectLst/>
                <a:latin typeface="+mn-lt"/>
                <a:ea typeface="+mn-ea"/>
                <a:cs typeface="+mn-cs"/>
              </a:rPr>
              <a:t>In the </a:t>
            </a:r>
            <a:r>
              <a:rPr lang="en-US" sz="1200" b="1" i="0" kern="1200" dirty="0" smtClean="0">
                <a:solidFill>
                  <a:schemeClr val="tx1"/>
                </a:solidFill>
                <a:effectLst/>
                <a:latin typeface="+mn-lt"/>
                <a:ea typeface="+mn-ea"/>
                <a:cs typeface="+mn-cs"/>
              </a:rPr>
              <a:t>Add/Remove Snap-in</a:t>
            </a:r>
            <a:r>
              <a:rPr lang="en-US" sz="1200" b="0" i="0" kern="1200" dirty="0" smtClean="0">
                <a:solidFill>
                  <a:schemeClr val="tx1"/>
                </a:solidFill>
                <a:effectLst/>
                <a:latin typeface="+mn-lt"/>
                <a:ea typeface="+mn-ea"/>
                <a:cs typeface="+mn-cs"/>
              </a:rPr>
              <a:t> dialog box, choose </a:t>
            </a:r>
            <a:r>
              <a:rPr lang="en-US" sz="1200" b="1" i="0" kern="1200" dirty="0" smtClean="0">
                <a:solidFill>
                  <a:schemeClr val="tx1"/>
                </a:solidFill>
                <a:effectLst/>
                <a:latin typeface="+mn-lt"/>
                <a:ea typeface="+mn-ea"/>
                <a:cs typeface="+mn-cs"/>
              </a:rPr>
              <a:t>Add</a:t>
            </a:r>
            <a:r>
              <a:rPr lang="en-US" sz="1200" b="0" i="0" kern="1200" dirty="0" smtClean="0">
                <a:solidFill>
                  <a:schemeClr val="tx1"/>
                </a:solidFill>
                <a:effectLst/>
                <a:latin typeface="+mn-lt"/>
                <a:ea typeface="+mn-ea"/>
                <a:cs typeface="+mn-cs"/>
              </a:rPr>
              <a:t>.</a:t>
            </a:r>
          </a:p>
          <a:p>
            <a:r>
              <a:rPr lang="en-US" sz="1200" b="0" i="0" kern="1200" dirty="0" smtClean="0">
                <a:solidFill>
                  <a:schemeClr val="tx1"/>
                </a:solidFill>
                <a:effectLst/>
                <a:latin typeface="+mn-lt"/>
                <a:ea typeface="+mn-ea"/>
                <a:cs typeface="+mn-cs"/>
              </a:rPr>
              <a:t>In the list of available snap-ins, select </a:t>
            </a:r>
            <a:r>
              <a:rPr lang="en-US" sz="1200" b="1" i="0" kern="1200" dirty="0" smtClean="0">
                <a:solidFill>
                  <a:schemeClr val="tx1"/>
                </a:solidFill>
                <a:effectLst/>
                <a:latin typeface="+mn-lt"/>
                <a:ea typeface="+mn-ea"/>
                <a:cs typeface="+mn-cs"/>
              </a:rPr>
              <a:t>Security Templates</a:t>
            </a:r>
            <a:r>
              <a:rPr lang="en-US" sz="1200" b="0" i="0" kern="1200" dirty="0" smtClean="0">
                <a:solidFill>
                  <a:schemeClr val="tx1"/>
                </a:solidFill>
                <a:effectLst/>
                <a:latin typeface="+mn-lt"/>
                <a:ea typeface="+mn-ea"/>
                <a:cs typeface="+mn-cs"/>
              </a:rPr>
              <a:t>, choose </a:t>
            </a:r>
            <a:r>
              <a:rPr lang="en-US" sz="1200" b="1" i="0" kern="1200" dirty="0" smtClean="0">
                <a:solidFill>
                  <a:schemeClr val="tx1"/>
                </a:solidFill>
                <a:effectLst/>
                <a:latin typeface="+mn-lt"/>
                <a:ea typeface="+mn-ea"/>
                <a:cs typeface="+mn-cs"/>
              </a:rPr>
              <a:t>Add</a:t>
            </a:r>
            <a:r>
              <a:rPr lang="en-US" sz="1200" b="0" i="0" kern="1200" dirty="0" smtClean="0">
                <a:solidFill>
                  <a:schemeClr val="tx1"/>
                </a:solidFill>
                <a:effectLst/>
                <a:latin typeface="+mn-lt"/>
                <a:ea typeface="+mn-ea"/>
                <a:cs typeface="+mn-cs"/>
              </a:rPr>
              <a:t>, choose </a:t>
            </a:r>
            <a:r>
              <a:rPr lang="en-US" sz="1200" b="1" i="0" kern="1200" dirty="0" smtClean="0">
                <a:solidFill>
                  <a:schemeClr val="tx1"/>
                </a:solidFill>
                <a:effectLst/>
                <a:latin typeface="+mn-lt"/>
                <a:ea typeface="+mn-ea"/>
                <a:cs typeface="+mn-cs"/>
              </a:rPr>
              <a:t>Close</a:t>
            </a:r>
            <a:r>
              <a:rPr lang="en-US" sz="1200" b="0" i="0" kern="1200" dirty="0" smtClean="0">
                <a:solidFill>
                  <a:schemeClr val="tx1"/>
                </a:solidFill>
                <a:effectLst/>
                <a:latin typeface="+mn-lt"/>
                <a:ea typeface="+mn-ea"/>
                <a:cs typeface="+mn-cs"/>
              </a:rPr>
              <a:t>, and then choose </a:t>
            </a:r>
            <a:r>
              <a:rPr lang="en-US" sz="1200" b="1" i="0" kern="1200" dirty="0" smtClean="0">
                <a:solidFill>
                  <a:schemeClr val="tx1"/>
                </a:solidFill>
                <a:effectLst/>
                <a:latin typeface="+mn-lt"/>
                <a:ea typeface="+mn-ea"/>
                <a:cs typeface="+mn-cs"/>
              </a:rPr>
              <a:t>OK</a:t>
            </a:r>
            <a:r>
              <a:rPr lang="en-US" sz="1200" b="0" i="0" kern="1200" dirty="0" smtClean="0">
                <a:solidFill>
                  <a:schemeClr val="tx1"/>
                </a:solidFill>
                <a:effectLst/>
                <a:latin typeface="+mn-lt"/>
                <a:ea typeface="+mn-ea"/>
                <a:cs typeface="+mn-cs"/>
              </a:rPr>
              <a:t>.</a:t>
            </a:r>
          </a:p>
          <a:p>
            <a:r>
              <a:rPr lang="en-US" sz="1200" b="0" i="0" kern="1200" dirty="0" smtClean="0">
                <a:solidFill>
                  <a:schemeClr val="tx1"/>
                </a:solidFill>
                <a:effectLst/>
                <a:latin typeface="+mn-lt"/>
                <a:ea typeface="+mn-ea"/>
                <a:cs typeface="+mn-cs"/>
              </a:rPr>
              <a:t>In the MMC main window, under the </a:t>
            </a:r>
            <a:r>
              <a:rPr lang="en-US" sz="1200" b="1" i="0" kern="1200" dirty="0" smtClean="0">
                <a:solidFill>
                  <a:schemeClr val="tx1"/>
                </a:solidFill>
                <a:effectLst/>
                <a:latin typeface="+mn-lt"/>
                <a:ea typeface="+mn-ea"/>
                <a:cs typeface="+mn-cs"/>
              </a:rPr>
              <a:t>Console Root</a:t>
            </a:r>
            <a:r>
              <a:rPr lang="en-US" sz="1200" b="0" i="0" kern="1200" dirty="0" smtClean="0">
                <a:solidFill>
                  <a:schemeClr val="tx1"/>
                </a:solidFill>
                <a:effectLst/>
                <a:latin typeface="+mn-lt"/>
                <a:ea typeface="+mn-ea"/>
                <a:cs typeface="+mn-cs"/>
              </a:rPr>
              <a:t> node, expand the </a:t>
            </a:r>
            <a:r>
              <a:rPr lang="en-US" sz="1200" b="1" i="0" kern="1200" dirty="0" smtClean="0">
                <a:solidFill>
                  <a:schemeClr val="tx1"/>
                </a:solidFill>
                <a:effectLst/>
                <a:latin typeface="+mn-lt"/>
                <a:ea typeface="+mn-ea"/>
                <a:cs typeface="+mn-cs"/>
              </a:rPr>
              <a:t>Security Templates</a:t>
            </a:r>
            <a:r>
              <a:rPr lang="en-US" sz="1200" b="0" i="0" kern="1200" dirty="0" smtClean="0">
                <a:solidFill>
                  <a:schemeClr val="tx1"/>
                </a:solidFill>
                <a:effectLst/>
                <a:latin typeface="+mn-lt"/>
                <a:ea typeface="+mn-ea"/>
                <a:cs typeface="+mn-cs"/>
              </a:rPr>
              <a:t> node, right-click the root templates folder, and then choose </a:t>
            </a:r>
            <a:r>
              <a:rPr lang="en-US" sz="1200" b="1" i="0" kern="1200" dirty="0" smtClean="0">
                <a:solidFill>
                  <a:schemeClr val="tx1"/>
                </a:solidFill>
                <a:effectLst/>
                <a:latin typeface="+mn-lt"/>
                <a:ea typeface="+mn-ea"/>
                <a:cs typeface="+mn-cs"/>
              </a:rPr>
              <a:t>New Template</a:t>
            </a:r>
            <a:r>
              <a:rPr lang="en-US" sz="1200" b="0" i="0" kern="1200" dirty="0" smtClean="0">
                <a:solidFill>
                  <a:schemeClr val="tx1"/>
                </a:solidFill>
                <a:effectLst/>
                <a:latin typeface="+mn-lt"/>
                <a:ea typeface="+mn-ea"/>
                <a:cs typeface="+mn-cs"/>
              </a:rPr>
              <a:t>.</a:t>
            </a:r>
          </a:p>
          <a:p>
            <a:r>
              <a:rPr lang="en-US" sz="1200" b="0" i="0" kern="1200" dirty="0" smtClean="0">
                <a:solidFill>
                  <a:schemeClr val="tx1"/>
                </a:solidFill>
                <a:effectLst/>
                <a:latin typeface="+mn-lt"/>
                <a:ea typeface="+mn-ea"/>
                <a:cs typeface="+mn-cs"/>
              </a:rPr>
              <a:t>Type a name and description for the template, and then choose </a:t>
            </a:r>
            <a:r>
              <a:rPr lang="en-US" sz="1200" b="1" i="0" kern="1200" dirty="0" smtClean="0">
                <a:solidFill>
                  <a:schemeClr val="tx1"/>
                </a:solidFill>
                <a:effectLst/>
                <a:latin typeface="+mn-lt"/>
                <a:ea typeface="+mn-ea"/>
                <a:cs typeface="+mn-cs"/>
              </a:rPr>
              <a:t>OK</a:t>
            </a:r>
            <a:r>
              <a:rPr lang="en-US" sz="1200" b="0" i="0" kern="1200" dirty="0" smtClean="0">
                <a:solidFill>
                  <a:schemeClr val="tx1"/>
                </a:solidFill>
                <a:effectLst/>
                <a:latin typeface="+mn-lt"/>
                <a:ea typeface="+mn-ea"/>
                <a:cs typeface="+mn-cs"/>
              </a:rPr>
              <a:t>.</a:t>
            </a:r>
            <a:endParaRPr lang="en-US"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D577B5E1-4095-4397-ADB9-F5E0D58B59B6}" type="slidenum">
              <a:rPr lang="en-CA" smtClean="0"/>
              <a:pPr/>
              <a:t>3</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12: Securing Windows Servers by Using Group Policy Objects</a:t>
            </a:r>
            <a:endParaRPr lang="en-CA" sz="1200" b="1" dirty="0">
              <a:solidFill>
                <a:srgbClr val="336699"/>
              </a:solidFill>
              <a:latin typeface="Arial"/>
            </a:endParaRPr>
          </a:p>
        </p:txBody>
      </p:sp>
    </p:spTree>
    <p:extLst>
      <p:ext uri="{BB962C8B-B14F-4D97-AF65-F5344CB8AC3E}">
        <p14:creationId xmlns:p14="http://schemas.microsoft.com/office/powerpoint/2010/main" val="37181223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endParaRPr lang="en-CA" sz="1000" dirty="0">
              <a:effectLst/>
              <a:latin typeface="Arial"/>
              <a:ea typeface="Times New Roman"/>
              <a:cs typeface="Times New Roman"/>
            </a:endParaRPr>
          </a:p>
        </p:txBody>
      </p:sp>
      <p:sp>
        <p:nvSpPr>
          <p:cNvPr id="4" name="Slide Number Placeholder 3"/>
          <p:cNvSpPr>
            <a:spLocks noGrp="1"/>
          </p:cNvSpPr>
          <p:nvPr>
            <p:ph type="sldNum" sz="quarter" idx="10"/>
          </p:nvPr>
        </p:nvSpPr>
        <p:spPr/>
        <p:txBody>
          <a:bodyPr/>
          <a:lstStyle/>
          <a:p>
            <a:fld id="{D577B5E1-4095-4397-ADB9-F5E0D58B59B6}" type="slidenum">
              <a:rPr lang="en-CA" smtClean="0"/>
              <a:pPr/>
              <a:t>4</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12: Securing Windows Servers by Using Group Policy Objects</a:t>
            </a:r>
            <a:endParaRPr lang="en-CA" sz="1200" b="1" dirty="0">
              <a:solidFill>
                <a:srgbClr val="336699"/>
              </a:solidFill>
              <a:latin typeface="Arial"/>
            </a:endParaRPr>
          </a:p>
        </p:txBody>
      </p:sp>
    </p:spTree>
    <p:extLst>
      <p:ext uri="{BB962C8B-B14F-4D97-AF65-F5344CB8AC3E}">
        <p14:creationId xmlns:p14="http://schemas.microsoft.com/office/powerpoint/2010/main" val="16905156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dirty="0">
                <a:latin typeface="Arial"/>
                <a:ea typeface="Calibri"/>
                <a:cs typeface="Segoe UI"/>
              </a:rPr>
              <a:t>Give a high-level overview of the user rights settings, and describe each of them briefly to students by demonstrating the settings in the Group Policy Management Console (GPMC).</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Stress to students that they should test settings before applying them in production. If you do not configure user rights properly, your network environment might be more vulnerable or might not work properly. For example, granting user rights to force a shut down from a remote system might cause critical business servers to shut down during busy working hours.</a:t>
            </a:r>
            <a:endParaRPr lang="en-CA"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D577B5E1-4095-4397-ADB9-F5E0D58B59B6}" type="slidenum">
              <a:rPr lang="en-CA" smtClean="0"/>
              <a:pPr/>
              <a:t>5</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12: Securing Windows Servers by Using Group Policy Objects</a:t>
            </a:r>
            <a:endParaRPr lang="en-CA" sz="1200" b="1" dirty="0">
              <a:solidFill>
                <a:srgbClr val="336699"/>
              </a:solidFill>
              <a:latin typeface="Arial"/>
            </a:endParaRPr>
          </a:p>
        </p:txBody>
      </p:sp>
    </p:spTree>
    <p:extLst>
      <p:ext uri="{BB962C8B-B14F-4D97-AF65-F5344CB8AC3E}">
        <p14:creationId xmlns:p14="http://schemas.microsoft.com/office/powerpoint/2010/main" val="992066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dirty="0">
                <a:latin typeface="Arial"/>
                <a:ea typeface="Calibri"/>
                <a:cs typeface="Segoe UI"/>
              </a:rPr>
              <a:t>Give a high-level overview of the Security Options settings, and describe each of them briefly by demonstrating the settings in the GPMC.</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Explain some of the settings in this topic. For example:</a:t>
            </a:r>
            <a:endParaRPr lang="en-CA" sz="1000" dirty="0">
              <a:latin typeface="Arial"/>
              <a:ea typeface="Calibri"/>
              <a:cs typeface="Times New Roman"/>
            </a:endParaRPr>
          </a:p>
          <a:p>
            <a:pPr marL="342900" lvl="0" indent="-342900">
              <a:lnSpc>
                <a:spcPct val="115000"/>
              </a:lnSpc>
              <a:spcAft>
                <a:spcPts val="995"/>
              </a:spcAft>
              <a:buFont typeface="Symbol"/>
              <a:buChar char=""/>
            </a:pPr>
            <a:r>
              <a:rPr lang="en-US" sz="1000" dirty="0" smtClean="0">
                <a:effectLst/>
                <a:latin typeface="Arial"/>
                <a:ea typeface="Times New Roman"/>
                <a:cs typeface="Times New Roman"/>
              </a:rPr>
              <a:t>Interactive logon: Do not display last user name</a:t>
            </a:r>
            <a:r>
              <a:rPr lang="en-US" sz="1000" b="1" dirty="0" smtClean="0">
                <a:effectLst/>
                <a:latin typeface="Arial"/>
                <a:ea typeface="Times New Roman"/>
                <a:cs typeface="Times New Roman"/>
              </a:rPr>
              <a:t>. </a:t>
            </a:r>
            <a:r>
              <a:rPr lang="en-US" sz="1000" dirty="0" smtClean="0">
                <a:effectLst/>
                <a:latin typeface="Arial"/>
                <a:ea typeface="Times New Roman"/>
                <a:cs typeface="Times New Roman"/>
              </a:rPr>
              <a:t>When you enable this setting, the username of the person who last signed in to the computer does not appear. Therefore, the potential attacker has to guess or try to find out both the username and the password to obtain access to computer or network resources. If you disable this setting, the attacker would know the username, and would need only the password.</a:t>
            </a:r>
            <a:endParaRPr lang="en-CA" sz="1000" dirty="0" smtClean="0">
              <a:effectLst/>
              <a:latin typeface="Arial"/>
              <a:ea typeface="Times New Roman"/>
              <a:cs typeface="Times New Roman"/>
            </a:endParaRPr>
          </a:p>
          <a:p>
            <a:pPr marL="342900" lvl="0" indent="-342900">
              <a:lnSpc>
                <a:spcPct val="115000"/>
              </a:lnSpc>
              <a:spcAft>
                <a:spcPts val="995"/>
              </a:spcAft>
              <a:buFont typeface="Symbol"/>
              <a:buChar char=""/>
            </a:pPr>
            <a:r>
              <a:rPr lang="en-US" sz="1000" dirty="0" smtClean="0">
                <a:effectLst/>
                <a:latin typeface="Arial"/>
                <a:ea typeface="Times New Roman"/>
                <a:cs typeface="Times New Roman"/>
              </a:rPr>
              <a:t>Accounts: Rename administrator account. When enabled, this setting renames the local administrator account. The potential attacker would have to find out both the username and the password to obtain access to computer resources. If you disable this setting, the attacker would know the username, which is Administrator, and would need only the password.</a:t>
            </a:r>
            <a:endParaRPr lang="en-CA" sz="1000" dirty="0">
              <a:effectLst/>
              <a:latin typeface="Arial"/>
              <a:ea typeface="Times New Roman"/>
              <a:cs typeface="Times New Roman"/>
            </a:endParaRPr>
          </a:p>
        </p:txBody>
      </p:sp>
      <p:sp>
        <p:nvSpPr>
          <p:cNvPr id="4" name="Slide Number Placeholder 3"/>
          <p:cNvSpPr>
            <a:spLocks noGrp="1"/>
          </p:cNvSpPr>
          <p:nvPr>
            <p:ph type="sldNum" sz="quarter" idx="10"/>
          </p:nvPr>
        </p:nvSpPr>
        <p:spPr/>
        <p:txBody>
          <a:bodyPr/>
          <a:lstStyle/>
          <a:p>
            <a:fld id="{D577B5E1-4095-4397-ADB9-F5E0D58B59B6}" type="slidenum">
              <a:rPr lang="en-CA" smtClean="0"/>
              <a:pPr/>
              <a:t>6</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12: Securing Windows Servers by Using Group Policy Objects</a:t>
            </a:r>
            <a:endParaRPr lang="en-CA" sz="1200" b="1" dirty="0">
              <a:solidFill>
                <a:srgbClr val="336699"/>
              </a:solidFill>
              <a:latin typeface="Arial"/>
            </a:endParaRPr>
          </a:p>
        </p:txBody>
      </p:sp>
    </p:spTree>
    <p:extLst>
      <p:ext uri="{BB962C8B-B14F-4D97-AF65-F5344CB8AC3E}">
        <p14:creationId xmlns:p14="http://schemas.microsoft.com/office/powerpoint/2010/main" val="1762767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spcAft>
                <a:spcPts val="1000"/>
              </a:spcAft>
            </a:pPr>
            <a:endParaRPr lang="en-CA"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D577B5E1-4095-4397-ADB9-F5E0D58B59B6}" type="slidenum">
              <a:rPr lang="en-CA" smtClean="0"/>
              <a:pPr/>
              <a:t>7</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12: Securing Windows Servers by Using Group Policy Objects</a:t>
            </a:r>
            <a:endParaRPr lang="en-CA" sz="1200" b="1" dirty="0">
              <a:solidFill>
                <a:srgbClr val="336699"/>
              </a:solidFill>
              <a:latin typeface="Arial"/>
            </a:endParaRPr>
          </a:p>
        </p:txBody>
      </p:sp>
    </p:spTree>
    <p:extLst>
      <p:ext uri="{BB962C8B-B14F-4D97-AF65-F5344CB8AC3E}">
        <p14:creationId xmlns:p14="http://schemas.microsoft.com/office/powerpoint/2010/main" val="3360712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GB" sz="1000" dirty="0">
                <a:latin typeface="Arial"/>
                <a:ea typeface="Calibri"/>
                <a:cs typeface="Segoe UI"/>
              </a:rPr>
              <a:t>Introduce Software Restriction Policies (SRPs) as the legacy solution for managing application execution. Introduce their basic functionality and key components.</a:t>
            </a:r>
            <a:endParaRPr lang="en-CA" sz="1000" dirty="0">
              <a:latin typeface="Arial"/>
              <a:ea typeface="Calibri"/>
              <a:cs typeface="Times New Roman"/>
            </a:endParaRPr>
          </a:p>
          <a:p>
            <a:pPr>
              <a:lnSpc>
                <a:spcPct val="115000"/>
              </a:lnSpc>
              <a:spcAft>
                <a:spcPts val="1000"/>
              </a:spcAft>
            </a:pPr>
            <a:r>
              <a:rPr lang="en-GB" sz="1000" dirty="0">
                <a:latin typeface="Arial"/>
                <a:ea typeface="Calibri"/>
                <a:cs typeface="Segoe UI"/>
              </a:rPr>
              <a:t>This slide is intended only to define and explain SRPs. Do not go into much detail yet about the differences between SRPs and AppLocker</a:t>
            </a:r>
            <a:r>
              <a:rPr lang="en-GB" sz="1000" baseline="30000" dirty="0">
                <a:latin typeface="Arial"/>
                <a:ea typeface="Calibri"/>
                <a:cs typeface="Segoe UI"/>
              </a:rPr>
              <a:t>®</a:t>
            </a:r>
            <a:r>
              <a:rPr lang="en-GB" sz="1000" dirty="0">
                <a:latin typeface="Arial"/>
                <a:ea typeface="Calibri"/>
                <a:cs typeface="Segoe UI"/>
              </a:rPr>
              <a:t>. Ensure that students understand the concept of applying security levels both at the default security level and to individual SRP rules.</a:t>
            </a:r>
            <a:endParaRPr lang="en-CA" sz="1000" dirty="0">
              <a:latin typeface="Arial"/>
              <a:ea typeface="Calibri"/>
              <a:cs typeface="Times New Roman"/>
            </a:endParaRPr>
          </a:p>
          <a:p>
            <a:pPr>
              <a:lnSpc>
                <a:spcPct val="115000"/>
              </a:lnSpc>
              <a:spcAft>
                <a:spcPts val="1000"/>
              </a:spcAft>
            </a:pPr>
            <a:r>
              <a:rPr lang="en-GB" sz="1000" dirty="0">
                <a:latin typeface="Arial"/>
                <a:ea typeface="Calibri"/>
                <a:cs typeface="Segoe UI"/>
              </a:rPr>
              <a:t>Explain how these two areas combine to provide to different environments:</a:t>
            </a:r>
            <a:endParaRPr lang="en-CA" sz="1000" dirty="0">
              <a:latin typeface="Arial"/>
              <a:ea typeface="Calibri"/>
              <a:cs typeface="Times New Roman"/>
            </a:endParaRPr>
          </a:p>
          <a:p>
            <a:pPr marL="342900" lvl="0" indent="-342900">
              <a:lnSpc>
                <a:spcPct val="115000"/>
              </a:lnSpc>
              <a:spcAft>
                <a:spcPts val="995"/>
              </a:spcAft>
              <a:buFont typeface="Symbol"/>
              <a:buChar char=""/>
            </a:pPr>
            <a:r>
              <a:rPr lang="en-GB" sz="1000" dirty="0" smtClean="0">
                <a:effectLst/>
                <a:latin typeface="Arial"/>
                <a:ea typeface="Times New Roman"/>
                <a:cs typeface="Segoe UI"/>
              </a:rPr>
              <a:t>No applications can run unless allowed by SRP.</a:t>
            </a:r>
            <a:endParaRPr lang="en-CA" sz="1000" dirty="0" smtClean="0">
              <a:effectLst/>
              <a:latin typeface="Arial"/>
              <a:ea typeface="Times New Roman"/>
              <a:cs typeface="Times New Roman"/>
            </a:endParaRPr>
          </a:p>
          <a:p>
            <a:pPr marL="342900" lvl="0" indent="-342900">
              <a:lnSpc>
                <a:spcPct val="115000"/>
              </a:lnSpc>
              <a:spcAft>
                <a:spcPts val="995"/>
              </a:spcAft>
              <a:buFont typeface="Symbol"/>
              <a:buChar char=""/>
            </a:pPr>
            <a:r>
              <a:rPr lang="en-GB" sz="1000" dirty="0" smtClean="0">
                <a:effectLst/>
                <a:latin typeface="Arial"/>
                <a:ea typeface="Times New Roman"/>
                <a:cs typeface="Segoe UI"/>
              </a:rPr>
              <a:t>All applications can run unless restricted by SRP.</a:t>
            </a:r>
            <a:endParaRPr lang="en-CA" sz="1000" dirty="0">
              <a:effectLst/>
              <a:latin typeface="Arial"/>
              <a:ea typeface="Times New Roman"/>
              <a:cs typeface="Times New Roman"/>
            </a:endParaRPr>
          </a:p>
        </p:txBody>
      </p:sp>
      <p:sp>
        <p:nvSpPr>
          <p:cNvPr id="4" name="Slide Number Placeholder 3"/>
          <p:cNvSpPr>
            <a:spLocks noGrp="1"/>
          </p:cNvSpPr>
          <p:nvPr>
            <p:ph type="sldNum" sz="quarter" idx="10"/>
          </p:nvPr>
        </p:nvSpPr>
        <p:spPr/>
        <p:txBody>
          <a:bodyPr/>
          <a:lstStyle/>
          <a:p>
            <a:fld id="{D577B5E1-4095-4397-ADB9-F5E0D58B59B6}" type="slidenum">
              <a:rPr lang="en-CA" smtClean="0"/>
              <a:pPr/>
              <a:t>8</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12: Securing Windows Servers by Using Group Policy Objects</a:t>
            </a:r>
            <a:endParaRPr lang="en-CA" sz="1200" b="1" dirty="0">
              <a:solidFill>
                <a:srgbClr val="336699"/>
              </a:solidFill>
              <a:latin typeface="Arial"/>
            </a:endParaRPr>
          </a:p>
        </p:txBody>
      </p:sp>
    </p:spTree>
    <p:extLst>
      <p:ext uri="{BB962C8B-B14F-4D97-AF65-F5344CB8AC3E}">
        <p14:creationId xmlns:p14="http://schemas.microsoft.com/office/powerpoint/2010/main" val="35436520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dirty="0">
                <a:latin typeface="Arial"/>
                <a:ea typeface="Calibri"/>
                <a:cs typeface="Segoe UI"/>
              </a:rPr>
              <a:t>Introduce AppLocker as the replacement for SRP in Windows Server</a:t>
            </a:r>
            <a:r>
              <a:rPr lang="en-CA" sz="1000" dirty="0">
                <a:latin typeface="Arial"/>
                <a:ea typeface="Calibri"/>
                <a:cs typeface="Times New Roman"/>
              </a:rPr>
              <a:t> </a:t>
            </a:r>
            <a:r>
              <a:rPr lang="en-CA" sz="1000" dirty="0">
                <a:latin typeface="Arial"/>
                <a:ea typeface="Calibri"/>
                <a:cs typeface="Segoe UI"/>
              </a:rPr>
              <a:t>2008 R2 and Windows 7. Mention that AppLocker also is available in Windows Server 2012 and Windows 8.</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Introduce the benefits that AppLocker provides, and discuss, in a general way, how it is applied in a Windows Server 2012 and Windows 8 environment.</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Highlight AppLocker’s capability to define specific sets of rules based on user account or security group membership. Also, explain that students can create a definition of application variables when they create rules.</a:t>
            </a:r>
            <a:endParaRPr lang="en-CA"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D577B5E1-4095-4397-ADB9-F5E0D58B59B6}" type="slidenum">
              <a:rPr lang="en-CA" smtClean="0"/>
              <a:pPr/>
              <a:t>9</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12: Securing Windows Servers by Using Group Policy Objects</a:t>
            </a:r>
            <a:endParaRPr lang="en-CA" sz="1200" b="1" dirty="0">
              <a:solidFill>
                <a:srgbClr val="336699"/>
              </a:solidFill>
              <a:latin typeface="Arial"/>
            </a:endParaRPr>
          </a:p>
        </p:txBody>
      </p:sp>
    </p:spTree>
    <p:extLst>
      <p:ext uri="{BB962C8B-B14F-4D97-AF65-F5344CB8AC3E}">
        <p14:creationId xmlns:p14="http://schemas.microsoft.com/office/powerpoint/2010/main" val="11778566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dirty="0">
                <a:latin typeface="Arial"/>
                <a:ea typeface="Calibri"/>
                <a:cs typeface="Times New Roman"/>
              </a:rPr>
              <a:t>This is the first of two slides in this topic.</a:t>
            </a:r>
          </a:p>
          <a:p>
            <a:pPr>
              <a:lnSpc>
                <a:spcPct val="115000"/>
              </a:lnSpc>
              <a:spcAft>
                <a:spcPts val="1000"/>
              </a:spcAft>
            </a:pPr>
            <a:r>
              <a:rPr lang="en-CA" sz="1000" dirty="0">
                <a:latin typeface="Arial"/>
                <a:ea typeface="Calibri"/>
                <a:cs typeface="Segoe UI"/>
              </a:rPr>
              <a:t>Mention that the default Windows Firewall status is to block all incoming traffic unless it is solicited or it matches a configured rule, and to allow all outgoing traffic, unless it matches a configured rule.</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Mention the following rules:</a:t>
            </a:r>
            <a:endParaRPr lang="en-CA" sz="1000" dirty="0">
              <a:latin typeface="Arial"/>
              <a:ea typeface="Calibri"/>
              <a:cs typeface="Times New Roman"/>
            </a:endParaRPr>
          </a:p>
          <a:p>
            <a:pPr marL="342900" lvl="0" indent="-342900">
              <a:lnSpc>
                <a:spcPct val="115000"/>
              </a:lnSpc>
              <a:spcAft>
                <a:spcPts val="995"/>
              </a:spcAft>
              <a:buFont typeface="Symbol"/>
              <a:buChar char=""/>
              <a:tabLst>
                <a:tab pos="457200" algn="l"/>
              </a:tabLst>
            </a:pPr>
            <a:r>
              <a:rPr lang="en-CA" sz="1000" dirty="0">
                <a:latin typeface="Arial"/>
                <a:ea typeface="Calibri"/>
                <a:cs typeface="Segoe UI"/>
              </a:rPr>
              <a:t>Password policies TCP port 20 blocks outbound</a:t>
            </a:r>
            <a:endParaRPr lang="en-CA" sz="1000" dirty="0">
              <a:latin typeface="Arial"/>
              <a:ea typeface="Calibri"/>
              <a:cs typeface="Times New Roman"/>
            </a:endParaRPr>
          </a:p>
          <a:p>
            <a:pPr marL="342900" lvl="0" indent="-342900">
              <a:lnSpc>
                <a:spcPct val="115000"/>
              </a:lnSpc>
              <a:spcAft>
                <a:spcPts val="995"/>
              </a:spcAft>
              <a:buFont typeface="Symbol"/>
              <a:buChar char=""/>
              <a:tabLst>
                <a:tab pos="457200" algn="l"/>
              </a:tabLst>
            </a:pPr>
            <a:r>
              <a:rPr lang="en-CA" sz="1000" dirty="0">
                <a:latin typeface="Arial"/>
                <a:ea typeface="Calibri"/>
                <a:cs typeface="Segoe UI"/>
              </a:rPr>
              <a:t>Remote Desktop allows inbound</a:t>
            </a:r>
            <a:endParaRPr lang="en-CA" sz="1000" dirty="0">
              <a:latin typeface="Arial"/>
              <a:ea typeface="Calibri"/>
              <a:cs typeface="Times New Roman"/>
            </a:endParaRPr>
          </a:p>
          <a:p>
            <a:pPr marL="342900" lvl="0" indent="-342900">
              <a:lnSpc>
                <a:spcPct val="115000"/>
              </a:lnSpc>
              <a:spcAft>
                <a:spcPts val="995"/>
              </a:spcAft>
              <a:buFont typeface="Symbol"/>
              <a:buChar char=""/>
              <a:tabLst>
                <a:tab pos="457200" algn="l"/>
              </a:tabLst>
            </a:pPr>
            <a:r>
              <a:rPr lang="en-CA" sz="1000" dirty="0">
                <a:latin typeface="Arial"/>
                <a:ea typeface="Calibri"/>
                <a:cs typeface="Segoe UI"/>
              </a:rPr>
              <a:t>Custom application TCP port 6543 allows inbound</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Mention that you can use the </a:t>
            </a:r>
            <a:r>
              <a:rPr lang="en-CA" sz="1000" b="1" dirty="0">
                <a:latin typeface="Arial"/>
                <a:ea typeface="Calibri"/>
                <a:cs typeface="Times New Roman"/>
              </a:rPr>
              <a:t>netsh</a:t>
            </a:r>
            <a:r>
              <a:rPr lang="en-CA" sz="1000" dirty="0">
                <a:latin typeface="Arial"/>
                <a:ea typeface="Calibri"/>
                <a:cs typeface="Segoe UI"/>
              </a:rPr>
              <a:t> command-line tool for configuring Windows Firewall with Advanced Security.</a:t>
            </a:r>
            <a:endParaRPr lang="en-CA"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D577B5E1-4095-4397-ADB9-F5E0D58B59B6}" type="slidenum">
              <a:rPr lang="en-CA" smtClean="0"/>
              <a:pPr/>
              <a:t>10</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12: Securing Windows Servers by Using Group Policy Objects</a:t>
            </a:r>
            <a:endParaRPr lang="en-CA" sz="1200" b="1" dirty="0">
              <a:solidFill>
                <a:srgbClr val="336699"/>
              </a:solidFill>
              <a:latin typeface="Arial"/>
            </a:endParaRPr>
          </a:p>
        </p:txBody>
      </p:sp>
    </p:spTree>
    <p:extLst>
      <p:ext uri="{BB962C8B-B14F-4D97-AF65-F5344CB8AC3E}">
        <p14:creationId xmlns:p14="http://schemas.microsoft.com/office/powerpoint/2010/main" val="39861079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15000"/>
              </a:lnSpc>
              <a:spcAft>
                <a:spcPts val="1000"/>
              </a:spcAft>
            </a:pPr>
            <a:r>
              <a:rPr lang="en-CA" sz="1000" b="1" dirty="0">
                <a:latin typeface="Arial"/>
                <a:ea typeface="Calibri"/>
                <a:cs typeface="Times New Roman"/>
              </a:rPr>
              <a:t>Discussion Question:</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Why is it important to use a host-based firewall, such as Windows Firewall with Advanced Security?</a:t>
            </a:r>
            <a:endParaRPr lang="en-CA" sz="1000" dirty="0">
              <a:latin typeface="Arial"/>
              <a:ea typeface="Calibri"/>
              <a:cs typeface="Times New Roman"/>
            </a:endParaRPr>
          </a:p>
          <a:p>
            <a:pPr>
              <a:lnSpc>
                <a:spcPct val="115000"/>
              </a:lnSpc>
              <a:spcAft>
                <a:spcPts val="1000"/>
              </a:spcAft>
            </a:pPr>
            <a:r>
              <a:rPr lang="en-CA" sz="1000" b="1" dirty="0">
                <a:latin typeface="Arial"/>
                <a:ea typeface="Calibri"/>
                <a:cs typeface="Times New Roman"/>
              </a:rPr>
              <a:t>Answer:</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Segoe UI"/>
              </a:rPr>
              <a:t>Windows Firewall with Advanced Security is important because:</a:t>
            </a:r>
            <a:endParaRPr lang="en-CA" sz="1000" dirty="0">
              <a:latin typeface="Arial"/>
              <a:ea typeface="Calibri"/>
              <a:cs typeface="Times New Roman"/>
            </a:endParaRPr>
          </a:p>
          <a:p>
            <a:pPr marL="342900" lvl="0" indent="-342900">
              <a:lnSpc>
                <a:spcPct val="115000"/>
              </a:lnSpc>
              <a:spcAft>
                <a:spcPts val="995"/>
              </a:spcAft>
              <a:buFont typeface="Symbol"/>
              <a:buChar char=""/>
            </a:pPr>
            <a:r>
              <a:rPr lang="en-US" sz="1000" dirty="0" smtClean="0">
                <a:effectLst/>
                <a:latin typeface="Arial"/>
                <a:ea typeface="Times New Roman"/>
                <a:cs typeface="Segoe UI"/>
              </a:rPr>
              <a:t>Computers are protected from attacks on the internal network. This can prevent malware from moving through the internal network by blocking unsolicited inbound traffic.</a:t>
            </a:r>
            <a:endParaRPr lang="en-CA" sz="1000" dirty="0" smtClean="0">
              <a:effectLst/>
              <a:latin typeface="Arial"/>
              <a:ea typeface="Times New Roman"/>
              <a:cs typeface="Times New Roman"/>
            </a:endParaRPr>
          </a:p>
          <a:p>
            <a:pPr marL="342900" lvl="0" indent="-342900">
              <a:lnSpc>
                <a:spcPct val="115000"/>
              </a:lnSpc>
              <a:spcAft>
                <a:spcPts val="995"/>
              </a:spcAft>
              <a:buFont typeface="Symbol"/>
              <a:buChar char=""/>
            </a:pPr>
            <a:r>
              <a:rPr lang="en-US" sz="1000" dirty="0" smtClean="0">
                <a:effectLst/>
                <a:latin typeface="Arial"/>
                <a:ea typeface="Times New Roman"/>
                <a:cs typeface="Segoe UI"/>
              </a:rPr>
              <a:t>Inbound rules prevent network scanning to identify hosts on the network. The simplest network scanners ping hosts on a network in an attempt to identify them. Windows Firewall with Advanced Security prevents member servers from responding to ping requests. Domain controllers do respond to ping requests.</a:t>
            </a:r>
            <a:endParaRPr lang="en-CA" sz="1000" dirty="0" smtClean="0">
              <a:effectLst/>
              <a:latin typeface="Arial"/>
              <a:ea typeface="Times New Roman"/>
              <a:cs typeface="Times New Roman"/>
            </a:endParaRPr>
          </a:p>
          <a:p>
            <a:pPr marL="342900" lvl="0" indent="-342900">
              <a:lnSpc>
                <a:spcPct val="115000"/>
              </a:lnSpc>
              <a:spcAft>
                <a:spcPts val="995"/>
              </a:spcAft>
              <a:buFont typeface="Symbol"/>
              <a:buChar char=""/>
            </a:pPr>
            <a:r>
              <a:rPr lang="en-US" sz="1000" dirty="0" smtClean="0">
                <a:effectLst/>
                <a:latin typeface="Arial"/>
                <a:ea typeface="Times New Roman"/>
                <a:cs typeface="Segoe UI"/>
              </a:rPr>
              <a:t>When you enable outbound rules, it can prevent malware from spreading by preventing the malware from communicating on the network. In the case of a virus outbreak, you could configure computers with a specific outbound rule that prevents the virus from communicating over the network.</a:t>
            </a:r>
            <a:endParaRPr lang="en-CA" sz="1000" dirty="0" smtClean="0">
              <a:effectLst/>
              <a:latin typeface="Arial"/>
              <a:ea typeface="Times New Roman"/>
              <a:cs typeface="Times New Roman"/>
            </a:endParaRPr>
          </a:p>
          <a:p>
            <a:pPr marL="342900" lvl="0" indent="-342900">
              <a:lnSpc>
                <a:spcPct val="115000"/>
              </a:lnSpc>
              <a:spcAft>
                <a:spcPts val="995"/>
              </a:spcAft>
              <a:buFont typeface="Symbol"/>
              <a:buChar char=""/>
            </a:pPr>
            <a:r>
              <a:rPr lang="en-US" sz="1000" dirty="0" smtClean="0">
                <a:effectLst/>
                <a:latin typeface="Arial"/>
                <a:ea typeface="Times New Roman"/>
                <a:cs typeface="Segoe UI"/>
              </a:rPr>
              <a:t>Connection security rules allow you to create sophisticated firewall rules that use computer and user-authentication information to limit communication with high-security computers.</a:t>
            </a:r>
            <a:endParaRPr lang="en-CA" sz="1000" dirty="0">
              <a:effectLst/>
              <a:latin typeface="Arial"/>
              <a:ea typeface="Times New Roman"/>
              <a:cs typeface="Times New Roman"/>
            </a:endParaRPr>
          </a:p>
        </p:txBody>
      </p:sp>
      <p:sp>
        <p:nvSpPr>
          <p:cNvPr id="4" name="Slide Number Placeholder 3"/>
          <p:cNvSpPr>
            <a:spLocks noGrp="1"/>
          </p:cNvSpPr>
          <p:nvPr>
            <p:ph type="sldNum" sz="quarter" idx="10"/>
          </p:nvPr>
        </p:nvSpPr>
        <p:spPr/>
        <p:txBody>
          <a:bodyPr/>
          <a:lstStyle/>
          <a:p>
            <a:fld id="{D577B5E1-4095-4397-ADB9-F5E0D58B59B6}" type="slidenum">
              <a:rPr lang="en-CA" smtClean="0"/>
              <a:pPr/>
              <a:t>11</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12: Securing Windows Servers by Using Group Policy Objects</a:t>
            </a:r>
            <a:endParaRPr lang="en-CA" sz="1200" b="1" dirty="0">
              <a:solidFill>
                <a:srgbClr val="336699"/>
              </a:solidFill>
              <a:latin typeface="Arial"/>
            </a:endParaRPr>
          </a:p>
        </p:txBody>
      </p:sp>
    </p:spTree>
    <p:extLst>
      <p:ext uri="{BB962C8B-B14F-4D97-AF65-F5344CB8AC3E}">
        <p14:creationId xmlns:p14="http://schemas.microsoft.com/office/powerpoint/2010/main" val="12139858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15000"/>
              </a:lnSpc>
              <a:spcAft>
                <a:spcPts val="1000"/>
              </a:spcAft>
            </a:pPr>
            <a:r>
              <a:rPr lang="en-CA" sz="1000" dirty="0">
                <a:latin typeface="Arial"/>
                <a:ea typeface="Calibri"/>
                <a:cs typeface="Segoe UI"/>
              </a:rPr>
              <a:t>One of the key points that students need to understand is that domain members use the domain profile. Only objects that are not </a:t>
            </a:r>
            <a:r>
              <a:rPr lang="en-CA" sz="1000" dirty="0">
                <a:latin typeface="Arial"/>
                <a:ea typeface="Calibri"/>
                <a:cs typeface="Times New Roman"/>
              </a:rPr>
              <a:t>a domain member</a:t>
            </a:r>
            <a:r>
              <a:rPr lang="en-CA" sz="1000" dirty="0">
                <a:latin typeface="Arial"/>
                <a:ea typeface="Calibri"/>
                <a:cs typeface="Segoe UI"/>
              </a:rPr>
              <a:t>, such as hosts in a perimeter network, use other profiles.</a:t>
            </a:r>
            <a:endParaRPr lang="en-CA" sz="1000" dirty="0">
              <a:latin typeface="Arial"/>
              <a:ea typeface="Calibri"/>
              <a:cs typeface="Times New Roman"/>
            </a:endParaRPr>
          </a:p>
        </p:txBody>
      </p:sp>
      <p:sp>
        <p:nvSpPr>
          <p:cNvPr id="4" name="Slide Number Placeholder 3"/>
          <p:cNvSpPr>
            <a:spLocks noGrp="1"/>
          </p:cNvSpPr>
          <p:nvPr>
            <p:ph type="sldNum" sz="quarter" idx="10"/>
          </p:nvPr>
        </p:nvSpPr>
        <p:spPr/>
        <p:txBody>
          <a:bodyPr/>
          <a:lstStyle/>
          <a:p>
            <a:fld id="{D577B5E1-4095-4397-ADB9-F5E0D58B59B6}" type="slidenum">
              <a:rPr lang="en-CA" smtClean="0"/>
              <a:pPr/>
              <a:t>12</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12: Securing Windows Servers by Using Group Policy Objects</a:t>
            </a:r>
            <a:endParaRPr lang="en-CA" sz="1200" b="1" dirty="0">
              <a:solidFill>
                <a:srgbClr val="336699"/>
              </a:solidFill>
              <a:latin typeface="Arial"/>
            </a:endParaRPr>
          </a:p>
        </p:txBody>
      </p:sp>
    </p:spTree>
    <p:extLst>
      <p:ext uri="{BB962C8B-B14F-4D97-AF65-F5344CB8AC3E}">
        <p14:creationId xmlns:p14="http://schemas.microsoft.com/office/powerpoint/2010/main" val="24366515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15000"/>
              </a:lnSpc>
              <a:spcAft>
                <a:spcPts val="1000"/>
              </a:spcAft>
            </a:pPr>
            <a:r>
              <a:rPr lang="en-CA" sz="1000" dirty="0">
                <a:latin typeface="Arial"/>
                <a:ea typeface="Calibri"/>
                <a:cs typeface="Times New Roman"/>
              </a:rPr>
              <a:t>Ensure that students understand the following points:</a:t>
            </a:r>
          </a:p>
          <a:p>
            <a:pPr marL="342900" lvl="0" indent="-342900">
              <a:lnSpc>
                <a:spcPct val="115000"/>
              </a:lnSpc>
              <a:spcAft>
                <a:spcPts val="995"/>
              </a:spcAft>
              <a:buFont typeface="Symbol"/>
              <a:buChar char=""/>
            </a:pPr>
            <a:r>
              <a:rPr lang="en-US" sz="1000" dirty="0" smtClean="0">
                <a:effectLst/>
                <a:latin typeface="Arial"/>
                <a:ea typeface="Times New Roman"/>
                <a:cs typeface="Times New Roman"/>
              </a:rPr>
              <a:t>To allow traffic, they must first create the firewall rules.</a:t>
            </a:r>
            <a:endParaRPr lang="en-CA" sz="1000" dirty="0" smtClean="0">
              <a:effectLst/>
              <a:latin typeface="Arial"/>
              <a:ea typeface="Times New Roman"/>
              <a:cs typeface="Times New Roman"/>
            </a:endParaRPr>
          </a:p>
          <a:p>
            <a:pPr marL="342900" lvl="0" indent="-342900">
              <a:lnSpc>
                <a:spcPct val="115000"/>
              </a:lnSpc>
              <a:spcAft>
                <a:spcPts val="995"/>
              </a:spcAft>
              <a:buFont typeface="Symbol"/>
              <a:buChar char=""/>
            </a:pPr>
            <a:r>
              <a:rPr lang="en-US" sz="1000" dirty="0" smtClean="0">
                <a:effectLst/>
                <a:latin typeface="Arial"/>
                <a:ea typeface="Times New Roman"/>
                <a:cs typeface="Times New Roman"/>
              </a:rPr>
              <a:t>Firewall rules define which ports, IP addresses, applications, or programs are allowed through the firewall, each defined separately for both directions: in and out.</a:t>
            </a:r>
            <a:endParaRPr lang="en-CA" sz="1000" dirty="0" smtClean="0">
              <a:effectLst/>
              <a:latin typeface="Arial"/>
              <a:ea typeface="Times New Roman"/>
              <a:cs typeface="Times New Roman"/>
            </a:endParaRPr>
          </a:p>
          <a:p>
            <a:pPr marL="342900" lvl="0" indent="-342900">
              <a:lnSpc>
                <a:spcPct val="115000"/>
              </a:lnSpc>
              <a:spcAft>
                <a:spcPts val="995"/>
              </a:spcAft>
              <a:buFont typeface="Symbol"/>
              <a:buChar char=""/>
            </a:pPr>
            <a:r>
              <a:rPr lang="en-US" sz="1000" dirty="0" smtClean="0">
                <a:effectLst/>
                <a:latin typeface="Arial"/>
                <a:ea typeface="Times New Roman"/>
                <a:cs typeface="Times New Roman"/>
              </a:rPr>
              <a:t>Connection security rules provide additional protection by requiring authenticating on the computers that initiate the traffic. They also secure that traffic by encrypting the data that is transmitted between computers.</a:t>
            </a:r>
            <a:endParaRPr lang="en-CA" sz="1000" dirty="0" smtClean="0">
              <a:effectLst/>
              <a:latin typeface="Arial"/>
              <a:ea typeface="Times New Roman"/>
              <a:cs typeface="Times New Roman"/>
            </a:endParaRPr>
          </a:p>
          <a:p>
            <a:pPr marL="342900" lvl="0" indent="-342900">
              <a:lnSpc>
                <a:spcPct val="115000"/>
              </a:lnSpc>
              <a:spcAft>
                <a:spcPts val="995"/>
              </a:spcAft>
              <a:buFont typeface="Symbol"/>
              <a:buChar char=""/>
            </a:pPr>
            <a:r>
              <a:rPr lang="en-US" sz="1000" dirty="0" smtClean="0">
                <a:effectLst/>
                <a:latin typeface="Arial"/>
                <a:ea typeface="Times New Roman"/>
                <a:cs typeface="Times New Roman"/>
              </a:rPr>
              <a:t>Connection security rules are applied between the computers that are the two endpoints.</a:t>
            </a:r>
            <a:endParaRPr lang="en-CA" sz="1000" dirty="0" smtClean="0">
              <a:effectLst/>
              <a:latin typeface="Arial"/>
              <a:ea typeface="Times New Roman"/>
              <a:cs typeface="Times New Roman"/>
            </a:endParaRPr>
          </a:p>
          <a:p>
            <a:pPr>
              <a:lnSpc>
                <a:spcPct val="115000"/>
              </a:lnSpc>
              <a:spcAft>
                <a:spcPts val="1000"/>
              </a:spcAft>
            </a:pPr>
            <a:r>
              <a:rPr lang="en-CA" sz="1000" dirty="0">
                <a:latin typeface="Arial"/>
                <a:ea typeface="Calibri"/>
                <a:cs typeface="Times New Roman"/>
              </a:rPr>
              <a:t>Emphasize that you can configure firewall rules to allow traffic, allow only authenticated traffic, or block all traffic. This means that you can use connection security rules to authenticate traffic, and you can configure the firewall to allow only authenticated traffic.</a:t>
            </a:r>
          </a:p>
        </p:txBody>
      </p:sp>
      <p:sp>
        <p:nvSpPr>
          <p:cNvPr id="4" name="Slide Number Placeholder 3"/>
          <p:cNvSpPr>
            <a:spLocks noGrp="1"/>
          </p:cNvSpPr>
          <p:nvPr>
            <p:ph type="sldNum" sz="quarter" idx="10"/>
          </p:nvPr>
        </p:nvSpPr>
        <p:spPr/>
        <p:txBody>
          <a:bodyPr/>
          <a:lstStyle/>
          <a:p>
            <a:fld id="{D577B5E1-4095-4397-ADB9-F5E0D58B59B6}" type="slidenum">
              <a:rPr lang="en-CA" smtClean="0"/>
              <a:pPr/>
              <a:t>13</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12: Securing Windows Servers by Using Group Policy Objects</a:t>
            </a:r>
            <a:endParaRPr lang="en-CA" sz="1200" b="1" dirty="0">
              <a:solidFill>
                <a:srgbClr val="336699"/>
              </a:solidFill>
              <a:latin typeface="Arial"/>
            </a:endParaRPr>
          </a:p>
        </p:txBody>
      </p:sp>
    </p:spTree>
    <p:extLst>
      <p:ext uri="{BB962C8B-B14F-4D97-AF65-F5344CB8AC3E}">
        <p14:creationId xmlns:p14="http://schemas.microsoft.com/office/powerpoint/2010/main" val="24595762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5"/>
            <a:ext cx="6153912" cy="6604000"/>
          </a:xfrm>
        </p:spPr>
        <p:txBody>
          <a:bodyPr>
            <a:noAutofit/>
          </a:bodyPr>
          <a:lstStyle/>
          <a:p>
            <a:pPr>
              <a:lnSpc>
                <a:spcPct val="115000"/>
              </a:lnSpc>
              <a:spcAft>
                <a:spcPts val="1000"/>
              </a:spcAft>
            </a:pPr>
            <a:r>
              <a:rPr lang="en-CA" sz="1000" dirty="0">
                <a:latin typeface="Arial"/>
                <a:ea typeface="Calibri"/>
                <a:cs typeface="Times New Roman"/>
              </a:rPr>
              <a:t>Mention the different options that are available when you are securing connections, including:</a:t>
            </a:r>
          </a:p>
          <a:p>
            <a:pPr marL="342900" lvl="0" indent="-342900">
              <a:lnSpc>
                <a:spcPct val="115000"/>
              </a:lnSpc>
              <a:spcAft>
                <a:spcPts val="995"/>
              </a:spcAft>
              <a:buFont typeface="Symbol"/>
              <a:buChar char=""/>
            </a:pPr>
            <a:r>
              <a:rPr lang="en-US" sz="1000" dirty="0" smtClean="0">
                <a:effectLst/>
                <a:latin typeface="Arial"/>
                <a:ea typeface="Times New Roman"/>
                <a:cs typeface="Times New Roman"/>
              </a:rPr>
              <a:t>Securing connections for all communication</a:t>
            </a:r>
            <a:endParaRPr lang="en-CA" sz="1000" dirty="0" smtClean="0">
              <a:effectLst/>
              <a:latin typeface="Arial"/>
              <a:ea typeface="Times New Roman"/>
              <a:cs typeface="Times New Roman"/>
            </a:endParaRPr>
          </a:p>
          <a:p>
            <a:pPr marL="342900" lvl="0" indent="-342900">
              <a:lnSpc>
                <a:spcPct val="115000"/>
              </a:lnSpc>
              <a:spcAft>
                <a:spcPts val="995"/>
              </a:spcAft>
              <a:buFont typeface="Symbol"/>
              <a:buChar char=""/>
            </a:pPr>
            <a:r>
              <a:rPr lang="en-US" sz="1000" dirty="0" smtClean="0">
                <a:effectLst/>
                <a:latin typeface="Arial"/>
                <a:ea typeface="Times New Roman"/>
                <a:cs typeface="Times New Roman"/>
              </a:rPr>
              <a:t>Securing connections for a single protocol</a:t>
            </a:r>
            <a:endParaRPr lang="en-CA" sz="1000" dirty="0" smtClean="0">
              <a:effectLst/>
              <a:latin typeface="Arial"/>
              <a:ea typeface="Times New Roman"/>
              <a:cs typeface="Times New Roman"/>
            </a:endParaRPr>
          </a:p>
          <a:p>
            <a:pPr marL="342900" lvl="0" indent="-342900">
              <a:lnSpc>
                <a:spcPct val="115000"/>
              </a:lnSpc>
              <a:spcAft>
                <a:spcPts val="995"/>
              </a:spcAft>
              <a:buFont typeface="Symbol"/>
              <a:buChar char=""/>
            </a:pPr>
            <a:r>
              <a:rPr lang="en-US" sz="1000" dirty="0" smtClean="0">
                <a:effectLst/>
                <a:latin typeface="Arial"/>
                <a:ea typeface="Times New Roman"/>
                <a:cs typeface="Times New Roman"/>
              </a:rPr>
              <a:t>Using certificates for authentication</a:t>
            </a:r>
            <a:endParaRPr lang="en-CA" sz="1000" dirty="0" smtClean="0">
              <a:effectLst/>
              <a:latin typeface="Arial"/>
              <a:ea typeface="Times New Roman"/>
              <a:cs typeface="Times New Roman"/>
            </a:endParaRPr>
          </a:p>
          <a:p>
            <a:pPr marL="342900" lvl="0" indent="-342900">
              <a:lnSpc>
                <a:spcPct val="115000"/>
              </a:lnSpc>
              <a:spcAft>
                <a:spcPts val="995"/>
              </a:spcAft>
              <a:buFont typeface="Symbol"/>
              <a:buChar char=""/>
            </a:pPr>
            <a:r>
              <a:rPr lang="en-US" sz="1000" dirty="0" smtClean="0">
                <a:effectLst/>
                <a:latin typeface="Arial"/>
                <a:ea typeface="Times New Roman"/>
                <a:cs typeface="Times New Roman"/>
              </a:rPr>
              <a:t>Using Kerberos for authentication</a:t>
            </a:r>
            <a:endParaRPr lang="en-CA" sz="1000" dirty="0" smtClean="0">
              <a:effectLst/>
              <a:latin typeface="Arial"/>
              <a:ea typeface="Times New Roman"/>
              <a:cs typeface="Times New Roman"/>
            </a:endParaRPr>
          </a:p>
          <a:p>
            <a:pPr marL="342900" lvl="0" indent="-342900">
              <a:lnSpc>
                <a:spcPct val="115000"/>
              </a:lnSpc>
              <a:spcAft>
                <a:spcPts val="995"/>
              </a:spcAft>
              <a:buFont typeface="Symbol"/>
              <a:buChar char=""/>
            </a:pPr>
            <a:r>
              <a:rPr lang="en-US" sz="1000" dirty="0" smtClean="0">
                <a:effectLst/>
                <a:latin typeface="Arial"/>
                <a:ea typeface="Times New Roman"/>
                <a:cs typeface="Times New Roman"/>
              </a:rPr>
              <a:t>Securing traffic to or from specific hosts only, or securing traffic for an entire domain</a:t>
            </a:r>
            <a:endParaRPr lang="en-CA" sz="1000" dirty="0" smtClean="0">
              <a:effectLst/>
              <a:latin typeface="Arial"/>
              <a:ea typeface="Times New Roman"/>
              <a:cs typeface="Times New Roman"/>
            </a:endParaRPr>
          </a:p>
          <a:p>
            <a:pPr>
              <a:lnSpc>
                <a:spcPct val="115000"/>
              </a:lnSpc>
              <a:spcAft>
                <a:spcPts val="1000"/>
              </a:spcAft>
            </a:pPr>
            <a:r>
              <a:rPr lang="en-CA" sz="1000" dirty="0">
                <a:latin typeface="Arial"/>
                <a:ea typeface="Calibri"/>
                <a:cs typeface="Times New Roman"/>
              </a:rPr>
              <a:t>Also, mention the real-world situations where securing network traffic is valuable. These scenarios include an organization that has a security policy that prohibits communication between development computers and production computers, or a highly secure environment where compliance requires specific secure communications.</a:t>
            </a:r>
          </a:p>
          <a:p>
            <a:pPr>
              <a:lnSpc>
                <a:spcPct val="115000"/>
              </a:lnSpc>
              <a:spcAft>
                <a:spcPts val="1000"/>
              </a:spcAft>
            </a:pPr>
            <a:r>
              <a:rPr lang="en-CA" sz="1000" b="1" dirty="0" smtClean="0">
                <a:latin typeface="Arial"/>
                <a:ea typeface="Calibri"/>
                <a:cs typeface="Times New Roman"/>
              </a:rPr>
              <a:t>Preparation </a:t>
            </a:r>
            <a:r>
              <a:rPr lang="en-CA" sz="1000" b="1" dirty="0">
                <a:latin typeface="Arial"/>
                <a:ea typeface="Calibri"/>
                <a:cs typeface="Times New Roman"/>
              </a:rPr>
              <a:t>Steps</a:t>
            </a:r>
            <a:endParaRPr lang="en-CA" sz="1000" dirty="0">
              <a:latin typeface="Arial"/>
              <a:ea typeface="Calibri"/>
              <a:cs typeface="Times New Roman"/>
            </a:endParaRPr>
          </a:p>
          <a:p>
            <a:pPr>
              <a:lnSpc>
                <a:spcPct val="115000"/>
              </a:lnSpc>
              <a:spcAft>
                <a:spcPts val="1000"/>
              </a:spcAft>
            </a:pPr>
            <a:r>
              <a:rPr lang="en-CA" sz="1000" dirty="0">
                <a:latin typeface="Arial"/>
                <a:ea typeface="Calibri"/>
                <a:cs typeface="Times New Roman"/>
              </a:rPr>
              <a:t>Start 20410D‑LON‑CL2, 20410D‑LON‑SVR2, and 20410D‑LON‑RTR.</a:t>
            </a:r>
          </a:p>
          <a:p>
            <a:pPr>
              <a:lnSpc>
                <a:spcPct val="115000"/>
              </a:lnSpc>
              <a:spcAft>
                <a:spcPts val="1000"/>
              </a:spcAft>
            </a:pPr>
            <a:r>
              <a:rPr lang="en-CA" sz="1000" b="1" dirty="0">
                <a:latin typeface="Arial"/>
                <a:ea typeface="Calibri"/>
                <a:cs typeface="Times New Roman"/>
              </a:rPr>
              <a:t>Demonstration Steps</a:t>
            </a:r>
            <a:endParaRPr lang="en-CA" sz="1000" dirty="0">
              <a:latin typeface="Arial"/>
              <a:ea typeface="Calibri"/>
              <a:cs typeface="Times New Roman"/>
            </a:endParaRPr>
          </a:p>
          <a:p>
            <a:pPr>
              <a:lnSpc>
                <a:spcPts val="1300"/>
              </a:lnSpc>
              <a:spcBef>
                <a:spcPts val="900"/>
              </a:spcBef>
              <a:spcAft>
                <a:spcPts val="300"/>
              </a:spcAft>
            </a:pPr>
            <a:r>
              <a:rPr lang="en-US" sz="1000" b="1" dirty="0" smtClean="0">
                <a:effectLst/>
                <a:latin typeface="Arial"/>
                <a:ea typeface="Times New Roman"/>
                <a:cs typeface="Segoe UI"/>
              </a:rPr>
              <a:t>Check to see if ICMP v4 is blocked</a:t>
            </a:r>
            <a:endParaRPr lang="en-CA" sz="1000" b="1" dirty="0" smtClean="0">
              <a:effectLst/>
              <a:latin typeface="Arial"/>
              <a:ea typeface="Times New Roman"/>
              <a:cs typeface="Segoe UI"/>
            </a:endParaRPr>
          </a:p>
          <a:p>
            <a:pPr marL="342900" lvl="0" indent="-342900">
              <a:lnSpc>
                <a:spcPct val="115000"/>
              </a:lnSpc>
              <a:spcAft>
                <a:spcPts val="995"/>
              </a:spcAft>
              <a:buFont typeface="+mj-lt"/>
              <a:buAutoNum type="arabicPeriod"/>
              <a:tabLst>
                <a:tab pos="228600" algn="l"/>
              </a:tabLst>
            </a:pPr>
            <a:r>
              <a:rPr lang="en-US" sz="1000" dirty="0" smtClean="0">
                <a:effectLst/>
                <a:latin typeface="Arial"/>
                <a:ea typeface="Times New Roman"/>
                <a:cs typeface="Segoe UI"/>
              </a:rPr>
              <a:t>Sign in to </a:t>
            </a:r>
            <a:r>
              <a:rPr lang="en-US" sz="1000" dirty="0" smtClean="0">
                <a:effectLst/>
                <a:latin typeface="Arial"/>
                <a:ea typeface="Times New Roman"/>
                <a:cs typeface="Times New Roman"/>
              </a:rPr>
              <a:t>LON‑CL2</a:t>
            </a:r>
            <a:r>
              <a:rPr lang="en-US" sz="1000" dirty="0" smtClean="0">
                <a:effectLst/>
                <a:latin typeface="Arial"/>
                <a:ea typeface="Times New Roman"/>
                <a:cs typeface="Segoe UI"/>
              </a:rPr>
              <a:t> as </a:t>
            </a:r>
            <a:r>
              <a:rPr lang="en-US" sz="1000" b="1" dirty="0" smtClean="0">
                <a:effectLst/>
                <a:latin typeface="Arial"/>
                <a:ea typeface="Times New Roman"/>
                <a:cs typeface="Times New Roman"/>
              </a:rPr>
              <a:t>Adatum\Administrator</a:t>
            </a:r>
            <a:r>
              <a:rPr lang="en-US" sz="1000" dirty="0" smtClean="0">
                <a:effectLst/>
                <a:latin typeface="Arial"/>
                <a:ea typeface="Times New Roman"/>
                <a:cs typeface="Segoe UI"/>
              </a:rPr>
              <a:t> with the password </a:t>
            </a:r>
            <a:r>
              <a:rPr lang="en-US" sz="1000" b="1" dirty="0" smtClean="0">
                <a:effectLst/>
                <a:latin typeface="Arial"/>
                <a:ea typeface="Times New Roman"/>
                <a:cs typeface="Times New Roman"/>
              </a:rPr>
              <a:t>Pa$$w0rd</a:t>
            </a:r>
            <a:r>
              <a:rPr lang="en-US" sz="1000" dirty="0" smtClean="0">
                <a:effectLst/>
                <a:latin typeface="Arial"/>
                <a:ea typeface="Times New Roman"/>
                <a:cs typeface="Segoe UI"/>
              </a:rPr>
              <a:t>.</a:t>
            </a:r>
            <a:endParaRPr lang="en-CA" sz="1000" dirty="0" smtClean="0">
              <a:effectLst/>
              <a:latin typeface="Arial"/>
              <a:ea typeface="Times New Roman"/>
              <a:cs typeface="Times New Roman"/>
            </a:endParaRPr>
          </a:p>
          <a:p>
            <a:pPr marL="342900" lvl="0" indent="-342900">
              <a:lnSpc>
                <a:spcPct val="115000"/>
              </a:lnSpc>
              <a:spcAft>
                <a:spcPts val="995"/>
              </a:spcAft>
              <a:buFont typeface="+mj-lt"/>
              <a:buAutoNum type="arabicPeriod"/>
              <a:tabLst>
                <a:tab pos="228600" algn="l"/>
              </a:tabLst>
            </a:pPr>
            <a:r>
              <a:rPr lang="en-US" sz="1000" dirty="0" smtClean="0">
                <a:effectLst/>
                <a:latin typeface="Arial"/>
                <a:ea typeface="Times New Roman"/>
                <a:cs typeface="Segoe UI"/>
              </a:rPr>
              <a:t>On LON‑CL2, click the </a:t>
            </a:r>
            <a:r>
              <a:rPr lang="en-US" sz="1000" b="1" dirty="0" smtClean="0">
                <a:effectLst/>
                <a:latin typeface="Arial"/>
                <a:ea typeface="Times New Roman"/>
                <a:cs typeface="Times New Roman"/>
              </a:rPr>
              <a:t>Desktop</a:t>
            </a:r>
            <a:r>
              <a:rPr lang="en-US" sz="1000" dirty="0" smtClean="0">
                <a:effectLst/>
                <a:latin typeface="Arial"/>
                <a:ea typeface="Times New Roman"/>
                <a:cs typeface="Segoe UI"/>
              </a:rPr>
              <a:t> tile, right-click the </a:t>
            </a:r>
            <a:r>
              <a:rPr lang="en-US" sz="1000" b="1" dirty="0" smtClean="0">
                <a:effectLst/>
                <a:latin typeface="Arial"/>
                <a:ea typeface="Times New Roman"/>
                <a:cs typeface="Times New Roman"/>
              </a:rPr>
              <a:t>Windows Start</a:t>
            </a:r>
            <a:r>
              <a:rPr lang="en-US" sz="1000" dirty="0" smtClean="0">
                <a:effectLst/>
                <a:latin typeface="Arial"/>
                <a:ea typeface="Times New Roman"/>
                <a:cs typeface="Segoe UI"/>
              </a:rPr>
              <a:t> menu, and then click </a:t>
            </a:r>
            <a:r>
              <a:rPr lang="en-US" sz="1000" b="1" dirty="0" smtClean="0">
                <a:effectLst/>
                <a:latin typeface="Arial"/>
                <a:ea typeface="Times New Roman"/>
                <a:cs typeface="Times New Roman"/>
              </a:rPr>
              <a:t>Command Prompt</a:t>
            </a:r>
            <a:r>
              <a:rPr lang="en-US" sz="1000" dirty="0" smtClean="0">
                <a:effectLst/>
                <a:latin typeface="Arial"/>
                <a:ea typeface="Times New Roman"/>
                <a:cs typeface="Segoe UI"/>
              </a:rPr>
              <a:t>.</a:t>
            </a:r>
            <a:endParaRPr lang="en-CA" sz="1000" dirty="0" smtClean="0">
              <a:effectLst/>
              <a:latin typeface="Arial"/>
              <a:ea typeface="Times New Roman"/>
              <a:cs typeface="Times New Roman"/>
            </a:endParaRPr>
          </a:p>
          <a:p>
            <a:pPr marL="342900" lvl="0" indent="-342900">
              <a:lnSpc>
                <a:spcPct val="115000"/>
              </a:lnSpc>
              <a:spcAft>
                <a:spcPts val="995"/>
              </a:spcAft>
              <a:buFont typeface="+mj-lt"/>
              <a:buAutoNum type="arabicPeriod"/>
              <a:tabLst>
                <a:tab pos="228600" algn="l"/>
              </a:tabLst>
            </a:pPr>
            <a:r>
              <a:rPr lang="en-US" sz="1000" dirty="0" smtClean="0">
                <a:effectLst/>
                <a:latin typeface="Arial"/>
                <a:ea typeface="Times New Roman"/>
                <a:cs typeface="Segoe UI"/>
              </a:rPr>
              <a:t>At the command prompt, type </a:t>
            </a:r>
            <a:r>
              <a:rPr lang="en-US" sz="1000" b="1" dirty="0" smtClean="0">
                <a:effectLst/>
                <a:latin typeface="Arial"/>
                <a:ea typeface="Times New Roman"/>
                <a:cs typeface="Times New Roman"/>
              </a:rPr>
              <a:t>ping</a:t>
            </a:r>
            <a:r>
              <a:rPr lang="en-US" sz="1000" dirty="0" smtClean="0">
                <a:effectLst/>
                <a:latin typeface="Arial"/>
                <a:ea typeface="Times New Roman"/>
                <a:cs typeface="Times New Roman"/>
              </a:rPr>
              <a:t> </a:t>
            </a:r>
            <a:r>
              <a:rPr lang="en-US" sz="1000" b="1" dirty="0" smtClean="0">
                <a:effectLst/>
                <a:latin typeface="Arial"/>
                <a:ea typeface="Times New Roman"/>
                <a:cs typeface="Times New Roman"/>
              </a:rPr>
              <a:t>10.10.0.11</a:t>
            </a:r>
            <a:r>
              <a:rPr lang="en-US" sz="1000" dirty="0" smtClean="0">
                <a:effectLst/>
                <a:latin typeface="Arial"/>
                <a:ea typeface="Times New Roman"/>
                <a:cs typeface="Segoe UI"/>
              </a:rPr>
              <a:t>, and then press Enter.</a:t>
            </a:r>
            <a:endParaRPr lang="en-CA" sz="1000" dirty="0" smtClean="0">
              <a:effectLst/>
              <a:latin typeface="Arial"/>
              <a:ea typeface="Times New Roman"/>
              <a:cs typeface="Times New Roman"/>
            </a:endParaRPr>
          </a:p>
          <a:p>
            <a:pPr marL="342000">
              <a:lnSpc>
                <a:spcPts val="1300"/>
              </a:lnSpc>
              <a:spcAft>
                <a:spcPts val="600"/>
              </a:spcAft>
            </a:pPr>
            <a:r>
              <a:rPr lang="en-US" sz="1000" dirty="0" smtClean="0">
                <a:effectLst/>
                <a:latin typeface="Arial"/>
                <a:ea typeface="Times New Roman"/>
                <a:cs typeface="Times New Roman"/>
              </a:rPr>
              <a:t>Notice that the ping times out.</a:t>
            </a:r>
            <a:endParaRPr lang="en-CA" sz="1000" dirty="0" smtClean="0">
              <a:effectLst/>
              <a:latin typeface="Arial"/>
              <a:ea typeface="Times New Roman"/>
              <a:cs typeface="Times New Roman"/>
            </a:endParaRPr>
          </a:p>
          <a:p>
            <a:pPr marL="342900" lvl="0" indent="-342900">
              <a:lnSpc>
                <a:spcPct val="115000"/>
              </a:lnSpc>
              <a:spcAft>
                <a:spcPts val="995"/>
              </a:spcAft>
              <a:buFont typeface="+mj-lt"/>
              <a:buAutoNum type="arabicPeriod"/>
              <a:tabLst>
                <a:tab pos="228600" algn="l"/>
              </a:tabLst>
            </a:pPr>
            <a:endParaRPr lang="en-CA" sz="1000" dirty="0">
              <a:effectLst/>
              <a:latin typeface="Arial"/>
              <a:ea typeface="Times New Roman"/>
              <a:cs typeface="Times New Roman"/>
            </a:endParaRPr>
          </a:p>
        </p:txBody>
      </p:sp>
      <p:sp>
        <p:nvSpPr>
          <p:cNvPr id="4" name="Slide Number Placeholder 3"/>
          <p:cNvSpPr>
            <a:spLocks noGrp="1"/>
          </p:cNvSpPr>
          <p:nvPr>
            <p:ph type="sldNum" sz="quarter" idx="10"/>
          </p:nvPr>
        </p:nvSpPr>
        <p:spPr/>
        <p:txBody>
          <a:bodyPr/>
          <a:lstStyle/>
          <a:p>
            <a:fld id="{D577B5E1-4095-4397-ADB9-F5E0D58B59B6}" type="slidenum">
              <a:rPr lang="en-CA" smtClean="0"/>
              <a:pPr/>
              <a:t>14</a:t>
            </a:fld>
            <a:endParaRPr lang="en-CA" dirty="0"/>
          </a:p>
        </p:txBody>
      </p:sp>
      <p:sp>
        <p:nvSpPr>
          <p:cNvPr id="5" name="Rectangle 4"/>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6" name="Rectangle 5"/>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12: Securing Windows Servers by Using Group Policy Objects</a:t>
            </a:r>
            <a:endParaRPr lang="en-CA" sz="1200" b="1" dirty="0">
              <a:solidFill>
                <a:srgbClr val="336699"/>
              </a:solidFill>
              <a:latin typeface="Arial"/>
            </a:endParaRPr>
          </a:p>
        </p:txBody>
      </p:sp>
      <p:sp>
        <p:nvSpPr>
          <p:cNvPr id="7" name="TextBox 6"/>
          <p:cNvSpPr txBox="1"/>
          <p:nvPr/>
        </p:nvSpPr>
        <p:spPr>
          <a:xfrm>
            <a:off x="0" y="8890000"/>
            <a:ext cx="1871025" cy="246221"/>
          </a:xfrm>
          <a:prstGeom prst="rect">
            <a:avLst/>
          </a:prstGeom>
          <a:noFill/>
        </p:spPr>
        <p:txBody>
          <a:bodyPr vert="horz" wrap="none" rtlCol="0">
            <a:spAutoFit/>
          </a:bodyPr>
          <a:lstStyle/>
          <a:p>
            <a:r>
              <a:rPr lang="en-CA" sz="1000" dirty="0" smtClean="0">
                <a:latin typeface="Arial"/>
              </a:rPr>
              <a:t>(More notes on the next slide)</a:t>
            </a:r>
            <a:endParaRPr lang="en-CA" sz="1000" dirty="0">
              <a:latin typeface="Arial"/>
            </a:endParaRPr>
          </a:p>
        </p:txBody>
      </p:sp>
    </p:spTree>
    <p:extLst>
      <p:ext uri="{BB962C8B-B14F-4D97-AF65-F5344CB8AC3E}">
        <p14:creationId xmlns:p14="http://schemas.microsoft.com/office/powerpoint/2010/main" val="569527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a:lnSpc>
                <a:spcPts val="1300"/>
              </a:lnSpc>
              <a:spcBef>
                <a:spcPts val="900"/>
              </a:spcBef>
              <a:spcAft>
                <a:spcPts val="300"/>
              </a:spcAft>
            </a:pPr>
            <a:r>
              <a:rPr lang="en-US" sz="1000" b="1" dirty="0">
                <a:latin typeface="Arial"/>
                <a:ea typeface="Times New Roman"/>
                <a:cs typeface="Segoe UI"/>
              </a:rPr>
              <a:t>Enable ICMP v4 from LON‑CL2 to LON‑SVR2</a:t>
            </a:r>
            <a:endParaRPr lang="en-CA" sz="1000" b="1" dirty="0">
              <a:latin typeface="Arial"/>
              <a:ea typeface="Times New Roman"/>
              <a:cs typeface="Segoe UI"/>
            </a:endParaRPr>
          </a:p>
          <a:p>
            <a:pPr marL="342900" lvl="0" indent="-342900">
              <a:lnSpc>
                <a:spcPct val="115000"/>
              </a:lnSpc>
              <a:spcAft>
                <a:spcPts val="995"/>
              </a:spcAft>
              <a:buFont typeface="+mj-lt"/>
              <a:buAutoNum type="arabicPeriod"/>
              <a:tabLst>
                <a:tab pos="228600" algn="l"/>
              </a:tabLst>
            </a:pPr>
            <a:r>
              <a:rPr lang="en-US" sz="1000" dirty="0">
                <a:latin typeface="Arial"/>
                <a:ea typeface="Times New Roman"/>
                <a:cs typeface="Segoe UI"/>
              </a:rPr>
              <a:t>Sign in to </a:t>
            </a:r>
            <a:r>
              <a:rPr lang="en-US" sz="1000" dirty="0">
                <a:latin typeface="Arial"/>
                <a:ea typeface="Times New Roman"/>
                <a:cs typeface="Times New Roman"/>
              </a:rPr>
              <a:t>LON‑SVR2</a:t>
            </a:r>
            <a:r>
              <a:rPr lang="en-US" sz="1000" dirty="0">
                <a:latin typeface="Arial"/>
                <a:ea typeface="Times New Roman"/>
                <a:cs typeface="Segoe UI"/>
              </a:rPr>
              <a:t> as </a:t>
            </a:r>
            <a:r>
              <a:rPr lang="en-US" sz="1000" b="1" dirty="0">
                <a:latin typeface="Arial"/>
                <a:ea typeface="Times New Roman"/>
                <a:cs typeface="Times New Roman"/>
              </a:rPr>
              <a:t>Adatum\Administrator</a:t>
            </a:r>
            <a:r>
              <a:rPr lang="en-US" sz="1000" dirty="0">
                <a:latin typeface="Arial"/>
                <a:ea typeface="Times New Roman"/>
                <a:cs typeface="Segoe UI"/>
              </a:rPr>
              <a:t> with the password </a:t>
            </a:r>
            <a:r>
              <a:rPr lang="en-US" sz="1000" b="1" dirty="0">
                <a:latin typeface="Arial"/>
                <a:ea typeface="Times New Roman"/>
                <a:cs typeface="Times New Roman"/>
              </a:rPr>
              <a:t>Pa$$w0rd</a:t>
            </a:r>
            <a:r>
              <a:rPr lang="en-US" sz="1000" dirty="0">
                <a:latin typeface="Arial"/>
                <a:ea typeface="Times New Roman"/>
                <a:cs typeface="Segoe UI"/>
              </a:rPr>
              <a:t>.</a:t>
            </a:r>
            <a:endParaRPr lang="en-CA" sz="1000" dirty="0">
              <a:latin typeface="Arial"/>
              <a:ea typeface="Times New Roman"/>
              <a:cs typeface="Times New Roman"/>
            </a:endParaRPr>
          </a:p>
          <a:p>
            <a:pPr marL="342900" lvl="0" indent="-342900">
              <a:lnSpc>
                <a:spcPct val="115000"/>
              </a:lnSpc>
              <a:spcAft>
                <a:spcPts val="995"/>
              </a:spcAft>
              <a:buFont typeface="+mj-lt"/>
              <a:buAutoNum type="arabicPeriod" startAt="2"/>
              <a:tabLst>
                <a:tab pos="228600" algn="l"/>
              </a:tabLst>
            </a:pPr>
            <a:r>
              <a:rPr lang="en-US" sz="1000" dirty="0" smtClean="0">
                <a:solidFill>
                  <a:srgbClr val="000000"/>
                </a:solidFill>
                <a:latin typeface="Arial"/>
                <a:ea typeface="Times New Roman"/>
                <a:cs typeface="Segoe UI"/>
              </a:rPr>
              <a:t>On </a:t>
            </a:r>
            <a:r>
              <a:rPr lang="en-US" sz="1000" dirty="0">
                <a:solidFill>
                  <a:srgbClr val="000000"/>
                </a:solidFill>
                <a:latin typeface="Arial"/>
                <a:ea typeface="Times New Roman"/>
                <a:cs typeface="Segoe UI"/>
              </a:rPr>
              <a:t>LON‑SVR2, right-click the </a:t>
            </a:r>
            <a:r>
              <a:rPr lang="en-US" sz="1000" b="1" dirty="0">
                <a:solidFill>
                  <a:prstClr val="black"/>
                </a:solidFill>
                <a:latin typeface="Arial"/>
                <a:ea typeface="Times New Roman"/>
                <a:cs typeface="Times New Roman"/>
              </a:rPr>
              <a:t>Windows Start </a:t>
            </a:r>
            <a:r>
              <a:rPr lang="en-US" sz="1000" dirty="0">
                <a:solidFill>
                  <a:srgbClr val="000000"/>
                </a:solidFill>
                <a:latin typeface="Arial"/>
                <a:ea typeface="Times New Roman"/>
                <a:cs typeface="Segoe UI"/>
              </a:rPr>
              <a:t>menu, and then click </a:t>
            </a:r>
            <a:r>
              <a:rPr lang="en-US" sz="1000" b="1" dirty="0">
                <a:solidFill>
                  <a:prstClr val="black"/>
                </a:solidFill>
                <a:latin typeface="Arial"/>
                <a:ea typeface="Times New Roman"/>
                <a:cs typeface="Times New Roman"/>
              </a:rPr>
              <a:t>Control Panel</a:t>
            </a:r>
            <a:r>
              <a:rPr lang="en-US" sz="1000" dirty="0">
                <a:solidFill>
                  <a:srgbClr val="000000"/>
                </a:solidFill>
                <a:latin typeface="Arial"/>
                <a:ea typeface="Times New Roman"/>
                <a:cs typeface="Segoe UI"/>
              </a:rPr>
              <a:t>.</a:t>
            </a:r>
            <a:endParaRPr lang="en-CA" sz="1000" dirty="0">
              <a:solidFill>
                <a:prstClr val="black"/>
              </a:solidFill>
              <a:latin typeface="Arial"/>
              <a:ea typeface="Times New Roman"/>
              <a:cs typeface="Times New Roman"/>
            </a:endParaRPr>
          </a:p>
          <a:p>
            <a:pPr marL="342900" lvl="0" indent="-342900">
              <a:lnSpc>
                <a:spcPct val="115000"/>
              </a:lnSpc>
              <a:spcAft>
                <a:spcPts val="995"/>
              </a:spcAft>
              <a:buFont typeface="+mj-lt"/>
              <a:buAutoNum type="arabicPeriod" startAt="2"/>
              <a:tabLst>
                <a:tab pos="228600" algn="l"/>
              </a:tabLst>
            </a:pPr>
            <a:r>
              <a:rPr lang="en-US" sz="1000" dirty="0">
                <a:solidFill>
                  <a:srgbClr val="000000"/>
                </a:solidFill>
                <a:latin typeface="Arial"/>
                <a:ea typeface="Times New Roman"/>
                <a:cs typeface="Segoe UI"/>
              </a:rPr>
              <a:t>In </a:t>
            </a:r>
            <a:r>
              <a:rPr lang="en-US" sz="1000" dirty="0">
                <a:solidFill>
                  <a:prstClr val="black"/>
                </a:solidFill>
                <a:latin typeface="Arial"/>
                <a:ea typeface="Times New Roman"/>
                <a:cs typeface="Times New Roman"/>
              </a:rPr>
              <a:t>Control Panel</a:t>
            </a:r>
            <a:r>
              <a:rPr lang="en-US" sz="1000" dirty="0">
                <a:solidFill>
                  <a:srgbClr val="000000"/>
                </a:solidFill>
                <a:latin typeface="Arial"/>
                <a:ea typeface="Times New Roman"/>
                <a:cs typeface="Segoe UI"/>
              </a:rPr>
              <a:t>, click the </a:t>
            </a:r>
            <a:r>
              <a:rPr lang="en-US" sz="1000" b="1" dirty="0">
                <a:solidFill>
                  <a:prstClr val="black"/>
                </a:solidFill>
                <a:latin typeface="Arial"/>
                <a:ea typeface="Times New Roman"/>
                <a:cs typeface="Times New Roman"/>
              </a:rPr>
              <a:t>View by</a:t>
            </a:r>
            <a:r>
              <a:rPr lang="en-US" sz="1000" dirty="0">
                <a:solidFill>
                  <a:srgbClr val="000000"/>
                </a:solidFill>
                <a:latin typeface="Arial"/>
                <a:ea typeface="Times New Roman"/>
                <a:cs typeface="Segoe UI"/>
              </a:rPr>
              <a:t> drop-down menu, and then click </a:t>
            </a:r>
            <a:r>
              <a:rPr lang="en-US" sz="1000" b="1" dirty="0">
                <a:solidFill>
                  <a:prstClr val="black"/>
                </a:solidFill>
                <a:latin typeface="Arial"/>
                <a:ea typeface="Times New Roman"/>
                <a:cs typeface="Times New Roman"/>
              </a:rPr>
              <a:t>Small</a:t>
            </a:r>
            <a:r>
              <a:rPr lang="en-US" sz="1000" dirty="0">
                <a:solidFill>
                  <a:srgbClr val="000000"/>
                </a:solidFill>
                <a:latin typeface="Arial"/>
                <a:ea typeface="Times New Roman"/>
                <a:cs typeface="Segoe UI"/>
              </a:rPr>
              <a:t> </a:t>
            </a:r>
            <a:r>
              <a:rPr lang="en-US" sz="1000" b="1" dirty="0">
                <a:solidFill>
                  <a:prstClr val="black"/>
                </a:solidFill>
                <a:latin typeface="Arial"/>
                <a:ea typeface="Times New Roman"/>
                <a:cs typeface="Times New Roman"/>
              </a:rPr>
              <a:t>icons</a:t>
            </a:r>
            <a:r>
              <a:rPr lang="en-US" sz="1000" dirty="0">
                <a:solidFill>
                  <a:srgbClr val="000000"/>
                </a:solidFill>
                <a:latin typeface="Arial"/>
                <a:ea typeface="Times New Roman"/>
                <a:cs typeface="Segoe UI"/>
              </a:rPr>
              <a:t>.</a:t>
            </a:r>
            <a:endParaRPr lang="en-CA" sz="1000" dirty="0">
              <a:solidFill>
                <a:prstClr val="black"/>
              </a:solidFill>
              <a:latin typeface="Arial"/>
              <a:ea typeface="Times New Roman"/>
              <a:cs typeface="Times New Roman"/>
            </a:endParaRPr>
          </a:p>
          <a:p>
            <a:pPr marL="342900" lvl="0" indent="-342900">
              <a:lnSpc>
                <a:spcPct val="115000"/>
              </a:lnSpc>
              <a:spcAft>
                <a:spcPts val="995"/>
              </a:spcAft>
              <a:buFont typeface="+mj-lt"/>
              <a:buAutoNum type="arabicPeriod" startAt="2"/>
              <a:tabLst>
                <a:tab pos="228600" algn="l"/>
              </a:tabLst>
            </a:pPr>
            <a:r>
              <a:rPr lang="en-US" sz="1000" dirty="0">
                <a:solidFill>
                  <a:srgbClr val="000000"/>
                </a:solidFill>
                <a:latin typeface="Arial"/>
                <a:ea typeface="Times New Roman"/>
                <a:cs typeface="Segoe UI"/>
              </a:rPr>
              <a:t>Click </a:t>
            </a:r>
            <a:r>
              <a:rPr lang="en-US" sz="1000" b="1" dirty="0">
                <a:solidFill>
                  <a:prstClr val="black"/>
                </a:solidFill>
                <a:latin typeface="Arial"/>
                <a:ea typeface="Times New Roman"/>
                <a:cs typeface="Times New Roman"/>
              </a:rPr>
              <a:t>Windows Firewall</a:t>
            </a:r>
            <a:r>
              <a:rPr lang="en-US" sz="1000" dirty="0">
                <a:solidFill>
                  <a:srgbClr val="000000"/>
                </a:solidFill>
                <a:latin typeface="Arial"/>
                <a:ea typeface="Times New Roman"/>
                <a:cs typeface="Segoe UI"/>
              </a:rPr>
              <a:t>.</a:t>
            </a:r>
            <a:endParaRPr lang="en-CA" sz="1000" dirty="0">
              <a:solidFill>
                <a:prstClr val="black"/>
              </a:solidFill>
              <a:latin typeface="Arial"/>
              <a:ea typeface="Times New Roman"/>
              <a:cs typeface="Times New Roman"/>
            </a:endParaRPr>
          </a:p>
          <a:p>
            <a:pPr marL="342900" lvl="0" indent="-342900">
              <a:lnSpc>
                <a:spcPct val="115000"/>
              </a:lnSpc>
              <a:spcAft>
                <a:spcPts val="995"/>
              </a:spcAft>
              <a:buFont typeface="+mj-lt"/>
              <a:buAutoNum type="arabicPeriod" startAt="2"/>
              <a:tabLst>
                <a:tab pos="228600" algn="l"/>
              </a:tabLst>
            </a:pPr>
            <a:r>
              <a:rPr lang="en-US" sz="1000" dirty="0">
                <a:solidFill>
                  <a:srgbClr val="000000"/>
                </a:solidFill>
                <a:latin typeface="Arial"/>
                <a:ea typeface="Times New Roman"/>
                <a:cs typeface="Segoe UI"/>
              </a:rPr>
              <a:t>Click </a:t>
            </a:r>
            <a:r>
              <a:rPr lang="en-US" sz="1000" b="1" dirty="0">
                <a:solidFill>
                  <a:prstClr val="black"/>
                </a:solidFill>
                <a:latin typeface="Arial"/>
                <a:ea typeface="Times New Roman"/>
                <a:cs typeface="Times New Roman"/>
              </a:rPr>
              <a:t>Advanced settings</a:t>
            </a:r>
            <a:r>
              <a:rPr lang="en-US" sz="1000" dirty="0">
                <a:solidFill>
                  <a:srgbClr val="000000"/>
                </a:solidFill>
                <a:latin typeface="Arial"/>
                <a:ea typeface="Times New Roman"/>
                <a:cs typeface="Segoe UI"/>
              </a:rPr>
              <a:t>.</a:t>
            </a:r>
            <a:endParaRPr lang="en-CA" sz="1000" dirty="0">
              <a:solidFill>
                <a:prstClr val="black"/>
              </a:solidFill>
              <a:latin typeface="Arial"/>
              <a:ea typeface="Times New Roman"/>
              <a:cs typeface="Times New Roman"/>
            </a:endParaRPr>
          </a:p>
          <a:p>
            <a:pPr marL="342900" lvl="0" indent="-342900">
              <a:lnSpc>
                <a:spcPct val="115000"/>
              </a:lnSpc>
              <a:spcAft>
                <a:spcPts val="995"/>
              </a:spcAft>
              <a:buFont typeface="+mj-lt"/>
              <a:buAutoNum type="arabicPeriod" startAt="2"/>
              <a:tabLst>
                <a:tab pos="228600" algn="l"/>
              </a:tabLst>
            </a:pPr>
            <a:r>
              <a:rPr lang="en-US" sz="1000" dirty="0">
                <a:solidFill>
                  <a:srgbClr val="000000"/>
                </a:solidFill>
                <a:latin typeface="Arial"/>
                <a:ea typeface="Times New Roman"/>
                <a:cs typeface="Segoe UI"/>
              </a:rPr>
              <a:t>In the left-hand pane, click </a:t>
            </a:r>
            <a:r>
              <a:rPr lang="en-US" sz="1000" b="1" dirty="0">
                <a:solidFill>
                  <a:prstClr val="black"/>
                </a:solidFill>
                <a:latin typeface="Arial"/>
                <a:ea typeface="Times New Roman"/>
                <a:cs typeface="Times New Roman"/>
              </a:rPr>
              <a:t>Inbound Rules</a:t>
            </a:r>
            <a:r>
              <a:rPr lang="en-US" sz="1000" dirty="0">
                <a:solidFill>
                  <a:srgbClr val="000000"/>
                </a:solidFill>
                <a:latin typeface="Arial"/>
                <a:ea typeface="Times New Roman"/>
                <a:cs typeface="Segoe UI"/>
              </a:rPr>
              <a:t>.</a:t>
            </a:r>
            <a:endParaRPr lang="en-CA" sz="1000" dirty="0">
              <a:solidFill>
                <a:prstClr val="black"/>
              </a:solidFill>
              <a:latin typeface="Arial"/>
              <a:ea typeface="Times New Roman"/>
              <a:cs typeface="Times New Roman"/>
            </a:endParaRPr>
          </a:p>
          <a:p>
            <a:pPr marL="342900" lvl="0" indent="-342900">
              <a:lnSpc>
                <a:spcPct val="115000"/>
              </a:lnSpc>
              <a:spcAft>
                <a:spcPts val="995"/>
              </a:spcAft>
              <a:buFont typeface="+mj-lt"/>
              <a:buAutoNum type="arabicPeriod" startAt="2"/>
              <a:tabLst>
                <a:tab pos="228600" algn="l"/>
              </a:tabLst>
            </a:pPr>
            <a:r>
              <a:rPr lang="en-US" sz="1000" dirty="0">
                <a:solidFill>
                  <a:srgbClr val="000000"/>
                </a:solidFill>
                <a:latin typeface="Arial"/>
                <a:ea typeface="Times New Roman"/>
                <a:cs typeface="Segoe UI"/>
              </a:rPr>
              <a:t>In the right-hand pane, click </a:t>
            </a:r>
            <a:r>
              <a:rPr lang="en-US" sz="1000" b="1" dirty="0">
                <a:solidFill>
                  <a:prstClr val="black"/>
                </a:solidFill>
                <a:latin typeface="Arial"/>
                <a:ea typeface="Times New Roman"/>
                <a:cs typeface="Times New Roman"/>
              </a:rPr>
              <a:t>New Rule</a:t>
            </a:r>
            <a:r>
              <a:rPr lang="en-US" sz="1000" dirty="0">
                <a:solidFill>
                  <a:srgbClr val="000000"/>
                </a:solidFill>
                <a:latin typeface="Arial"/>
                <a:ea typeface="Times New Roman"/>
                <a:cs typeface="Segoe UI"/>
              </a:rPr>
              <a:t>.</a:t>
            </a:r>
            <a:endParaRPr lang="en-CA" sz="1000" dirty="0">
              <a:solidFill>
                <a:prstClr val="black"/>
              </a:solidFill>
              <a:latin typeface="Arial"/>
              <a:ea typeface="Times New Roman"/>
              <a:cs typeface="Times New Roman"/>
            </a:endParaRPr>
          </a:p>
          <a:p>
            <a:pPr marL="342900" lvl="0" indent="-342900">
              <a:lnSpc>
                <a:spcPct val="115000"/>
              </a:lnSpc>
              <a:spcAft>
                <a:spcPts val="995"/>
              </a:spcAft>
              <a:buFont typeface="+mj-lt"/>
              <a:buAutoNum type="arabicPeriod" startAt="2"/>
              <a:tabLst>
                <a:tab pos="228600" algn="l"/>
              </a:tabLst>
            </a:pPr>
            <a:r>
              <a:rPr lang="en-US" sz="1000" dirty="0">
                <a:solidFill>
                  <a:srgbClr val="000000"/>
                </a:solidFill>
                <a:latin typeface="Arial"/>
                <a:ea typeface="Times New Roman"/>
                <a:cs typeface="Segoe UI"/>
              </a:rPr>
              <a:t>On the </a:t>
            </a:r>
            <a:r>
              <a:rPr lang="en-US" sz="1000" dirty="0">
                <a:solidFill>
                  <a:prstClr val="black"/>
                </a:solidFill>
                <a:latin typeface="Arial"/>
                <a:ea typeface="Times New Roman"/>
                <a:cs typeface="Times New Roman"/>
              </a:rPr>
              <a:t>New Inbound Rule Wizard, on the </a:t>
            </a:r>
            <a:r>
              <a:rPr lang="en-US" sz="1000" b="1" dirty="0">
                <a:solidFill>
                  <a:prstClr val="black"/>
                </a:solidFill>
                <a:latin typeface="Arial"/>
                <a:ea typeface="Times New Roman"/>
                <a:cs typeface="Times New Roman"/>
              </a:rPr>
              <a:t>Rule Type</a:t>
            </a:r>
            <a:r>
              <a:rPr lang="en-US" sz="1000" dirty="0">
                <a:solidFill>
                  <a:srgbClr val="000000"/>
                </a:solidFill>
                <a:latin typeface="Arial"/>
                <a:ea typeface="Times New Roman"/>
                <a:cs typeface="Segoe UI"/>
              </a:rPr>
              <a:t> page, click </a:t>
            </a:r>
            <a:r>
              <a:rPr lang="en-US" sz="1000" b="1" dirty="0">
                <a:solidFill>
                  <a:prstClr val="black"/>
                </a:solidFill>
                <a:latin typeface="Arial"/>
                <a:ea typeface="Times New Roman"/>
                <a:cs typeface="Times New Roman"/>
              </a:rPr>
              <a:t>Custom</a:t>
            </a:r>
            <a:r>
              <a:rPr lang="en-US" sz="1000" dirty="0">
                <a:solidFill>
                  <a:srgbClr val="000000"/>
                </a:solidFill>
                <a:latin typeface="Arial"/>
                <a:ea typeface="Times New Roman"/>
                <a:cs typeface="Segoe UI"/>
              </a:rPr>
              <a:t>, and then click </a:t>
            </a:r>
            <a:r>
              <a:rPr lang="en-US" sz="1000" b="1" dirty="0">
                <a:solidFill>
                  <a:prstClr val="black"/>
                </a:solidFill>
                <a:latin typeface="Arial"/>
                <a:ea typeface="Times New Roman"/>
                <a:cs typeface="Times New Roman"/>
              </a:rPr>
              <a:t>Next</a:t>
            </a:r>
            <a:r>
              <a:rPr lang="en-US" sz="1000" dirty="0">
                <a:solidFill>
                  <a:srgbClr val="000000"/>
                </a:solidFill>
                <a:latin typeface="Arial"/>
                <a:ea typeface="Times New Roman"/>
                <a:cs typeface="Segoe UI"/>
              </a:rPr>
              <a:t>.</a:t>
            </a:r>
            <a:endParaRPr lang="en-CA" sz="1000" dirty="0">
              <a:solidFill>
                <a:prstClr val="black"/>
              </a:solidFill>
              <a:latin typeface="Arial"/>
              <a:ea typeface="Times New Roman"/>
              <a:cs typeface="Times New Roman"/>
            </a:endParaRPr>
          </a:p>
          <a:p>
            <a:pPr marL="342900" lvl="0" indent="-342900">
              <a:lnSpc>
                <a:spcPct val="115000"/>
              </a:lnSpc>
              <a:spcAft>
                <a:spcPts val="995"/>
              </a:spcAft>
              <a:buFont typeface="+mj-lt"/>
              <a:buAutoNum type="arabicPeriod" startAt="2"/>
              <a:tabLst>
                <a:tab pos="228600" algn="l"/>
              </a:tabLst>
            </a:pPr>
            <a:r>
              <a:rPr lang="en-US" sz="1000" dirty="0">
                <a:solidFill>
                  <a:srgbClr val="000000"/>
                </a:solidFill>
                <a:latin typeface="Arial"/>
                <a:ea typeface="Times New Roman"/>
                <a:cs typeface="Segoe UI"/>
              </a:rPr>
              <a:t>On the </a:t>
            </a:r>
            <a:r>
              <a:rPr lang="en-US" sz="1000" b="1" dirty="0">
                <a:solidFill>
                  <a:prstClr val="black"/>
                </a:solidFill>
                <a:latin typeface="Arial"/>
                <a:ea typeface="Times New Roman"/>
                <a:cs typeface="Times New Roman"/>
              </a:rPr>
              <a:t>Program</a:t>
            </a:r>
            <a:r>
              <a:rPr lang="en-US" sz="1000" dirty="0">
                <a:solidFill>
                  <a:srgbClr val="000000"/>
                </a:solidFill>
                <a:latin typeface="Arial"/>
                <a:ea typeface="Times New Roman"/>
                <a:cs typeface="Segoe UI"/>
              </a:rPr>
              <a:t> page, click </a:t>
            </a:r>
            <a:r>
              <a:rPr lang="en-US" sz="1000" b="1" dirty="0">
                <a:solidFill>
                  <a:prstClr val="black"/>
                </a:solidFill>
                <a:latin typeface="Arial"/>
                <a:ea typeface="Times New Roman"/>
                <a:cs typeface="Times New Roman"/>
              </a:rPr>
              <a:t>Next</a:t>
            </a:r>
            <a:r>
              <a:rPr lang="en-US" sz="1000" dirty="0">
                <a:solidFill>
                  <a:srgbClr val="000000"/>
                </a:solidFill>
                <a:latin typeface="Arial"/>
                <a:ea typeface="Times New Roman"/>
                <a:cs typeface="Segoe UI"/>
              </a:rPr>
              <a:t>.</a:t>
            </a:r>
            <a:endParaRPr lang="en-CA" sz="1000" dirty="0">
              <a:solidFill>
                <a:prstClr val="black"/>
              </a:solidFill>
              <a:latin typeface="Arial"/>
              <a:ea typeface="Times New Roman"/>
              <a:cs typeface="Times New Roman"/>
            </a:endParaRPr>
          </a:p>
          <a:p>
            <a:pPr marL="342900" lvl="0" indent="-342900">
              <a:lnSpc>
                <a:spcPct val="115000"/>
              </a:lnSpc>
              <a:spcAft>
                <a:spcPts val="995"/>
              </a:spcAft>
              <a:buFont typeface="+mj-lt"/>
              <a:buAutoNum type="arabicPeriod" startAt="2"/>
              <a:tabLst>
                <a:tab pos="228600" algn="l"/>
              </a:tabLst>
            </a:pPr>
            <a:r>
              <a:rPr lang="en-US" sz="1000" dirty="0">
                <a:solidFill>
                  <a:srgbClr val="000000"/>
                </a:solidFill>
                <a:latin typeface="Arial"/>
                <a:ea typeface="Times New Roman"/>
                <a:cs typeface="Segoe UI"/>
              </a:rPr>
              <a:t>On the </a:t>
            </a:r>
            <a:r>
              <a:rPr lang="en-US" sz="1000" b="1" dirty="0">
                <a:solidFill>
                  <a:prstClr val="black"/>
                </a:solidFill>
                <a:latin typeface="Arial"/>
                <a:ea typeface="Times New Roman"/>
                <a:cs typeface="Times New Roman"/>
              </a:rPr>
              <a:t>Protocol and Ports</a:t>
            </a:r>
            <a:r>
              <a:rPr lang="en-US" sz="1000" dirty="0">
                <a:solidFill>
                  <a:srgbClr val="000000"/>
                </a:solidFill>
                <a:latin typeface="Arial"/>
                <a:ea typeface="Times New Roman"/>
                <a:cs typeface="Segoe UI"/>
              </a:rPr>
              <a:t> page, click the </a:t>
            </a:r>
            <a:r>
              <a:rPr lang="en-US" sz="1000" b="1" dirty="0">
                <a:solidFill>
                  <a:prstClr val="black"/>
                </a:solidFill>
                <a:latin typeface="Arial"/>
                <a:ea typeface="Times New Roman"/>
                <a:cs typeface="Times New Roman"/>
              </a:rPr>
              <a:t>Protocol type</a:t>
            </a:r>
            <a:r>
              <a:rPr lang="en-US" sz="1000" dirty="0">
                <a:solidFill>
                  <a:srgbClr val="000000"/>
                </a:solidFill>
                <a:latin typeface="Arial"/>
                <a:ea typeface="Times New Roman"/>
                <a:cs typeface="Segoe UI"/>
              </a:rPr>
              <a:t> drop-down menu, click </a:t>
            </a:r>
            <a:r>
              <a:rPr lang="en-US" sz="1000" b="1" dirty="0">
                <a:solidFill>
                  <a:prstClr val="black"/>
                </a:solidFill>
                <a:latin typeface="Arial"/>
                <a:ea typeface="Times New Roman"/>
                <a:cs typeface="Times New Roman"/>
              </a:rPr>
              <a:t>ICMPv4</a:t>
            </a:r>
            <a:r>
              <a:rPr lang="en-US" sz="1000" dirty="0">
                <a:solidFill>
                  <a:srgbClr val="000000"/>
                </a:solidFill>
                <a:latin typeface="Arial"/>
                <a:ea typeface="Times New Roman"/>
                <a:cs typeface="Segoe UI"/>
              </a:rPr>
              <a:t>, and then click </a:t>
            </a:r>
            <a:r>
              <a:rPr lang="en-US" sz="1000" b="1" dirty="0">
                <a:solidFill>
                  <a:prstClr val="black"/>
                </a:solidFill>
                <a:latin typeface="Arial"/>
                <a:ea typeface="Times New Roman"/>
                <a:cs typeface="Times New Roman"/>
              </a:rPr>
              <a:t>Next</a:t>
            </a:r>
            <a:r>
              <a:rPr lang="en-US" sz="1000" dirty="0">
                <a:solidFill>
                  <a:srgbClr val="000000"/>
                </a:solidFill>
                <a:latin typeface="Arial"/>
                <a:ea typeface="Times New Roman"/>
                <a:cs typeface="Segoe UI"/>
              </a:rPr>
              <a:t>.</a:t>
            </a:r>
            <a:endParaRPr lang="en-CA" sz="1000" dirty="0">
              <a:solidFill>
                <a:prstClr val="black"/>
              </a:solidFill>
              <a:latin typeface="Arial"/>
              <a:ea typeface="Times New Roman"/>
              <a:cs typeface="Times New Roman"/>
            </a:endParaRPr>
          </a:p>
          <a:p>
            <a:pPr marL="342900" lvl="0" indent="-342900">
              <a:lnSpc>
                <a:spcPct val="115000"/>
              </a:lnSpc>
              <a:spcAft>
                <a:spcPts val="995"/>
              </a:spcAft>
              <a:buFont typeface="+mj-lt"/>
              <a:buAutoNum type="arabicPeriod" startAt="2"/>
              <a:tabLst>
                <a:tab pos="228600" algn="l"/>
              </a:tabLst>
            </a:pPr>
            <a:r>
              <a:rPr lang="en-US" sz="1000" dirty="0">
                <a:solidFill>
                  <a:srgbClr val="000000"/>
                </a:solidFill>
                <a:latin typeface="Arial"/>
                <a:ea typeface="Times New Roman"/>
                <a:cs typeface="Segoe UI"/>
              </a:rPr>
              <a:t>In the </a:t>
            </a:r>
            <a:r>
              <a:rPr lang="en-US" sz="1000" b="1" dirty="0">
                <a:solidFill>
                  <a:prstClr val="black"/>
                </a:solidFill>
                <a:latin typeface="Arial"/>
                <a:ea typeface="Times New Roman"/>
                <a:cs typeface="Times New Roman"/>
              </a:rPr>
              <a:t>Which remote IP addresses does this rule apply to</a:t>
            </a:r>
            <a:r>
              <a:rPr lang="en-US" sz="1000" dirty="0">
                <a:solidFill>
                  <a:srgbClr val="000000"/>
                </a:solidFill>
                <a:latin typeface="Arial"/>
                <a:ea typeface="Times New Roman"/>
                <a:cs typeface="Segoe UI"/>
              </a:rPr>
              <a:t> section, click </a:t>
            </a:r>
            <a:r>
              <a:rPr lang="en-US" sz="1000" b="1" dirty="0">
                <a:solidFill>
                  <a:prstClr val="black"/>
                </a:solidFill>
                <a:latin typeface="Arial"/>
                <a:ea typeface="Times New Roman"/>
                <a:cs typeface="Times New Roman"/>
              </a:rPr>
              <a:t>These IP addresses</a:t>
            </a:r>
            <a:r>
              <a:rPr lang="en-US" sz="1000" dirty="0">
                <a:solidFill>
                  <a:srgbClr val="000000"/>
                </a:solidFill>
                <a:latin typeface="Arial"/>
                <a:ea typeface="Times New Roman"/>
                <a:cs typeface="Segoe UI"/>
              </a:rPr>
              <a:t>, and then click </a:t>
            </a:r>
            <a:r>
              <a:rPr lang="en-US" sz="1000" b="1" dirty="0">
                <a:solidFill>
                  <a:prstClr val="black"/>
                </a:solidFill>
                <a:latin typeface="Arial"/>
                <a:ea typeface="Times New Roman"/>
                <a:cs typeface="Times New Roman"/>
              </a:rPr>
              <a:t>Add</a:t>
            </a:r>
            <a:r>
              <a:rPr lang="en-US" sz="1000" dirty="0">
                <a:solidFill>
                  <a:srgbClr val="000000"/>
                </a:solidFill>
                <a:latin typeface="Arial"/>
                <a:ea typeface="Times New Roman"/>
                <a:cs typeface="Segoe UI"/>
              </a:rPr>
              <a:t>.</a:t>
            </a:r>
            <a:endParaRPr lang="en-CA" sz="1000" dirty="0">
              <a:solidFill>
                <a:prstClr val="black"/>
              </a:solidFill>
              <a:latin typeface="Arial"/>
              <a:ea typeface="Times New Roman"/>
              <a:cs typeface="Times New Roman"/>
            </a:endParaRPr>
          </a:p>
          <a:p>
            <a:pPr marL="342900" lvl="0" indent="-342900">
              <a:lnSpc>
                <a:spcPct val="115000"/>
              </a:lnSpc>
              <a:spcAft>
                <a:spcPts val="995"/>
              </a:spcAft>
              <a:buFont typeface="+mj-lt"/>
              <a:buAutoNum type="arabicPeriod" startAt="2"/>
              <a:tabLst>
                <a:tab pos="228600" algn="l"/>
              </a:tabLst>
            </a:pPr>
            <a:r>
              <a:rPr lang="en-US" sz="1000" dirty="0">
                <a:solidFill>
                  <a:srgbClr val="000000"/>
                </a:solidFill>
                <a:latin typeface="Arial"/>
                <a:ea typeface="Times New Roman"/>
                <a:cs typeface="Segoe UI"/>
              </a:rPr>
              <a:t>In the</a:t>
            </a:r>
            <a:r>
              <a:rPr lang="en-US" sz="1000" b="1" dirty="0">
                <a:solidFill>
                  <a:prstClr val="black"/>
                </a:solidFill>
                <a:latin typeface="Arial"/>
                <a:ea typeface="Times New Roman"/>
                <a:cs typeface="Times New Roman"/>
              </a:rPr>
              <a:t> </a:t>
            </a:r>
            <a:r>
              <a:rPr lang="en-US" sz="1000" dirty="0">
                <a:solidFill>
                  <a:srgbClr val="000000"/>
                </a:solidFill>
                <a:latin typeface="Arial"/>
                <a:ea typeface="Times New Roman"/>
                <a:cs typeface="Segoe UI"/>
              </a:rPr>
              <a:t>IP Address window, type </a:t>
            </a:r>
            <a:r>
              <a:rPr lang="en-US" sz="1000" b="1" dirty="0">
                <a:solidFill>
                  <a:prstClr val="black"/>
                </a:solidFill>
                <a:latin typeface="Arial"/>
                <a:ea typeface="Times New Roman"/>
                <a:cs typeface="Times New Roman"/>
              </a:rPr>
              <a:t>10.10.0.50</a:t>
            </a:r>
            <a:r>
              <a:rPr lang="en-US" sz="1000" dirty="0">
                <a:solidFill>
                  <a:srgbClr val="000000"/>
                </a:solidFill>
                <a:latin typeface="Arial"/>
                <a:ea typeface="Times New Roman"/>
                <a:cs typeface="Segoe UI"/>
              </a:rPr>
              <a:t> in the </a:t>
            </a:r>
            <a:r>
              <a:rPr lang="en-US" sz="1000" b="1" dirty="0">
                <a:solidFill>
                  <a:prstClr val="black"/>
                </a:solidFill>
                <a:latin typeface="Arial"/>
                <a:ea typeface="Times New Roman"/>
                <a:cs typeface="Times New Roman"/>
              </a:rPr>
              <a:t>This IP address or subnet</a:t>
            </a:r>
            <a:r>
              <a:rPr lang="en-US" sz="1000" dirty="0">
                <a:solidFill>
                  <a:srgbClr val="000000"/>
                </a:solidFill>
                <a:latin typeface="Arial"/>
                <a:ea typeface="Times New Roman"/>
                <a:cs typeface="Segoe UI"/>
              </a:rPr>
              <a:t> box, click </a:t>
            </a:r>
            <a:r>
              <a:rPr lang="en-US" sz="1000" b="1" dirty="0">
                <a:solidFill>
                  <a:prstClr val="black"/>
                </a:solidFill>
                <a:latin typeface="Arial"/>
                <a:ea typeface="Times New Roman"/>
                <a:cs typeface="Times New Roman"/>
              </a:rPr>
              <a:t>OK</a:t>
            </a:r>
            <a:r>
              <a:rPr lang="en-US" sz="1000" dirty="0">
                <a:solidFill>
                  <a:srgbClr val="000000"/>
                </a:solidFill>
                <a:latin typeface="Arial"/>
                <a:ea typeface="Times New Roman"/>
                <a:cs typeface="Segoe UI"/>
              </a:rPr>
              <a:t>, and then click </a:t>
            </a:r>
            <a:r>
              <a:rPr lang="en-US" sz="1000" b="1" dirty="0">
                <a:solidFill>
                  <a:prstClr val="black"/>
                </a:solidFill>
                <a:latin typeface="Arial"/>
                <a:ea typeface="Times New Roman"/>
                <a:cs typeface="Times New Roman"/>
              </a:rPr>
              <a:t>Next</a:t>
            </a:r>
            <a:r>
              <a:rPr lang="en-US" sz="1000" dirty="0">
                <a:solidFill>
                  <a:srgbClr val="000000"/>
                </a:solidFill>
                <a:latin typeface="Arial"/>
                <a:ea typeface="Times New Roman"/>
                <a:cs typeface="Segoe UI"/>
              </a:rPr>
              <a:t>.</a:t>
            </a:r>
            <a:endParaRPr lang="en-CA" sz="1000" dirty="0">
              <a:solidFill>
                <a:prstClr val="black"/>
              </a:solidFill>
              <a:latin typeface="Arial"/>
              <a:ea typeface="Times New Roman"/>
              <a:cs typeface="Times New Roman"/>
            </a:endParaRPr>
          </a:p>
          <a:p>
            <a:pPr marL="342900" lvl="0" indent="-342900">
              <a:lnSpc>
                <a:spcPct val="115000"/>
              </a:lnSpc>
              <a:spcAft>
                <a:spcPts val="995"/>
              </a:spcAft>
              <a:buFont typeface="+mj-lt"/>
              <a:buAutoNum type="arabicPeriod" startAt="2"/>
              <a:tabLst>
                <a:tab pos="228600" algn="l"/>
              </a:tabLst>
            </a:pPr>
            <a:r>
              <a:rPr lang="en-US" sz="1000" dirty="0">
                <a:solidFill>
                  <a:srgbClr val="000000"/>
                </a:solidFill>
                <a:latin typeface="Arial"/>
                <a:ea typeface="Times New Roman"/>
                <a:cs typeface="Segoe UI"/>
              </a:rPr>
              <a:t>On the </a:t>
            </a:r>
            <a:r>
              <a:rPr lang="en-US" sz="1000" b="1" dirty="0">
                <a:solidFill>
                  <a:prstClr val="black"/>
                </a:solidFill>
                <a:latin typeface="Arial"/>
                <a:ea typeface="Times New Roman"/>
                <a:cs typeface="Times New Roman"/>
              </a:rPr>
              <a:t>Action</a:t>
            </a:r>
            <a:r>
              <a:rPr lang="en-US" sz="1000" dirty="0">
                <a:solidFill>
                  <a:srgbClr val="000000"/>
                </a:solidFill>
                <a:latin typeface="Arial"/>
                <a:ea typeface="Times New Roman"/>
                <a:cs typeface="Segoe UI"/>
              </a:rPr>
              <a:t> page, click </a:t>
            </a:r>
            <a:r>
              <a:rPr lang="en-US" sz="1000" b="1" dirty="0">
                <a:solidFill>
                  <a:prstClr val="black"/>
                </a:solidFill>
                <a:latin typeface="Arial"/>
                <a:ea typeface="Times New Roman"/>
                <a:cs typeface="Times New Roman"/>
              </a:rPr>
              <a:t>Next</a:t>
            </a:r>
            <a:r>
              <a:rPr lang="en-US" sz="1000" dirty="0">
                <a:solidFill>
                  <a:srgbClr val="000000"/>
                </a:solidFill>
                <a:latin typeface="Arial"/>
                <a:ea typeface="Times New Roman"/>
                <a:cs typeface="Segoe UI"/>
              </a:rPr>
              <a:t> to accept the Allow the connection default action.</a:t>
            </a:r>
            <a:endParaRPr lang="en-CA" sz="1000" dirty="0">
              <a:solidFill>
                <a:prstClr val="black"/>
              </a:solidFill>
              <a:latin typeface="Arial"/>
              <a:ea typeface="Times New Roman"/>
              <a:cs typeface="Times New Roman"/>
            </a:endParaRPr>
          </a:p>
          <a:p>
            <a:pPr marL="342900" lvl="0" indent="-342900">
              <a:lnSpc>
                <a:spcPct val="115000"/>
              </a:lnSpc>
              <a:spcAft>
                <a:spcPts val="995"/>
              </a:spcAft>
              <a:buFont typeface="+mj-lt"/>
              <a:buAutoNum type="arabicPeriod" startAt="2"/>
              <a:tabLst>
                <a:tab pos="228600" algn="l"/>
              </a:tabLst>
            </a:pPr>
            <a:r>
              <a:rPr lang="en-US" sz="1000" dirty="0">
                <a:solidFill>
                  <a:srgbClr val="000000"/>
                </a:solidFill>
                <a:latin typeface="Arial"/>
                <a:ea typeface="Times New Roman"/>
                <a:cs typeface="Segoe UI"/>
              </a:rPr>
              <a:t>On the </a:t>
            </a:r>
            <a:r>
              <a:rPr lang="en-US" sz="1000" b="1" dirty="0">
                <a:solidFill>
                  <a:prstClr val="black"/>
                </a:solidFill>
                <a:latin typeface="Arial"/>
                <a:ea typeface="Times New Roman"/>
                <a:cs typeface="Times New Roman"/>
              </a:rPr>
              <a:t>Profile</a:t>
            </a:r>
            <a:r>
              <a:rPr lang="en-US" sz="1000" dirty="0">
                <a:solidFill>
                  <a:srgbClr val="000000"/>
                </a:solidFill>
                <a:latin typeface="Arial"/>
                <a:ea typeface="Times New Roman"/>
                <a:cs typeface="Segoe UI"/>
              </a:rPr>
              <a:t> page, click </a:t>
            </a:r>
            <a:r>
              <a:rPr lang="en-US" sz="1000" b="1" dirty="0">
                <a:solidFill>
                  <a:prstClr val="black"/>
                </a:solidFill>
                <a:latin typeface="Arial"/>
                <a:ea typeface="Times New Roman"/>
                <a:cs typeface="Times New Roman"/>
              </a:rPr>
              <a:t>Next</a:t>
            </a:r>
            <a:r>
              <a:rPr lang="en-US" sz="1000" dirty="0">
                <a:solidFill>
                  <a:srgbClr val="000000"/>
                </a:solidFill>
                <a:latin typeface="Arial"/>
                <a:ea typeface="Times New Roman"/>
                <a:cs typeface="Segoe UI"/>
              </a:rPr>
              <a:t> to accept the application of the rule for all profiles.</a:t>
            </a:r>
            <a:endParaRPr lang="en-CA" sz="1000" dirty="0">
              <a:solidFill>
                <a:prstClr val="black"/>
              </a:solidFill>
              <a:latin typeface="Arial"/>
              <a:ea typeface="Times New Roman"/>
              <a:cs typeface="Times New Roman"/>
            </a:endParaRPr>
          </a:p>
          <a:p>
            <a:pPr marL="342900" lvl="0" indent="-342900">
              <a:lnSpc>
                <a:spcPct val="115000"/>
              </a:lnSpc>
              <a:spcAft>
                <a:spcPts val="995"/>
              </a:spcAft>
              <a:buFont typeface="+mj-lt"/>
              <a:buAutoNum type="arabicPeriod" startAt="2"/>
              <a:tabLst>
                <a:tab pos="228600" algn="l"/>
              </a:tabLst>
            </a:pPr>
            <a:r>
              <a:rPr lang="en-US" sz="1000" dirty="0">
                <a:solidFill>
                  <a:srgbClr val="000000"/>
                </a:solidFill>
                <a:latin typeface="Arial"/>
                <a:ea typeface="Times New Roman"/>
                <a:cs typeface="Segoe UI"/>
              </a:rPr>
              <a:t>On the </a:t>
            </a:r>
            <a:r>
              <a:rPr lang="en-US" sz="1000" b="1" dirty="0">
                <a:solidFill>
                  <a:prstClr val="black"/>
                </a:solidFill>
                <a:latin typeface="Arial"/>
                <a:ea typeface="Times New Roman"/>
                <a:cs typeface="Times New Roman"/>
              </a:rPr>
              <a:t>Name</a:t>
            </a:r>
            <a:r>
              <a:rPr lang="en-US" sz="1000" dirty="0">
                <a:solidFill>
                  <a:srgbClr val="000000"/>
                </a:solidFill>
                <a:latin typeface="Arial"/>
                <a:ea typeface="Times New Roman"/>
                <a:cs typeface="Segoe UI"/>
              </a:rPr>
              <a:t> page, type </a:t>
            </a:r>
            <a:r>
              <a:rPr lang="en-US" sz="1000" b="1" dirty="0">
                <a:solidFill>
                  <a:prstClr val="black"/>
                </a:solidFill>
                <a:latin typeface="Arial"/>
                <a:ea typeface="Times New Roman"/>
                <a:cs typeface="Times New Roman"/>
              </a:rPr>
              <a:t>ICMPv4-Allow-From-10.10.0.50</a:t>
            </a:r>
            <a:r>
              <a:rPr lang="en-US" sz="1000" dirty="0">
                <a:solidFill>
                  <a:srgbClr val="000000"/>
                </a:solidFill>
                <a:latin typeface="Arial"/>
                <a:ea typeface="Times New Roman"/>
                <a:cs typeface="Segoe UI"/>
              </a:rPr>
              <a:t>, and then click </a:t>
            </a:r>
            <a:r>
              <a:rPr lang="en-US" sz="1000" b="1" dirty="0">
                <a:solidFill>
                  <a:prstClr val="black"/>
                </a:solidFill>
                <a:latin typeface="Arial"/>
                <a:ea typeface="Times New Roman"/>
                <a:cs typeface="Times New Roman"/>
              </a:rPr>
              <a:t>Finish</a:t>
            </a:r>
            <a:r>
              <a:rPr lang="en-US" sz="1000" dirty="0">
                <a:solidFill>
                  <a:srgbClr val="000000"/>
                </a:solidFill>
                <a:latin typeface="Arial"/>
                <a:ea typeface="Times New Roman"/>
                <a:cs typeface="Segoe UI"/>
              </a:rPr>
              <a:t>.</a:t>
            </a:r>
            <a:endParaRPr lang="en-CA" sz="1000" dirty="0">
              <a:solidFill>
                <a:prstClr val="black"/>
              </a:solidFill>
              <a:latin typeface="Arial"/>
              <a:ea typeface="Times New Roman"/>
              <a:cs typeface="Times New Roman"/>
            </a:endParaRPr>
          </a:p>
          <a:p>
            <a:pPr marL="342900" lvl="0" indent="-342900">
              <a:lnSpc>
                <a:spcPct val="115000"/>
              </a:lnSpc>
              <a:spcAft>
                <a:spcPts val="995"/>
              </a:spcAft>
              <a:buFont typeface="+mj-lt"/>
              <a:buAutoNum type="arabicPeriod" startAt="2"/>
              <a:tabLst>
                <a:tab pos="228600" algn="l"/>
              </a:tabLst>
            </a:pPr>
            <a:r>
              <a:rPr lang="en-US" sz="1000" dirty="0">
                <a:solidFill>
                  <a:srgbClr val="000000"/>
                </a:solidFill>
                <a:latin typeface="Arial"/>
                <a:ea typeface="Times New Roman"/>
                <a:cs typeface="Segoe UI"/>
              </a:rPr>
              <a:t>Switch to LON‑CL2.</a:t>
            </a:r>
            <a:endParaRPr lang="en-CA" sz="1000" dirty="0">
              <a:solidFill>
                <a:prstClr val="black"/>
              </a:solidFill>
              <a:latin typeface="Arial"/>
              <a:ea typeface="Times New Roman"/>
              <a:cs typeface="Times New Roman"/>
            </a:endParaRPr>
          </a:p>
          <a:p>
            <a:pPr marL="342900" lvl="0" indent="-342900">
              <a:lnSpc>
                <a:spcPct val="115000"/>
              </a:lnSpc>
              <a:spcAft>
                <a:spcPts val="995"/>
              </a:spcAft>
              <a:buFont typeface="+mj-lt"/>
              <a:buAutoNum type="arabicPeriod" startAt="2"/>
              <a:tabLst>
                <a:tab pos="228600" algn="l"/>
              </a:tabLst>
            </a:pPr>
            <a:r>
              <a:rPr lang="en-US" sz="1000" dirty="0">
                <a:solidFill>
                  <a:srgbClr val="000000"/>
                </a:solidFill>
                <a:latin typeface="Arial"/>
                <a:ea typeface="Times New Roman"/>
                <a:cs typeface="Segoe UI"/>
              </a:rPr>
              <a:t>At the </a:t>
            </a:r>
            <a:r>
              <a:rPr lang="en-US" sz="1000" dirty="0">
                <a:solidFill>
                  <a:prstClr val="black"/>
                </a:solidFill>
                <a:latin typeface="Arial"/>
                <a:ea typeface="Times New Roman"/>
                <a:cs typeface="Times New Roman"/>
              </a:rPr>
              <a:t>command</a:t>
            </a:r>
            <a:r>
              <a:rPr lang="en-US" sz="1000" dirty="0">
                <a:solidFill>
                  <a:srgbClr val="000000"/>
                </a:solidFill>
                <a:latin typeface="Arial"/>
                <a:ea typeface="Times New Roman"/>
                <a:cs typeface="Segoe UI"/>
              </a:rPr>
              <a:t> prompt, type </a:t>
            </a:r>
            <a:r>
              <a:rPr lang="en-US" sz="1000" b="1" dirty="0">
                <a:solidFill>
                  <a:prstClr val="black"/>
                </a:solidFill>
                <a:latin typeface="Arial"/>
                <a:ea typeface="Times New Roman"/>
                <a:cs typeface="Times New Roman"/>
              </a:rPr>
              <a:t>ping 10.10.0.11</a:t>
            </a:r>
            <a:r>
              <a:rPr lang="en-US" sz="1000" dirty="0">
                <a:solidFill>
                  <a:srgbClr val="000000"/>
                </a:solidFill>
                <a:latin typeface="Arial"/>
                <a:ea typeface="Times New Roman"/>
                <a:cs typeface="Segoe UI"/>
              </a:rPr>
              <a:t>, and then press Enter.</a:t>
            </a:r>
            <a:endParaRPr lang="en-CA" sz="1000" dirty="0">
              <a:solidFill>
                <a:prstClr val="black"/>
              </a:solidFill>
              <a:latin typeface="Arial"/>
              <a:ea typeface="Times New Roman"/>
              <a:cs typeface="Times New Roman"/>
            </a:endParaRPr>
          </a:p>
          <a:p>
            <a:pPr marL="342000" lvl="0">
              <a:lnSpc>
                <a:spcPts val="1300"/>
              </a:lnSpc>
              <a:spcAft>
                <a:spcPts val="600"/>
              </a:spcAft>
            </a:pPr>
            <a:r>
              <a:rPr lang="en-US" sz="1000" dirty="0">
                <a:solidFill>
                  <a:prstClr val="black"/>
                </a:solidFill>
                <a:latin typeface="Arial"/>
                <a:ea typeface="Times New Roman"/>
                <a:cs typeface="Times New Roman"/>
              </a:rPr>
              <a:t>Notice that the ping goes through successfully</a:t>
            </a:r>
            <a:r>
              <a:rPr lang="en-US" sz="1000" dirty="0" smtClean="0">
                <a:solidFill>
                  <a:prstClr val="black"/>
                </a:solidFill>
                <a:latin typeface="Arial"/>
                <a:ea typeface="Times New Roman"/>
                <a:cs typeface="Times New Roman"/>
              </a:rPr>
              <a:t>.</a:t>
            </a:r>
            <a:endParaRPr lang="en-CA" sz="1000" dirty="0">
              <a:solidFill>
                <a:prstClr val="black"/>
              </a:solidFill>
              <a:latin typeface="Arial"/>
              <a:ea typeface="Times New Roman"/>
              <a:cs typeface="Times New Roman"/>
            </a:endParaRPr>
          </a:p>
        </p:txBody>
      </p:sp>
      <p:sp>
        <p:nvSpPr>
          <p:cNvPr id="4" name="Slide Number Placeholder 3"/>
          <p:cNvSpPr>
            <a:spLocks noGrp="1"/>
          </p:cNvSpPr>
          <p:nvPr>
            <p:ph type="sldNum" sz="quarter" idx="10"/>
          </p:nvPr>
        </p:nvSpPr>
        <p:spPr/>
        <p:txBody>
          <a:bodyPr/>
          <a:lstStyle/>
          <a:p>
            <a:fld id="{D577B5E1-4095-4397-ADB9-F5E0D58B59B6}" type="slidenum">
              <a:rPr lang="en-CA" smtClean="0"/>
              <a:pPr/>
              <a:t>15</a:t>
            </a:fld>
            <a:endParaRPr lang="en-CA" dirty="0"/>
          </a:p>
        </p:txBody>
      </p:sp>
      <p:sp>
        <p:nvSpPr>
          <p:cNvPr id="5" name="TextBox 4"/>
          <p:cNvSpPr txBox="1"/>
          <p:nvPr/>
        </p:nvSpPr>
        <p:spPr>
          <a:xfrm>
            <a:off x="0" y="8890000"/>
            <a:ext cx="1871025" cy="246221"/>
          </a:xfrm>
          <a:prstGeom prst="rect">
            <a:avLst/>
          </a:prstGeom>
          <a:noFill/>
        </p:spPr>
        <p:txBody>
          <a:bodyPr vert="horz" wrap="none" rtlCol="0">
            <a:spAutoFit/>
          </a:bodyPr>
          <a:lstStyle/>
          <a:p>
            <a:r>
              <a:rPr lang="en-CA" sz="1000" dirty="0" smtClean="0">
                <a:latin typeface="Arial"/>
              </a:rPr>
              <a:t>(More notes on the next slide)</a:t>
            </a:r>
            <a:endParaRPr lang="en-CA" sz="1000" dirty="0">
              <a:latin typeface="Arial"/>
            </a:endParaRPr>
          </a:p>
        </p:txBody>
      </p:sp>
      <p:sp>
        <p:nvSpPr>
          <p:cNvPr id="6" name="Rectangle 5"/>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7" name="Rectangle 6"/>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12: Securing Windows Servers by Using Group Policy Objects</a:t>
            </a:r>
            <a:endParaRPr lang="en-CA" sz="1200" b="1" dirty="0">
              <a:solidFill>
                <a:srgbClr val="336699"/>
              </a:solidFill>
              <a:latin typeface="Arial"/>
            </a:endParaRPr>
          </a:p>
        </p:txBody>
      </p:sp>
    </p:spTree>
    <p:extLst>
      <p:ext uri="{BB962C8B-B14F-4D97-AF65-F5344CB8AC3E}">
        <p14:creationId xmlns:p14="http://schemas.microsoft.com/office/powerpoint/2010/main" val="266988089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112" y="73152"/>
            <a:ext cx="2468880" cy="1851660"/>
          </a:xfrm>
        </p:spPr>
      </p:sp>
      <p:sp>
        <p:nvSpPr>
          <p:cNvPr id="3" name="Notes Placeholder 2"/>
          <p:cNvSpPr>
            <a:spLocks noGrp="1"/>
          </p:cNvSpPr>
          <p:nvPr>
            <p:ph type="body" idx="1"/>
          </p:nvPr>
        </p:nvSpPr>
        <p:spPr>
          <a:xfrm>
            <a:off x="310896" y="2093976"/>
            <a:ext cx="6153912" cy="6604000"/>
          </a:xfrm>
        </p:spPr>
        <p:txBody>
          <a:bodyPr>
            <a:noAutofit/>
          </a:bodyPr>
          <a:lstStyle/>
          <a:p>
            <a:pPr lvl="0">
              <a:lnSpc>
                <a:spcPts val="1300"/>
              </a:lnSpc>
              <a:spcBef>
                <a:spcPts val="900"/>
              </a:spcBef>
              <a:spcAft>
                <a:spcPts val="300"/>
              </a:spcAft>
            </a:pPr>
            <a:r>
              <a:rPr lang="en-US" sz="1000" b="1" dirty="0">
                <a:solidFill>
                  <a:prstClr val="black"/>
                </a:solidFill>
                <a:latin typeface="Arial"/>
                <a:ea typeface="Times New Roman"/>
                <a:cs typeface="Segoe UI"/>
              </a:rPr>
              <a:t>Create a connection security rule</a:t>
            </a:r>
            <a:endParaRPr lang="en-CA" sz="1000" b="1" dirty="0">
              <a:solidFill>
                <a:prstClr val="black"/>
              </a:solidFill>
              <a:latin typeface="Arial"/>
              <a:ea typeface="Times New Roman"/>
              <a:cs typeface="Segoe UI"/>
            </a:endParaRPr>
          </a:p>
          <a:p>
            <a:pPr marL="342900" lvl="0" indent="-342900">
              <a:lnSpc>
                <a:spcPct val="115000"/>
              </a:lnSpc>
              <a:spcAft>
                <a:spcPts val="995"/>
              </a:spcAft>
              <a:buFont typeface="+mj-lt"/>
              <a:buAutoNum type="arabicPeriod"/>
              <a:tabLst>
                <a:tab pos="228600" algn="l"/>
              </a:tabLst>
            </a:pPr>
            <a:r>
              <a:rPr lang="en-US" sz="1000" dirty="0">
                <a:solidFill>
                  <a:prstClr val="black"/>
                </a:solidFill>
                <a:latin typeface="Arial"/>
                <a:ea typeface="Times New Roman"/>
                <a:cs typeface="Segoe UI"/>
              </a:rPr>
              <a:t>Switch to </a:t>
            </a:r>
            <a:r>
              <a:rPr lang="en-US" sz="1000" dirty="0">
                <a:solidFill>
                  <a:prstClr val="black"/>
                </a:solidFill>
                <a:latin typeface="Arial"/>
                <a:ea typeface="Times New Roman"/>
                <a:cs typeface="Times New Roman"/>
              </a:rPr>
              <a:t>LON‑SVR2</a:t>
            </a:r>
            <a:r>
              <a:rPr lang="en-US" sz="1000" dirty="0">
                <a:solidFill>
                  <a:prstClr val="black"/>
                </a:solidFill>
                <a:latin typeface="Arial"/>
                <a:ea typeface="Times New Roman"/>
                <a:cs typeface="Segoe UI"/>
              </a:rPr>
              <a:t>.</a:t>
            </a:r>
            <a:endParaRPr lang="en-CA" sz="1000" dirty="0">
              <a:solidFill>
                <a:prstClr val="black"/>
              </a:solidFill>
              <a:latin typeface="Arial"/>
              <a:ea typeface="Times New Roman"/>
              <a:cs typeface="Times New Roman"/>
            </a:endParaRPr>
          </a:p>
          <a:p>
            <a:pPr marL="342900" lvl="0" indent="-342900">
              <a:lnSpc>
                <a:spcPct val="115000"/>
              </a:lnSpc>
              <a:spcAft>
                <a:spcPts val="995"/>
              </a:spcAft>
              <a:buFont typeface="+mj-lt"/>
              <a:buAutoNum type="arabicPeriod" startAt="2"/>
              <a:tabLst>
                <a:tab pos="228600" algn="l"/>
              </a:tabLst>
            </a:pPr>
            <a:r>
              <a:rPr lang="en-US" sz="1000" dirty="0" smtClean="0">
                <a:solidFill>
                  <a:prstClr val="black"/>
                </a:solidFill>
                <a:latin typeface="Arial"/>
                <a:ea typeface="Times New Roman"/>
                <a:cs typeface="Segoe UI"/>
              </a:rPr>
              <a:t>In </a:t>
            </a:r>
            <a:r>
              <a:rPr lang="en-US" sz="1000" dirty="0">
                <a:solidFill>
                  <a:prstClr val="black"/>
                </a:solidFill>
                <a:latin typeface="Arial"/>
                <a:ea typeface="Times New Roman"/>
                <a:cs typeface="Segoe UI"/>
              </a:rPr>
              <a:t>the Windows Firewall with Advanced Security window, in the left-hand pane, right-click </a:t>
            </a:r>
            <a:r>
              <a:rPr lang="en-US" sz="1000" b="1" dirty="0">
                <a:solidFill>
                  <a:prstClr val="black"/>
                </a:solidFill>
                <a:latin typeface="Arial"/>
                <a:ea typeface="Times New Roman"/>
                <a:cs typeface="Times New Roman"/>
              </a:rPr>
              <a:t>Connection Security Rules</a:t>
            </a:r>
            <a:r>
              <a:rPr lang="en-US" sz="1000" dirty="0">
                <a:solidFill>
                  <a:prstClr val="black"/>
                </a:solidFill>
                <a:latin typeface="Arial"/>
                <a:ea typeface="Times New Roman"/>
                <a:cs typeface="Segoe UI"/>
              </a:rPr>
              <a:t>, and then click </a:t>
            </a:r>
            <a:r>
              <a:rPr lang="en-US" sz="1000" b="1" dirty="0">
                <a:solidFill>
                  <a:prstClr val="black"/>
                </a:solidFill>
                <a:latin typeface="Arial"/>
                <a:ea typeface="Times New Roman"/>
                <a:cs typeface="Times New Roman"/>
              </a:rPr>
              <a:t>New Rule</a:t>
            </a:r>
            <a:r>
              <a:rPr lang="en-US" sz="1000" dirty="0">
                <a:solidFill>
                  <a:prstClr val="black"/>
                </a:solidFill>
                <a:latin typeface="Arial"/>
                <a:ea typeface="Times New Roman"/>
                <a:cs typeface="Segoe UI"/>
              </a:rPr>
              <a:t>.</a:t>
            </a:r>
            <a:endParaRPr lang="en-CA" sz="1000" dirty="0">
              <a:solidFill>
                <a:prstClr val="black"/>
              </a:solidFill>
              <a:latin typeface="Arial"/>
              <a:ea typeface="Times New Roman"/>
              <a:cs typeface="Times New Roman"/>
            </a:endParaRPr>
          </a:p>
          <a:p>
            <a:pPr marL="342900" lvl="0" indent="-342900">
              <a:lnSpc>
                <a:spcPct val="115000"/>
              </a:lnSpc>
              <a:spcAft>
                <a:spcPts val="995"/>
              </a:spcAft>
              <a:buFont typeface="+mj-lt"/>
              <a:buAutoNum type="arabicPeriod" startAt="2"/>
              <a:tabLst>
                <a:tab pos="228600" algn="l"/>
              </a:tabLst>
            </a:pPr>
            <a:r>
              <a:rPr lang="en-US" sz="1000" dirty="0">
                <a:solidFill>
                  <a:prstClr val="black"/>
                </a:solidFill>
                <a:latin typeface="Arial"/>
                <a:ea typeface="Times New Roman"/>
                <a:cs typeface="Segoe UI"/>
              </a:rPr>
              <a:t>On the </a:t>
            </a:r>
            <a:r>
              <a:rPr lang="en-US" sz="1000" b="1" dirty="0">
                <a:solidFill>
                  <a:prstClr val="black"/>
                </a:solidFill>
                <a:latin typeface="Arial"/>
                <a:ea typeface="Times New Roman"/>
                <a:cs typeface="Times New Roman"/>
              </a:rPr>
              <a:t>Rule Type</a:t>
            </a:r>
            <a:r>
              <a:rPr lang="en-US" sz="1000" dirty="0">
                <a:solidFill>
                  <a:prstClr val="black"/>
                </a:solidFill>
                <a:latin typeface="Arial"/>
                <a:ea typeface="Times New Roman"/>
                <a:cs typeface="Segoe UI"/>
              </a:rPr>
              <a:t> </a:t>
            </a:r>
            <a:r>
              <a:rPr lang="en-US" sz="1000" dirty="0">
                <a:solidFill>
                  <a:srgbClr val="000000"/>
                </a:solidFill>
                <a:latin typeface="Arial"/>
                <a:ea typeface="Times New Roman"/>
                <a:cs typeface="Segoe UI"/>
              </a:rPr>
              <a:t>page</a:t>
            </a:r>
            <a:r>
              <a:rPr lang="en-US" sz="1000" dirty="0">
                <a:solidFill>
                  <a:prstClr val="black"/>
                </a:solidFill>
                <a:latin typeface="Arial"/>
                <a:ea typeface="Times New Roman"/>
                <a:cs typeface="Segoe UI"/>
              </a:rPr>
              <a:t>, click </a:t>
            </a:r>
            <a:r>
              <a:rPr lang="en-US" sz="1000" b="1" dirty="0">
                <a:solidFill>
                  <a:prstClr val="black"/>
                </a:solidFill>
                <a:latin typeface="Arial"/>
                <a:ea typeface="Times New Roman"/>
                <a:cs typeface="Times New Roman"/>
              </a:rPr>
              <a:t>Next</a:t>
            </a:r>
            <a:r>
              <a:rPr lang="en-US" sz="1000" dirty="0">
                <a:solidFill>
                  <a:prstClr val="black"/>
                </a:solidFill>
                <a:latin typeface="Arial"/>
                <a:ea typeface="Times New Roman"/>
                <a:cs typeface="Segoe UI"/>
              </a:rPr>
              <a:t> to accept the default of </a:t>
            </a:r>
            <a:r>
              <a:rPr lang="en-US" sz="1000" b="1" dirty="0">
                <a:solidFill>
                  <a:prstClr val="black"/>
                </a:solidFill>
                <a:latin typeface="Arial"/>
                <a:ea typeface="Times New Roman"/>
                <a:cs typeface="Times New Roman"/>
              </a:rPr>
              <a:t>Isolation</a:t>
            </a:r>
            <a:r>
              <a:rPr lang="en-US" sz="1000" dirty="0">
                <a:solidFill>
                  <a:prstClr val="black"/>
                </a:solidFill>
                <a:latin typeface="Arial"/>
                <a:ea typeface="Times New Roman"/>
                <a:cs typeface="Segoe UI"/>
              </a:rPr>
              <a:t>.</a:t>
            </a:r>
            <a:endParaRPr lang="en-CA" sz="1000" dirty="0">
              <a:solidFill>
                <a:prstClr val="black"/>
              </a:solidFill>
              <a:latin typeface="Arial"/>
              <a:ea typeface="Times New Roman"/>
              <a:cs typeface="Times New Roman"/>
            </a:endParaRPr>
          </a:p>
          <a:p>
            <a:pPr marL="342900" lvl="0" indent="-342900">
              <a:lnSpc>
                <a:spcPct val="115000"/>
              </a:lnSpc>
              <a:spcAft>
                <a:spcPts val="995"/>
              </a:spcAft>
              <a:buFont typeface="+mj-lt"/>
              <a:buAutoNum type="arabicPeriod" startAt="2"/>
              <a:tabLst>
                <a:tab pos="228600" algn="l"/>
              </a:tabLst>
            </a:pPr>
            <a:r>
              <a:rPr lang="en-US" sz="1000" dirty="0">
                <a:solidFill>
                  <a:prstClr val="black"/>
                </a:solidFill>
                <a:latin typeface="Arial"/>
                <a:ea typeface="Times New Roman"/>
                <a:cs typeface="Segoe UI"/>
              </a:rPr>
              <a:t>On the </a:t>
            </a:r>
            <a:r>
              <a:rPr lang="en-US" sz="1000" b="1" dirty="0">
                <a:solidFill>
                  <a:prstClr val="black"/>
                </a:solidFill>
                <a:latin typeface="Arial"/>
                <a:ea typeface="Times New Roman"/>
                <a:cs typeface="Times New Roman"/>
              </a:rPr>
              <a:t>Requirements</a:t>
            </a:r>
            <a:r>
              <a:rPr lang="en-US" sz="1000" dirty="0">
                <a:solidFill>
                  <a:prstClr val="black"/>
                </a:solidFill>
                <a:latin typeface="Arial"/>
                <a:ea typeface="Times New Roman"/>
                <a:cs typeface="Segoe UI"/>
              </a:rPr>
              <a:t> </a:t>
            </a:r>
            <a:r>
              <a:rPr lang="en-US" sz="1000" dirty="0">
                <a:solidFill>
                  <a:srgbClr val="000000"/>
                </a:solidFill>
                <a:latin typeface="Arial"/>
                <a:ea typeface="Times New Roman"/>
                <a:cs typeface="Segoe UI"/>
              </a:rPr>
              <a:t>page</a:t>
            </a:r>
            <a:r>
              <a:rPr lang="en-US" sz="1000" dirty="0">
                <a:solidFill>
                  <a:prstClr val="black"/>
                </a:solidFill>
                <a:latin typeface="Arial"/>
                <a:ea typeface="Times New Roman"/>
                <a:cs typeface="Segoe UI"/>
              </a:rPr>
              <a:t>, click </a:t>
            </a:r>
            <a:r>
              <a:rPr lang="en-US" sz="1000" b="1" dirty="0">
                <a:solidFill>
                  <a:prstClr val="black"/>
                </a:solidFill>
                <a:latin typeface="Arial"/>
                <a:ea typeface="Times New Roman"/>
                <a:cs typeface="Times New Roman"/>
              </a:rPr>
              <a:t>Require authentication for inbound connections and request authentication for outbound connections</a:t>
            </a:r>
            <a:r>
              <a:rPr lang="en-US" sz="1000" dirty="0">
                <a:solidFill>
                  <a:prstClr val="black"/>
                </a:solidFill>
                <a:latin typeface="Arial"/>
                <a:ea typeface="Times New Roman"/>
                <a:cs typeface="Segoe UI"/>
              </a:rPr>
              <a:t>, and then click </a:t>
            </a:r>
            <a:r>
              <a:rPr lang="en-US" sz="1000" b="1" dirty="0">
                <a:solidFill>
                  <a:prstClr val="black"/>
                </a:solidFill>
                <a:latin typeface="Arial"/>
                <a:ea typeface="Times New Roman"/>
                <a:cs typeface="Times New Roman"/>
              </a:rPr>
              <a:t>Next</a:t>
            </a:r>
            <a:r>
              <a:rPr lang="en-US" sz="1000" dirty="0">
                <a:solidFill>
                  <a:prstClr val="black"/>
                </a:solidFill>
                <a:latin typeface="Arial"/>
                <a:ea typeface="Times New Roman"/>
                <a:cs typeface="Segoe UI"/>
              </a:rPr>
              <a:t>.</a:t>
            </a:r>
            <a:endParaRPr lang="en-CA" sz="1000" dirty="0">
              <a:solidFill>
                <a:prstClr val="black"/>
              </a:solidFill>
              <a:latin typeface="Arial"/>
              <a:ea typeface="Times New Roman"/>
              <a:cs typeface="Times New Roman"/>
            </a:endParaRPr>
          </a:p>
          <a:p>
            <a:pPr marL="342900" lvl="0" indent="-342900">
              <a:lnSpc>
                <a:spcPct val="115000"/>
              </a:lnSpc>
              <a:spcAft>
                <a:spcPts val="995"/>
              </a:spcAft>
              <a:buFont typeface="+mj-lt"/>
              <a:buAutoNum type="arabicPeriod" startAt="2"/>
              <a:tabLst>
                <a:tab pos="228600" algn="l"/>
              </a:tabLst>
            </a:pPr>
            <a:r>
              <a:rPr lang="en-US" sz="1000" dirty="0">
                <a:solidFill>
                  <a:prstClr val="black"/>
                </a:solidFill>
                <a:latin typeface="Arial"/>
                <a:ea typeface="Times New Roman"/>
                <a:cs typeface="Segoe UI"/>
              </a:rPr>
              <a:t>On the </a:t>
            </a:r>
            <a:r>
              <a:rPr lang="en-US" sz="1000" b="1" dirty="0">
                <a:solidFill>
                  <a:prstClr val="black"/>
                </a:solidFill>
                <a:latin typeface="Arial"/>
                <a:ea typeface="Times New Roman"/>
                <a:cs typeface="Times New Roman"/>
              </a:rPr>
              <a:t>Authentication Method</a:t>
            </a:r>
            <a:r>
              <a:rPr lang="en-US" sz="1000" dirty="0">
                <a:solidFill>
                  <a:prstClr val="black"/>
                </a:solidFill>
                <a:latin typeface="Arial"/>
                <a:ea typeface="Times New Roman"/>
                <a:cs typeface="Segoe UI"/>
              </a:rPr>
              <a:t> </a:t>
            </a:r>
            <a:r>
              <a:rPr lang="en-US" sz="1000" dirty="0">
                <a:solidFill>
                  <a:srgbClr val="000000"/>
                </a:solidFill>
                <a:latin typeface="Arial"/>
                <a:ea typeface="Times New Roman"/>
                <a:cs typeface="Segoe UI"/>
              </a:rPr>
              <a:t>page</a:t>
            </a:r>
            <a:r>
              <a:rPr lang="en-US" sz="1000" dirty="0">
                <a:solidFill>
                  <a:prstClr val="black"/>
                </a:solidFill>
                <a:latin typeface="Arial"/>
                <a:ea typeface="Times New Roman"/>
                <a:cs typeface="Segoe UI"/>
              </a:rPr>
              <a:t>, click </a:t>
            </a:r>
            <a:r>
              <a:rPr lang="en-US" sz="1000" b="1" dirty="0">
                <a:solidFill>
                  <a:prstClr val="black"/>
                </a:solidFill>
                <a:latin typeface="Arial"/>
                <a:ea typeface="Times New Roman"/>
                <a:cs typeface="Times New Roman"/>
              </a:rPr>
              <a:t>Advanced</a:t>
            </a:r>
            <a:r>
              <a:rPr lang="en-US" sz="1000" dirty="0">
                <a:solidFill>
                  <a:prstClr val="black"/>
                </a:solidFill>
                <a:latin typeface="Arial"/>
                <a:ea typeface="Times New Roman"/>
                <a:cs typeface="Times New Roman"/>
              </a:rPr>
              <a:t>, and then click </a:t>
            </a:r>
            <a:r>
              <a:rPr lang="en-US" sz="1000" b="1" dirty="0">
                <a:solidFill>
                  <a:prstClr val="black"/>
                </a:solidFill>
                <a:latin typeface="Arial"/>
                <a:ea typeface="Times New Roman"/>
                <a:cs typeface="Times New Roman"/>
              </a:rPr>
              <a:t>Customize</a:t>
            </a:r>
            <a:r>
              <a:rPr lang="en-US" sz="1000" dirty="0">
                <a:solidFill>
                  <a:prstClr val="black"/>
                </a:solidFill>
                <a:latin typeface="Arial"/>
                <a:ea typeface="Times New Roman"/>
                <a:cs typeface="Segoe UI"/>
              </a:rPr>
              <a:t>.</a:t>
            </a:r>
            <a:endParaRPr lang="en-CA" sz="1000" dirty="0">
              <a:solidFill>
                <a:prstClr val="black"/>
              </a:solidFill>
              <a:latin typeface="Arial"/>
              <a:ea typeface="Times New Roman"/>
              <a:cs typeface="Times New Roman"/>
            </a:endParaRPr>
          </a:p>
          <a:p>
            <a:pPr marL="342900" lvl="0" indent="-342900">
              <a:lnSpc>
                <a:spcPct val="115000"/>
              </a:lnSpc>
              <a:spcAft>
                <a:spcPts val="995"/>
              </a:spcAft>
              <a:buFont typeface="+mj-lt"/>
              <a:buAutoNum type="arabicPeriod" startAt="2"/>
              <a:tabLst>
                <a:tab pos="228600" algn="l"/>
              </a:tabLst>
            </a:pPr>
            <a:r>
              <a:rPr lang="en-US" sz="1000" dirty="0">
                <a:solidFill>
                  <a:prstClr val="black"/>
                </a:solidFill>
                <a:latin typeface="Arial"/>
                <a:ea typeface="Times New Roman"/>
                <a:cs typeface="Segoe UI"/>
              </a:rPr>
              <a:t>In the </a:t>
            </a:r>
            <a:r>
              <a:rPr lang="en-US" sz="1000" b="1" dirty="0">
                <a:solidFill>
                  <a:prstClr val="black"/>
                </a:solidFill>
                <a:latin typeface="Arial"/>
                <a:ea typeface="Times New Roman"/>
                <a:cs typeface="Times New Roman"/>
              </a:rPr>
              <a:t>Customize Advanced Authentication Method</a:t>
            </a:r>
            <a:r>
              <a:rPr lang="en-US" sz="1000" dirty="0">
                <a:solidFill>
                  <a:prstClr val="black"/>
                </a:solidFill>
                <a:latin typeface="Arial"/>
                <a:ea typeface="Times New Roman"/>
                <a:cs typeface="Segoe UI"/>
              </a:rPr>
              <a:t> dialog box, in the </a:t>
            </a:r>
            <a:r>
              <a:rPr lang="en-US" sz="1000" b="1" dirty="0">
                <a:solidFill>
                  <a:prstClr val="black"/>
                </a:solidFill>
                <a:latin typeface="Arial"/>
                <a:ea typeface="Times New Roman"/>
                <a:cs typeface="Times New Roman"/>
              </a:rPr>
              <a:t>First authentication</a:t>
            </a:r>
            <a:r>
              <a:rPr lang="en-US" sz="1000" dirty="0">
                <a:solidFill>
                  <a:prstClr val="black"/>
                </a:solidFill>
                <a:latin typeface="Arial"/>
                <a:ea typeface="Times New Roman"/>
                <a:cs typeface="Segoe UI"/>
              </a:rPr>
              <a:t> section, click </a:t>
            </a:r>
            <a:r>
              <a:rPr lang="en-US" sz="1000" b="1" dirty="0">
                <a:solidFill>
                  <a:prstClr val="black"/>
                </a:solidFill>
                <a:latin typeface="Arial"/>
                <a:ea typeface="Times New Roman"/>
                <a:cs typeface="Times New Roman"/>
              </a:rPr>
              <a:t>Add</a:t>
            </a:r>
            <a:r>
              <a:rPr lang="en-US" sz="1000" dirty="0">
                <a:solidFill>
                  <a:prstClr val="black"/>
                </a:solidFill>
                <a:latin typeface="Arial"/>
                <a:ea typeface="Times New Roman"/>
                <a:cs typeface="Segoe UI"/>
              </a:rPr>
              <a:t>.</a:t>
            </a:r>
            <a:endParaRPr lang="en-CA" sz="1000" dirty="0">
              <a:solidFill>
                <a:prstClr val="black"/>
              </a:solidFill>
              <a:latin typeface="Arial"/>
              <a:ea typeface="Times New Roman"/>
              <a:cs typeface="Times New Roman"/>
            </a:endParaRPr>
          </a:p>
          <a:p>
            <a:pPr marL="342900" lvl="0" indent="-342900">
              <a:lnSpc>
                <a:spcPct val="115000"/>
              </a:lnSpc>
              <a:spcAft>
                <a:spcPts val="995"/>
              </a:spcAft>
              <a:buFont typeface="+mj-lt"/>
              <a:buAutoNum type="arabicPeriod" startAt="2"/>
              <a:tabLst>
                <a:tab pos="228600" algn="l"/>
              </a:tabLst>
            </a:pPr>
            <a:r>
              <a:rPr lang="en-US" sz="1000" dirty="0">
                <a:solidFill>
                  <a:prstClr val="black"/>
                </a:solidFill>
                <a:latin typeface="Arial"/>
                <a:ea typeface="Times New Roman"/>
                <a:cs typeface="Segoe UI"/>
              </a:rPr>
              <a:t>In the </a:t>
            </a:r>
            <a:r>
              <a:rPr lang="en-US" sz="1000" b="1" dirty="0">
                <a:solidFill>
                  <a:prstClr val="black"/>
                </a:solidFill>
                <a:latin typeface="Arial"/>
                <a:ea typeface="Times New Roman"/>
                <a:cs typeface="Times New Roman"/>
              </a:rPr>
              <a:t>Add First Authentication Method</a:t>
            </a:r>
            <a:r>
              <a:rPr lang="en-US" sz="1000" dirty="0">
                <a:solidFill>
                  <a:prstClr val="black"/>
                </a:solidFill>
                <a:latin typeface="Arial"/>
                <a:ea typeface="Times New Roman"/>
                <a:cs typeface="Segoe UI"/>
              </a:rPr>
              <a:t> dialog box, click </a:t>
            </a:r>
            <a:r>
              <a:rPr lang="en-US" sz="1000" b="1" dirty="0">
                <a:solidFill>
                  <a:prstClr val="black"/>
                </a:solidFill>
                <a:latin typeface="Arial"/>
                <a:ea typeface="Times New Roman"/>
                <a:cs typeface="Times New Roman"/>
              </a:rPr>
              <a:t>Preshared key (not recommended)</a:t>
            </a:r>
            <a:r>
              <a:rPr lang="en-US" sz="1000" dirty="0">
                <a:solidFill>
                  <a:prstClr val="black"/>
                </a:solidFill>
                <a:latin typeface="Arial"/>
                <a:ea typeface="Times New Roman"/>
                <a:cs typeface="Segoe UI"/>
              </a:rPr>
              <a:t>, type </a:t>
            </a:r>
            <a:r>
              <a:rPr lang="en-US" sz="1000" b="1" dirty="0">
                <a:solidFill>
                  <a:prstClr val="black"/>
                </a:solidFill>
                <a:latin typeface="Arial"/>
                <a:ea typeface="Times New Roman"/>
                <a:cs typeface="Times New Roman"/>
              </a:rPr>
              <a:t>Pa$$w0rd</a:t>
            </a:r>
            <a:r>
              <a:rPr lang="en-US" sz="1000" dirty="0">
                <a:solidFill>
                  <a:prstClr val="black"/>
                </a:solidFill>
                <a:latin typeface="Arial"/>
                <a:ea typeface="Times New Roman"/>
                <a:cs typeface="Segoe UI"/>
              </a:rPr>
              <a:t> for the preshared key, and then click </a:t>
            </a:r>
            <a:r>
              <a:rPr lang="en-US" sz="1000" b="1" dirty="0">
                <a:solidFill>
                  <a:prstClr val="black"/>
                </a:solidFill>
                <a:latin typeface="Arial"/>
                <a:ea typeface="Times New Roman"/>
                <a:cs typeface="Times New Roman"/>
              </a:rPr>
              <a:t>OK</a:t>
            </a:r>
            <a:r>
              <a:rPr lang="en-US" sz="1000" dirty="0">
                <a:solidFill>
                  <a:prstClr val="black"/>
                </a:solidFill>
                <a:latin typeface="Arial"/>
                <a:ea typeface="Times New Roman"/>
                <a:cs typeface="Segoe UI"/>
              </a:rPr>
              <a:t>. Click </a:t>
            </a:r>
            <a:r>
              <a:rPr lang="en-US" sz="1000" b="1" dirty="0">
                <a:solidFill>
                  <a:prstClr val="black"/>
                </a:solidFill>
                <a:latin typeface="Arial"/>
                <a:ea typeface="Times New Roman"/>
                <a:cs typeface="Times New Roman"/>
              </a:rPr>
              <a:t>OK</a:t>
            </a:r>
            <a:r>
              <a:rPr lang="en-US" sz="1000" dirty="0">
                <a:solidFill>
                  <a:prstClr val="black"/>
                </a:solidFill>
                <a:latin typeface="Arial"/>
                <a:ea typeface="Times New Roman"/>
                <a:cs typeface="Segoe UI"/>
              </a:rPr>
              <a:t> again to close the dialog box.</a:t>
            </a:r>
            <a:endParaRPr lang="en-CA" sz="1000" dirty="0">
              <a:solidFill>
                <a:prstClr val="black"/>
              </a:solidFill>
              <a:latin typeface="Arial"/>
              <a:ea typeface="Times New Roman"/>
              <a:cs typeface="Times New Roman"/>
            </a:endParaRPr>
          </a:p>
          <a:p>
            <a:pPr marL="342900" lvl="0" indent="-342900">
              <a:lnSpc>
                <a:spcPct val="115000"/>
              </a:lnSpc>
              <a:spcAft>
                <a:spcPts val="995"/>
              </a:spcAft>
              <a:buFont typeface="+mj-lt"/>
              <a:buAutoNum type="arabicPeriod" startAt="2"/>
              <a:tabLst>
                <a:tab pos="228600" algn="l"/>
              </a:tabLst>
            </a:pPr>
            <a:r>
              <a:rPr lang="en-US" sz="1000" dirty="0">
                <a:solidFill>
                  <a:prstClr val="black"/>
                </a:solidFill>
                <a:latin typeface="Arial"/>
                <a:ea typeface="Times New Roman"/>
                <a:cs typeface="Segoe UI"/>
              </a:rPr>
              <a:t>On the </a:t>
            </a:r>
            <a:r>
              <a:rPr lang="en-US" sz="1000" b="1" dirty="0">
                <a:solidFill>
                  <a:prstClr val="black"/>
                </a:solidFill>
                <a:latin typeface="Arial"/>
                <a:ea typeface="Times New Roman"/>
                <a:cs typeface="Times New Roman"/>
              </a:rPr>
              <a:t>Authentication Method</a:t>
            </a:r>
            <a:r>
              <a:rPr lang="en-US" sz="1000" dirty="0">
                <a:solidFill>
                  <a:prstClr val="black"/>
                </a:solidFill>
                <a:latin typeface="Arial"/>
                <a:ea typeface="Times New Roman"/>
                <a:cs typeface="Segoe UI"/>
              </a:rPr>
              <a:t> page, click </a:t>
            </a:r>
            <a:r>
              <a:rPr lang="en-US" sz="1000" b="1" dirty="0">
                <a:solidFill>
                  <a:prstClr val="black"/>
                </a:solidFill>
                <a:latin typeface="Arial"/>
                <a:ea typeface="Times New Roman"/>
                <a:cs typeface="Times New Roman"/>
              </a:rPr>
              <a:t>Next</a:t>
            </a:r>
            <a:r>
              <a:rPr lang="en-US" sz="1000" dirty="0">
                <a:solidFill>
                  <a:prstClr val="black"/>
                </a:solidFill>
                <a:latin typeface="Arial"/>
                <a:ea typeface="Times New Roman"/>
                <a:cs typeface="Segoe UI"/>
              </a:rPr>
              <a:t>.</a:t>
            </a:r>
            <a:endParaRPr lang="en-CA" sz="1000" dirty="0">
              <a:solidFill>
                <a:prstClr val="black"/>
              </a:solidFill>
              <a:latin typeface="Arial"/>
              <a:ea typeface="Times New Roman"/>
              <a:cs typeface="Times New Roman"/>
            </a:endParaRPr>
          </a:p>
          <a:p>
            <a:pPr marL="342900" lvl="0" indent="-342900">
              <a:lnSpc>
                <a:spcPct val="115000"/>
              </a:lnSpc>
              <a:spcAft>
                <a:spcPts val="995"/>
              </a:spcAft>
              <a:buFont typeface="+mj-lt"/>
              <a:buAutoNum type="arabicPeriod" startAt="2"/>
              <a:tabLst>
                <a:tab pos="228600" algn="l"/>
              </a:tabLst>
            </a:pPr>
            <a:r>
              <a:rPr lang="en-US" sz="1000" dirty="0">
                <a:solidFill>
                  <a:prstClr val="black"/>
                </a:solidFill>
                <a:latin typeface="Arial"/>
                <a:ea typeface="Times New Roman"/>
                <a:cs typeface="Segoe UI"/>
              </a:rPr>
              <a:t>On the </a:t>
            </a:r>
            <a:r>
              <a:rPr lang="en-US" sz="1000" b="1" dirty="0">
                <a:solidFill>
                  <a:prstClr val="black"/>
                </a:solidFill>
                <a:latin typeface="Arial"/>
                <a:ea typeface="Times New Roman"/>
                <a:cs typeface="Times New Roman"/>
              </a:rPr>
              <a:t>Profile</a:t>
            </a:r>
            <a:r>
              <a:rPr lang="en-US" sz="1000" dirty="0">
                <a:solidFill>
                  <a:prstClr val="black"/>
                </a:solidFill>
                <a:latin typeface="Arial"/>
                <a:ea typeface="Times New Roman"/>
                <a:cs typeface="Segoe UI"/>
              </a:rPr>
              <a:t> </a:t>
            </a:r>
            <a:r>
              <a:rPr lang="en-US" sz="1000" dirty="0">
                <a:solidFill>
                  <a:srgbClr val="000000"/>
                </a:solidFill>
                <a:latin typeface="Arial"/>
                <a:ea typeface="Times New Roman"/>
                <a:cs typeface="Segoe UI"/>
              </a:rPr>
              <a:t>page</a:t>
            </a:r>
            <a:r>
              <a:rPr lang="en-US" sz="1000" dirty="0">
                <a:solidFill>
                  <a:prstClr val="black"/>
                </a:solidFill>
                <a:latin typeface="Arial"/>
                <a:ea typeface="Times New Roman"/>
                <a:cs typeface="Segoe UI"/>
              </a:rPr>
              <a:t>, click </a:t>
            </a:r>
            <a:r>
              <a:rPr lang="en-US" sz="1000" b="1" dirty="0">
                <a:solidFill>
                  <a:prstClr val="black"/>
                </a:solidFill>
                <a:latin typeface="Arial"/>
                <a:ea typeface="Times New Roman"/>
                <a:cs typeface="Times New Roman"/>
              </a:rPr>
              <a:t>Next</a:t>
            </a:r>
            <a:r>
              <a:rPr lang="en-US" sz="1000" dirty="0">
                <a:solidFill>
                  <a:prstClr val="black"/>
                </a:solidFill>
                <a:latin typeface="Arial"/>
                <a:ea typeface="Times New Roman"/>
                <a:cs typeface="Segoe UI"/>
              </a:rPr>
              <a:t>.</a:t>
            </a:r>
            <a:endParaRPr lang="en-CA" sz="1000" dirty="0">
              <a:solidFill>
                <a:prstClr val="black"/>
              </a:solidFill>
              <a:latin typeface="Arial"/>
              <a:ea typeface="Times New Roman"/>
              <a:cs typeface="Times New Roman"/>
            </a:endParaRPr>
          </a:p>
          <a:p>
            <a:pPr marL="342900" lvl="0" indent="-342900">
              <a:lnSpc>
                <a:spcPct val="115000"/>
              </a:lnSpc>
              <a:spcAft>
                <a:spcPts val="995"/>
              </a:spcAft>
              <a:buFont typeface="+mj-lt"/>
              <a:buAutoNum type="arabicPeriod" startAt="2"/>
              <a:tabLst>
                <a:tab pos="228600" algn="l"/>
              </a:tabLst>
            </a:pPr>
            <a:r>
              <a:rPr lang="en-US" sz="1000" dirty="0">
                <a:solidFill>
                  <a:prstClr val="black"/>
                </a:solidFill>
                <a:latin typeface="Arial"/>
                <a:ea typeface="Times New Roman"/>
                <a:cs typeface="Segoe UI"/>
              </a:rPr>
              <a:t>On the </a:t>
            </a:r>
            <a:r>
              <a:rPr lang="en-US" sz="1000" b="1" dirty="0">
                <a:solidFill>
                  <a:prstClr val="black"/>
                </a:solidFill>
                <a:latin typeface="Arial"/>
                <a:ea typeface="Times New Roman"/>
                <a:cs typeface="Times New Roman"/>
              </a:rPr>
              <a:t>Name</a:t>
            </a:r>
            <a:r>
              <a:rPr lang="en-US" sz="1000" dirty="0">
                <a:solidFill>
                  <a:prstClr val="black"/>
                </a:solidFill>
                <a:latin typeface="Arial"/>
                <a:ea typeface="Times New Roman"/>
                <a:cs typeface="Segoe UI"/>
              </a:rPr>
              <a:t> </a:t>
            </a:r>
            <a:r>
              <a:rPr lang="en-US" sz="1000" dirty="0">
                <a:solidFill>
                  <a:srgbClr val="000000"/>
                </a:solidFill>
                <a:latin typeface="Arial"/>
                <a:ea typeface="Times New Roman"/>
                <a:cs typeface="Segoe UI"/>
              </a:rPr>
              <a:t>page</a:t>
            </a:r>
            <a:r>
              <a:rPr lang="en-US" sz="1000" dirty="0">
                <a:solidFill>
                  <a:prstClr val="black"/>
                </a:solidFill>
                <a:latin typeface="Arial"/>
                <a:ea typeface="Times New Roman"/>
                <a:cs typeface="Segoe UI"/>
              </a:rPr>
              <a:t>, in </a:t>
            </a:r>
            <a:r>
              <a:rPr lang="en-US" sz="1000" b="1" dirty="0">
                <a:solidFill>
                  <a:prstClr val="black"/>
                </a:solidFill>
                <a:latin typeface="Arial"/>
                <a:ea typeface="Times New Roman"/>
                <a:cs typeface="Times New Roman"/>
              </a:rPr>
              <a:t>Name</a:t>
            </a:r>
            <a:r>
              <a:rPr lang="en-US" sz="1000" dirty="0">
                <a:solidFill>
                  <a:prstClr val="black"/>
                </a:solidFill>
                <a:latin typeface="Arial"/>
                <a:ea typeface="Times New Roman"/>
                <a:cs typeface="Segoe UI"/>
              </a:rPr>
              <a:t>, type </a:t>
            </a:r>
            <a:r>
              <a:rPr lang="en-US" sz="1000" b="1" dirty="0">
                <a:solidFill>
                  <a:prstClr val="black"/>
                </a:solidFill>
                <a:latin typeface="Arial"/>
                <a:ea typeface="Times New Roman"/>
                <a:cs typeface="Times New Roman"/>
              </a:rPr>
              <a:t>Require Inbound Authentication</a:t>
            </a:r>
            <a:r>
              <a:rPr lang="en-US" sz="1000" dirty="0">
                <a:solidFill>
                  <a:prstClr val="black"/>
                </a:solidFill>
                <a:latin typeface="Arial"/>
                <a:ea typeface="Times New Roman"/>
                <a:cs typeface="Segoe UI"/>
              </a:rPr>
              <a:t>, and then click </a:t>
            </a:r>
            <a:r>
              <a:rPr lang="en-US" sz="1000" b="1" dirty="0">
                <a:solidFill>
                  <a:prstClr val="black"/>
                </a:solidFill>
                <a:latin typeface="Arial"/>
                <a:ea typeface="Times New Roman"/>
                <a:cs typeface="Times New Roman"/>
              </a:rPr>
              <a:t>Finish</a:t>
            </a:r>
            <a:r>
              <a:rPr lang="en-US" sz="1000" dirty="0">
                <a:solidFill>
                  <a:prstClr val="black"/>
                </a:solidFill>
                <a:latin typeface="Arial"/>
                <a:ea typeface="Times New Roman"/>
                <a:cs typeface="Segoe UI"/>
              </a:rPr>
              <a:t>.</a:t>
            </a:r>
            <a:endParaRPr lang="en-CA" sz="1000" dirty="0">
              <a:solidFill>
                <a:prstClr val="black"/>
              </a:solidFill>
              <a:latin typeface="Arial"/>
              <a:ea typeface="Times New Roman"/>
              <a:cs typeface="Times New Roman"/>
            </a:endParaRPr>
          </a:p>
          <a:p>
            <a:pPr marL="342900" lvl="0" indent="-342900">
              <a:lnSpc>
                <a:spcPct val="115000"/>
              </a:lnSpc>
              <a:spcAft>
                <a:spcPts val="995"/>
              </a:spcAft>
              <a:buFont typeface="+mj-lt"/>
              <a:buAutoNum type="arabicPeriod" startAt="2"/>
              <a:tabLst>
                <a:tab pos="228600" algn="l"/>
              </a:tabLst>
            </a:pPr>
            <a:r>
              <a:rPr lang="en-US" sz="1000" dirty="0">
                <a:solidFill>
                  <a:prstClr val="black"/>
                </a:solidFill>
                <a:latin typeface="Arial"/>
                <a:ea typeface="Times New Roman"/>
                <a:cs typeface="Segoe UI"/>
              </a:rPr>
              <a:t>Repeat steps 2 through 10 on LON-CL2 before moving to the next demonstration section.</a:t>
            </a:r>
            <a:endParaRPr lang="en-CA" sz="1000" dirty="0">
              <a:solidFill>
                <a:prstClr val="black"/>
              </a:solidFill>
              <a:latin typeface="Arial"/>
              <a:ea typeface="Times New Roman"/>
              <a:cs typeface="Times New Roman"/>
            </a:endParaRPr>
          </a:p>
          <a:p>
            <a:pPr lvl="0">
              <a:lnSpc>
                <a:spcPts val="1300"/>
              </a:lnSpc>
              <a:spcBef>
                <a:spcPts val="900"/>
              </a:spcBef>
              <a:spcAft>
                <a:spcPts val="300"/>
              </a:spcAft>
            </a:pPr>
            <a:r>
              <a:rPr lang="en-US" sz="1000" b="1" dirty="0">
                <a:solidFill>
                  <a:prstClr val="black"/>
                </a:solidFill>
                <a:latin typeface="Arial"/>
                <a:ea typeface="Times New Roman"/>
                <a:cs typeface="Segoe UI"/>
              </a:rPr>
              <a:t>Validate ICMP v4</a:t>
            </a:r>
            <a:endParaRPr lang="en-CA" sz="1000" b="1" dirty="0">
              <a:solidFill>
                <a:prstClr val="black"/>
              </a:solidFill>
              <a:latin typeface="Arial"/>
              <a:ea typeface="Times New Roman"/>
              <a:cs typeface="Segoe UI"/>
            </a:endParaRPr>
          </a:p>
          <a:p>
            <a:pPr marL="342900" lvl="0" indent="-342900">
              <a:lnSpc>
                <a:spcPct val="115000"/>
              </a:lnSpc>
              <a:spcAft>
                <a:spcPts val="995"/>
              </a:spcAft>
              <a:buFont typeface="+mj-lt"/>
              <a:buAutoNum type="arabicPeriod"/>
              <a:tabLst>
                <a:tab pos="228600" algn="l"/>
              </a:tabLst>
            </a:pPr>
            <a:r>
              <a:rPr lang="en-US" sz="1000" dirty="0">
                <a:solidFill>
                  <a:prstClr val="black"/>
                </a:solidFill>
                <a:latin typeface="Arial"/>
                <a:ea typeface="Times New Roman"/>
                <a:cs typeface="Segoe UI"/>
              </a:rPr>
              <a:t>Switch to </a:t>
            </a:r>
            <a:r>
              <a:rPr lang="en-US" sz="1000" dirty="0">
                <a:solidFill>
                  <a:prstClr val="black"/>
                </a:solidFill>
                <a:latin typeface="Arial"/>
                <a:ea typeface="Times New Roman"/>
                <a:cs typeface="Times New Roman"/>
              </a:rPr>
              <a:t>LON‑CL2</a:t>
            </a:r>
            <a:r>
              <a:rPr lang="en-US" sz="1000" dirty="0">
                <a:solidFill>
                  <a:prstClr val="black"/>
                </a:solidFill>
                <a:latin typeface="Arial"/>
                <a:ea typeface="Times New Roman"/>
                <a:cs typeface="Segoe UI"/>
              </a:rPr>
              <a:t>.</a:t>
            </a:r>
            <a:endParaRPr lang="en-CA" sz="1000" dirty="0">
              <a:solidFill>
                <a:prstClr val="black"/>
              </a:solidFill>
              <a:latin typeface="Arial"/>
              <a:ea typeface="Times New Roman"/>
              <a:cs typeface="Times New Roman"/>
            </a:endParaRPr>
          </a:p>
          <a:p>
            <a:pPr marL="342900" lvl="0" indent="-342900">
              <a:lnSpc>
                <a:spcPct val="115000"/>
              </a:lnSpc>
              <a:spcAft>
                <a:spcPts val="995"/>
              </a:spcAft>
              <a:buFont typeface="+mj-lt"/>
              <a:buAutoNum type="arabicPeriod"/>
              <a:tabLst>
                <a:tab pos="228600" algn="l"/>
              </a:tabLst>
            </a:pPr>
            <a:r>
              <a:rPr lang="en-US" sz="1000" dirty="0">
                <a:solidFill>
                  <a:prstClr val="black"/>
                </a:solidFill>
                <a:latin typeface="Arial"/>
                <a:ea typeface="Times New Roman"/>
                <a:cs typeface="Segoe UI"/>
              </a:rPr>
              <a:t>At the command prompt, type </a:t>
            </a:r>
            <a:r>
              <a:rPr lang="en-US" sz="1000" b="1" dirty="0">
                <a:solidFill>
                  <a:prstClr val="black"/>
                </a:solidFill>
                <a:latin typeface="Arial"/>
                <a:ea typeface="Times New Roman"/>
                <a:cs typeface="Times New Roman"/>
              </a:rPr>
              <a:t>ping 10.10.0.11</a:t>
            </a:r>
            <a:r>
              <a:rPr lang="en-US" sz="1000" dirty="0">
                <a:solidFill>
                  <a:prstClr val="black"/>
                </a:solidFill>
                <a:latin typeface="Arial"/>
                <a:ea typeface="Times New Roman"/>
                <a:cs typeface="Segoe UI"/>
              </a:rPr>
              <a:t>, and then press Enter.</a:t>
            </a:r>
            <a:endParaRPr lang="en-CA" sz="1000" dirty="0">
              <a:solidFill>
                <a:prstClr val="black"/>
              </a:solidFill>
              <a:latin typeface="Arial"/>
              <a:ea typeface="Times New Roman"/>
              <a:cs typeface="Times New Roman"/>
            </a:endParaRPr>
          </a:p>
          <a:p>
            <a:pPr marL="342000" lvl="0">
              <a:lnSpc>
                <a:spcPts val="1300"/>
              </a:lnSpc>
              <a:spcAft>
                <a:spcPts val="600"/>
              </a:spcAft>
            </a:pPr>
            <a:r>
              <a:rPr lang="en-US" sz="1000" dirty="0">
                <a:solidFill>
                  <a:prstClr val="black"/>
                </a:solidFill>
                <a:latin typeface="Arial"/>
                <a:ea typeface="Times New Roman"/>
                <a:cs typeface="Times New Roman"/>
              </a:rPr>
              <a:t>Notice that the ping goes through successfully</a:t>
            </a:r>
            <a:r>
              <a:rPr lang="en-US" sz="1000" dirty="0" smtClean="0">
                <a:solidFill>
                  <a:prstClr val="black"/>
                </a:solidFill>
                <a:latin typeface="Arial"/>
                <a:ea typeface="Times New Roman"/>
                <a:cs typeface="Times New Roman"/>
              </a:rPr>
              <a:t>.</a:t>
            </a:r>
          </a:p>
          <a:p>
            <a:pPr marL="457200" lvl="0">
              <a:lnSpc>
                <a:spcPts val="1300"/>
              </a:lnSpc>
              <a:spcAft>
                <a:spcPts val="600"/>
              </a:spcAft>
            </a:pPr>
            <a:endParaRPr lang="en-US" sz="1000" dirty="0" smtClean="0">
              <a:solidFill>
                <a:prstClr val="black"/>
              </a:solidFill>
              <a:latin typeface="Arial"/>
              <a:cs typeface="Times New Roman"/>
            </a:endParaRPr>
          </a:p>
          <a:p>
            <a:pPr>
              <a:lnSpc>
                <a:spcPts val="1300"/>
              </a:lnSpc>
              <a:spcAft>
                <a:spcPts val="600"/>
              </a:spcAft>
            </a:pPr>
            <a:r>
              <a:rPr lang="en-CA" sz="1000" dirty="0">
                <a:latin typeface="Arial"/>
                <a:ea typeface="Calibri"/>
                <a:cs typeface="Times New Roman"/>
              </a:rPr>
              <a:t>After you complete the demonstration, revert the virtual machines.</a:t>
            </a:r>
          </a:p>
          <a:p>
            <a:pPr marL="457200" lvl="0">
              <a:lnSpc>
                <a:spcPts val="1300"/>
              </a:lnSpc>
              <a:spcAft>
                <a:spcPts val="600"/>
              </a:spcAft>
            </a:pPr>
            <a:endParaRPr lang="en-CA" dirty="0"/>
          </a:p>
        </p:txBody>
      </p:sp>
      <p:sp>
        <p:nvSpPr>
          <p:cNvPr id="4" name="Slide Number Placeholder 3"/>
          <p:cNvSpPr>
            <a:spLocks noGrp="1"/>
          </p:cNvSpPr>
          <p:nvPr>
            <p:ph type="sldNum" sz="quarter" idx="10"/>
          </p:nvPr>
        </p:nvSpPr>
        <p:spPr/>
        <p:txBody>
          <a:bodyPr/>
          <a:lstStyle/>
          <a:p>
            <a:fld id="{D577B5E1-4095-4397-ADB9-F5E0D58B59B6}" type="slidenum">
              <a:rPr lang="en-CA" smtClean="0"/>
              <a:pPr/>
              <a:t>16</a:t>
            </a:fld>
            <a:endParaRPr lang="en-CA" dirty="0"/>
          </a:p>
        </p:txBody>
      </p:sp>
      <p:sp>
        <p:nvSpPr>
          <p:cNvPr id="6" name="Rectangle 5"/>
          <p:cNvSpPr/>
          <p:nvPr/>
        </p:nvSpPr>
        <p:spPr>
          <a:xfrm>
            <a:off x="0" y="0"/>
            <a:ext cx="3038475" cy="222250"/>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000000"/>
                </a:solidFill>
                <a:latin typeface="Arial"/>
              </a:rPr>
              <a:t>20410D</a:t>
            </a:r>
            <a:endParaRPr lang="en-CA" sz="1200" b="1" dirty="0">
              <a:solidFill>
                <a:srgbClr val="000000"/>
              </a:solidFill>
              <a:latin typeface="Arial"/>
            </a:endParaRPr>
          </a:p>
        </p:txBody>
      </p:sp>
      <p:sp>
        <p:nvSpPr>
          <p:cNvPr id="7" name="Rectangle 6"/>
          <p:cNvSpPr/>
          <p:nvPr/>
        </p:nvSpPr>
        <p:spPr>
          <a:xfrm>
            <a:off x="0" y="238125"/>
            <a:ext cx="3038475" cy="347663"/>
          </a:xfrm>
          <a:prstGeom prst="rect">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CA" sz="1200" b="1" dirty="0" smtClean="0">
                <a:solidFill>
                  <a:srgbClr val="336699"/>
                </a:solidFill>
                <a:latin typeface="Arial"/>
              </a:rPr>
              <a:t>12: Securing Windows Servers by Using Group Policy Objects</a:t>
            </a:r>
            <a:endParaRPr lang="en-CA" sz="1200" b="1" dirty="0">
              <a:solidFill>
                <a:srgbClr val="336699"/>
              </a:solidFill>
              <a:latin typeface="Arial"/>
            </a:endParaRPr>
          </a:p>
        </p:txBody>
      </p:sp>
    </p:spTree>
    <p:extLst>
      <p:ext uri="{BB962C8B-B14F-4D97-AF65-F5344CB8AC3E}">
        <p14:creationId xmlns:p14="http://schemas.microsoft.com/office/powerpoint/2010/main" val="3994142870"/>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2514600"/>
            <a:ext cx="9144000" cy="2514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23875" y="1500426"/>
            <a:ext cx="7477125" cy="861774"/>
          </a:xfrm>
          <a:prstGeom prst="rect">
            <a:avLst/>
          </a:prstGeom>
          <a:noFill/>
        </p:spPr>
        <p:txBody>
          <a:bodyPr wrap="square" rtlCol="0">
            <a:spAutoFit/>
          </a:bodyPr>
          <a:lstStyle/>
          <a:p>
            <a:r>
              <a:rPr lang="en-US" sz="4800" dirty="0" smtClean="0">
                <a:solidFill>
                  <a:schemeClr val="tx1">
                    <a:lumMod val="65000"/>
                    <a:lumOff val="35000"/>
                  </a:schemeClr>
                </a:solidFill>
                <a:latin typeface="Segoe UI Light" pitchFamily="34" charset="0"/>
                <a:ea typeface="Segoe UI" pitchFamily="34" charset="0"/>
                <a:cs typeface="Segoe UI" pitchFamily="34" charset="0"/>
              </a:rPr>
              <a:t>Microsoft</a:t>
            </a:r>
            <a:r>
              <a:rPr lang="en-US" baseline="100000" dirty="0" smtClean="0">
                <a:solidFill>
                  <a:schemeClr val="tx1">
                    <a:lumMod val="65000"/>
                    <a:lumOff val="35000"/>
                  </a:schemeClr>
                </a:solidFill>
                <a:latin typeface="Segoe UI Light" pitchFamily="34" charset="0"/>
                <a:ea typeface="Segoe UI" pitchFamily="34" charset="0"/>
                <a:cs typeface="Segoe UI" pitchFamily="34" charset="0"/>
              </a:rPr>
              <a:t>®</a:t>
            </a:r>
            <a:r>
              <a:rPr lang="en-US" sz="4400" dirty="0" smtClean="0">
                <a:solidFill>
                  <a:schemeClr val="tx1">
                    <a:lumMod val="65000"/>
                    <a:lumOff val="35000"/>
                  </a:schemeClr>
                </a:solidFill>
                <a:latin typeface="Segoe UI Light" pitchFamily="34" charset="0"/>
                <a:ea typeface="Segoe UI" pitchFamily="34" charset="0"/>
                <a:cs typeface="Segoe UI" pitchFamily="34" charset="0"/>
              </a:rPr>
              <a:t> </a:t>
            </a:r>
            <a:r>
              <a:rPr lang="en-US" sz="4800" dirty="0" smtClean="0">
                <a:solidFill>
                  <a:schemeClr val="tx1">
                    <a:lumMod val="65000"/>
                    <a:lumOff val="35000"/>
                  </a:schemeClr>
                </a:solidFill>
                <a:latin typeface="Segoe UI Light" pitchFamily="34" charset="0"/>
                <a:ea typeface="Segoe UI" pitchFamily="34" charset="0"/>
                <a:cs typeface="Segoe UI" pitchFamily="34" charset="0"/>
              </a:rPr>
              <a:t>Official Course</a:t>
            </a:r>
            <a:endParaRPr lang="en-US" sz="4800" dirty="0">
              <a:solidFill>
                <a:schemeClr val="tx1">
                  <a:lumMod val="65000"/>
                  <a:lumOff val="35000"/>
                </a:schemeClr>
              </a:solidFill>
              <a:latin typeface="Segoe UI Light" pitchFamily="34" charset="0"/>
              <a:ea typeface="Segoe UI" pitchFamily="34" charset="0"/>
              <a:cs typeface="Segoe UI" pitchFamily="34" charset="0"/>
            </a:endParaRPr>
          </a:p>
        </p:txBody>
      </p:sp>
      <p:pic>
        <p:nvPicPr>
          <p:cNvPr id="7" name="Picture 6"/>
          <p:cNvPicPr>
            <a:picLocks noChangeAspect="1"/>
          </p:cNvPicPr>
          <p:nvPr/>
        </p:nvPicPr>
        <p:blipFill>
          <a:blip r:embed="rId2" cstate="print">
            <a:duotone>
              <a:prstClr val="black"/>
              <a:schemeClr val="tx1">
                <a:lumMod val="85000"/>
                <a:lumOff val="15000"/>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315200" y="6248400"/>
            <a:ext cx="1413823" cy="230205"/>
          </a:xfrm>
          <a:prstGeom prst="rect">
            <a:avLst/>
          </a:prstGeom>
        </p:spPr>
      </p:pic>
      <p:pic>
        <p:nvPicPr>
          <p:cNvPr id="10" name="Picture 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 y="2514600"/>
            <a:ext cx="3063240" cy="2514600"/>
          </a:xfrm>
          <a:prstGeom prst="rect">
            <a:avLst/>
          </a:prstGeom>
        </p:spPr>
      </p:pic>
      <p:sp>
        <p:nvSpPr>
          <p:cNvPr id="726019" name="Rectangle 3"/>
          <p:cNvSpPr>
            <a:spLocks noGrp="1" noChangeArrowheads="1"/>
          </p:cNvSpPr>
          <p:nvPr>
            <p:ph type="ctrTitle" sz="quarter" hasCustomPrompt="1"/>
          </p:nvPr>
        </p:nvSpPr>
        <p:spPr>
          <a:xfrm>
            <a:off x="3106782" y="2774735"/>
            <a:ext cx="5732417" cy="1129607"/>
          </a:xfrm>
          <a:ln algn="ctr"/>
        </p:spPr>
        <p:txBody>
          <a:bodyPr wrap="square" tIns="0" rIns="0" bIns="0">
            <a:spAutoFit/>
          </a:bodyPr>
          <a:lstStyle>
            <a:lvl1pPr algn="l">
              <a:spcBef>
                <a:spcPct val="60000"/>
              </a:spcBef>
              <a:buClr>
                <a:schemeClr val="hlink"/>
              </a:buClr>
              <a:buSzPct val="90000"/>
              <a:buFontTx/>
              <a:buNone/>
              <a:defRPr sz="8400" baseline="0">
                <a:solidFill>
                  <a:schemeClr val="bg1"/>
                </a:solidFill>
                <a:latin typeface="Segoe Light" pitchFamily="34" charset="0"/>
              </a:defRPr>
            </a:lvl1pPr>
          </a:lstStyle>
          <a:p>
            <a:r>
              <a:rPr lang="en-US" dirty="0" smtClean="0"/>
              <a:t>Course #</a:t>
            </a:r>
            <a:endParaRPr lang="en-US" dirty="0"/>
          </a:p>
        </p:txBody>
      </p:sp>
      <p:sp>
        <p:nvSpPr>
          <p:cNvPr id="726020" name="Rectangle 4"/>
          <p:cNvSpPr>
            <a:spLocks noGrp="1" noChangeArrowheads="1"/>
          </p:cNvSpPr>
          <p:nvPr>
            <p:ph type="subTitle" sz="quarter" idx="1" hasCustomPrompt="1"/>
          </p:nvPr>
        </p:nvSpPr>
        <p:spPr>
          <a:xfrm>
            <a:off x="3121297" y="3925328"/>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smtClean="0"/>
              <a:t>Click to edit Course title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Tree>
    <p:extLst>
      <p:ext uri="{BB962C8B-B14F-4D97-AF65-F5344CB8AC3E}">
        <p14:creationId xmlns:p14="http://schemas.microsoft.com/office/powerpoint/2010/main" val="18070508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smtClean="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Body Text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iming>
    <p:tnLst>
      <p:par>
        <p:cTn id="1" dur="indefinite" restart="never" nodeType="tmRoot"/>
      </p:par>
    </p:tnLst>
  </p:timing>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name="bb04763b-6662-436e-bff2-e2dc0c09868d">
    <p:spTree>
      <p:nvGrpSpPr>
        <p:cNvPr id="1" name=""/>
        <p:cNvGrpSpPr/>
        <p:nvPr/>
      </p:nvGrpSpPr>
      <p:grpSpPr>
        <a:xfrm>
          <a:off x="0" y="0"/>
          <a:ext cx="0" cy="0"/>
          <a:chOff x="0" y="0"/>
          <a:chExt cx="0" cy="0"/>
        </a:xfrm>
      </p:grpSpPr>
      <p:sp>
        <p:nvSpPr>
          <p:cNvPr id="2" name="Title 1"/>
          <p:cNvSpPr>
            <a:spLocks noGrp="1"/>
          </p:cNvSpPr>
          <p:nvPr>
            <p:ph type="ctrTitle" sz="quarter"/>
          </p:nvPr>
        </p:nvSpPr>
        <p:spPr>
          <a:xfrm>
            <a:off x="3106782" y="3169492"/>
            <a:ext cx="5732417" cy="340093"/>
          </a:xfrm>
        </p:spPr>
        <p:txBody>
          <a:bodyPr/>
          <a:lstStyle/>
          <a:p>
            <a:r>
              <a:rPr lang="en-CA" sz="2600" dirty="0" smtClean="0"/>
              <a:t>Module 12</a:t>
            </a:r>
            <a:endParaRPr lang="en-CA" sz="2600" dirty="0"/>
          </a:p>
        </p:txBody>
      </p:sp>
      <p:sp>
        <p:nvSpPr>
          <p:cNvPr id="3" name="Subtitle 2"/>
          <p:cNvSpPr>
            <a:spLocks noGrp="1"/>
          </p:cNvSpPr>
          <p:nvPr>
            <p:ph type="subTitle" sz="quarter" idx="1"/>
          </p:nvPr>
        </p:nvSpPr>
        <p:spPr/>
        <p:txBody>
          <a:bodyPr/>
          <a:lstStyle/>
          <a:p>
            <a:r>
              <a:rPr lang="en-CA" dirty="0" smtClean="0"/>
              <a:t>Securing Windows Servers by Using Group Policy Objects
</a:t>
            </a:r>
            <a:endParaRPr lang="en-CA" dirty="0"/>
          </a:p>
        </p:txBody>
      </p:sp>
    </p:spTree>
    <p:extLst>
      <p:ext uri="{BB962C8B-B14F-4D97-AF65-F5344CB8AC3E}">
        <p14:creationId xmlns:p14="http://schemas.microsoft.com/office/powerpoint/2010/main" val="4304659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316387d9-09b8-4036-9228-9909282c8da3">
    <p:spTree>
      <p:nvGrpSpPr>
        <p:cNvPr id="1" name=""/>
        <p:cNvGrpSpPr/>
        <p:nvPr/>
      </p:nvGrpSpPr>
      <p:grpSpPr>
        <a:xfrm>
          <a:off x="0" y="0"/>
          <a:ext cx="0" cy="0"/>
          <a:chOff x="0" y="0"/>
          <a:chExt cx="0" cy="0"/>
        </a:xfrm>
      </p:grpSpPr>
      <p:sp>
        <p:nvSpPr>
          <p:cNvPr id="2" name="Title 1"/>
          <p:cNvSpPr>
            <a:spLocks noGrp="1"/>
          </p:cNvSpPr>
          <p:nvPr>
            <p:ph type="title"/>
          </p:nvPr>
        </p:nvSpPr>
        <p:spPr>
          <a:xfrm>
            <a:off x="460374" y="-2"/>
            <a:ext cx="8683625" cy="740664"/>
          </a:xfrm>
        </p:spPr>
        <p:txBody>
          <a:bodyPr/>
          <a:lstStyle/>
          <a:p>
            <a:r>
              <a:rPr lang="fr-FR" dirty="0" smtClean="0"/>
              <a:t>Défense</a:t>
            </a:r>
            <a:r>
              <a:rPr lang="fr-FR" dirty="0" smtClean="0"/>
              <a:t> avancée pour augmenter la sécurité</a:t>
            </a:r>
            <a:endParaRPr lang="fr-FR" dirty="0"/>
          </a:p>
        </p:txBody>
      </p:sp>
      <p:sp>
        <p:nvSpPr>
          <p:cNvPr id="4" name="Rounded Rectangle 3"/>
          <p:cNvSpPr>
            <a:spLocks noChangeArrowheads="1"/>
          </p:cNvSpPr>
          <p:nvPr/>
        </p:nvSpPr>
        <p:spPr bwMode="auto">
          <a:xfrm>
            <a:off x="341466" y="787523"/>
            <a:ext cx="8418513" cy="1416050"/>
          </a:xfrm>
          <a:prstGeom prst="roundRect">
            <a:avLst>
              <a:gd name="adj" fmla="val 4167"/>
            </a:avLst>
          </a:prstGeom>
          <a:noFill/>
          <a:ln w="9525" algn="ctr">
            <a:noFill/>
            <a:round/>
            <a:headEnd/>
            <a:tailEnd/>
          </a:ln>
          <a:effectLst/>
        </p:spPr>
        <p:txBody>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lgn="l"/>
            <a:r>
              <a:rPr lang="fr-FR" sz="2400" b="0" dirty="0" smtClean="0">
                <a:latin typeface="Segoe UI" pitchFamily="34" charset="0"/>
                <a:ea typeface="Segoe UI" pitchFamily="34" charset="0"/>
                <a:cs typeface="Segoe UI" pitchFamily="34" charset="0"/>
              </a:rPr>
              <a:t>Une défense avancée vise à :</a:t>
            </a:r>
            <a:endParaRPr lang="fr-FR" sz="2400" b="0" dirty="0" smtClean="0">
              <a:latin typeface="Segoe UI" pitchFamily="34" charset="0"/>
              <a:ea typeface="Segoe UI" pitchFamily="34" charset="0"/>
              <a:cs typeface="Segoe UI" pitchFamily="34" charset="0"/>
            </a:endParaRPr>
          </a:p>
          <a:p>
            <a:pPr marL="165100" indent="-165100">
              <a:spcBef>
                <a:spcPts val="600"/>
              </a:spcBef>
              <a:spcAft>
                <a:spcPts val="0"/>
              </a:spcAft>
              <a:buClr>
                <a:srgbClr val="006699"/>
              </a:buClr>
              <a:buFontTx/>
              <a:buChar char="•"/>
              <a:tabLst>
                <a:tab pos="854075" algn="l"/>
              </a:tabLst>
            </a:pPr>
            <a:r>
              <a:rPr lang="fr-FR" sz="2400" b="0" dirty="0" smtClean="0">
                <a:latin typeface="Segoe UI" pitchFamily="34" charset="0"/>
                <a:ea typeface="Segoe UI" pitchFamily="34" charset="0"/>
                <a:cs typeface="Segoe UI" pitchFamily="34" charset="0"/>
              </a:rPr>
              <a:t>Réduire les chances de sucées d’un hackeur</a:t>
            </a:r>
            <a:endParaRPr lang="fr-FR" sz="2400" b="0" dirty="0" smtClean="0">
              <a:latin typeface="Segoe UI" pitchFamily="34" charset="0"/>
              <a:ea typeface="Segoe UI" pitchFamily="34" charset="0"/>
              <a:cs typeface="Segoe UI" pitchFamily="34" charset="0"/>
            </a:endParaRPr>
          </a:p>
          <a:p>
            <a:pPr marL="165100" indent="-165100">
              <a:spcBef>
                <a:spcPts val="600"/>
              </a:spcBef>
              <a:spcAft>
                <a:spcPts val="0"/>
              </a:spcAft>
              <a:buClr>
                <a:srgbClr val="006699"/>
              </a:buClr>
              <a:buFontTx/>
              <a:buChar char="•"/>
              <a:tabLst>
                <a:tab pos="854075" algn="l"/>
              </a:tabLst>
            </a:pPr>
            <a:r>
              <a:rPr lang="fr-FR" sz="2400" b="0" dirty="0" smtClean="0">
                <a:latin typeface="Segoe UI" pitchFamily="34" charset="0"/>
                <a:ea typeface="Segoe UI" pitchFamily="34" charset="0"/>
                <a:cs typeface="Segoe UI" pitchFamily="34" charset="0"/>
              </a:rPr>
              <a:t>Augmenter la détection des tentatives d’attaque</a:t>
            </a:r>
            <a:endParaRPr lang="fr-FR" sz="2400" b="0" dirty="0" smtClean="0">
              <a:latin typeface="Segoe UI" pitchFamily="34" charset="0"/>
              <a:ea typeface="Segoe UI" pitchFamily="34" charset="0"/>
              <a:cs typeface="Segoe UI" pitchFamily="34" charset="0"/>
            </a:endParaRPr>
          </a:p>
          <a:p>
            <a:pPr algn="l"/>
            <a:endParaRPr lang="fr-FR" sz="2400" dirty="0">
              <a:latin typeface="Segoe UI" pitchFamily="34" charset="0"/>
              <a:ea typeface="Segoe UI" pitchFamily="34" charset="0"/>
              <a:cs typeface="Segoe UI" pitchFamily="34" charset="0"/>
            </a:endParaRPr>
          </a:p>
        </p:txBody>
      </p:sp>
      <p:graphicFrame>
        <p:nvGraphicFramePr>
          <p:cNvPr id="5" name="Table 4"/>
          <p:cNvGraphicFramePr>
            <a:graphicFrameLocks noGrp="1"/>
          </p:cNvGraphicFramePr>
          <p:nvPr>
            <p:extLst>
              <p:ext uri="{D42A27DB-BD31-4B8C-83A1-F6EECF244321}">
                <p14:modId xmlns:p14="http://schemas.microsoft.com/office/powerpoint/2010/main" val="2358914802"/>
              </p:ext>
            </p:extLst>
          </p:nvPr>
        </p:nvGraphicFramePr>
        <p:xfrm>
          <a:off x="491101" y="2342233"/>
          <a:ext cx="8545395" cy="4500488"/>
        </p:xfrm>
        <a:graphic>
          <a:graphicData uri="http://schemas.openxmlformats.org/drawingml/2006/table">
            <a:tbl>
              <a:tblPr firstCol="1">
                <a:tableStyleId>{5DA37D80-6434-44D0-A028-1B22A696006F}</a:tableStyleId>
              </a:tblPr>
              <a:tblGrid>
                <a:gridCol w="3000779"/>
                <a:gridCol w="5544616"/>
              </a:tblGrid>
              <a:tr h="66207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2100" b="1" noProof="0" dirty="0" smtClean="0">
                          <a:latin typeface="Segoe UI" pitchFamily="34" charset="0"/>
                          <a:ea typeface="Segoe UI" pitchFamily="34" charset="0"/>
                          <a:cs typeface="Segoe UI" pitchFamily="34" charset="0"/>
                        </a:rPr>
                        <a:t>Politiques, procédures et sensibilisation</a:t>
                      </a:r>
                      <a:endParaRPr lang="fr-FR" sz="2100" b="1" noProof="0" dirty="0" smtClean="0">
                        <a:latin typeface="Segoe UI" pitchFamily="34" charset="0"/>
                        <a:ea typeface="Segoe UI" pitchFamily="34" charset="0"/>
                        <a:cs typeface="Segoe UI" pitchFamily="34" charset="0"/>
                      </a:endParaRP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2100" kern="1200" noProof="0" dirty="0" smtClean="0">
                          <a:latin typeface="Segoe UI" pitchFamily="34" charset="0"/>
                          <a:ea typeface="Segoe UI" pitchFamily="34" charset="0"/>
                          <a:cs typeface="Segoe UI" pitchFamily="34" charset="0"/>
                        </a:rPr>
                        <a:t>Sécurisation</a:t>
                      </a:r>
                      <a:r>
                        <a:rPr lang="fr-FR" sz="2100" kern="1200" baseline="0" noProof="0" dirty="0" smtClean="0">
                          <a:latin typeface="Segoe UI" pitchFamily="34" charset="0"/>
                          <a:ea typeface="Segoe UI" pitchFamily="34" charset="0"/>
                          <a:cs typeface="Segoe UI" pitchFamily="34" charset="0"/>
                        </a:rPr>
                        <a:t> des documents, éduquer/sensibiliser les utilisateurs, …</a:t>
                      </a:r>
                      <a:endParaRPr lang="fr-FR" sz="2100" kern="1200" noProof="0" dirty="0" smtClean="0">
                        <a:solidFill>
                          <a:schemeClr val="dk1"/>
                        </a:solidFill>
                        <a:latin typeface="Segoe UI" pitchFamily="34" charset="0"/>
                        <a:ea typeface="Segoe UI" pitchFamily="34" charset="0"/>
                        <a:cs typeface="Segoe UI" pitchFamily="34" charset="0"/>
                      </a:endParaRPr>
                    </a:p>
                  </a:txBody>
                  <a:tcPr anchor="ctr"/>
                </a:tc>
              </a:tr>
              <a:tr h="43140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2100" b="1" noProof="0" dirty="0" smtClean="0">
                          <a:latin typeface="Segoe UI" pitchFamily="34" charset="0"/>
                          <a:ea typeface="Segoe UI" pitchFamily="34" charset="0"/>
                          <a:cs typeface="Segoe UI" pitchFamily="34" charset="0"/>
                        </a:rPr>
                        <a:t>Sécurité</a:t>
                      </a:r>
                      <a:r>
                        <a:rPr lang="fr-FR" sz="2100" b="1" baseline="0" noProof="0" dirty="0" smtClean="0">
                          <a:latin typeface="Segoe UI" pitchFamily="34" charset="0"/>
                          <a:ea typeface="Segoe UI" pitchFamily="34" charset="0"/>
                          <a:cs typeface="Segoe UI" pitchFamily="34" charset="0"/>
                        </a:rPr>
                        <a:t> physique</a:t>
                      </a:r>
                      <a:endParaRPr lang="fr-FR" sz="2100" b="1" noProof="0" dirty="0" smtClean="0">
                        <a:latin typeface="Segoe UI" pitchFamily="34" charset="0"/>
                        <a:ea typeface="Segoe UI" pitchFamily="34" charset="0"/>
                        <a:cs typeface="Segoe UI" pitchFamily="34" charset="0"/>
                      </a:endParaRPr>
                    </a:p>
                  </a:txBody>
                  <a:tcPr anchor="ctr"/>
                </a:tc>
                <a:tc>
                  <a:txBody>
                    <a:bodyPr/>
                    <a:lstStyle/>
                    <a:p>
                      <a:r>
                        <a:rPr lang="fr-FR" sz="2100" noProof="0" dirty="0" smtClean="0">
                          <a:latin typeface="Segoe UI" pitchFamily="34" charset="0"/>
                          <a:ea typeface="Segoe UI" pitchFamily="34" charset="0"/>
                          <a:cs typeface="Segoe UI" pitchFamily="34" charset="0"/>
                        </a:rPr>
                        <a:t>Sous</a:t>
                      </a:r>
                      <a:r>
                        <a:rPr lang="fr-FR" sz="2100" baseline="0" noProof="0" dirty="0" smtClean="0">
                          <a:latin typeface="Segoe UI" pitchFamily="34" charset="0"/>
                          <a:ea typeface="Segoe UI" pitchFamily="34" charset="0"/>
                          <a:cs typeface="Segoe UI" pitchFamily="34" charset="0"/>
                        </a:rPr>
                        <a:t> clé, surveillance humaine, …</a:t>
                      </a:r>
                      <a:endParaRPr lang="fr-FR" sz="2100" noProof="0" dirty="0" smtClean="0">
                        <a:latin typeface="Segoe UI" pitchFamily="34" charset="0"/>
                        <a:ea typeface="Segoe UI" pitchFamily="34" charset="0"/>
                        <a:cs typeface="Segoe UI" pitchFamily="34" charset="0"/>
                      </a:endParaRPr>
                    </a:p>
                  </a:txBody>
                  <a:tcPr anchor="ctr"/>
                </a:tc>
              </a:tr>
              <a:tr h="412782">
                <a:tc>
                  <a:txBody>
                    <a:bodyPr/>
                    <a:lstStyle/>
                    <a:p>
                      <a:r>
                        <a:rPr lang="fr-FR" sz="2100" b="1" noProof="0" dirty="0" smtClean="0">
                          <a:latin typeface="Segoe UI" pitchFamily="34" charset="0"/>
                          <a:ea typeface="Segoe UI" pitchFamily="34" charset="0"/>
                          <a:cs typeface="Segoe UI" pitchFamily="34" charset="0"/>
                        </a:rPr>
                        <a:t>Sécurité</a:t>
                      </a:r>
                      <a:r>
                        <a:rPr lang="fr-FR" sz="2100" b="1" baseline="0" noProof="0" dirty="0" smtClean="0">
                          <a:latin typeface="Segoe UI" pitchFamily="34" charset="0"/>
                          <a:ea typeface="Segoe UI" pitchFamily="34" charset="0"/>
                          <a:cs typeface="Segoe UI" pitchFamily="34" charset="0"/>
                        </a:rPr>
                        <a:t> périmétrique</a:t>
                      </a:r>
                      <a:endParaRPr lang="fr-FR" sz="2100" b="1" noProof="0" dirty="0">
                        <a:latin typeface="Segoe UI" pitchFamily="34" charset="0"/>
                        <a:ea typeface="Segoe UI" pitchFamily="34" charset="0"/>
                        <a:cs typeface="Segoe UI" pitchFamily="34" charset="0"/>
                      </a:endParaRPr>
                    </a:p>
                  </a:txBody>
                  <a:tcPr anchor="ctr"/>
                </a:tc>
                <a:tc>
                  <a:txBody>
                    <a:bodyPr/>
                    <a:lstStyle/>
                    <a:p>
                      <a:r>
                        <a:rPr lang="fr-FR" sz="2100" noProof="0" dirty="0" smtClean="0">
                          <a:latin typeface="Segoe UI" pitchFamily="34" charset="0"/>
                          <a:ea typeface="Segoe UI" pitchFamily="34" charset="0"/>
                          <a:cs typeface="Segoe UI" pitchFamily="34" charset="0"/>
                        </a:rPr>
                        <a:t>Firewalls, proxy</a:t>
                      </a:r>
                      <a:r>
                        <a:rPr lang="fr-FR" sz="2100" baseline="0" noProof="0" dirty="0" smtClean="0">
                          <a:latin typeface="Segoe UI" pitchFamily="34" charset="0"/>
                          <a:ea typeface="Segoe UI" pitchFamily="34" charset="0"/>
                          <a:cs typeface="Segoe UI" pitchFamily="34" charset="0"/>
                        </a:rPr>
                        <a:t> inversé</a:t>
                      </a:r>
                      <a:r>
                        <a:rPr lang="fr-FR" sz="2100" noProof="0" dirty="0" smtClean="0">
                          <a:latin typeface="Segoe UI" pitchFamily="34" charset="0"/>
                          <a:ea typeface="Segoe UI" pitchFamily="34" charset="0"/>
                          <a:cs typeface="Segoe UI" pitchFamily="34" charset="0"/>
                        </a:rPr>
                        <a:t>,</a:t>
                      </a:r>
                      <a:r>
                        <a:rPr lang="fr-FR" sz="2100" baseline="0" noProof="0" dirty="0" smtClean="0">
                          <a:latin typeface="Segoe UI" pitchFamily="34" charset="0"/>
                          <a:ea typeface="Segoe UI" pitchFamily="34" charset="0"/>
                          <a:cs typeface="Segoe UI" pitchFamily="34" charset="0"/>
                        </a:rPr>
                        <a:t> machines en quarantaine, …</a:t>
                      </a:r>
                      <a:endParaRPr lang="fr-FR" sz="2100" noProof="0" dirty="0" smtClean="0">
                        <a:latin typeface="Segoe UI" pitchFamily="34" charset="0"/>
                        <a:ea typeface="Segoe UI" pitchFamily="34" charset="0"/>
                        <a:cs typeface="Segoe UI" pitchFamily="34" charset="0"/>
                      </a:endParaRPr>
                    </a:p>
                  </a:txBody>
                  <a:tcPr anchor="ctr"/>
                </a:tc>
              </a:tr>
              <a:tr h="39999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2100" b="1" noProof="0" dirty="0" smtClean="0">
                          <a:latin typeface="Segoe UI" pitchFamily="34" charset="0"/>
                          <a:ea typeface="Segoe UI" pitchFamily="34" charset="0"/>
                          <a:cs typeface="Segoe UI" pitchFamily="34" charset="0"/>
                        </a:rPr>
                        <a:t>Réseaux</a:t>
                      </a:r>
                      <a:endParaRPr lang="fr-FR" sz="2100" b="1" noProof="0" dirty="0" smtClean="0">
                        <a:latin typeface="Segoe UI" pitchFamily="34" charset="0"/>
                        <a:ea typeface="Segoe UI" pitchFamily="34" charset="0"/>
                        <a:cs typeface="Segoe UI" pitchFamily="34" charset="0"/>
                      </a:endParaRPr>
                    </a:p>
                  </a:txBody>
                  <a:tcPr anchor="ctr"/>
                </a:tc>
                <a:tc>
                  <a:txBody>
                    <a:bodyPr/>
                    <a:lstStyle/>
                    <a:p>
                      <a:r>
                        <a:rPr lang="fr-FR" sz="2100" noProof="0" dirty="0" smtClean="0">
                          <a:latin typeface="Segoe UI" pitchFamily="34" charset="0"/>
                          <a:ea typeface="Segoe UI" pitchFamily="34" charset="0"/>
                          <a:cs typeface="Segoe UI" pitchFamily="34" charset="0"/>
                        </a:rPr>
                        <a:t>Découpe</a:t>
                      </a:r>
                      <a:r>
                        <a:rPr lang="fr-FR" sz="2100" baseline="0" noProof="0" dirty="0" smtClean="0">
                          <a:latin typeface="Segoe UI" pitchFamily="34" charset="0"/>
                          <a:ea typeface="Segoe UI" pitchFamily="34" charset="0"/>
                          <a:cs typeface="Segoe UI" pitchFamily="34" charset="0"/>
                        </a:rPr>
                        <a:t> réseaux</a:t>
                      </a:r>
                      <a:r>
                        <a:rPr lang="fr-FR" sz="2100" noProof="0" dirty="0" smtClean="0">
                          <a:latin typeface="Segoe UI" pitchFamily="34" charset="0"/>
                          <a:ea typeface="Segoe UI" pitchFamily="34" charset="0"/>
                          <a:cs typeface="Segoe UI" pitchFamily="34" charset="0"/>
                        </a:rPr>
                        <a:t>, </a:t>
                      </a:r>
                      <a:r>
                        <a:rPr lang="fr-FR" sz="2100" kern="1200" noProof="0" dirty="0" err="1" smtClean="0">
                          <a:solidFill>
                            <a:schemeClr val="tx1"/>
                          </a:solidFill>
                          <a:effectLst/>
                          <a:latin typeface="Segoe UI" pitchFamily="34" charset="0"/>
                          <a:ea typeface="Segoe UI" pitchFamily="34" charset="0"/>
                          <a:cs typeface="Segoe UI" pitchFamily="34" charset="0"/>
                        </a:rPr>
                        <a:t>IPsec</a:t>
                      </a:r>
                      <a:r>
                        <a:rPr lang="fr-FR" sz="2100" kern="1200" noProof="0" dirty="0" smtClean="0">
                          <a:solidFill>
                            <a:schemeClr val="tx1"/>
                          </a:solidFill>
                          <a:effectLst/>
                          <a:latin typeface="Segoe UI" pitchFamily="34" charset="0"/>
                          <a:ea typeface="Segoe UI" pitchFamily="34" charset="0"/>
                          <a:cs typeface="Segoe UI" pitchFamily="34" charset="0"/>
                        </a:rPr>
                        <a:t>, </a:t>
                      </a:r>
                      <a:endParaRPr lang="fr-FR" sz="2100" noProof="0" dirty="0">
                        <a:latin typeface="Segoe UI" pitchFamily="34" charset="0"/>
                        <a:ea typeface="Segoe UI" pitchFamily="34" charset="0"/>
                        <a:cs typeface="Segoe UI" pitchFamily="34" charset="0"/>
                      </a:endParaRPr>
                    </a:p>
                  </a:txBody>
                  <a:tcPr anchor="ctr"/>
                </a:tc>
              </a:tr>
              <a:tr h="662071">
                <a:tc>
                  <a:txBody>
                    <a:bodyPr/>
                    <a:lstStyle/>
                    <a:p>
                      <a:r>
                        <a:rPr lang="fr-FR" sz="2100" b="1" noProof="0" dirty="0" smtClean="0">
                          <a:latin typeface="Segoe UI" pitchFamily="34" charset="0"/>
                          <a:ea typeface="Segoe UI" pitchFamily="34" charset="0"/>
                          <a:cs typeface="Segoe UI" pitchFamily="34" charset="0"/>
                        </a:rPr>
                        <a:t>Host</a:t>
                      </a:r>
                      <a:endParaRPr lang="fr-FR" sz="2100" b="1" noProof="0" dirty="0">
                        <a:latin typeface="Segoe UI" pitchFamily="34" charset="0"/>
                        <a:ea typeface="Segoe UI" pitchFamily="34" charset="0"/>
                        <a:cs typeface="Segoe UI" pitchFamily="34" charset="0"/>
                      </a:endParaRPr>
                    </a:p>
                  </a:txBody>
                  <a:tcPr anchor="ctr"/>
                </a:tc>
                <a:tc>
                  <a:txBody>
                    <a:bodyPr/>
                    <a:lstStyle/>
                    <a:p>
                      <a:r>
                        <a:rPr lang="fr-FR" sz="2100" noProof="0" dirty="0" smtClean="0">
                          <a:latin typeface="Segoe UI" pitchFamily="34" charset="0"/>
                          <a:ea typeface="Segoe UI" pitchFamily="34" charset="0"/>
                          <a:cs typeface="Segoe UI" pitchFamily="34" charset="0"/>
                        </a:rPr>
                        <a:t>Mises-à-jour,</a:t>
                      </a:r>
                      <a:r>
                        <a:rPr lang="fr-FR" sz="2100" baseline="0" noProof="0" dirty="0" smtClean="0">
                          <a:latin typeface="Segoe UI" pitchFamily="34" charset="0"/>
                          <a:ea typeface="Segoe UI" pitchFamily="34" charset="0"/>
                          <a:cs typeface="Segoe UI" pitchFamily="34" charset="0"/>
                        </a:rPr>
                        <a:t> pare-feu, </a:t>
                      </a:r>
                      <a:r>
                        <a:rPr lang="fr-FR" sz="2100" baseline="0" noProof="0" dirty="0" err="1" smtClean="0">
                          <a:latin typeface="Segoe UI" pitchFamily="34" charset="0"/>
                          <a:ea typeface="Segoe UI" pitchFamily="34" charset="0"/>
                          <a:cs typeface="Segoe UI" pitchFamily="34" charset="0"/>
                        </a:rPr>
                        <a:t>mdp</a:t>
                      </a:r>
                      <a:r>
                        <a:rPr lang="fr-FR" sz="2100" baseline="0" noProof="0" dirty="0" smtClean="0">
                          <a:latin typeface="Segoe UI" pitchFamily="34" charset="0"/>
                          <a:ea typeface="Segoe UI" pitchFamily="34" charset="0"/>
                          <a:cs typeface="Segoe UI" pitchFamily="34" charset="0"/>
                        </a:rPr>
                        <a:t> complexe, antivirus, …</a:t>
                      </a:r>
                      <a:endParaRPr lang="fr-FR" sz="2100" noProof="0" dirty="0" smtClean="0">
                        <a:latin typeface="Segoe UI" pitchFamily="34" charset="0"/>
                        <a:ea typeface="Segoe UI" pitchFamily="34" charset="0"/>
                        <a:cs typeface="Segoe UI" pitchFamily="34" charset="0"/>
                      </a:endParaRPr>
                    </a:p>
                  </a:txBody>
                  <a:tcPr anchor="ctr"/>
                </a:tc>
              </a:tr>
              <a:tr h="455491">
                <a:tc>
                  <a:txBody>
                    <a:bodyPr/>
                    <a:lstStyle/>
                    <a:p>
                      <a:r>
                        <a:rPr lang="fr-FR" sz="2100" b="1" noProof="0" dirty="0" smtClean="0">
                          <a:latin typeface="Segoe UI" pitchFamily="34" charset="0"/>
                          <a:ea typeface="Segoe UI" pitchFamily="34" charset="0"/>
                          <a:cs typeface="Segoe UI" pitchFamily="34" charset="0"/>
                        </a:rPr>
                        <a:t>Application</a:t>
                      </a:r>
                      <a:endParaRPr lang="fr-FR" sz="2100" b="1" noProof="0" dirty="0">
                        <a:latin typeface="Segoe UI" pitchFamily="34" charset="0"/>
                        <a:ea typeface="Segoe UI" pitchFamily="34" charset="0"/>
                        <a:cs typeface="Segoe UI" pitchFamily="34" charset="0"/>
                      </a:endParaRPr>
                    </a:p>
                  </a:txBody>
                  <a:tcPr anchor="ctr"/>
                </a:tc>
                <a:tc>
                  <a:txBody>
                    <a:bodyPr/>
                    <a:lstStyle/>
                    <a:p>
                      <a:r>
                        <a:rPr lang="fr-FR" sz="2100" noProof="0" dirty="0" smtClean="0">
                          <a:latin typeface="Segoe UI" pitchFamily="34" charset="0"/>
                          <a:ea typeface="Segoe UI" pitchFamily="34" charset="0"/>
                          <a:cs typeface="Segoe UI" pitchFamily="34" charset="0"/>
                        </a:rPr>
                        <a:t>Mises-à-jour,</a:t>
                      </a:r>
                      <a:r>
                        <a:rPr lang="fr-FR" sz="2100" baseline="0" noProof="0" dirty="0" smtClean="0">
                          <a:latin typeface="Segoe UI" pitchFamily="34" charset="0"/>
                          <a:ea typeface="Segoe UI" pitchFamily="34" charset="0"/>
                          <a:cs typeface="Segoe UI" pitchFamily="34" charset="0"/>
                        </a:rPr>
                        <a:t> simulations/tests de vulnérabilité, … </a:t>
                      </a:r>
                      <a:endParaRPr lang="fr-FR" sz="2100" noProof="0" dirty="0" smtClean="0">
                        <a:latin typeface="Segoe UI" pitchFamily="34" charset="0"/>
                        <a:ea typeface="Segoe UI" pitchFamily="34" charset="0"/>
                        <a:cs typeface="Segoe UI" pitchFamily="34" charset="0"/>
                      </a:endParaRPr>
                    </a:p>
                  </a:txBody>
                  <a:tcPr anchor="ctr"/>
                </a:tc>
              </a:tr>
              <a:tr h="40484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2100" b="1" noProof="0" dirty="0" smtClean="0">
                          <a:latin typeface="Segoe UI" pitchFamily="34" charset="0"/>
                          <a:ea typeface="Segoe UI" pitchFamily="34" charset="0"/>
                          <a:cs typeface="Segoe UI" pitchFamily="34" charset="0"/>
                        </a:rPr>
                        <a:t>Data</a:t>
                      </a:r>
                      <a:endParaRPr lang="fr-FR" sz="2100" b="1" noProof="0" dirty="0" smtClean="0">
                        <a:latin typeface="Segoe UI" pitchFamily="34" charset="0"/>
                        <a:ea typeface="Segoe UI" pitchFamily="34" charset="0"/>
                        <a:cs typeface="Segoe UI" pitchFamily="34" charset="0"/>
                      </a:endParaRPr>
                    </a:p>
                  </a:txBody>
                  <a:tcPr anchor="ctr"/>
                </a:tc>
                <a:tc>
                  <a:txBody>
                    <a:bodyPr/>
                    <a:lstStyle/>
                    <a:p>
                      <a:r>
                        <a:rPr lang="fr-FR" sz="2100" noProof="0" dirty="0" err="1" smtClean="0">
                          <a:latin typeface="Segoe UI" pitchFamily="34" charset="0"/>
                          <a:ea typeface="Segoe UI" pitchFamily="34" charset="0"/>
                          <a:cs typeface="Segoe UI" pitchFamily="34" charset="0"/>
                        </a:rPr>
                        <a:t>ACLs</a:t>
                      </a:r>
                      <a:r>
                        <a:rPr lang="fr-FR" sz="2100" noProof="0" dirty="0" smtClean="0">
                          <a:latin typeface="Segoe UI" pitchFamily="34" charset="0"/>
                          <a:ea typeface="Segoe UI" pitchFamily="34" charset="0"/>
                          <a:cs typeface="Segoe UI" pitchFamily="34" charset="0"/>
                        </a:rPr>
                        <a:t>, EFS, </a:t>
                      </a:r>
                      <a:r>
                        <a:rPr lang="fr-FR" sz="2100" noProof="0" dirty="0" err="1" smtClean="0">
                          <a:latin typeface="Segoe UI" pitchFamily="34" charset="0"/>
                          <a:ea typeface="Segoe UI" pitchFamily="34" charset="0"/>
                          <a:cs typeface="Segoe UI" pitchFamily="34" charset="0"/>
                        </a:rPr>
                        <a:t>BitLocker</a:t>
                      </a:r>
                      <a:r>
                        <a:rPr lang="fr-FR" sz="2100" noProof="0" dirty="0" smtClean="0">
                          <a:latin typeface="Segoe UI" pitchFamily="34" charset="0"/>
                          <a:ea typeface="Segoe UI" pitchFamily="34" charset="0"/>
                          <a:cs typeface="Segoe UI" pitchFamily="34" charset="0"/>
                        </a:rPr>
                        <a:t>, </a:t>
                      </a:r>
                    </a:p>
                    <a:p>
                      <a:r>
                        <a:rPr lang="fr-FR" sz="2100" noProof="0" dirty="0" smtClean="0">
                          <a:latin typeface="Segoe UI" pitchFamily="34" charset="0"/>
                          <a:ea typeface="Segoe UI" pitchFamily="34" charset="0"/>
                          <a:cs typeface="Segoe UI" pitchFamily="34" charset="0"/>
                        </a:rPr>
                        <a:t>sauvegarde/restauration</a:t>
                      </a:r>
                      <a:r>
                        <a:rPr lang="fr-FR" sz="2100" baseline="0" noProof="0" dirty="0" smtClean="0">
                          <a:latin typeface="Segoe UI" pitchFamily="34" charset="0"/>
                          <a:ea typeface="Segoe UI" pitchFamily="34" charset="0"/>
                          <a:cs typeface="Segoe UI" pitchFamily="34" charset="0"/>
                        </a:rPr>
                        <a:t> des données</a:t>
                      </a:r>
                      <a:endParaRPr lang="fr-FR" sz="2100" noProof="0" dirty="0" smtClean="0">
                        <a:latin typeface="Segoe UI" pitchFamily="34" charset="0"/>
                        <a:ea typeface="Segoe UI" pitchFamily="34" charset="0"/>
                        <a:cs typeface="Segoe UI" pitchFamily="34" charset="0"/>
                      </a:endParaRPr>
                    </a:p>
                  </a:txBody>
                  <a:tcPr anchor="ctr"/>
                </a:tc>
              </a:tr>
            </a:tbl>
          </a:graphicData>
        </a:graphic>
      </p:graphicFrame>
    </p:spTree>
    <p:extLst>
      <p:ext uri="{BB962C8B-B14F-4D97-AF65-F5344CB8AC3E}">
        <p14:creationId xmlns:p14="http://schemas.microsoft.com/office/powerpoint/2010/main" val="11495134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a60adbff-2291-42f6-800e-e87a71dcc445">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Security </a:t>
            </a:r>
            <a:r>
              <a:rPr lang="en-CA" dirty="0" smtClean="0"/>
              <a:t>Templates</a:t>
            </a:r>
            <a:endParaRPr lang="en-CA" dirty="0"/>
          </a:p>
        </p:txBody>
      </p:sp>
      <p:sp>
        <p:nvSpPr>
          <p:cNvPr id="4" name="Rounded Rectangle 3"/>
          <p:cNvSpPr>
            <a:spLocks noChangeArrowheads="1"/>
          </p:cNvSpPr>
          <p:nvPr/>
        </p:nvSpPr>
        <p:spPr bwMode="auto">
          <a:xfrm>
            <a:off x="1" y="744614"/>
            <a:ext cx="9144000" cy="6113385"/>
          </a:xfrm>
          <a:prstGeom prst="roundRect">
            <a:avLst>
              <a:gd name="adj" fmla="val 4167"/>
            </a:avLst>
          </a:prstGeom>
          <a:ln>
            <a:headEnd/>
            <a:tailEnd/>
          </a:ln>
        </p:spPr>
        <p:style>
          <a:lnRef idx="2">
            <a:schemeClr val="accent1"/>
          </a:lnRef>
          <a:fillRef idx="1">
            <a:schemeClr val="lt1"/>
          </a:fillRef>
          <a:effectRef idx="0">
            <a:schemeClr val="accent1"/>
          </a:effectRef>
          <a:fontRef idx="minor">
            <a:schemeClr val="dk1"/>
          </a:fontRef>
        </p:style>
        <p:txBody>
          <a:bodyP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algn="l"/>
            <a:r>
              <a:rPr lang="fr-FR" sz="2400" dirty="0" smtClean="0">
                <a:latin typeface="Segoe UI" pitchFamily="34" charset="0"/>
                <a:ea typeface="Segoe UI" pitchFamily="34" charset="0"/>
                <a:cs typeface="Segoe UI" pitchFamily="34" charset="0"/>
              </a:rPr>
              <a:t>Fichiers modèles de sécurité divisés en plusieurs catégories </a:t>
            </a:r>
            <a:r>
              <a:rPr lang="fr-FR" sz="2400" dirty="0" smtClean="0">
                <a:latin typeface="Segoe UI" pitchFamily="34" charset="0"/>
                <a:ea typeface="Segoe UI" pitchFamily="34" charset="0"/>
                <a:cs typeface="Segoe UI" pitchFamily="34" charset="0"/>
              </a:rPr>
              <a:t>:</a:t>
            </a:r>
          </a:p>
          <a:p>
            <a:pPr marL="180000" indent="-180000">
              <a:spcBef>
                <a:spcPts val="0"/>
              </a:spcBef>
              <a:buClr>
                <a:srgbClr val="006699"/>
              </a:buClr>
              <a:buFontTx/>
              <a:buChar char="•"/>
            </a:pPr>
            <a:r>
              <a:rPr lang="fr-FR" sz="2400" b="0" i="1" dirty="0" smtClean="0">
                <a:latin typeface="Segoe UI" pitchFamily="34" charset="0"/>
                <a:ea typeface="Segoe UI" pitchFamily="34" charset="0"/>
                <a:cs typeface="Segoe UI" pitchFamily="34" charset="0"/>
              </a:rPr>
              <a:t>Police des comptes </a:t>
            </a:r>
            <a:r>
              <a:rPr lang="fr-FR" sz="2400" b="0" dirty="0" smtClean="0">
                <a:latin typeface="Segoe UI" pitchFamily="34" charset="0"/>
                <a:ea typeface="Segoe UI" pitchFamily="34" charset="0"/>
                <a:cs typeface="Segoe UI" pitchFamily="34" charset="0"/>
              </a:rPr>
              <a:t>: </a:t>
            </a:r>
            <a:r>
              <a:rPr lang="fr-FR" sz="2400" b="0" dirty="0" err="1" smtClean="0">
                <a:latin typeface="Segoe UI" pitchFamily="34" charset="0"/>
                <a:ea typeface="Segoe UI" pitchFamily="34" charset="0"/>
                <a:cs typeface="Segoe UI" pitchFamily="34" charset="0"/>
              </a:rPr>
              <a:t>mdp</a:t>
            </a:r>
            <a:r>
              <a:rPr lang="fr-FR" sz="2400" b="0" dirty="0" smtClean="0">
                <a:latin typeface="Segoe UI" pitchFamily="34" charset="0"/>
                <a:ea typeface="Segoe UI" pitchFamily="34" charset="0"/>
                <a:cs typeface="Segoe UI" pitchFamily="34" charset="0"/>
              </a:rPr>
              <a:t>, verrouillage des comptes, </a:t>
            </a:r>
            <a:r>
              <a:rPr lang="fr-FR" sz="2400" b="0" dirty="0" err="1" smtClean="0">
                <a:latin typeface="Segoe UI" pitchFamily="34" charset="0"/>
                <a:ea typeface="Segoe UI" pitchFamily="34" charset="0"/>
                <a:cs typeface="Segoe UI" pitchFamily="34" charset="0"/>
              </a:rPr>
              <a:t>kerberos</a:t>
            </a:r>
            <a:endParaRPr lang="fr-FR" sz="2400" b="0" dirty="0" smtClean="0">
              <a:latin typeface="Segoe UI" pitchFamily="34" charset="0"/>
              <a:ea typeface="Segoe UI" pitchFamily="34" charset="0"/>
              <a:cs typeface="Segoe UI" pitchFamily="34" charset="0"/>
            </a:endParaRPr>
          </a:p>
          <a:p>
            <a:pPr marL="180000" indent="-180000">
              <a:spcBef>
                <a:spcPts val="0"/>
              </a:spcBef>
              <a:buClr>
                <a:srgbClr val="006699"/>
              </a:buClr>
              <a:buFontTx/>
              <a:buChar char="•"/>
            </a:pPr>
            <a:r>
              <a:rPr lang="fr-FR" sz="2400" b="0" i="1" dirty="0" smtClean="0">
                <a:latin typeface="Segoe UI" pitchFamily="34" charset="0"/>
                <a:ea typeface="Segoe UI" pitchFamily="34" charset="0"/>
                <a:cs typeface="Segoe UI" pitchFamily="34" charset="0"/>
              </a:rPr>
              <a:t>Police locale</a:t>
            </a:r>
            <a:r>
              <a:rPr lang="fr-FR" sz="2400" b="0" dirty="0" smtClean="0">
                <a:latin typeface="Segoe UI" pitchFamily="34" charset="0"/>
                <a:ea typeface="Segoe UI" pitchFamily="34" charset="0"/>
                <a:cs typeface="Segoe UI" pitchFamily="34" charset="0"/>
              </a:rPr>
              <a:t> : droits utilisateurs, options de sécurité locales</a:t>
            </a:r>
            <a:endParaRPr lang="fr-FR" sz="2400" b="0" dirty="0" smtClean="0">
              <a:latin typeface="Segoe UI" pitchFamily="34" charset="0"/>
              <a:ea typeface="Segoe UI" pitchFamily="34" charset="0"/>
              <a:cs typeface="Segoe UI" pitchFamily="34" charset="0"/>
            </a:endParaRPr>
          </a:p>
          <a:p>
            <a:pPr marL="180000" indent="-180000">
              <a:spcBef>
                <a:spcPts val="0"/>
              </a:spcBef>
              <a:buClr>
                <a:srgbClr val="006699"/>
              </a:buClr>
              <a:buFontTx/>
              <a:buChar char="•"/>
            </a:pPr>
            <a:r>
              <a:rPr lang="fr-FR" sz="2400" b="0" i="1" dirty="0">
                <a:latin typeface="Segoe UI" pitchFamily="34" charset="0"/>
                <a:ea typeface="Segoe UI" pitchFamily="34" charset="0"/>
                <a:cs typeface="Segoe UI" pitchFamily="34" charset="0"/>
              </a:rPr>
              <a:t>E</a:t>
            </a:r>
            <a:r>
              <a:rPr lang="fr-FR" sz="2400" b="0" i="1" dirty="0" smtClean="0">
                <a:latin typeface="Segoe UI" pitchFamily="34" charset="0"/>
                <a:ea typeface="Segoe UI" pitchFamily="34" charset="0"/>
                <a:cs typeface="Segoe UI" pitchFamily="34" charset="0"/>
              </a:rPr>
              <a:t>vènements</a:t>
            </a:r>
            <a:r>
              <a:rPr lang="fr-FR" sz="2400" b="0" i="1" dirty="0" smtClean="0">
                <a:latin typeface="Segoe UI" pitchFamily="34" charset="0"/>
                <a:ea typeface="Segoe UI" pitchFamily="34" charset="0"/>
                <a:cs typeface="Segoe UI" pitchFamily="34" charset="0"/>
              </a:rPr>
              <a:t> log</a:t>
            </a:r>
            <a:r>
              <a:rPr lang="fr-FR" sz="2400" b="0" dirty="0" smtClean="0">
                <a:latin typeface="Segoe UI" pitchFamily="34" charset="0"/>
                <a:ea typeface="Segoe UI" pitchFamily="34" charset="0"/>
                <a:cs typeface="Segoe UI" pitchFamily="34" charset="0"/>
              </a:rPr>
              <a:t>  : options de « log » pour les appli, système</a:t>
            </a:r>
          </a:p>
          <a:p>
            <a:pPr marL="180000" indent="-180000">
              <a:spcBef>
                <a:spcPts val="0"/>
              </a:spcBef>
              <a:buClr>
                <a:srgbClr val="006699"/>
              </a:buClr>
              <a:buFontTx/>
              <a:buChar char="•"/>
            </a:pPr>
            <a:r>
              <a:rPr lang="fr-FR" sz="2400" b="0" i="1" dirty="0" smtClean="0">
                <a:latin typeface="Segoe UI" pitchFamily="34" charset="0"/>
                <a:ea typeface="Segoe UI" pitchFamily="34" charset="0"/>
                <a:cs typeface="Segoe UI" pitchFamily="34" charset="0"/>
              </a:rPr>
              <a:t>Groupes restreints</a:t>
            </a:r>
            <a:r>
              <a:rPr lang="fr-FR" sz="2400" b="0" dirty="0" smtClean="0">
                <a:latin typeface="Segoe UI" pitchFamily="34" charset="0"/>
                <a:ea typeface="Segoe UI" pitchFamily="34" charset="0"/>
                <a:cs typeface="Segoe UI" pitchFamily="34" charset="0"/>
              </a:rPr>
              <a:t> : droits/autorisations spéciaux d’un groupe</a:t>
            </a:r>
            <a:endParaRPr lang="fr-FR" sz="2400" b="0" dirty="0" smtClean="0">
              <a:latin typeface="Segoe UI" pitchFamily="34" charset="0"/>
              <a:ea typeface="Segoe UI" pitchFamily="34" charset="0"/>
              <a:cs typeface="Segoe UI" pitchFamily="34" charset="0"/>
            </a:endParaRPr>
          </a:p>
          <a:p>
            <a:pPr marL="180000" indent="-180000">
              <a:spcBef>
                <a:spcPts val="0"/>
              </a:spcBef>
              <a:buClr>
                <a:srgbClr val="006699"/>
              </a:buClr>
              <a:buFontTx/>
              <a:buChar char="•"/>
            </a:pPr>
            <a:r>
              <a:rPr lang="fr-FR" sz="2400" b="0" i="1" dirty="0" smtClean="0">
                <a:latin typeface="Segoe UI" pitchFamily="34" charset="0"/>
                <a:ea typeface="Segoe UI" pitchFamily="34" charset="0"/>
                <a:cs typeface="Segoe UI" pitchFamily="34" charset="0"/>
              </a:rPr>
              <a:t>Services système</a:t>
            </a:r>
            <a:r>
              <a:rPr lang="fr-FR" sz="2400" b="0" dirty="0" smtClean="0">
                <a:latin typeface="Segoe UI" pitchFamily="34" charset="0"/>
                <a:ea typeface="Segoe UI" pitchFamily="34" charset="0"/>
                <a:cs typeface="Segoe UI" pitchFamily="34" charset="0"/>
              </a:rPr>
              <a:t> : </a:t>
            </a:r>
            <a:r>
              <a:rPr lang="fr-BE" sz="2400" b="0" dirty="0" smtClean="0">
                <a:latin typeface="Segoe UI" pitchFamily="34" charset="0"/>
                <a:ea typeface="Segoe UI" pitchFamily="34" charset="0"/>
                <a:cs typeface="Segoe UI" pitchFamily="34" charset="0"/>
              </a:rPr>
              <a:t>démarrage/autorisations des services système</a:t>
            </a:r>
            <a:endParaRPr lang="fr-FR" sz="2400" b="0" dirty="0" smtClean="0">
              <a:latin typeface="Segoe UI" pitchFamily="34" charset="0"/>
              <a:ea typeface="Segoe UI" pitchFamily="34" charset="0"/>
              <a:cs typeface="Segoe UI" pitchFamily="34" charset="0"/>
            </a:endParaRPr>
          </a:p>
          <a:p>
            <a:pPr marL="180000" indent="-180000">
              <a:spcBef>
                <a:spcPts val="0"/>
              </a:spcBef>
              <a:buClr>
                <a:srgbClr val="006699"/>
              </a:buClr>
              <a:buFontTx/>
              <a:buChar char="•"/>
            </a:pPr>
            <a:r>
              <a:rPr lang="fr-FR" sz="2400" b="0" i="1" dirty="0" smtClean="0">
                <a:latin typeface="Segoe UI" pitchFamily="34" charset="0"/>
                <a:ea typeface="Segoe UI" pitchFamily="34" charset="0"/>
                <a:cs typeface="Segoe UI" pitchFamily="34" charset="0"/>
              </a:rPr>
              <a:t>Registre</a:t>
            </a:r>
            <a:r>
              <a:rPr lang="fr-FR" sz="2400" b="0" dirty="0" smtClean="0">
                <a:latin typeface="Segoe UI" pitchFamily="34" charset="0"/>
                <a:ea typeface="Segoe UI" pitchFamily="34" charset="0"/>
                <a:cs typeface="Segoe UI" pitchFamily="34" charset="0"/>
              </a:rPr>
              <a:t> : </a:t>
            </a:r>
            <a:r>
              <a:rPr lang="fr-BE" sz="2400" b="0" dirty="0" smtClean="0">
                <a:latin typeface="Segoe UI" pitchFamily="34" charset="0"/>
                <a:ea typeface="Segoe UI" pitchFamily="34" charset="0"/>
                <a:cs typeface="Segoe UI" pitchFamily="34" charset="0"/>
              </a:rPr>
              <a:t>autorisations </a:t>
            </a:r>
            <a:r>
              <a:rPr lang="fr-BE" sz="2400" b="0" dirty="0">
                <a:latin typeface="Segoe UI" pitchFamily="34" charset="0"/>
                <a:ea typeface="Segoe UI" pitchFamily="34" charset="0"/>
                <a:cs typeface="Segoe UI" pitchFamily="34" charset="0"/>
              </a:rPr>
              <a:t>pour les clés de </a:t>
            </a:r>
            <a:r>
              <a:rPr lang="fr-BE" sz="2400" b="0" dirty="0" smtClean="0">
                <a:latin typeface="Segoe UI" pitchFamily="34" charset="0"/>
                <a:ea typeface="Segoe UI" pitchFamily="34" charset="0"/>
                <a:cs typeface="Segoe UI" pitchFamily="34" charset="0"/>
              </a:rPr>
              <a:t>registre</a:t>
            </a:r>
            <a:endParaRPr lang="fr-FR" sz="2400" b="0" dirty="0" smtClean="0">
              <a:latin typeface="Segoe UI" pitchFamily="34" charset="0"/>
              <a:ea typeface="Segoe UI" pitchFamily="34" charset="0"/>
              <a:cs typeface="Segoe UI" pitchFamily="34" charset="0"/>
            </a:endParaRPr>
          </a:p>
          <a:p>
            <a:pPr marL="180000" indent="-180000">
              <a:spcBef>
                <a:spcPts val="0"/>
              </a:spcBef>
              <a:buClr>
                <a:srgbClr val="006699"/>
              </a:buClr>
              <a:buFontTx/>
              <a:buChar char="•"/>
            </a:pPr>
            <a:r>
              <a:rPr lang="fr-FR" sz="2400" b="0" i="1" dirty="0" smtClean="0">
                <a:latin typeface="Segoe UI" pitchFamily="34" charset="0"/>
                <a:ea typeface="Segoe UI" pitchFamily="34" charset="0"/>
                <a:cs typeface="Segoe UI" pitchFamily="34" charset="0"/>
              </a:rPr>
              <a:t>Système de fichiers</a:t>
            </a:r>
            <a:r>
              <a:rPr lang="fr-FR" sz="2400" b="0" dirty="0" smtClean="0">
                <a:latin typeface="Segoe UI" pitchFamily="34" charset="0"/>
                <a:ea typeface="Segoe UI" pitchFamily="34" charset="0"/>
                <a:cs typeface="Segoe UI" pitchFamily="34" charset="0"/>
              </a:rPr>
              <a:t> : autorisations dossiers/fichiers</a:t>
            </a:r>
            <a:endParaRPr lang="fr-FR" sz="2400" b="0" dirty="0" smtClean="0">
              <a:latin typeface="Segoe UI" pitchFamily="34" charset="0"/>
              <a:ea typeface="Segoe UI" pitchFamily="34" charset="0"/>
              <a:cs typeface="Segoe UI" pitchFamily="34" charset="0"/>
            </a:endParaRPr>
          </a:p>
          <a:p>
            <a:pPr>
              <a:spcBef>
                <a:spcPts val="1200"/>
              </a:spcBef>
              <a:buClr>
                <a:srgbClr val="006699"/>
              </a:buClr>
            </a:pPr>
            <a:r>
              <a:rPr lang="fr-FR" sz="2400" dirty="0" smtClean="0">
                <a:latin typeface="Segoe UI" pitchFamily="34" charset="0"/>
                <a:ea typeface="Segoe UI" pitchFamily="34" charset="0"/>
                <a:cs typeface="Segoe UI" pitchFamily="34" charset="0"/>
              </a:rPr>
              <a:t>Configuration et distribution des modèles de sécurité </a:t>
            </a:r>
            <a:r>
              <a:rPr lang="fr-FR" sz="2400" dirty="0" smtClean="0">
                <a:latin typeface="Segoe UI" pitchFamily="34" charset="0"/>
                <a:ea typeface="Segoe UI" pitchFamily="34" charset="0"/>
                <a:cs typeface="Segoe UI" pitchFamily="34" charset="0"/>
              </a:rPr>
              <a:t>:</a:t>
            </a:r>
          </a:p>
          <a:p>
            <a:pPr marL="180000" indent="-180000">
              <a:spcBef>
                <a:spcPts val="0"/>
              </a:spcBef>
              <a:buClr>
                <a:srgbClr val="006699"/>
              </a:buClr>
              <a:buFontTx/>
              <a:buChar char="•"/>
            </a:pPr>
            <a:r>
              <a:rPr lang="fr-FR" sz="2400" b="0" i="1" dirty="0" err="1">
                <a:latin typeface="Segoe UI" pitchFamily="34" charset="0"/>
                <a:ea typeface="Segoe UI" pitchFamily="34" charset="0"/>
                <a:cs typeface="Segoe UI" pitchFamily="34" charset="0"/>
              </a:rPr>
              <a:t>S</a:t>
            </a:r>
            <a:r>
              <a:rPr lang="fr-FR" sz="2400" b="0" i="1" dirty="0" err="1" smtClean="0">
                <a:latin typeface="Segoe UI" pitchFamily="34" charset="0"/>
                <a:ea typeface="Segoe UI" pitchFamily="34" charset="0"/>
                <a:cs typeface="Segoe UI" pitchFamily="34" charset="0"/>
              </a:rPr>
              <a:t>ecedit</a:t>
            </a:r>
            <a:r>
              <a:rPr lang="fr-FR" sz="2400" b="0" dirty="0" smtClean="0">
                <a:latin typeface="Segoe UI" pitchFamily="34" charset="0"/>
                <a:ea typeface="Segoe UI" pitchFamily="34" charset="0"/>
                <a:cs typeface="Segoe UI" pitchFamily="34" charset="0"/>
              </a:rPr>
              <a:t> : commande pour comparer la config. courante avec les modèles</a:t>
            </a:r>
            <a:endParaRPr lang="fr-FR" sz="2400" b="0" dirty="0" smtClean="0">
              <a:latin typeface="Segoe UI" pitchFamily="34" charset="0"/>
              <a:ea typeface="Segoe UI" pitchFamily="34" charset="0"/>
              <a:cs typeface="Segoe UI" pitchFamily="34" charset="0"/>
            </a:endParaRPr>
          </a:p>
          <a:p>
            <a:pPr marL="180000" indent="-180000">
              <a:spcBef>
                <a:spcPts val="0"/>
              </a:spcBef>
              <a:buClr>
                <a:srgbClr val="006699"/>
              </a:buClr>
              <a:buFontTx/>
              <a:buChar char="•"/>
            </a:pPr>
            <a:r>
              <a:rPr lang="fr-FR" sz="2400" b="0" dirty="0" smtClean="0">
                <a:latin typeface="Segoe UI" pitchFamily="34" charset="0"/>
                <a:ea typeface="Segoe UI" pitchFamily="34" charset="0"/>
                <a:cs typeface="Segoe UI" pitchFamily="34" charset="0"/>
              </a:rPr>
              <a:t>The Security </a:t>
            </a:r>
            <a:r>
              <a:rPr lang="fr-FR" sz="2400" b="0" dirty="0" err="1" smtClean="0">
                <a:latin typeface="Segoe UI" pitchFamily="34" charset="0"/>
                <a:ea typeface="Segoe UI" pitchFamily="34" charset="0"/>
                <a:cs typeface="Segoe UI" pitchFamily="34" charset="0"/>
              </a:rPr>
              <a:t>Templates</a:t>
            </a:r>
            <a:r>
              <a:rPr lang="fr-FR" sz="2400" b="0" dirty="0" smtClean="0">
                <a:latin typeface="Segoe UI" pitchFamily="34" charset="0"/>
                <a:ea typeface="Segoe UI" pitchFamily="34" charset="0"/>
                <a:cs typeface="Segoe UI" pitchFamily="34" charset="0"/>
              </a:rPr>
              <a:t> </a:t>
            </a:r>
            <a:r>
              <a:rPr lang="fr-FR" sz="2400" b="0" dirty="0" err="1" smtClean="0">
                <a:latin typeface="Segoe UI" pitchFamily="34" charset="0"/>
                <a:ea typeface="Segoe UI" pitchFamily="34" charset="0"/>
                <a:cs typeface="Segoe UI" pitchFamily="34" charset="0"/>
              </a:rPr>
              <a:t>snap</a:t>
            </a:r>
            <a:r>
              <a:rPr lang="fr-FR" sz="2400" b="0" dirty="0" smtClean="0">
                <a:latin typeface="Segoe UI" pitchFamily="34" charset="0"/>
                <a:ea typeface="Segoe UI" pitchFamily="34" charset="0"/>
                <a:cs typeface="Segoe UI" pitchFamily="34" charset="0"/>
              </a:rPr>
              <a:t>-in</a:t>
            </a:r>
          </a:p>
          <a:p>
            <a:pPr marL="180000" indent="-180000">
              <a:spcBef>
                <a:spcPts val="0"/>
              </a:spcBef>
              <a:buClr>
                <a:srgbClr val="006699"/>
              </a:buClr>
              <a:buFontTx/>
              <a:buChar char="•"/>
            </a:pPr>
            <a:r>
              <a:rPr lang="fr-FR" sz="2400" b="0" dirty="0" smtClean="0">
                <a:latin typeface="Segoe UI" pitchFamily="34" charset="0"/>
                <a:ea typeface="Segoe UI" pitchFamily="34" charset="0"/>
                <a:cs typeface="Segoe UI" pitchFamily="34" charset="0"/>
              </a:rPr>
              <a:t>The Security Configuration and </a:t>
            </a:r>
            <a:r>
              <a:rPr lang="fr-FR" sz="2400" b="0" dirty="0" err="1" smtClean="0">
                <a:latin typeface="Segoe UI" pitchFamily="34" charset="0"/>
                <a:ea typeface="Segoe UI" pitchFamily="34" charset="0"/>
                <a:cs typeface="Segoe UI" pitchFamily="34" charset="0"/>
              </a:rPr>
              <a:t>Analysis</a:t>
            </a:r>
            <a:r>
              <a:rPr lang="fr-FR" sz="2400" b="0" dirty="0" smtClean="0">
                <a:latin typeface="Segoe UI" pitchFamily="34" charset="0"/>
                <a:ea typeface="Segoe UI" pitchFamily="34" charset="0"/>
                <a:cs typeface="Segoe UI" pitchFamily="34" charset="0"/>
              </a:rPr>
              <a:t> </a:t>
            </a:r>
            <a:r>
              <a:rPr lang="fr-FR" sz="2400" b="0" dirty="0" err="1" smtClean="0">
                <a:latin typeface="Segoe UI" pitchFamily="34" charset="0"/>
                <a:ea typeface="Segoe UI" pitchFamily="34" charset="0"/>
                <a:cs typeface="Segoe UI" pitchFamily="34" charset="0"/>
              </a:rPr>
              <a:t>Wizard</a:t>
            </a:r>
            <a:endParaRPr lang="fr-FR" sz="2400" b="0" dirty="0" smtClean="0">
              <a:latin typeface="Segoe UI" pitchFamily="34" charset="0"/>
              <a:ea typeface="Segoe UI" pitchFamily="34" charset="0"/>
              <a:cs typeface="Segoe UI" pitchFamily="34" charset="0"/>
            </a:endParaRPr>
          </a:p>
          <a:p>
            <a:pPr marL="180000" indent="-180000">
              <a:spcBef>
                <a:spcPts val="0"/>
              </a:spcBef>
              <a:buClr>
                <a:srgbClr val="006699"/>
              </a:buClr>
              <a:buFontTx/>
              <a:buChar char="•"/>
            </a:pPr>
            <a:r>
              <a:rPr lang="fr-FR" sz="2400" b="0" dirty="0" smtClean="0">
                <a:latin typeface="Segoe UI" pitchFamily="34" charset="0"/>
                <a:ea typeface="Segoe UI" pitchFamily="34" charset="0"/>
                <a:cs typeface="Segoe UI" pitchFamily="34" charset="0"/>
              </a:rPr>
              <a:t>Group Policy</a:t>
            </a:r>
          </a:p>
          <a:p>
            <a:pPr marL="180000" indent="-180000">
              <a:spcBef>
                <a:spcPts val="0"/>
              </a:spcBef>
              <a:buClr>
                <a:srgbClr val="006699"/>
              </a:buClr>
              <a:buFontTx/>
              <a:buChar char="•"/>
            </a:pPr>
            <a:r>
              <a:rPr lang="fr-FR" sz="2400" b="0" dirty="0" smtClean="0">
                <a:latin typeface="Segoe UI" pitchFamily="34" charset="0"/>
                <a:ea typeface="Segoe UI" pitchFamily="34" charset="0"/>
                <a:cs typeface="Segoe UI" pitchFamily="34" charset="0"/>
              </a:rPr>
              <a:t>The Security Compliance Manager </a:t>
            </a:r>
            <a:endParaRPr lang="fr-FR" sz="2400" dirty="0">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23213200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0ead590b-38ae-4919-8b63-0ecda453d185">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Security </a:t>
            </a:r>
            <a:r>
              <a:rPr lang="en-CA" dirty="0" smtClean="0"/>
              <a:t>Compliance </a:t>
            </a:r>
            <a:r>
              <a:rPr lang="en-CA" dirty="0" smtClean="0"/>
              <a:t>Manager</a:t>
            </a:r>
            <a:endParaRPr lang="en-CA" dirty="0"/>
          </a:p>
        </p:txBody>
      </p:sp>
      <p:sp>
        <p:nvSpPr>
          <p:cNvPr id="4" name="Content Placeholder 2"/>
          <p:cNvSpPr>
            <a:spLocks noGrp="1"/>
          </p:cNvSpPr>
          <p:nvPr/>
        </p:nvSpPr>
        <p:spPr bwMode="auto">
          <a:xfrm>
            <a:off x="458788" y="1021215"/>
            <a:ext cx="8577708" cy="539968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indent="0">
              <a:buNone/>
            </a:pPr>
            <a:r>
              <a:rPr lang="fr-FR" sz="2400" dirty="0" smtClean="0"/>
              <a:t>Outil gratuit de Microsoft qui aide à sécuriser les ordinateurs locaux, distants ou virtualisés. Il comporte</a:t>
            </a:r>
            <a:r>
              <a:rPr lang="fr-FR" sz="2400" dirty="0" smtClean="0"/>
              <a:t> :</a:t>
            </a:r>
          </a:p>
          <a:p>
            <a:pPr marL="180000" lvl="1" indent="-180000"/>
            <a:r>
              <a:rPr lang="fr-BE" sz="2200" dirty="0" smtClean="0"/>
              <a:t>Une </a:t>
            </a:r>
            <a:r>
              <a:rPr lang="fr-BE" sz="2200" dirty="0"/>
              <a:t>base pour déployer de nouveaux </a:t>
            </a:r>
            <a:r>
              <a:rPr lang="fr-BE" sz="2200" dirty="0" smtClean="0"/>
              <a:t>paramètres de sécurité.</a:t>
            </a:r>
            <a:endParaRPr lang="fr-FR" sz="2200" dirty="0" smtClean="0"/>
          </a:p>
          <a:p>
            <a:pPr marL="180000" lvl="1" indent="-180000"/>
            <a:r>
              <a:rPr lang="fr-FR" sz="2200" dirty="0" smtClean="0"/>
              <a:t>Un guide de sécurité (bonnes pratiques)</a:t>
            </a:r>
            <a:endParaRPr lang="fr-FR" sz="2200" dirty="0" smtClean="0"/>
          </a:p>
          <a:p>
            <a:pPr marL="180000" lvl="1" indent="-180000"/>
            <a:r>
              <a:rPr lang="fr-BE" sz="2200" dirty="0"/>
              <a:t>Prise en charge des ordinateurs autonomes</a:t>
            </a:r>
            <a:endParaRPr lang="fr-FR" sz="2200" dirty="0" smtClean="0"/>
          </a:p>
          <a:p>
            <a:pPr marL="180000" lvl="1" indent="-180000"/>
            <a:r>
              <a:rPr lang="fr-BE" sz="2200" dirty="0"/>
              <a:t>Prise en charge </a:t>
            </a:r>
            <a:r>
              <a:rPr lang="fr-BE" sz="2200" dirty="0" smtClean="0"/>
              <a:t>des imports de </a:t>
            </a:r>
            <a:r>
              <a:rPr lang="fr-BE" sz="2200" dirty="0" err="1" smtClean="0"/>
              <a:t>GPOs</a:t>
            </a:r>
            <a:endParaRPr lang="fr-FR" sz="2200" dirty="0" smtClean="0"/>
          </a:p>
          <a:p>
            <a:pPr marL="0" lvl="1" indent="0">
              <a:spcBef>
                <a:spcPts val="2400"/>
              </a:spcBef>
              <a:buSzPct val="90000"/>
              <a:buNone/>
            </a:pPr>
            <a:r>
              <a:rPr lang="fr-FR" dirty="0" smtClean="0"/>
              <a:t>Cet outil de Microsoft sert à </a:t>
            </a:r>
            <a:r>
              <a:rPr lang="fr-FR" dirty="0" smtClean="0"/>
              <a:t>:</a:t>
            </a:r>
          </a:p>
          <a:p>
            <a:pPr marL="180000" lvl="1" indent="-180000"/>
            <a:r>
              <a:rPr lang="fr-FR" sz="2200" dirty="0" smtClean="0"/>
              <a:t>Valider la conformité d’un ordinateur</a:t>
            </a:r>
          </a:p>
          <a:p>
            <a:pPr marL="180000" lvl="1" indent="-180000"/>
            <a:r>
              <a:rPr lang="fr-BE" sz="2200" dirty="0" smtClean="0"/>
              <a:t>Réduire </a:t>
            </a:r>
            <a:r>
              <a:rPr lang="fr-BE" sz="2200" dirty="0"/>
              <a:t>le travail </a:t>
            </a:r>
            <a:r>
              <a:rPr lang="fr-BE" sz="2200" dirty="0" smtClean="0"/>
              <a:t>de configuration pour rendre un PC conforme</a:t>
            </a:r>
            <a:endParaRPr lang="fr-FR" sz="2200" dirty="0" smtClean="0"/>
          </a:p>
          <a:p>
            <a:pPr marL="180000" lvl="1" indent="-180000"/>
            <a:r>
              <a:rPr lang="fr-BE" sz="2200" dirty="0" smtClean="0"/>
              <a:t>Déplacer, comparer </a:t>
            </a:r>
            <a:r>
              <a:rPr lang="fr-BE" sz="2200" dirty="0"/>
              <a:t>et </a:t>
            </a:r>
            <a:r>
              <a:rPr lang="fr-BE" sz="2200" dirty="0" smtClean="0"/>
              <a:t>fusionner des </a:t>
            </a:r>
            <a:r>
              <a:rPr lang="fr-BE" sz="2200" dirty="0"/>
              <a:t>paramètres </a:t>
            </a:r>
            <a:r>
              <a:rPr lang="fr-BE" sz="2200" dirty="0" smtClean="0"/>
              <a:t>de </a:t>
            </a:r>
            <a:r>
              <a:rPr lang="fr-BE" sz="2200" dirty="0"/>
              <a:t>deux environnements indépendants</a:t>
            </a:r>
            <a:endParaRPr lang="fr-FR" sz="2200" dirty="0" smtClean="0"/>
          </a:p>
          <a:p>
            <a:pPr marL="180000" lvl="1" indent="-180000"/>
            <a:r>
              <a:rPr lang="fr-FR" sz="2200" dirty="0" smtClean="0"/>
              <a:t>Développer</a:t>
            </a:r>
            <a:r>
              <a:rPr lang="fr-BE" sz="2200" dirty="0" smtClean="0"/>
              <a:t> </a:t>
            </a:r>
            <a:r>
              <a:rPr lang="fr-BE" sz="2200" dirty="0"/>
              <a:t>et mettre à jour </a:t>
            </a:r>
            <a:r>
              <a:rPr lang="fr-BE" sz="2200" dirty="0" smtClean="0"/>
              <a:t>les </a:t>
            </a:r>
            <a:r>
              <a:rPr lang="fr-BE" sz="2200" dirty="0"/>
              <a:t>stratégies de sécurité</a:t>
            </a:r>
            <a:endParaRPr lang="fr-FR" sz="2200" dirty="0" smtClean="0"/>
          </a:p>
          <a:p>
            <a:pPr marL="0" lvl="1" indent="0">
              <a:buSzPct val="90000"/>
              <a:buNone/>
            </a:pPr>
            <a:endParaRPr lang="fr-FR" dirty="0"/>
          </a:p>
        </p:txBody>
      </p:sp>
    </p:spTree>
    <p:extLst>
      <p:ext uri="{BB962C8B-B14F-4D97-AF65-F5344CB8AC3E}">
        <p14:creationId xmlns:p14="http://schemas.microsoft.com/office/powerpoint/2010/main" val="32432698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f7243d8a-db93-439b-aa10-b669a3b4693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smtClean="0"/>
              <a:t>Droits Utilisateur</a:t>
            </a:r>
            <a:endParaRPr lang="fr-FR" dirty="0"/>
          </a:p>
        </p:txBody>
      </p:sp>
      <p:sp>
        <p:nvSpPr>
          <p:cNvPr id="4" name="Rounded Rectangle 3"/>
          <p:cNvSpPr>
            <a:spLocks noChangeArrowheads="1"/>
          </p:cNvSpPr>
          <p:nvPr/>
        </p:nvSpPr>
        <p:spPr bwMode="auto">
          <a:xfrm>
            <a:off x="271549" y="838200"/>
            <a:ext cx="8332899" cy="5903168"/>
          </a:xfrm>
          <a:prstGeom prst="roundRect">
            <a:avLst>
              <a:gd name="adj" fmla="val 4167"/>
            </a:avLst>
          </a:prstGeom>
          <a:ln>
            <a:headEnd/>
            <a:tailEnd/>
          </a:ln>
        </p:spPr>
        <p:style>
          <a:lnRef idx="2">
            <a:schemeClr val="accent1"/>
          </a:lnRef>
          <a:fillRef idx="1">
            <a:schemeClr val="lt1"/>
          </a:fillRef>
          <a:effectRef idx="0">
            <a:schemeClr val="accent1"/>
          </a:effectRef>
          <a:fontRef idx="minor">
            <a:schemeClr val="dk1"/>
          </a:fontRef>
        </p:style>
        <p:txBody>
          <a:bodyP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algn="l"/>
            <a:r>
              <a:rPr lang="fr-FR" sz="2400" dirty="0" smtClean="0">
                <a:latin typeface="Segoe UI" pitchFamily="34" charset="0"/>
                <a:ea typeface="Segoe UI" pitchFamily="34" charset="0"/>
                <a:cs typeface="Segoe UI" pitchFamily="34" charset="0"/>
              </a:rPr>
              <a:t>Privilèges </a:t>
            </a:r>
            <a:r>
              <a:rPr lang="fr-FR" sz="2400" dirty="0" smtClean="0">
                <a:latin typeface="Segoe UI" pitchFamily="34" charset="0"/>
                <a:ea typeface="Segoe UI" pitchFamily="34" charset="0"/>
                <a:cs typeface="Segoe UI" pitchFamily="34" charset="0"/>
              </a:rPr>
              <a:t>:</a:t>
            </a:r>
            <a:br>
              <a:rPr lang="fr-FR" sz="2400" dirty="0" smtClean="0">
                <a:latin typeface="Segoe UI" pitchFamily="34" charset="0"/>
                <a:ea typeface="Segoe UI" pitchFamily="34" charset="0"/>
                <a:cs typeface="Segoe UI" pitchFamily="34" charset="0"/>
              </a:rPr>
            </a:br>
            <a:r>
              <a:rPr lang="fr-FR" sz="1200" dirty="0" smtClean="0">
                <a:latin typeface="Segoe UI" pitchFamily="34" charset="0"/>
                <a:ea typeface="Segoe UI" pitchFamily="34" charset="0"/>
                <a:cs typeface="Segoe UI" pitchFamily="34" charset="0"/>
              </a:rPr>
              <a:t/>
            </a:r>
            <a:br>
              <a:rPr lang="fr-FR" sz="1200" dirty="0" smtClean="0">
                <a:latin typeface="Segoe UI" pitchFamily="34" charset="0"/>
                <a:ea typeface="Segoe UI" pitchFamily="34" charset="0"/>
                <a:cs typeface="Segoe UI" pitchFamily="34" charset="0"/>
              </a:rPr>
            </a:br>
            <a:r>
              <a:rPr lang="fr-BE" sz="2400" b="0" dirty="0" smtClean="0">
                <a:latin typeface="Segoe UI" pitchFamily="34" charset="0"/>
                <a:ea typeface="Segoe UI" pitchFamily="34" charset="0"/>
                <a:cs typeface="Segoe UI" pitchFamily="34" charset="0"/>
              </a:rPr>
              <a:t>Les </a:t>
            </a:r>
            <a:r>
              <a:rPr lang="fr-BE" sz="2400" b="0" dirty="0">
                <a:latin typeface="Segoe UI" pitchFamily="34" charset="0"/>
                <a:ea typeface="Segoe UI" pitchFamily="34" charset="0"/>
                <a:cs typeface="Segoe UI" pitchFamily="34" charset="0"/>
              </a:rPr>
              <a:t>privilèges définissent l'accès aux </a:t>
            </a:r>
            <a:r>
              <a:rPr lang="fr-BE" sz="2400" b="0" dirty="0" smtClean="0">
                <a:latin typeface="Segoe UI" pitchFamily="34" charset="0"/>
                <a:ea typeface="Segoe UI" pitchFamily="34" charset="0"/>
                <a:cs typeface="Segoe UI" pitchFamily="34" charset="0"/>
              </a:rPr>
              <a:t>ressources informatiques </a:t>
            </a:r>
            <a:r>
              <a:rPr lang="fr-BE" sz="2400" b="0" dirty="0">
                <a:latin typeface="Segoe UI" pitchFamily="34" charset="0"/>
                <a:ea typeface="Segoe UI" pitchFamily="34" charset="0"/>
                <a:cs typeface="Segoe UI" pitchFamily="34" charset="0"/>
              </a:rPr>
              <a:t>et de domaine, comme </a:t>
            </a:r>
            <a:r>
              <a:rPr lang="fr-BE" sz="2400" b="0" dirty="0" smtClean="0">
                <a:latin typeface="Segoe UI" pitchFamily="34" charset="0"/>
                <a:ea typeface="Segoe UI" pitchFamily="34" charset="0"/>
                <a:cs typeface="Segoe UI" pitchFamily="34" charset="0"/>
              </a:rPr>
              <a:t>par exemple </a:t>
            </a:r>
            <a:br>
              <a:rPr lang="fr-BE" sz="2400" b="0" dirty="0" smtClean="0">
                <a:latin typeface="Segoe UI" pitchFamily="34" charset="0"/>
                <a:ea typeface="Segoe UI" pitchFamily="34" charset="0"/>
                <a:cs typeface="Segoe UI" pitchFamily="34" charset="0"/>
              </a:rPr>
            </a:br>
            <a:r>
              <a:rPr lang="fr-BE" sz="2400" b="0" dirty="0" smtClean="0">
                <a:latin typeface="Segoe UI" pitchFamily="34" charset="0"/>
                <a:ea typeface="Segoe UI" pitchFamily="34" charset="0"/>
                <a:cs typeface="Segoe UI" pitchFamily="34" charset="0"/>
              </a:rPr>
              <a:t>le </a:t>
            </a:r>
            <a:r>
              <a:rPr lang="fr-BE" sz="2400" b="0" dirty="0">
                <a:latin typeface="Segoe UI" pitchFamily="34" charset="0"/>
                <a:ea typeface="Segoe UI" pitchFamily="34" charset="0"/>
                <a:cs typeface="Segoe UI" pitchFamily="34" charset="0"/>
              </a:rPr>
              <a:t>droit de sauvegarder les fichiers et les répertoires</a:t>
            </a:r>
            <a:r>
              <a:rPr lang="fr-BE" sz="2400" b="0" dirty="0" smtClean="0">
                <a:latin typeface="Segoe UI" pitchFamily="34" charset="0"/>
                <a:ea typeface="Segoe UI" pitchFamily="34" charset="0"/>
                <a:cs typeface="Segoe UI" pitchFamily="34" charset="0"/>
              </a:rPr>
              <a:t>.</a:t>
            </a:r>
            <a:br>
              <a:rPr lang="fr-BE" sz="2400" b="0" dirty="0" smtClean="0">
                <a:latin typeface="Segoe UI" pitchFamily="34" charset="0"/>
                <a:ea typeface="Segoe UI" pitchFamily="34" charset="0"/>
                <a:cs typeface="Segoe UI" pitchFamily="34" charset="0"/>
              </a:rPr>
            </a:br>
            <a:endParaRPr lang="fr-FR" sz="2400" b="0" dirty="0" smtClean="0">
              <a:latin typeface="Segoe UI" pitchFamily="34" charset="0"/>
              <a:ea typeface="Segoe UI" pitchFamily="34" charset="0"/>
              <a:cs typeface="Segoe UI" pitchFamily="34" charset="0"/>
            </a:endParaRPr>
          </a:p>
          <a:p>
            <a:pPr>
              <a:lnSpc>
                <a:spcPct val="90000"/>
              </a:lnSpc>
              <a:spcBef>
                <a:spcPts val="2400"/>
              </a:spcBef>
              <a:buClr>
                <a:srgbClr val="006699"/>
              </a:buClr>
            </a:pPr>
            <a:r>
              <a:rPr lang="fr-FR" sz="2400" dirty="0" smtClean="0">
                <a:latin typeface="Segoe UI" pitchFamily="34" charset="0"/>
                <a:ea typeface="Segoe UI" pitchFamily="34" charset="0"/>
                <a:cs typeface="Segoe UI" pitchFamily="34" charset="0"/>
              </a:rPr>
              <a:t>Les droits d’ouverture de session </a:t>
            </a:r>
            <a:r>
              <a:rPr lang="fr-FR" sz="2400" dirty="0" smtClean="0">
                <a:latin typeface="Segoe UI" pitchFamily="34" charset="0"/>
                <a:ea typeface="Segoe UI" pitchFamily="34" charset="0"/>
                <a:cs typeface="Segoe UI" pitchFamily="34" charset="0"/>
              </a:rPr>
              <a:t>:</a:t>
            </a:r>
            <a:br>
              <a:rPr lang="fr-FR" sz="2400" dirty="0" smtClean="0">
                <a:latin typeface="Segoe UI" pitchFamily="34" charset="0"/>
                <a:ea typeface="Segoe UI" pitchFamily="34" charset="0"/>
                <a:cs typeface="Segoe UI" pitchFamily="34" charset="0"/>
              </a:rPr>
            </a:br>
            <a:r>
              <a:rPr lang="fr-FR" sz="1200" dirty="0" smtClean="0">
                <a:latin typeface="Segoe UI" pitchFamily="34" charset="0"/>
                <a:ea typeface="Segoe UI" pitchFamily="34" charset="0"/>
                <a:cs typeface="Segoe UI" pitchFamily="34" charset="0"/>
              </a:rPr>
              <a:t/>
            </a:r>
            <a:br>
              <a:rPr lang="fr-FR" sz="1200" dirty="0" smtClean="0">
                <a:latin typeface="Segoe UI" pitchFamily="34" charset="0"/>
                <a:ea typeface="Segoe UI" pitchFamily="34" charset="0"/>
                <a:cs typeface="Segoe UI" pitchFamily="34" charset="0"/>
              </a:rPr>
            </a:br>
            <a:r>
              <a:rPr lang="fr-BE" sz="2400" b="0" dirty="0" smtClean="0">
                <a:latin typeface="Segoe UI" pitchFamily="34" charset="0"/>
                <a:ea typeface="Segoe UI" pitchFamily="34" charset="0"/>
                <a:cs typeface="Segoe UI" pitchFamily="34" charset="0"/>
              </a:rPr>
              <a:t>Les </a:t>
            </a:r>
            <a:r>
              <a:rPr lang="fr-BE" sz="2400" b="0" dirty="0">
                <a:latin typeface="Segoe UI" pitchFamily="34" charset="0"/>
                <a:ea typeface="Segoe UI" pitchFamily="34" charset="0"/>
                <a:cs typeface="Segoe UI" pitchFamily="34" charset="0"/>
              </a:rPr>
              <a:t>droits d'ouverture de session définissent qui est autorisé à se connecter à un ordinateur et comment ils peuvent se connecter. Par exemple, les droits de connexion peuvent définir le droit de se connecter à un système localement</a:t>
            </a:r>
            <a:r>
              <a:rPr lang="fr-BE" sz="2400" b="0" dirty="0" smtClean="0">
                <a:latin typeface="Segoe UI" pitchFamily="34" charset="0"/>
                <a:ea typeface="Segoe UI" pitchFamily="34" charset="0"/>
                <a:cs typeface="Segoe UI" pitchFamily="34" charset="0"/>
              </a:rPr>
              <a:t>.</a:t>
            </a:r>
          </a:p>
          <a:p>
            <a:pPr>
              <a:lnSpc>
                <a:spcPct val="90000"/>
              </a:lnSpc>
              <a:spcBef>
                <a:spcPts val="2400"/>
              </a:spcBef>
              <a:buClr>
                <a:srgbClr val="006699"/>
              </a:buClr>
            </a:pPr>
            <a:r>
              <a:rPr lang="fr-FR" sz="2200" dirty="0" smtClean="0">
                <a:latin typeface="Segoe UI" pitchFamily="34" charset="0"/>
                <a:ea typeface="Segoe UI" pitchFamily="34" charset="0"/>
                <a:cs typeface="Segoe UI" pitchFamily="34" charset="0"/>
              </a:rPr>
              <a:t/>
            </a:r>
            <a:br>
              <a:rPr lang="fr-FR" sz="2200" dirty="0" smtClean="0">
                <a:latin typeface="Segoe UI" pitchFamily="34" charset="0"/>
                <a:ea typeface="Segoe UI" pitchFamily="34" charset="0"/>
                <a:cs typeface="Segoe UI" pitchFamily="34" charset="0"/>
              </a:rPr>
            </a:br>
            <a:r>
              <a:rPr lang="fr-FR" sz="2200" dirty="0" smtClean="0">
                <a:latin typeface="Segoe UI" pitchFamily="34" charset="0"/>
                <a:ea typeface="Segoe UI" pitchFamily="34" charset="0"/>
                <a:cs typeface="Segoe UI" pitchFamily="34" charset="0"/>
              </a:rPr>
              <a:t>GPMC</a:t>
            </a:r>
            <a:r>
              <a:rPr lang="fr-FR" sz="2200" b="0" dirty="0" smtClean="0">
                <a:latin typeface="Segoe UI" pitchFamily="34" charset="0"/>
                <a:ea typeface="Segoe UI" pitchFamily="34" charset="0"/>
                <a:cs typeface="Segoe UI" pitchFamily="34" charset="0"/>
              </a:rPr>
              <a:t> : </a:t>
            </a:r>
            <a:r>
              <a:rPr lang="en-US" sz="2200" b="0" dirty="0">
                <a:latin typeface="Segoe UI" pitchFamily="34" charset="0"/>
                <a:ea typeface="Segoe UI" pitchFamily="34" charset="0"/>
                <a:cs typeface="Segoe UI" pitchFamily="34" charset="0"/>
              </a:rPr>
              <a:t>Computer Configuration\Policies\Windows Settings\Security Settings\Local </a:t>
            </a:r>
            <a:r>
              <a:rPr lang="en-US" sz="2200" b="0" dirty="0" smtClean="0">
                <a:latin typeface="Segoe UI" pitchFamily="34" charset="0"/>
                <a:ea typeface="Segoe UI" pitchFamily="34" charset="0"/>
                <a:cs typeface="Segoe UI" pitchFamily="34" charset="0"/>
              </a:rPr>
              <a:t>Policies\User </a:t>
            </a:r>
            <a:r>
              <a:rPr lang="en-US" sz="2200" b="0" dirty="0">
                <a:latin typeface="Segoe UI" pitchFamily="34" charset="0"/>
                <a:ea typeface="Segoe UI" pitchFamily="34" charset="0"/>
                <a:cs typeface="Segoe UI" pitchFamily="34" charset="0"/>
              </a:rPr>
              <a:t>Rights Assignment</a:t>
            </a:r>
            <a:endParaRPr lang="fr-BE" sz="2200" b="0" dirty="0">
              <a:latin typeface="Segoe UI" pitchFamily="34" charset="0"/>
              <a:ea typeface="Segoe UI" pitchFamily="34" charset="0"/>
              <a:cs typeface="Segoe UI" pitchFamily="34" charset="0"/>
            </a:endParaRPr>
          </a:p>
        </p:txBody>
      </p:sp>
      <p:grpSp>
        <p:nvGrpSpPr>
          <p:cNvPr id="5" name="Group 4"/>
          <p:cNvGrpSpPr/>
          <p:nvPr/>
        </p:nvGrpSpPr>
        <p:grpSpPr>
          <a:xfrm>
            <a:off x="7792543" y="1340768"/>
            <a:ext cx="1099937" cy="1482065"/>
            <a:chOff x="5715132" y="4540159"/>
            <a:chExt cx="1099937" cy="1482065"/>
          </a:xfrm>
        </p:grpSpPr>
        <p:pic>
          <p:nvPicPr>
            <p:cNvPr id="6" name="Picture 5"/>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5735814" y="4540159"/>
              <a:ext cx="1079255" cy="129113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715132" y="5006566"/>
              <a:ext cx="642821" cy="1015658"/>
            </a:xfrm>
            <a:prstGeom prst="rect">
              <a:avLst/>
            </a:prstGeom>
          </p:spPr>
        </p:pic>
      </p:grpSp>
    </p:spTree>
    <p:extLst>
      <p:ext uri="{BB962C8B-B14F-4D97-AF65-F5344CB8AC3E}">
        <p14:creationId xmlns:p14="http://schemas.microsoft.com/office/powerpoint/2010/main" val="41421856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c61277b8-2570-4db4-bf90-66fc9f9f729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smtClean="0"/>
              <a:t>Options de sécurité</a:t>
            </a:r>
            <a:endParaRPr lang="fr-FR" dirty="0"/>
          </a:p>
        </p:txBody>
      </p:sp>
      <p:sp>
        <p:nvSpPr>
          <p:cNvPr id="4" name="Rounded Rectangle 3"/>
          <p:cNvSpPr>
            <a:spLocks noChangeArrowheads="1"/>
          </p:cNvSpPr>
          <p:nvPr/>
        </p:nvSpPr>
        <p:spPr bwMode="auto">
          <a:xfrm>
            <a:off x="288174" y="800613"/>
            <a:ext cx="8748321" cy="5588898"/>
          </a:xfrm>
          <a:prstGeom prst="roundRect">
            <a:avLst>
              <a:gd name="adj" fmla="val 4167"/>
            </a:avLst>
          </a:prstGeom>
          <a:ln>
            <a:headEnd/>
            <a:tailEnd/>
          </a:ln>
        </p:spPr>
        <p:style>
          <a:lnRef idx="2">
            <a:schemeClr val="accent1"/>
          </a:lnRef>
          <a:fillRef idx="1">
            <a:schemeClr val="lt1"/>
          </a:fillRef>
          <a:effectRef idx="0">
            <a:schemeClr val="accent1"/>
          </a:effectRef>
          <a:fontRef idx="minor">
            <a:schemeClr val="dk1"/>
          </a:fontRef>
        </p:style>
        <p:txBody>
          <a:bodyP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a:spcBef>
                <a:spcPts val="1200"/>
              </a:spcBef>
            </a:pPr>
            <a:r>
              <a:rPr lang="fr-FR" sz="2400" dirty="0" smtClean="0">
                <a:latin typeface="Segoe UI" pitchFamily="34" charset="0"/>
                <a:ea typeface="Segoe UI" pitchFamily="34" charset="0"/>
                <a:cs typeface="Segoe UI" pitchFamily="34" charset="0"/>
              </a:rPr>
              <a:t>Exemples :</a:t>
            </a:r>
            <a:br>
              <a:rPr lang="fr-FR" sz="2400" dirty="0" smtClean="0">
                <a:latin typeface="Segoe UI" pitchFamily="34" charset="0"/>
                <a:ea typeface="Segoe UI" pitchFamily="34" charset="0"/>
                <a:cs typeface="Segoe UI" pitchFamily="34" charset="0"/>
              </a:rPr>
            </a:br>
            <a:endParaRPr lang="fr-FR" sz="1000" dirty="0" smtClean="0">
              <a:latin typeface="Segoe UI" pitchFamily="34" charset="0"/>
              <a:ea typeface="Segoe UI" pitchFamily="34" charset="0"/>
              <a:cs typeface="Segoe UI" pitchFamily="34" charset="0"/>
            </a:endParaRPr>
          </a:p>
          <a:p>
            <a:pPr marL="180000" indent="-180000">
              <a:spcBef>
                <a:spcPts val="0"/>
              </a:spcBef>
              <a:spcAft>
                <a:spcPts val="300"/>
              </a:spcAft>
              <a:buClr>
                <a:srgbClr val="006699"/>
              </a:buClr>
              <a:buFontTx/>
              <a:buChar char="•"/>
            </a:pPr>
            <a:r>
              <a:rPr lang="fr-BE" sz="2400" b="0" dirty="0" smtClean="0">
                <a:latin typeface="Segoe UI" pitchFamily="34" charset="0"/>
                <a:ea typeface="Segoe UI" pitchFamily="34" charset="0"/>
                <a:cs typeface="Segoe UI" pitchFamily="34" charset="0"/>
              </a:rPr>
              <a:t>Déterminer </a:t>
            </a:r>
            <a:r>
              <a:rPr lang="fr-BE" sz="2400" b="0" dirty="0">
                <a:latin typeface="Segoe UI" pitchFamily="34" charset="0"/>
                <a:ea typeface="Segoe UI" pitchFamily="34" charset="0"/>
                <a:cs typeface="Segoe UI" pitchFamily="34" charset="0"/>
              </a:rPr>
              <a:t>combien de jours avant l'expiration du mot de passe d'un utilisateur </a:t>
            </a:r>
            <a:r>
              <a:rPr lang="fr-BE" sz="2400" b="0" dirty="0" smtClean="0">
                <a:latin typeface="Segoe UI" pitchFamily="34" charset="0"/>
                <a:ea typeface="Segoe UI" pitchFamily="34" charset="0"/>
                <a:cs typeface="Segoe UI" pitchFamily="34" charset="0"/>
              </a:rPr>
              <a:t>le </a:t>
            </a:r>
            <a:r>
              <a:rPr lang="fr-BE" sz="2400" b="0" dirty="0">
                <a:latin typeface="Segoe UI" pitchFamily="34" charset="0"/>
                <a:ea typeface="Segoe UI" pitchFamily="34" charset="0"/>
                <a:cs typeface="Segoe UI" pitchFamily="34" charset="0"/>
              </a:rPr>
              <a:t>système </a:t>
            </a:r>
            <a:r>
              <a:rPr lang="fr-BE" sz="2400" b="0" dirty="0" smtClean="0">
                <a:latin typeface="Segoe UI" pitchFamily="34" charset="0"/>
                <a:ea typeface="Segoe UI" pitchFamily="34" charset="0"/>
                <a:cs typeface="Segoe UI" pitchFamily="34" charset="0"/>
              </a:rPr>
              <a:t>va afficher un </a:t>
            </a:r>
            <a:r>
              <a:rPr lang="fr-BE" sz="2400" b="0" dirty="0">
                <a:latin typeface="Segoe UI" pitchFamily="34" charset="0"/>
                <a:ea typeface="Segoe UI" pitchFamily="34" charset="0"/>
                <a:cs typeface="Segoe UI" pitchFamily="34" charset="0"/>
              </a:rPr>
              <a:t>avertissement</a:t>
            </a:r>
            <a:r>
              <a:rPr lang="fr-BE" sz="2400" b="0" dirty="0" smtClean="0">
                <a:latin typeface="Segoe UI" pitchFamily="34" charset="0"/>
                <a:ea typeface="Segoe UI" pitchFamily="34" charset="0"/>
                <a:cs typeface="Segoe UI" pitchFamily="34" charset="0"/>
              </a:rPr>
              <a:t>.</a:t>
            </a:r>
          </a:p>
          <a:p>
            <a:pPr marL="180000" indent="-180000">
              <a:spcBef>
                <a:spcPts val="0"/>
              </a:spcBef>
              <a:spcAft>
                <a:spcPts val="300"/>
              </a:spcAft>
              <a:buClr>
                <a:srgbClr val="006699"/>
              </a:buClr>
              <a:buFontTx/>
              <a:buChar char="•"/>
            </a:pPr>
            <a:r>
              <a:rPr lang="fr-BE" sz="2400" b="0" dirty="0" smtClean="0">
                <a:latin typeface="Segoe UI" pitchFamily="34" charset="0"/>
                <a:ea typeface="Segoe UI" pitchFamily="34" charset="0"/>
                <a:cs typeface="Segoe UI" pitchFamily="34" charset="0"/>
              </a:rPr>
              <a:t>Ne pas afficher le nom de famille d’un utilisateur</a:t>
            </a:r>
          </a:p>
          <a:p>
            <a:pPr marL="180000" indent="-180000">
              <a:spcBef>
                <a:spcPts val="0"/>
              </a:spcBef>
              <a:spcAft>
                <a:spcPts val="300"/>
              </a:spcAft>
              <a:buClr>
                <a:srgbClr val="006699"/>
              </a:buClr>
              <a:buFontTx/>
              <a:buChar char="•"/>
            </a:pPr>
            <a:r>
              <a:rPr lang="fr-BE" sz="2400" b="0" dirty="0" smtClean="0">
                <a:latin typeface="Segoe UI" pitchFamily="34" charset="0"/>
                <a:ea typeface="Segoe UI" pitchFamily="34" charset="0"/>
                <a:cs typeface="Segoe UI" pitchFamily="34" charset="0"/>
              </a:rPr>
              <a:t>Renommer le compte administrateur</a:t>
            </a:r>
          </a:p>
          <a:p>
            <a:pPr marL="180000" indent="-180000">
              <a:spcBef>
                <a:spcPts val="0"/>
              </a:spcBef>
              <a:spcAft>
                <a:spcPts val="300"/>
              </a:spcAft>
              <a:buClr>
                <a:srgbClr val="006699"/>
              </a:buClr>
              <a:buFontTx/>
              <a:buChar char="•"/>
            </a:pPr>
            <a:r>
              <a:rPr lang="fr-BE" sz="2400" b="0" dirty="0" smtClean="0">
                <a:latin typeface="Segoe UI" pitchFamily="34" charset="0"/>
                <a:ea typeface="Segoe UI" pitchFamily="34" charset="0"/>
                <a:cs typeface="Segoe UI" pitchFamily="34" charset="0"/>
              </a:rPr>
              <a:t>Afficher un message personnalisé lors de la connexion d’un utilisateur</a:t>
            </a:r>
          </a:p>
          <a:p>
            <a:pPr marL="180000" indent="-180000">
              <a:spcBef>
                <a:spcPts val="0"/>
              </a:spcBef>
              <a:spcAft>
                <a:spcPts val="300"/>
              </a:spcAft>
              <a:buClr>
                <a:srgbClr val="006699"/>
              </a:buClr>
              <a:buFontTx/>
              <a:buChar char="•"/>
            </a:pPr>
            <a:r>
              <a:rPr lang="fr-BE" sz="2400" b="0" dirty="0" smtClean="0">
                <a:latin typeface="Segoe UI" pitchFamily="34" charset="0"/>
                <a:ea typeface="Segoe UI" pitchFamily="34" charset="0"/>
                <a:cs typeface="Segoe UI" pitchFamily="34" charset="0"/>
              </a:rPr>
              <a:t>Empêcher l’accès au lecteur CD/DVD</a:t>
            </a:r>
            <a:endParaRPr lang="fr-FR" sz="2400" b="0" dirty="0" smtClean="0">
              <a:latin typeface="Segoe UI" pitchFamily="34" charset="0"/>
              <a:ea typeface="Segoe UI" pitchFamily="34" charset="0"/>
              <a:cs typeface="Segoe UI" pitchFamily="34" charset="0"/>
            </a:endParaRPr>
          </a:p>
          <a:p>
            <a:pPr>
              <a:spcBef>
                <a:spcPts val="0"/>
              </a:spcBef>
              <a:spcAft>
                <a:spcPts val="300"/>
              </a:spcAft>
              <a:buClr>
                <a:srgbClr val="006699"/>
              </a:buClr>
            </a:pPr>
            <a:endParaRPr lang="fr-FR" sz="2400" b="0" dirty="0" smtClean="0">
              <a:latin typeface="Segoe UI" pitchFamily="34" charset="0"/>
              <a:ea typeface="Segoe UI" pitchFamily="34" charset="0"/>
              <a:cs typeface="Segoe UI" pitchFamily="34" charset="0"/>
            </a:endParaRPr>
          </a:p>
          <a:p>
            <a:pPr lvl="0" fontAlgn="auto">
              <a:lnSpc>
                <a:spcPct val="90000"/>
              </a:lnSpc>
              <a:spcBef>
                <a:spcPts val="2400"/>
              </a:spcBef>
              <a:spcAft>
                <a:spcPts val="0"/>
              </a:spcAft>
              <a:buClr>
                <a:srgbClr val="006699"/>
              </a:buClr>
            </a:pPr>
            <a:r>
              <a:rPr lang="fr-FR" sz="2200" dirty="0" smtClean="0">
                <a:solidFill>
                  <a:srgbClr val="000000"/>
                </a:solidFill>
                <a:latin typeface="Segoe UI" pitchFamily="34" charset="0"/>
                <a:ea typeface="Segoe UI" pitchFamily="34" charset="0"/>
                <a:cs typeface="Segoe UI" pitchFamily="34" charset="0"/>
              </a:rPr>
              <a:t>GPMC</a:t>
            </a:r>
            <a:r>
              <a:rPr lang="fr-FR" sz="2200" b="0" dirty="0" smtClean="0">
                <a:solidFill>
                  <a:srgbClr val="000000"/>
                </a:solidFill>
                <a:latin typeface="Segoe UI" pitchFamily="34" charset="0"/>
                <a:ea typeface="Segoe UI" pitchFamily="34" charset="0"/>
                <a:cs typeface="Segoe UI" pitchFamily="34" charset="0"/>
              </a:rPr>
              <a:t> : Computer Configuration\</a:t>
            </a:r>
            <a:r>
              <a:rPr lang="fr-FR" sz="2200" b="0" dirty="0" err="1" smtClean="0">
                <a:solidFill>
                  <a:srgbClr val="000000"/>
                </a:solidFill>
                <a:latin typeface="Segoe UI" pitchFamily="34" charset="0"/>
                <a:ea typeface="Segoe UI" pitchFamily="34" charset="0"/>
                <a:cs typeface="Segoe UI" pitchFamily="34" charset="0"/>
              </a:rPr>
              <a:t>Policies</a:t>
            </a:r>
            <a:r>
              <a:rPr lang="fr-FR" sz="2200" b="0" dirty="0" smtClean="0">
                <a:solidFill>
                  <a:srgbClr val="000000"/>
                </a:solidFill>
                <a:latin typeface="Segoe UI" pitchFamily="34" charset="0"/>
                <a:ea typeface="Segoe UI" pitchFamily="34" charset="0"/>
                <a:cs typeface="Segoe UI" pitchFamily="34" charset="0"/>
              </a:rPr>
              <a:t>\Windows Settings\Security </a:t>
            </a:r>
            <a:r>
              <a:rPr lang="fr-FR" sz="2200" b="0" dirty="0">
                <a:solidFill>
                  <a:srgbClr val="000000"/>
                </a:solidFill>
                <a:latin typeface="Segoe UI" pitchFamily="34" charset="0"/>
                <a:ea typeface="Segoe UI" pitchFamily="34" charset="0"/>
                <a:cs typeface="Segoe UI" pitchFamily="34" charset="0"/>
              </a:rPr>
              <a:t>Settings\Local </a:t>
            </a:r>
            <a:r>
              <a:rPr lang="fr-FR" sz="2200" b="0" dirty="0" err="1">
                <a:solidFill>
                  <a:srgbClr val="000000"/>
                </a:solidFill>
                <a:latin typeface="Segoe UI" pitchFamily="34" charset="0"/>
                <a:ea typeface="Segoe UI" pitchFamily="34" charset="0"/>
                <a:cs typeface="Segoe UI" pitchFamily="34" charset="0"/>
              </a:rPr>
              <a:t>Policies</a:t>
            </a:r>
            <a:r>
              <a:rPr lang="fr-FR" sz="2200" b="0" dirty="0">
                <a:solidFill>
                  <a:srgbClr val="000000"/>
                </a:solidFill>
                <a:latin typeface="Segoe UI" pitchFamily="34" charset="0"/>
                <a:ea typeface="Segoe UI" pitchFamily="34" charset="0"/>
                <a:cs typeface="Segoe UI" pitchFamily="34" charset="0"/>
              </a:rPr>
              <a:t>\Security Options</a:t>
            </a:r>
            <a:endParaRPr lang="fr-FR" sz="2200" b="0" dirty="0" smtClean="0">
              <a:solidFill>
                <a:srgbClr val="000000"/>
              </a:solidFill>
              <a:latin typeface="Segoe UI" pitchFamily="34" charset="0"/>
              <a:ea typeface="Segoe UI" pitchFamily="34" charset="0"/>
              <a:cs typeface="Segoe UI" pitchFamily="34" charset="0"/>
            </a:endParaRPr>
          </a:p>
          <a:p>
            <a:pPr>
              <a:spcBef>
                <a:spcPts val="0"/>
              </a:spcBef>
              <a:spcAft>
                <a:spcPts val="300"/>
              </a:spcAft>
              <a:buClr>
                <a:srgbClr val="006699"/>
              </a:buClr>
            </a:pPr>
            <a:endParaRPr lang="fr-FR" sz="2400" b="0" dirty="0" smtClean="0">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26311495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a3474401-6570-4acc-befb-97ce8ec66dd4">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User </a:t>
            </a:r>
            <a:r>
              <a:rPr lang="en-CA" dirty="0" smtClean="0"/>
              <a:t>Account Control</a:t>
            </a:r>
            <a:endParaRPr lang="en-CA" dirty="0"/>
          </a:p>
        </p:txBody>
      </p:sp>
      <p:pic>
        <p:nvPicPr>
          <p:cNvPr id="4" name="alt text here, screen shot" descr="Screen shot of User Account Control dialog box that is requesting an administrative user’s user name and password.&#10;"/>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50375" y="1268760"/>
            <a:ext cx="3858129" cy="33946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 box"/>
          <p:cNvSpPr>
            <a:spLocks noGrp="1"/>
          </p:cNvSpPr>
          <p:nvPr/>
        </p:nvSpPr>
        <p:spPr bwMode="auto">
          <a:xfrm>
            <a:off x="424634" y="1161256"/>
            <a:ext cx="4579413" cy="457200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8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8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8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800">
                <a:solidFill>
                  <a:schemeClr val="tx1"/>
                </a:solidFill>
                <a:latin typeface="+mn-lt"/>
              </a:defRPr>
            </a:lvl9pPr>
          </a:lstStyle>
          <a:p>
            <a:pPr>
              <a:spcBef>
                <a:spcPts val="1200"/>
              </a:spcBef>
            </a:pPr>
            <a:r>
              <a:rPr lang="fr-FR" sz="2400" dirty="0" smtClean="0"/>
              <a:t>Installation des mises</a:t>
            </a:r>
            <a:r>
              <a:rPr lang="fr-FR" sz="2400" dirty="0" smtClean="0"/>
              <a:t>-à-jour Windows</a:t>
            </a:r>
          </a:p>
          <a:p>
            <a:pPr>
              <a:spcBef>
                <a:spcPts val="1200"/>
              </a:spcBef>
            </a:pPr>
            <a:r>
              <a:rPr lang="fr-FR" sz="2400" dirty="0" smtClean="0"/>
              <a:t>Installation de pilotes</a:t>
            </a:r>
          </a:p>
          <a:p>
            <a:pPr>
              <a:spcBef>
                <a:spcPts val="1200"/>
              </a:spcBef>
            </a:pPr>
            <a:r>
              <a:rPr lang="fr-FR" sz="2400" dirty="0" smtClean="0"/>
              <a:t>Affichage des paramètres système</a:t>
            </a:r>
          </a:p>
          <a:p>
            <a:pPr>
              <a:spcBef>
                <a:spcPts val="1200"/>
              </a:spcBef>
            </a:pPr>
            <a:r>
              <a:rPr lang="fr-FR" sz="2400" dirty="0" smtClean="0"/>
              <a:t>Connexion avec </a:t>
            </a:r>
            <a:r>
              <a:rPr lang="fr-FR" sz="2400" dirty="0"/>
              <a:t>des périphériques </a:t>
            </a:r>
            <a:r>
              <a:rPr lang="fr-FR" sz="2400" dirty="0" smtClean="0"/>
              <a:t>Bluetooth</a:t>
            </a:r>
          </a:p>
          <a:p>
            <a:pPr>
              <a:spcBef>
                <a:spcPts val="1200"/>
              </a:spcBef>
            </a:pPr>
            <a:r>
              <a:rPr lang="fr-BE" sz="2400" dirty="0"/>
              <a:t>Réinitialisation de la carte </a:t>
            </a:r>
            <a:r>
              <a:rPr lang="fr-BE" sz="2400" dirty="0" smtClean="0"/>
              <a:t>réseau</a:t>
            </a:r>
          </a:p>
          <a:p>
            <a:pPr>
              <a:spcBef>
                <a:spcPts val="1200"/>
              </a:spcBef>
            </a:pPr>
            <a:r>
              <a:rPr lang="fr-BE" sz="2400" dirty="0" smtClean="0"/>
              <a:t>…</a:t>
            </a:r>
            <a:endParaRPr lang="fr-FR" sz="2400" dirty="0" smtClean="0"/>
          </a:p>
        </p:txBody>
      </p:sp>
    </p:spTree>
    <p:extLst>
      <p:ext uri="{BB962C8B-B14F-4D97-AF65-F5344CB8AC3E}">
        <p14:creationId xmlns:p14="http://schemas.microsoft.com/office/powerpoint/2010/main" val="6109471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6362f5a4-b5f6-460c-8799-d021d0f6b266">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Software </a:t>
            </a:r>
            <a:r>
              <a:rPr lang="en-CA" dirty="0" smtClean="0"/>
              <a:t>Restriction </a:t>
            </a:r>
            <a:r>
              <a:rPr lang="en-CA" dirty="0" smtClean="0"/>
              <a:t>Policies</a:t>
            </a:r>
            <a:endParaRPr lang="en-CA" dirty="0"/>
          </a:p>
        </p:txBody>
      </p:sp>
      <p:sp>
        <p:nvSpPr>
          <p:cNvPr id="4" name="Content Placeholder 2"/>
          <p:cNvSpPr>
            <a:spLocks noGrp="1"/>
          </p:cNvSpPr>
          <p:nvPr/>
        </p:nvSpPr>
        <p:spPr bwMode="auto">
          <a:xfrm>
            <a:off x="425536" y="1021215"/>
            <a:ext cx="8322928"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eaLnBrk="0" hangingPunct="0">
              <a:lnSpc>
                <a:spcPct val="90000"/>
              </a:lnSpc>
              <a:spcBef>
                <a:spcPct val="40000"/>
              </a:spcBef>
              <a:buClr>
                <a:srgbClr val="006699"/>
              </a:buClr>
            </a:pPr>
            <a:r>
              <a:rPr lang="fr-FR" sz="2400" dirty="0" smtClean="0">
                <a:solidFill>
                  <a:srgbClr val="000000"/>
                </a:solidFill>
              </a:rPr>
              <a:t>Sert à </a:t>
            </a:r>
            <a:r>
              <a:rPr lang="fr-FR" sz="2400" dirty="0" smtClean="0">
                <a:solidFill>
                  <a:srgbClr val="000000"/>
                </a:solidFill>
              </a:rPr>
              <a:t>identifier et spécifier les applications pouvant être exécutées sur des ordinateurs clients</a:t>
            </a:r>
            <a:endParaRPr lang="fr-FR" sz="2400" dirty="0" smtClean="0">
              <a:solidFill>
                <a:srgbClr val="000000"/>
              </a:solidFill>
            </a:endParaRPr>
          </a:p>
          <a:p>
            <a:pPr eaLnBrk="0" hangingPunct="0">
              <a:lnSpc>
                <a:spcPct val="90000"/>
              </a:lnSpc>
              <a:spcBef>
                <a:spcPct val="40000"/>
              </a:spcBef>
              <a:buClr>
                <a:srgbClr val="006699"/>
              </a:buClr>
            </a:pPr>
            <a:r>
              <a:rPr lang="fr-FR" sz="2400" dirty="0" smtClean="0">
                <a:solidFill>
                  <a:srgbClr val="000000"/>
                </a:solidFill>
              </a:rPr>
              <a:t>Quatre</a:t>
            </a:r>
            <a:r>
              <a:rPr lang="fr-FR" sz="2400" dirty="0" smtClean="0">
                <a:solidFill>
                  <a:srgbClr val="000000"/>
                </a:solidFill>
              </a:rPr>
              <a:t> critères de filtrage :</a:t>
            </a:r>
          </a:p>
          <a:p>
            <a:pPr lvl="1" eaLnBrk="0" hangingPunct="0">
              <a:lnSpc>
                <a:spcPct val="90000"/>
              </a:lnSpc>
              <a:spcBef>
                <a:spcPct val="40000"/>
              </a:spcBef>
              <a:buClr>
                <a:srgbClr val="006699"/>
              </a:buClr>
            </a:pPr>
            <a:r>
              <a:rPr lang="fr-FR" sz="2200" dirty="0" smtClean="0">
                <a:solidFill>
                  <a:srgbClr val="000000"/>
                </a:solidFill>
              </a:rPr>
              <a:t>Hash, </a:t>
            </a:r>
            <a:r>
              <a:rPr lang="fr-FR" sz="2200" dirty="0" err="1" smtClean="0">
                <a:solidFill>
                  <a:srgbClr val="000000"/>
                </a:solidFill>
              </a:rPr>
              <a:t>Certificate</a:t>
            </a:r>
            <a:r>
              <a:rPr lang="fr-FR" sz="2200" dirty="0" smtClean="0">
                <a:solidFill>
                  <a:srgbClr val="000000"/>
                </a:solidFill>
              </a:rPr>
              <a:t>, </a:t>
            </a:r>
            <a:r>
              <a:rPr lang="fr-FR" sz="2200" dirty="0" smtClean="0">
                <a:solidFill>
                  <a:srgbClr val="000000"/>
                </a:solidFill>
              </a:rPr>
              <a:t>Path et Zone</a:t>
            </a:r>
          </a:p>
          <a:p>
            <a:pPr eaLnBrk="0" hangingPunct="0">
              <a:lnSpc>
                <a:spcPct val="90000"/>
              </a:lnSpc>
              <a:spcBef>
                <a:spcPct val="40000"/>
              </a:spcBef>
              <a:buClr>
                <a:srgbClr val="006699"/>
              </a:buClr>
            </a:pPr>
            <a:r>
              <a:rPr lang="fr-FR" sz="2400" dirty="0" smtClean="0">
                <a:solidFill>
                  <a:srgbClr val="000000"/>
                </a:solidFill>
              </a:rPr>
              <a:t>Trois niveaux de sécurité</a:t>
            </a:r>
          </a:p>
          <a:p>
            <a:pPr lvl="1" eaLnBrk="0" hangingPunct="0">
              <a:lnSpc>
                <a:spcPct val="90000"/>
              </a:lnSpc>
              <a:spcBef>
                <a:spcPct val="40000"/>
              </a:spcBef>
              <a:buClr>
                <a:srgbClr val="006699"/>
              </a:buClr>
            </a:pPr>
            <a:r>
              <a:rPr lang="fr-FR" sz="2200" dirty="0" err="1" smtClean="0">
                <a:solidFill>
                  <a:srgbClr val="000000"/>
                </a:solidFill>
              </a:rPr>
              <a:t>Unrestricted</a:t>
            </a:r>
            <a:r>
              <a:rPr lang="fr-FR" sz="2200" dirty="0" smtClean="0">
                <a:solidFill>
                  <a:srgbClr val="000000"/>
                </a:solidFill>
              </a:rPr>
              <a:t> : Autorisé</a:t>
            </a:r>
          </a:p>
          <a:p>
            <a:pPr lvl="1" eaLnBrk="0" hangingPunct="0">
              <a:lnSpc>
                <a:spcPct val="90000"/>
              </a:lnSpc>
              <a:spcBef>
                <a:spcPct val="40000"/>
              </a:spcBef>
              <a:buClr>
                <a:srgbClr val="006699"/>
              </a:buClr>
            </a:pPr>
            <a:r>
              <a:rPr lang="fr-FR" sz="2200" dirty="0" err="1" smtClean="0">
                <a:solidFill>
                  <a:srgbClr val="000000"/>
                </a:solidFill>
              </a:rPr>
              <a:t>Disallowed</a:t>
            </a:r>
            <a:r>
              <a:rPr lang="fr-FR" sz="2200" dirty="0" smtClean="0">
                <a:solidFill>
                  <a:srgbClr val="000000"/>
                </a:solidFill>
              </a:rPr>
              <a:t> : Non autorisé</a:t>
            </a:r>
          </a:p>
          <a:p>
            <a:pPr lvl="1" eaLnBrk="0" hangingPunct="0">
              <a:lnSpc>
                <a:spcPct val="90000"/>
              </a:lnSpc>
              <a:spcBef>
                <a:spcPct val="40000"/>
              </a:spcBef>
              <a:buClr>
                <a:srgbClr val="006699"/>
              </a:buClr>
            </a:pPr>
            <a:r>
              <a:rPr lang="fr-FR" sz="2200" dirty="0" smtClean="0">
                <a:solidFill>
                  <a:srgbClr val="000000"/>
                </a:solidFill>
              </a:rPr>
              <a:t>Basic User : Autorisé uniquement pour les utilisateurs n’ayant pas des droits d’administrateur</a:t>
            </a:r>
          </a:p>
          <a:p>
            <a:pPr marL="180000" indent="-180000" eaLnBrk="0" hangingPunct="0">
              <a:lnSpc>
                <a:spcPct val="90000"/>
              </a:lnSpc>
              <a:spcBef>
                <a:spcPct val="40000"/>
              </a:spcBef>
              <a:buClr>
                <a:srgbClr val="006699"/>
              </a:buClr>
              <a:buFontTx/>
              <a:buChar char="•"/>
            </a:pPr>
            <a:endParaRPr lang="fr-FR" sz="2400" dirty="0" smtClean="0">
              <a:solidFill>
                <a:srgbClr val="000000"/>
              </a:solidFill>
            </a:endParaRPr>
          </a:p>
          <a:p>
            <a:pPr marL="0" indent="0" eaLnBrk="0" hangingPunct="0">
              <a:lnSpc>
                <a:spcPct val="90000"/>
              </a:lnSpc>
              <a:spcBef>
                <a:spcPct val="40000"/>
              </a:spcBef>
              <a:buClr>
                <a:srgbClr val="006699"/>
              </a:buClr>
              <a:buNone/>
            </a:pPr>
            <a:r>
              <a:rPr lang="fr-FR" sz="2200" b="1" dirty="0" smtClean="0">
                <a:solidFill>
                  <a:srgbClr val="000000"/>
                </a:solidFill>
              </a:rPr>
              <a:t>GPMC</a:t>
            </a:r>
            <a:r>
              <a:rPr lang="fr-FR" sz="2200" dirty="0" smtClean="0">
                <a:solidFill>
                  <a:srgbClr val="000000"/>
                </a:solidFill>
              </a:rPr>
              <a:t> : Configuration\</a:t>
            </a:r>
            <a:r>
              <a:rPr lang="fr-FR" sz="2200" dirty="0" err="1" smtClean="0">
                <a:solidFill>
                  <a:srgbClr val="000000"/>
                </a:solidFill>
              </a:rPr>
              <a:t>Policies</a:t>
            </a:r>
            <a:r>
              <a:rPr lang="fr-FR" sz="2200" dirty="0" smtClean="0">
                <a:solidFill>
                  <a:srgbClr val="000000"/>
                </a:solidFill>
              </a:rPr>
              <a:t>\Windows Settings\Security Settings\Software Restriction </a:t>
            </a:r>
            <a:r>
              <a:rPr lang="fr-FR" sz="2200" dirty="0" err="1" smtClean="0">
                <a:solidFill>
                  <a:srgbClr val="000000"/>
                </a:solidFill>
              </a:rPr>
              <a:t>Policies</a:t>
            </a:r>
            <a:endParaRPr lang="fr-FR" sz="2200" dirty="0" smtClean="0">
              <a:solidFill>
                <a:srgbClr val="000000"/>
              </a:solidFill>
            </a:endParaRPr>
          </a:p>
        </p:txBody>
      </p:sp>
    </p:spTree>
    <p:extLst>
      <p:ext uri="{BB962C8B-B14F-4D97-AF65-F5344CB8AC3E}">
        <p14:creationId xmlns:p14="http://schemas.microsoft.com/office/powerpoint/2010/main" val="23342868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98c45024-7d91-4a08-927d-f8e107e1c64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err="1" smtClean="0"/>
              <a:t>AppLocker</a:t>
            </a:r>
            <a:endParaRPr lang="en-CA" dirty="0"/>
          </a:p>
        </p:txBody>
      </p:sp>
      <p:sp>
        <p:nvSpPr>
          <p:cNvPr id="6" name="Content Placeholder 2"/>
          <p:cNvSpPr>
            <a:spLocks noGrp="1"/>
          </p:cNvSpPr>
          <p:nvPr/>
        </p:nvSpPr>
        <p:spPr bwMode="auto">
          <a:xfrm>
            <a:off x="425536" y="1021215"/>
            <a:ext cx="8322928"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indent="0" eaLnBrk="0" hangingPunct="0">
              <a:lnSpc>
                <a:spcPct val="90000"/>
              </a:lnSpc>
              <a:spcBef>
                <a:spcPct val="40000"/>
              </a:spcBef>
              <a:buClr>
                <a:srgbClr val="006699"/>
              </a:buClr>
              <a:buNone/>
            </a:pPr>
            <a:endParaRPr lang="fr-FR" sz="2200" dirty="0" smtClean="0">
              <a:solidFill>
                <a:srgbClr val="000000"/>
              </a:solidFill>
            </a:endParaRPr>
          </a:p>
        </p:txBody>
      </p:sp>
      <p:sp>
        <p:nvSpPr>
          <p:cNvPr id="3" name="Rectangle 2"/>
          <p:cNvSpPr/>
          <p:nvPr/>
        </p:nvSpPr>
        <p:spPr>
          <a:xfrm>
            <a:off x="323528" y="988997"/>
            <a:ext cx="8496944" cy="4555093"/>
          </a:xfrm>
          <a:prstGeom prst="rect">
            <a:avLst/>
          </a:prstGeom>
        </p:spPr>
        <p:txBody>
          <a:bodyPr wrap="square">
            <a:spAutoFit/>
          </a:bodyPr>
          <a:lstStyle/>
          <a:p>
            <a:pPr marL="180000" indent="-180000" eaLnBrk="0" hangingPunct="0">
              <a:lnSpc>
                <a:spcPct val="110000"/>
              </a:lnSpc>
              <a:spcBef>
                <a:spcPts val="0"/>
              </a:spcBef>
              <a:spcAft>
                <a:spcPts val="0"/>
              </a:spcAft>
              <a:buClr>
                <a:srgbClr val="006699"/>
              </a:buClr>
              <a:buFontTx/>
              <a:buChar char="•"/>
              <a:defRPr/>
            </a:pPr>
            <a:r>
              <a:rPr lang="fr-FR" sz="2400" dirty="0" smtClean="0">
                <a:latin typeface="Segoe UI" pitchFamily="34" charset="0"/>
                <a:ea typeface="Segoe UI" pitchFamily="34" charset="0"/>
                <a:cs typeface="Segoe UI" pitchFamily="34" charset="0"/>
              </a:rPr>
              <a:t>Vise à remplacer la « Software Restriction </a:t>
            </a:r>
            <a:r>
              <a:rPr lang="fr-FR" sz="2400" dirty="0" err="1" smtClean="0">
                <a:latin typeface="Segoe UI" pitchFamily="34" charset="0"/>
                <a:ea typeface="Segoe UI" pitchFamily="34" charset="0"/>
                <a:cs typeface="Segoe UI" pitchFamily="34" charset="0"/>
              </a:rPr>
              <a:t>Policies</a:t>
            </a:r>
            <a:r>
              <a:rPr lang="fr-FR" sz="2400" dirty="0" smtClean="0">
                <a:latin typeface="Segoe UI" pitchFamily="34" charset="0"/>
                <a:ea typeface="Segoe UI" pitchFamily="34" charset="0"/>
                <a:cs typeface="Segoe UI" pitchFamily="34" charset="0"/>
              </a:rPr>
              <a:t> » dans Windows Server 2012 et Windows 8</a:t>
            </a:r>
          </a:p>
          <a:p>
            <a:pPr marL="180000" indent="-180000" eaLnBrk="0" hangingPunct="0">
              <a:lnSpc>
                <a:spcPct val="110000"/>
              </a:lnSpc>
              <a:spcBef>
                <a:spcPts val="0"/>
              </a:spcBef>
              <a:spcAft>
                <a:spcPts val="0"/>
              </a:spcAft>
              <a:buClr>
                <a:srgbClr val="006699"/>
              </a:buClr>
              <a:buFontTx/>
              <a:buChar char="•"/>
              <a:defRPr/>
            </a:pPr>
            <a:r>
              <a:rPr lang="fr-FR" sz="2400" dirty="0" smtClean="0">
                <a:latin typeface="Segoe UI" pitchFamily="34" charset="0"/>
                <a:ea typeface="Segoe UI" pitchFamily="34" charset="0"/>
                <a:cs typeface="Segoe UI" pitchFamily="34" charset="0"/>
              </a:rPr>
              <a:t>Aide les administrateurs à contrôler la façon dont les utilisateurs accèdent et utilisent des fichiers de type :</a:t>
            </a:r>
            <a:br>
              <a:rPr lang="fr-FR" sz="2400" dirty="0" smtClean="0">
                <a:latin typeface="Segoe UI" pitchFamily="34" charset="0"/>
                <a:ea typeface="Segoe UI" pitchFamily="34" charset="0"/>
                <a:cs typeface="Segoe UI" pitchFamily="34" charset="0"/>
              </a:rPr>
            </a:br>
            <a:endParaRPr lang="fr-FR" sz="500" dirty="0" smtClean="0">
              <a:solidFill>
                <a:srgbClr val="000000"/>
              </a:solidFill>
              <a:latin typeface="Segoe UI" pitchFamily="34" charset="0"/>
              <a:ea typeface="Segoe UI" pitchFamily="34" charset="0"/>
              <a:cs typeface="Segoe UI" pitchFamily="34" charset="0"/>
            </a:endParaRPr>
          </a:p>
          <a:p>
            <a:pPr marL="637200" lvl="1" indent="-180000" eaLnBrk="0" hangingPunct="0">
              <a:lnSpc>
                <a:spcPct val="110000"/>
              </a:lnSpc>
              <a:spcBef>
                <a:spcPts val="0"/>
              </a:spcBef>
              <a:spcAft>
                <a:spcPts val="0"/>
              </a:spcAft>
              <a:buClr>
                <a:srgbClr val="006699"/>
              </a:buClr>
              <a:buFontTx/>
              <a:buChar char="•"/>
              <a:defRPr/>
            </a:pPr>
            <a:r>
              <a:rPr lang="fr-FR" sz="2200" dirty="0" smtClean="0">
                <a:latin typeface="Segoe UI" panose="020B0502040204020203" pitchFamily="34" charset="0"/>
                <a:cs typeface="Segoe UI" panose="020B0502040204020203" pitchFamily="34" charset="0"/>
              </a:rPr>
              <a:t>.</a:t>
            </a:r>
            <a:r>
              <a:rPr lang="fr-FR" sz="2200" dirty="0" err="1" smtClean="0">
                <a:latin typeface="Segoe UI" panose="020B0502040204020203" pitchFamily="34" charset="0"/>
                <a:cs typeface="Segoe UI" panose="020B0502040204020203" pitchFamily="34" charset="0"/>
              </a:rPr>
              <a:t>exe</a:t>
            </a:r>
            <a:r>
              <a:rPr lang="fr-FR" sz="2200" dirty="0" smtClean="0">
                <a:latin typeface="Segoe UI" panose="020B0502040204020203" pitchFamily="34" charset="0"/>
                <a:cs typeface="Segoe UI" panose="020B0502040204020203" pitchFamily="34" charset="0"/>
              </a:rPr>
              <a:t> files ,Scripts, </a:t>
            </a:r>
            <a:r>
              <a:rPr lang="fr-FR" sz="2200" dirty="0" err="1" smtClean="0">
                <a:latin typeface="Segoe UI" panose="020B0502040204020203" pitchFamily="34" charset="0"/>
                <a:cs typeface="Segoe UI" panose="020B0502040204020203" pitchFamily="34" charset="0"/>
              </a:rPr>
              <a:t>DLLs</a:t>
            </a:r>
            <a:r>
              <a:rPr lang="fr-FR" sz="2200" dirty="0" smtClean="0">
                <a:latin typeface="Segoe UI" panose="020B0502040204020203" pitchFamily="34" charset="0"/>
                <a:cs typeface="Segoe UI" panose="020B0502040204020203" pitchFamily="34" charset="0"/>
              </a:rPr>
              <a:t>, Windows Installer files, </a:t>
            </a:r>
            <a:r>
              <a:rPr lang="fr-FR" sz="2200" dirty="0" err="1" smtClean="0">
                <a:latin typeface="Segoe UI" panose="020B0502040204020203" pitchFamily="34" charset="0"/>
                <a:cs typeface="Segoe UI" panose="020B0502040204020203" pitchFamily="34" charset="0"/>
              </a:rPr>
              <a:t>Packaged</a:t>
            </a:r>
            <a:r>
              <a:rPr lang="fr-FR" sz="2200" dirty="0" smtClean="0">
                <a:latin typeface="Segoe UI" panose="020B0502040204020203" pitchFamily="34" charset="0"/>
                <a:cs typeface="Segoe UI" panose="020B0502040204020203" pitchFamily="34" charset="0"/>
              </a:rPr>
              <a:t> </a:t>
            </a:r>
            <a:r>
              <a:rPr lang="fr-FR" sz="2200" dirty="0" err="1" smtClean="0">
                <a:latin typeface="Segoe UI" panose="020B0502040204020203" pitchFamily="34" charset="0"/>
                <a:cs typeface="Segoe UI" panose="020B0502040204020203" pitchFamily="34" charset="0"/>
              </a:rPr>
              <a:t>apps</a:t>
            </a:r>
            <a:r>
              <a:rPr lang="fr-FR" sz="2200" dirty="0" smtClean="0">
                <a:latin typeface="Segoe UI" panose="020B0502040204020203" pitchFamily="34" charset="0"/>
                <a:cs typeface="Segoe UI" panose="020B0502040204020203" pitchFamily="34" charset="0"/>
              </a:rPr>
              <a:t> </a:t>
            </a:r>
          </a:p>
          <a:p>
            <a:pPr marL="180000" indent="-180000" eaLnBrk="0" hangingPunct="0">
              <a:lnSpc>
                <a:spcPct val="110000"/>
              </a:lnSpc>
              <a:spcBef>
                <a:spcPts val="0"/>
              </a:spcBef>
              <a:spcAft>
                <a:spcPts val="0"/>
              </a:spcAft>
              <a:buClr>
                <a:srgbClr val="006699"/>
              </a:buClr>
              <a:buFontTx/>
              <a:buChar char="•"/>
              <a:defRPr/>
            </a:pPr>
            <a:r>
              <a:rPr lang="fr-FR" sz="2400" dirty="0">
                <a:latin typeface="Segoe UI" pitchFamily="34" charset="0"/>
                <a:ea typeface="Segoe UI" pitchFamily="34" charset="0"/>
                <a:cs typeface="Segoe UI" pitchFamily="34" charset="0"/>
              </a:rPr>
              <a:t>R</a:t>
            </a:r>
            <a:r>
              <a:rPr lang="fr-FR" sz="2400" dirty="0" smtClean="0">
                <a:latin typeface="Segoe UI" pitchFamily="34" charset="0"/>
                <a:ea typeface="Segoe UI" pitchFamily="34" charset="0"/>
                <a:cs typeface="Segoe UI" pitchFamily="34" charset="0"/>
              </a:rPr>
              <a:t>ègles basées sur les attributs suivants :</a:t>
            </a:r>
            <a:br>
              <a:rPr lang="fr-FR" sz="2400" dirty="0" smtClean="0">
                <a:latin typeface="Segoe UI" pitchFamily="34" charset="0"/>
                <a:ea typeface="Segoe UI" pitchFamily="34" charset="0"/>
                <a:cs typeface="Segoe UI" pitchFamily="34" charset="0"/>
              </a:rPr>
            </a:br>
            <a:endParaRPr lang="fr-FR" sz="500" dirty="0" smtClean="0">
              <a:solidFill>
                <a:srgbClr val="000000"/>
              </a:solidFill>
              <a:latin typeface="Segoe UI" pitchFamily="34" charset="0"/>
              <a:ea typeface="Segoe UI" pitchFamily="34" charset="0"/>
              <a:cs typeface="Segoe UI" pitchFamily="34" charset="0"/>
            </a:endParaRPr>
          </a:p>
          <a:p>
            <a:pPr marL="637200" lvl="1" indent="-180000" eaLnBrk="0" hangingPunct="0">
              <a:lnSpc>
                <a:spcPct val="110000"/>
              </a:lnSpc>
              <a:spcBef>
                <a:spcPts val="0"/>
              </a:spcBef>
              <a:spcAft>
                <a:spcPts val="0"/>
              </a:spcAft>
              <a:buClr>
                <a:srgbClr val="006699"/>
              </a:buClr>
              <a:buFontTx/>
              <a:buChar char="•"/>
              <a:defRPr/>
            </a:pPr>
            <a:r>
              <a:rPr lang="fr-FR" sz="2200" dirty="0" smtClean="0">
                <a:latin typeface="Segoe UI" panose="020B0502040204020203" pitchFamily="34" charset="0"/>
                <a:cs typeface="Segoe UI" panose="020B0502040204020203" pitchFamily="34" charset="0"/>
              </a:rPr>
              <a:t>Nom de déploiement, nom du fichier, version du fichier, …</a:t>
            </a:r>
          </a:p>
          <a:p>
            <a:pPr marL="637200" lvl="1" indent="-180000" eaLnBrk="0" hangingPunct="0">
              <a:lnSpc>
                <a:spcPct val="110000"/>
              </a:lnSpc>
              <a:spcBef>
                <a:spcPts val="0"/>
              </a:spcBef>
              <a:spcAft>
                <a:spcPts val="0"/>
              </a:spcAft>
              <a:buClr>
                <a:srgbClr val="006699"/>
              </a:buClr>
              <a:buFontTx/>
              <a:buChar char="•"/>
              <a:defRPr/>
            </a:pPr>
            <a:endParaRPr lang="fr-FR" sz="2200" dirty="0" smtClean="0">
              <a:latin typeface="Segoe UI" panose="020B0502040204020203" pitchFamily="34" charset="0"/>
              <a:cs typeface="Segoe UI" panose="020B0502040204020203" pitchFamily="34" charset="0"/>
            </a:endParaRPr>
          </a:p>
          <a:p>
            <a:pPr lvl="1" eaLnBrk="0" hangingPunct="0">
              <a:lnSpc>
                <a:spcPct val="110000"/>
              </a:lnSpc>
              <a:spcBef>
                <a:spcPts val="0"/>
              </a:spcBef>
              <a:spcAft>
                <a:spcPts val="0"/>
              </a:spcAft>
              <a:buClr>
                <a:srgbClr val="006699"/>
              </a:buClr>
              <a:defRPr/>
            </a:pPr>
            <a:endParaRPr lang="fr-FR" sz="2200" dirty="0" smtClean="0">
              <a:latin typeface="Segoe UI" panose="020B0502040204020203" pitchFamily="34" charset="0"/>
              <a:cs typeface="Segoe UI" panose="020B0502040204020203" pitchFamily="34" charset="0"/>
            </a:endParaRPr>
          </a:p>
          <a:p>
            <a:pPr lvl="0" eaLnBrk="0" fontAlgn="auto" hangingPunct="0">
              <a:lnSpc>
                <a:spcPct val="90000"/>
              </a:lnSpc>
              <a:spcBef>
                <a:spcPct val="40000"/>
              </a:spcBef>
              <a:spcAft>
                <a:spcPts val="0"/>
              </a:spcAft>
              <a:buClr>
                <a:srgbClr val="006699"/>
              </a:buClr>
            </a:pPr>
            <a:r>
              <a:rPr lang="fr-FR" sz="2200" b="1" dirty="0" smtClean="0">
                <a:solidFill>
                  <a:srgbClr val="000000"/>
                </a:solidFill>
                <a:latin typeface="Segoe UI" panose="020B0502040204020203" pitchFamily="34" charset="0"/>
                <a:cs typeface="Segoe UI" panose="020B0502040204020203" pitchFamily="34" charset="0"/>
              </a:rPr>
              <a:t>GPMC</a:t>
            </a:r>
            <a:r>
              <a:rPr lang="fr-FR" sz="2200" dirty="0" smtClean="0">
                <a:solidFill>
                  <a:srgbClr val="000000"/>
                </a:solidFill>
                <a:latin typeface="Segoe UI" panose="020B0502040204020203" pitchFamily="34" charset="0"/>
                <a:cs typeface="Segoe UI" panose="020B0502040204020203" pitchFamily="34" charset="0"/>
              </a:rPr>
              <a:t> : Configuration\</a:t>
            </a:r>
            <a:r>
              <a:rPr lang="fr-FR" sz="2200" dirty="0" err="1" smtClean="0">
                <a:solidFill>
                  <a:srgbClr val="000000"/>
                </a:solidFill>
                <a:latin typeface="Segoe UI" panose="020B0502040204020203" pitchFamily="34" charset="0"/>
                <a:cs typeface="Segoe UI" panose="020B0502040204020203" pitchFamily="34" charset="0"/>
              </a:rPr>
              <a:t>Policies</a:t>
            </a:r>
            <a:r>
              <a:rPr lang="fr-FR" sz="2200" dirty="0" smtClean="0">
                <a:solidFill>
                  <a:srgbClr val="000000"/>
                </a:solidFill>
                <a:latin typeface="Segoe UI" panose="020B0502040204020203" pitchFamily="34" charset="0"/>
                <a:cs typeface="Segoe UI" panose="020B0502040204020203" pitchFamily="34" charset="0"/>
              </a:rPr>
              <a:t>\Windows Settings\Security Settings\</a:t>
            </a:r>
            <a:r>
              <a:rPr lang="fr-FR" sz="2400" dirty="0" smtClean="0">
                <a:latin typeface="Segoe UI" panose="020B0502040204020203" pitchFamily="34" charset="0"/>
                <a:cs typeface="Segoe UI" panose="020B0502040204020203" pitchFamily="34" charset="0"/>
              </a:rPr>
              <a:t>Application Control </a:t>
            </a:r>
            <a:r>
              <a:rPr lang="fr-FR" sz="2400" dirty="0" err="1" smtClean="0">
                <a:latin typeface="Segoe UI" panose="020B0502040204020203" pitchFamily="34" charset="0"/>
                <a:cs typeface="Segoe UI" panose="020B0502040204020203" pitchFamily="34" charset="0"/>
              </a:rPr>
              <a:t>Policies</a:t>
            </a:r>
            <a:endParaRPr lang="fr-FR" sz="2400" dirty="0" smtClean="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738127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fd1bb863-70a4-4eb8-bea2-19679e8072eb">
    <p:spTree>
      <p:nvGrpSpPr>
        <p:cNvPr id="1" name=""/>
        <p:cNvGrpSpPr/>
        <p:nvPr/>
      </p:nvGrpSpPr>
      <p:grpSpPr>
        <a:xfrm>
          <a:off x="0" y="0"/>
          <a:ext cx="0" cy="0"/>
          <a:chOff x="0" y="0"/>
          <a:chExt cx="0" cy="0"/>
        </a:xfrm>
      </p:grpSpPr>
      <p:sp>
        <p:nvSpPr>
          <p:cNvPr id="2" name="Title 1"/>
          <p:cNvSpPr>
            <a:spLocks noGrp="1"/>
          </p:cNvSpPr>
          <p:nvPr>
            <p:ph type="title"/>
          </p:nvPr>
        </p:nvSpPr>
        <p:spPr>
          <a:xfrm>
            <a:off x="460374" y="-2"/>
            <a:ext cx="8360097" cy="740664"/>
          </a:xfrm>
        </p:spPr>
        <p:txBody>
          <a:bodyPr/>
          <a:lstStyle/>
          <a:p>
            <a:r>
              <a:rPr lang="en-CA" dirty="0" smtClean="0"/>
              <a:t>Windows </a:t>
            </a:r>
            <a:r>
              <a:rPr lang="en-CA" dirty="0" smtClean="0"/>
              <a:t>Firewall with Advanced </a:t>
            </a:r>
            <a:r>
              <a:rPr lang="en-CA" dirty="0" smtClean="0"/>
              <a:t>Security</a:t>
            </a:r>
            <a:endParaRPr lang="en-CA" dirty="0"/>
          </a:p>
        </p:txBody>
      </p:sp>
      <p:pic>
        <p:nvPicPr>
          <p:cNvPr id="4" name="alt text here, screen shot" descr="Screen shot of Windows Firewall with Advanced Security."/>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809" r="824" b="4549"/>
          <a:stretch/>
        </p:blipFill>
        <p:spPr bwMode="auto">
          <a:xfrm>
            <a:off x="467544" y="1260348"/>
            <a:ext cx="8463300" cy="5048972"/>
          </a:xfrm>
          <a:prstGeom prst="rect">
            <a:avLst/>
          </a:prstGeom>
          <a:noFill/>
          <a:ln w="28575">
            <a:solidFill>
              <a:srgbClr val="75C3D8"/>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494248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24f539fa-8f1b-497c-9215-925e4ac4f1e5">
    <p:spTree>
      <p:nvGrpSpPr>
        <p:cNvPr id="1" name=""/>
        <p:cNvGrpSpPr/>
        <p:nvPr/>
      </p:nvGrpSpPr>
      <p:grpSpPr>
        <a:xfrm>
          <a:off x="0" y="0"/>
          <a:ext cx="0" cy="0"/>
          <a:chOff x="0" y="0"/>
          <a:chExt cx="0" cy="0"/>
        </a:xfrm>
      </p:grpSpPr>
      <p:sp>
        <p:nvSpPr>
          <p:cNvPr id="2" name="Title 1"/>
          <p:cNvSpPr>
            <a:spLocks noGrp="1"/>
          </p:cNvSpPr>
          <p:nvPr>
            <p:ph type="title"/>
          </p:nvPr>
        </p:nvSpPr>
        <p:spPr>
          <a:xfrm>
            <a:off x="460374" y="-2"/>
            <a:ext cx="8360097" cy="740664"/>
          </a:xfrm>
        </p:spPr>
        <p:txBody>
          <a:bodyPr/>
          <a:lstStyle/>
          <a:p>
            <a:r>
              <a:rPr lang="fr-FR" dirty="0" smtClean="0"/>
              <a:t>Règles entrantes et sortantes</a:t>
            </a:r>
            <a:endParaRPr lang="fr-FR" dirty="0"/>
          </a:p>
        </p:txBody>
      </p:sp>
      <p:sp>
        <p:nvSpPr>
          <p:cNvPr id="4" name="text box"/>
          <p:cNvSpPr>
            <a:spLocks noGrp="1"/>
          </p:cNvSpPr>
          <p:nvPr/>
        </p:nvSpPr>
        <p:spPr bwMode="auto">
          <a:xfrm>
            <a:off x="433848" y="1021214"/>
            <a:ext cx="8602647" cy="583678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r>
              <a:rPr lang="fr-FR" b="1" dirty="0" smtClean="0"/>
              <a:t>Les règles entrantes </a:t>
            </a:r>
            <a:r>
              <a:rPr lang="fr-FR" dirty="0" smtClean="0"/>
              <a:t>contrôlent la communication d’un ordinateur du réseau vers l'ordinateur hôte. </a:t>
            </a:r>
            <a:br>
              <a:rPr lang="fr-FR" dirty="0" smtClean="0"/>
            </a:br>
            <a:r>
              <a:rPr lang="fr-FR" dirty="0" smtClean="0"/>
              <a:t>Par défaut, toutes les communications entrantes sont </a:t>
            </a:r>
            <a:r>
              <a:rPr lang="fr-FR" u="sng" dirty="0" smtClean="0"/>
              <a:t>bloquées</a:t>
            </a:r>
            <a:r>
              <a:rPr lang="fr-FR" dirty="0" smtClean="0"/>
              <a:t>, sauf le trafic autorisé explicitement par une règle entrante.</a:t>
            </a:r>
          </a:p>
          <a:p>
            <a:endParaRPr lang="fr-FR" dirty="0" smtClean="0"/>
          </a:p>
          <a:p>
            <a:r>
              <a:rPr lang="fr-FR" b="1" dirty="0" smtClean="0"/>
              <a:t>Les règles sortantes</a:t>
            </a:r>
            <a:r>
              <a:rPr lang="fr-FR" dirty="0" smtClean="0"/>
              <a:t> contrôlent la communication lancée par l'ordinateur hôte et destinée à un ordinateur du réseau. </a:t>
            </a:r>
            <a:br>
              <a:rPr lang="fr-FR" dirty="0" smtClean="0"/>
            </a:br>
            <a:r>
              <a:rPr lang="fr-FR" dirty="0" smtClean="0"/>
              <a:t>Par défaut, toutes les communications sortantes sont </a:t>
            </a:r>
            <a:r>
              <a:rPr lang="fr-FR" u="sng" dirty="0" smtClean="0"/>
              <a:t>autorisées</a:t>
            </a:r>
            <a:r>
              <a:rPr lang="fr-FR" dirty="0" smtClean="0"/>
              <a:t>, sauf le trafic qui est explicitement bloqué par une règle de sortie.</a:t>
            </a:r>
            <a:endParaRPr lang="fr-FR" dirty="0"/>
          </a:p>
        </p:txBody>
      </p:sp>
    </p:spTree>
    <p:extLst>
      <p:ext uri="{BB962C8B-B14F-4D97-AF65-F5344CB8AC3E}">
        <p14:creationId xmlns:p14="http://schemas.microsoft.com/office/powerpoint/2010/main" val="33916040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3ad92b55-4389-498a-b4c3-cff460feb3ab">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smtClean="0"/>
              <a:t>Les profils</a:t>
            </a:r>
            <a:endParaRPr lang="fr-FR" dirty="0"/>
          </a:p>
        </p:txBody>
      </p:sp>
      <p:sp>
        <p:nvSpPr>
          <p:cNvPr id="4" name="AutoShape 2"/>
          <p:cNvSpPr>
            <a:spLocks noChangeArrowheads="1"/>
          </p:cNvSpPr>
          <p:nvPr/>
        </p:nvSpPr>
        <p:spPr bwMode="auto">
          <a:xfrm>
            <a:off x="263236" y="968025"/>
            <a:ext cx="7776509" cy="3529160"/>
          </a:xfrm>
          <a:prstGeom prst="roundRect">
            <a:avLst>
              <a:gd name="adj" fmla="val 7389"/>
            </a:avLst>
          </a:prstGeom>
          <a:ln>
            <a:headEnd/>
            <a:tailEn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anchor="ctr" anchorCtr="0" compatLnSpc="1">
            <a:prstTxWarp prst="textNoShape">
              <a:avLst/>
            </a:prstTxWarp>
          </a:bodyPr>
          <a:lstStyle>
            <a:defPPr>
              <a:defRPr lang="en-US"/>
            </a:defPPr>
            <a:lvl1pPr algn="l" rtl="0" fontAlgn="base">
              <a:spcBef>
                <a:spcPct val="0"/>
              </a:spcBef>
              <a:spcAft>
                <a:spcPct val="0"/>
              </a:spcAft>
              <a:defRPr b="1" kern="1200">
                <a:solidFill>
                  <a:schemeClr val="dk1"/>
                </a:solidFill>
                <a:latin typeface="+mn-lt"/>
                <a:ea typeface="+mn-ea"/>
                <a:cs typeface="+mn-cs"/>
              </a:defRPr>
            </a:lvl1pPr>
            <a:lvl2pPr marL="457200" algn="l" rtl="0" fontAlgn="base">
              <a:spcBef>
                <a:spcPct val="0"/>
              </a:spcBef>
              <a:spcAft>
                <a:spcPct val="0"/>
              </a:spcAft>
              <a:defRPr b="1" kern="1200">
                <a:solidFill>
                  <a:schemeClr val="dk1"/>
                </a:solidFill>
                <a:latin typeface="+mn-lt"/>
                <a:ea typeface="+mn-ea"/>
                <a:cs typeface="+mn-cs"/>
              </a:defRPr>
            </a:lvl2pPr>
            <a:lvl3pPr marL="914400" algn="l" rtl="0" fontAlgn="base">
              <a:spcBef>
                <a:spcPct val="0"/>
              </a:spcBef>
              <a:spcAft>
                <a:spcPct val="0"/>
              </a:spcAft>
              <a:defRPr b="1" kern="1200">
                <a:solidFill>
                  <a:schemeClr val="dk1"/>
                </a:solidFill>
                <a:latin typeface="+mn-lt"/>
                <a:ea typeface="+mn-ea"/>
                <a:cs typeface="+mn-cs"/>
              </a:defRPr>
            </a:lvl3pPr>
            <a:lvl4pPr marL="1371600" algn="l" rtl="0" fontAlgn="base">
              <a:spcBef>
                <a:spcPct val="0"/>
              </a:spcBef>
              <a:spcAft>
                <a:spcPct val="0"/>
              </a:spcAft>
              <a:defRPr b="1" kern="1200">
                <a:solidFill>
                  <a:schemeClr val="dk1"/>
                </a:solidFill>
                <a:latin typeface="+mn-lt"/>
                <a:ea typeface="+mn-ea"/>
                <a:cs typeface="+mn-cs"/>
              </a:defRPr>
            </a:lvl4pPr>
            <a:lvl5pPr marL="1828800" algn="l" rtl="0" fontAlgn="base">
              <a:spcBef>
                <a:spcPct val="0"/>
              </a:spcBef>
              <a:spcAft>
                <a:spcPct val="0"/>
              </a:spcAft>
              <a:defRPr b="1" kern="1200">
                <a:solidFill>
                  <a:schemeClr val="dk1"/>
                </a:solidFill>
                <a:latin typeface="+mn-lt"/>
                <a:ea typeface="+mn-ea"/>
                <a:cs typeface="+mn-cs"/>
              </a:defRPr>
            </a:lvl5pPr>
            <a:lvl6pPr marL="2286000" algn="l" defTabSz="914400" rtl="0" eaLnBrk="1" latinLnBrk="0" hangingPunct="1">
              <a:defRPr b="1" kern="1200">
                <a:solidFill>
                  <a:schemeClr val="dk1"/>
                </a:solidFill>
                <a:latin typeface="+mn-lt"/>
                <a:ea typeface="+mn-ea"/>
                <a:cs typeface="+mn-cs"/>
              </a:defRPr>
            </a:lvl6pPr>
            <a:lvl7pPr marL="2743200" algn="l" defTabSz="914400" rtl="0" eaLnBrk="1" latinLnBrk="0" hangingPunct="1">
              <a:defRPr b="1" kern="1200">
                <a:solidFill>
                  <a:schemeClr val="dk1"/>
                </a:solidFill>
                <a:latin typeface="+mn-lt"/>
                <a:ea typeface="+mn-ea"/>
                <a:cs typeface="+mn-cs"/>
              </a:defRPr>
            </a:lvl7pPr>
            <a:lvl8pPr marL="3200400" algn="l" defTabSz="914400" rtl="0" eaLnBrk="1" latinLnBrk="0" hangingPunct="1">
              <a:defRPr b="1" kern="1200">
                <a:solidFill>
                  <a:schemeClr val="dk1"/>
                </a:solidFill>
                <a:latin typeface="+mn-lt"/>
                <a:ea typeface="+mn-ea"/>
                <a:cs typeface="+mn-cs"/>
              </a:defRPr>
            </a:lvl8pPr>
            <a:lvl9pPr marL="3657600" algn="l" defTabSz="914400" rtl="0" eaLnBrk="1" latinLnBrk="0" hangingPunct="1">
              <a:defRPr b="1" kern="1200">
                <a:solidFill>
                  <a:schemeClr val="dk1"/>
                </a:solidFill>
                <a:latin typeface="+mn-lt"/>
                <a:ea typeface="+mn-ea"/>
                <a:cs typeface="+mn-cs"/>
              </a:defRPr>
            </a:lvl9pPr>
          </a:lstStyle>
          <a:p>
            <a:pPr marL="180000" indent="-180000">
              <a:lnSpc>
                <a:spcPct val="90000"/>
              </a:lnSpc>
              <a:spcBef>
                <a:spcPct val="40000"/>
              </a:spcBef>
              <a:buClr>
                <a:srgbClr val="569AD2"/>
              </a:buClr>
              <a:buSzPct val="90000"/>
              <a:buFont typeface="Arial" pitchFamily="34" charset="0"/>
              <a:buChar char="•"/>
              <a:defRPr/>
            </a:pPr>
            <a:r>
              <a:rPr lang="fr-FR" altLang="ja-JP" sz="2400" b="0" dirty="0" smtClean="0">
                <a:latin typeface="Segoe UI" pitchFamily="34" charset="0"/>
                <a:ea typeface="Segoe UI" pitchFamily="34" charset="0"/>
                <a:cs typeface="Segoe UI" pitchFamily="34" charset="0"/>
              </a:rPr>
              <a:t>Le pare-feu se configure selon trois profils :</a:t>
            </a:r>
          </a:p>
          <a:p>
            <a:pPr marL="540000" lvl="1" indent="-180000">
              <a:lnSpc>
                <a:spcPct val="90000"/>
              </a:lnSpc>
              <a:spcBef>
                <a:spcPct val="40000"/>
              </a:spcBef>
              <a:buClr>
                <a:srgbClr val="569AD2"/>
              </a:buClr>
              <a:buSzPct val="90000"/>
              <a:buFont typeface="Arial" pitchFamily="34" charset="0"/>
              <a:buChar char="•"/>
              <a:defRPr/>
            </a:pPr>
            <a:r>
              <a:rPr lang="fr-FR" altLang="ja-JP" sz="2200" b="0" dirty="0" err="1" smtClean="0">
                <a:latin typeface="Segoe UI" pitchFamily="34" charset="0"/>
                <a:ea typeface="Segoe UI" pitchFamily="34" charset="0"/>
                <a:cs typeface="Segoe UI" pitchFamily="34" charset="0"/>
              </a:rPr>
              <a:t>Private</a:t>
            </a:r>
            <a:endParaRPr lang="fr-FR" altLang="ja-JP" sz="2200" b="0" dirty="0" smtClean="0">
              <a:latin typeface="Segoe UI" pitchFamily="34" charset="0"/>
              <a:ea typeface="Segoe UI" pitchFamily="34" charset="0"/>
              <a:cs typeface="Segoe UI" pitchFamily="34" charset="0"/>
            </a:endParaRPr>
          </a:p>
          <a:p>
            <a:pPr marL="540000" lvl="1" indent="-180000">
              <a:lnSpc>
                <a:spcPct val="90000"/>
              </a:lnSpc>
              <a:spcBef>
                <a:spcPct val="40000"/>
              </a:spcBef>
              <a:buClr>
                <a:srgbClr val="569AD2"/>
              </a:buClr>
              <a:buSzPct val="90000"/>
              <a:buFont typeface="Arial" pitchFamily="34" charset="0"/>
              <a:buChar char="•"/>
              <a:defRPr/>
            </a:pPr>
            <a:r>
              <a:rPr lang="fr-FR" altLang="ja-JP" sz="2200" b="0" dirty="0" smtClean="0">
                <a:latin typeface="Segoe UI" pitchFamily="34" charset="0"/>
                <a:ea typeface="Segoe UI" pitchFamily="34" charset="0"/>
                <a:cs typeface="Segoe UI" pitchFamily="34" charset="0"/>
              </a:rPr>
              <a:t>Domain</a:t>
            </a:r>
          </a:p>
          <a:p>
            <a:pPr marL="540000" lvl="1" indent="-180000">
              <a:lnSpc>
                <a:spcPct val="90000"/>
              </a:lnSpc>
              <a:spcBef>
                <a:spcPct val="40000"/>
              </a:spcBef>
              <a:buClr>
                <a:srgbClr val="569AD2"/>
              </a:buClr>
              <a:buSzPct val="90000"/>
              <a:buFont typeface="Arial" pitchFamily="34" charset="0"/>
              <a:buChar char="•"/>
              <a:defRPr/>
            </a:pPr>
            <a:r>
              <a:rPr lang="fr-FR" altLang="ja-JP" sz="2200" b="0" dirty="0" smtClean="0">
                <a:latin typeface="Segoe UI" pitchFamily="34" charset="0"/>
                <a:ea typeface="Segoe UI" pitchFamily="34" charset="0"/>
                <a:cs typeface="Segoe UI" pitchFamily="34" charset="0"/>
              </a:rPr>
              <a:t>Public</a:t>
            </a:r>
            <a:br>
              <a:rPr lang="fr-FR" altLang="ja-JP" sz="2200" b="0" dirty="0" smtClean="0">
                <a:latin typeface="Segoe UI" pitchFamily="34" charset="0"/>
                <a:ea typeface="Segoe UI" pitchFamily="34" charset="0"/>
                <a:cs typeface="Segoe UI" pitchFamily="34" charset="0"/>
              </a:rPr>
            </a:br>
            <a:endParaRPr lang="fr-FR" altLang="ja-JP" sz="2200" b="0" dirty="0" smtClean="0">
              <a:latin typeface="Segoe UI" pitchFamily="34" charset="0"/>
              <a:ea typeface="Segoe UI" pitchFamily="34" charset="0"/>
              <a:cs typeface="Segoe UI" pitchFamily="34" charset="0"/>
            </a:endParaRPr>
          </a:p>
          <a:p>
            <a:pPr marL="180000" indent="-180000">
              <a:lnSpc>
                <a:spcPct val="90000"/>
              </a:lnSpc>
              <a:spcBef>
                <a:spcPct val="40000"/>
              </a:spcBef>
              <a:buClr>
                <a:srgbClr val="569AD2"/>
              </a:buClr>
              <a:buSzPct val="90000"/>
              <a:buFont typeface="Arial" pitchFamily="34" charset="0"/>
              <a:buChar char="•"/>
              <a:defRPr/>
            </a:pPr>
            <a:r>
              <a:rPr lang="fr-FR" sz="2400" b="0" dirty="0" smtClean="0">
                <a:latin typeface="Segoe UI" pitchFamily="34" charset="0"/>
                <a:ea typeface="Segoe UI" pitchFamily="34" charset="0"/>
                <a:cs typeface="Segoe UI" pitchFamily="34" charset="0"/>
              </a:rPr>
              <a:t>Ces trois profils peuvent être activés en même temps</a:t>
            </a:r>
            <a:endParaRPr lang="fr-FR" sz="2400" b="0" dirty="0">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25459992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32beb04e-de88-4546-9735-a3dc9e658b3a">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Connection Security Rules</a:t>
            </a:r>
            <a:endParaRPr lang="en-CA" dirty="0"/>
          </a:p>
        </p:txBody>
      </p:sp>
      <p:sp>
        <p:nvSpPr>
          <p:cNvPr id="4" name="Content Placeholder 2"/>
          <p:cNvSpPr>
            <a:spLocks noGrp="1"/>
          </p:cNvSpPr>
          <p:nvPr/>
        </p:nvSpPr>
        <p:spPr bwMode="auto">
          <a:xfrm>
            <a:off x="458788" y="1021214"/>
            <a:ext cx="8685212" cy="548118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lvl="0"/>
            <a:r>
              <a:rPr lang="fr-FR" sz="2400" dirty="0" smtClean="0"/>
              <a:t>Force l'authentification entre deux ordinateurs avant qu'ils puissent établir une connexion et transmettre des informations </a:t>
            </a:r>
            <a:endParaRPr lang="fr-FR" sz="2400" dirty="0" smtClean="0"/>
          </a:p>
          <a:p>
            <a:pPr lvl="0"/>
            <a:r>
              <a:rPr lang="fr-FR" sz="2400" dirty="0" smtClean="0"/>
              <a:t>Sélection parmi cinq types de connexion :</a:t>
            </a:r>
          </a:p>
          <a:p>
            <a:pPr lvl="1"/>
            <a:r>
              <a:rPr lang="fr-FR" sz="2200" i="1" dirty="0" smtClean="0"/>
              <a:t>Isolation</a:t>
            </a:r>
            <a:r>
              <a:rPr lang="fr-FR" sz="2200" dirty="0" smtClean="0"/>
              <a:t> : </a:t>
            </a:r>
            <a:r>
              <a:rPr lang="fr-BE" sz="2200" dirty="0"/>
              <a:t>restreignant les connexions basées sur des informations d'identification telles que l'appartenance au domaine ou l'état de </a:t>
            </a:r>
            <a:r>
              <a:rPr lang="fr-BE" sz="2200" dirty="0" smtClean="0"/>
              <a:t>santé</a:t>
            </a:r>
            <a:endParaRPr lang="fr-FR" sz="2200" dirty="0" smtClean="0"/>
          </a:p>
          <a:p>
            <a:pPr lvl="1"/>
            <a:r>
              <a:rPr lang="fr-FR" sz="2200" i="1" dirty="0" err="1"/>
              <a:t>Authentication</a:t>
            </a:r>
            <a:r>
              <a:rPr lang="fr-FR" sz="2200" i="1" dirty="0"/>
              <a:t> </a:t>
            </a:r>
            <a:r>
              <a:rPr lang="fr-FR" sz="2200" i="1" dirty="0" smtClean="0"/>
              <a:t>Exemption </a:t>
            </a:r>
            <a:r>
              <a:rPr lang="fr-FR" sz="2200" dirty="0" smtClean="0"/>
              <a:t>: concerne les </a:t>
            </a:r>
            <a:r>
              <a:rPr lang="fr-BE" sz="2200" dirty="0" smtClean="0"/>
              <a:t>connexions </a:t>
            </a:r>
            <a:r>
              <a:rPr lang="fr-BE" sz="2200" dirty="0"/>
              <a:t>qui ne nécessitent pas d'authentification</a:t>
            </a:r>
            <a:endParaRPr lang="fr-FR" sz="2200" dirty="0" smtClean="0"/>
          </a:p>
          <a:p>
            <a:pPr lvl="1"/>
            <a:r>
              <a:rPr lang="fr-FR" sz="2200" i="1" dirty="0" smtClean="0"/>
              <a:t>Server-to-Server</a:t>
            </a:r>
            <a:r>
              <a:rPr lang="fr-FR" sz="2200" dirty="0" smtClean="0"/>
              <a:t> : </a:t>
            </a:r>
            <a:r>
              <a:rPr lang="fr-BE" sz="2200" dirty="0"/>
              <a:t>protège les connexions entre des ordinateurs </a:t>
            </a:r>
            <a:r>
              <a:rPr lang="fr-BE" sz="2200" dirty="0" smtClean="0"/>
              <a:t>spécifiques où </a:t>
            </a:r>
            <a:r>
              <a:rPr lang="fr-BE" sz="2200" dirty="0"/>
              <a:t>l’on peut </a:t>
            </a:r>
            <a:r>
              <a:rPr lang="fr-BE" sz="2200" dirty="0" smtClean="0"/>
              <a:t>désigner les </a:t>
            </a:r>
            <a:r>
              <a:rPr lang="fr-BE" sz="2200" dirty="0"/>
              <a:t>exigences </a:t>
            </a:r>
            <a:r>
              <a:rPr lang="fr-BE" sz="2200" dirty="0" smtClean="0"/>
              <a:t>d'authentification</a:t>
            </a:r>
            <a:endParaRPr lang="fr-FR" sz="2200" dirty="0" smtClean="0"/>
          </a:p>
          <a:p>
            <a:pPr lvl="1"/>
            <a:r>
              <a:rPr lang="fr-FR" sz="2200" i="1" dirty="0" smtClean="0"/>
              <a:t>Tunnel</a:t>
            </a:r>
            <a:r>
              <a:rPr lang="fr-FR" sz="2200" dirty="0" smtClean="0"/>
              <a:t> : </a:t>
            </a:r>
            <a:r>
              <a:rPr lang="fr-BE" sz="2200" dirty="0" err="1" smtClean="0"/>
              <a:t>protége</a:t>
            </a:r>
            <a:r>
              <a:rPr lang="fr-BE" sz="2200" dirty="0" smtClean="0"/>
              <a:t> </a:t>
            </a:r>
            <a:r>
              <a:rPr lang="fr-BE" sz="2200" dirty="0"/>
              <a:t>les connexions entre </a:t>
            </a:r>
            <a:r>
              <a:rPr lang="fr-BE" sz="2200" dirty="0" smtClean="0"/>
              <a:t>ordinateurs passerelle</a:t>
            </a:r>
            <a:endParaRPr lang="fr-FR" sz="2200" dirty="0" smtClean="0"/>
          </a:p>
          <a:p>
            <a:pPr lvl="1"/>
            <a:r>
              <a:rPr lang="fr-FR" sz="2200" i="1" dirty="0" smtClean="0"/>
              <a:t>Custom</a:t>
            </a:r>
            <a:r>
              <a:rPr lang="fr-FR" sz="2200" dirty="0" smtClean="0"/>
              <a:t> : lorsque les quatre autres types ne répondent pas aux besoins</a:t>
            </a:r>
            <a:endParaRPr lang="fr-FR" sz="2200" dirty="0" smtClean="0"/>
          </a:p>
        </p:txBody>
      </p:sp>
    </p:spTree>
    <p:extLst>
      <p:ext uri="{BB962C8B-B14F-4D97-AF65-F5344CB8AC3E}">
        <p14:creationId xmlns:p14="http://schemas.microsoft.com/office/powerpoint/2010/main" val="35232090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3ccdfec0-f39b-465c-89e4-4bc15aa6dc50">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Demonstration: Implementing Secured Network Traffic with Windows Firewall</a:t>
            </a:r>
            <a:endParaRPr lang="en-CA" dirty="0"/>
          </a:p>
        </p:txBody>
      </p:sp>
      <p:sp>
        <p:nvSpPr>
          <p:cNvPr id="4" name="Content Placeholder 2"/>
          <p:cNvSpPr>
            <a:spLocks noGrp="1"/>
          </p:cNvSpPr>
          <p:nvPr/>
        </p:nvSpPr>
        <p:spPr bwMode="auto">
          <a:xfrm>
            <a:off x="433849"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indent="0">
              <a:buNone/>
            </a:pPr>
            <a:r>
              <a:rPr lang="en-US" dirty="0" smtClean="0"/>
              <a:t>In this demonstration, you will see how to:</a:t>
            </a:r>
          </a:p>
          <a:p>
            <a:pPr marL="540000" lvl="1" indent="-180000"/>
            <a:r>
              <a:rPr lang="en-US" sz="2600" dirty="0" smtClean="0"/>
              <a:t>Check to see if ICMP v4 is blocked</a:t>
            </a:r>
          </a:p>
          <a:p>
            <a:pPr marL="540000" lvl="1" indent="-180000"/>
            <a:r>
              <a:rPr lang="en-US" sz="2600" dirty="0" smtClean="0"/>
              <a:t>Enable ICMP v4 from LON-CL2 to LON-SVR2</a:t>
            </a:r>
          </a:p>
          <a:p>
            <a:pPr marL="540000" lvl="1" indent="-180000"/>
            <a:r>
              <a:rPr lang="en-US" sz="2600" dirty="0"/>
              <a:t>Create a connection security </a:t>
            </a:r>
            <a:r>
              <a:rPr lang="en-US" sz="2600" dirty="0" smtClean="0"/>
              <a:t>rule so that traffic is authenticated to the destination host</a:t>
            </a:r>
          </a:p>
          <a:p>
            <a:pPr marL="540000" lvl="1" indent="-180000"/>
            <a:r>
              <a:rPr lang="en-US" sz="2600" dirty="0" smtClean="0"/>
              <a:t>Validate ICMP v4 after the connection security rule is in place</a:t>
            </a:r>
            <a:endParaRPr lang="en-US" sz="2600" dirty="0"/>
          </a:p>
        </p:txBody>
      </p:sp>
    </p:spTree>
    <p:extLst>
      <p:ext uri="{BB962C8B-B14F-4D97-AF65-F5344CB8AC3E}">
        <p14:creationId xmlns:p14="http://schemas.microsoft.com/office/powerpoint/2010/main" val="1702143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CA" dirty="0"/>
          </a:p>
        </p:txBody>
      </p:sp>
      <p:sp>
        <p:nvSpPr>
          <p:cNvPr id="3" name="Text Placeholder 2"/>
          <p:cNvSpPr>
            <a:spLocks noGrp="1"/>
          </p:cNvSpPr>
          <p:nvPr>
            <p:ph type="body" idx="1"/>
          </p:nvPr>
        </p:nvSpPr>
        <p:spPr/>
        <p:txBody>
          <a:bodyPr/>
          <a:lstStyle/>
          <a:p>
            <a:endParaRPr lang="en-CA" dirty="0"/>
          </a:p>
        </p:txBody>
      </p:sp>
    </p:spTree>
    <p:extLst>
      <p:ext uri="{BB962C8B-B14F-4D97-AF65-F5344CB8AC3E}">
        <p14:creationId xmlns:p14="http://schemas.microsoft.com/office/powerpoint/2010/main" val="223778993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CA" dirty="0"/>
          </a:p>
        </p:txBody>
      </p:sp>
      <p:sp>
        <p:nvSpPr>
          <p:cNvPr id="3" name="Text Placeholder 2"/>
          <p:cNvSpPr>
            <a:spLocks noGrp="1"/>
          </p:cNvSpPr>
          <p:nvPr>
            <p:ph type="body" idx="1"/>
          </p:nvPr>
        </p:nvSpPr>
        <p:spPr/>
        <p:txBody>
          <a:bodyPr/>
          <a:lstStyle/>
          <a:p>
            <a:endParaRPr lang="en-CA" dirty="0"/>
          </a:p>
        </p:txBody>
      </p:sp>
    </p:spTree>
    <p:extLst>
      <p:ext uri="{BB962C8B-B14F-4D97-AF65-F5344CB8AC3E}">
        <p14:creationId xmlns:p14="http://schemas.microsoft.com/office/powerpoint/2010/main" val="247024453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theme/theme1.xml><?xml version="1.0" encoding="utf-8"?>
<a:theme xmlns:a="http://schemas.openxmlformats.org/drawingml/2006/main" name="Presentation1">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NG_MOC_Core_ModuleNew</Template>
  <TotalTime>1310</TotalTime>
  <Words>2050</Words>
  <Application>Microsoft Office PowerPoint</Application>
  <PresentationFormat>Affichage à l'écran (4:3)</PresentationFormat>
  <Paragraphs>278</Paragraphs>
  <Slides>16</Slides>
  <Notes>16</Notes>
  <HiddenSlides>2</HiddenSlides>
  <MMClips>0</MMClips>
  <ScaleCrop>false</ScaleCrop>
  <HeadingPairs>
    <vt:vector size="6" baseType="variant">
      <vt:variant>
        <vt:lpstr>Polices utilisées</vt:lpstr>
      </vt:variant>
      <vt:variant>
        <vt:i4>9</vt:i4>
      </vt:variant>
      <vt:variant>
        <vt:lpstr>Thème</vt:lpstr>
      </vt:variant>
      <vt:variant>
        <vt:i4>1</vt:i4>
      </vt:variant>
      <vt:variant>
        <vt:lpstr>Titres des diapositives</vt:lpstr>
      </vt:variant>
      <vt:variant>
        <vt:i4>16</vt:i4>
      </vt:variant>
    </vt:vector>
  </HeadingPairs>
  <TitlesOfParts>
    <vt:vector size="26" baseType="lpstr">
      <vt:lpstr>Arial</vt:lpstr>
      <vt:lpstr>Symbol</vt:lpstr>
      <vt:lpstr>Segoe UI Light</vt:lpstr>
      <vt:lpstr>Calibri</vt:lpstr>
      <vt:lpstr>Verdana</vt:lpstr>
      <vt:lpstr>Segoe Light</vt:lpstr>
      <vt:lpstr>Times New Roman</vt:lpstr>
      <vt:lpstr>Wingdings</vt:lpstr>
      <vt:lpstr>Segoe UI</vt:lpstr>
      <vt:lpstr>Presentation1</vt:lpstr>
      <vt:lpstr>Module 12</vt:lpstr>
      <vt:lpstr>Défense avancée pour augmenter la sécurité</vt:lpstr>
      <vt:lpstr>Security Templates</vt:lpstr>
      <vt:lpstr>Security Compliance Manager</vt:lpstr>
      <vt:lpstr>Droits Utilisateur</vt:lpstr>
      <vt:lpstr>Options de sécurité</vt:lpstr>
      <vt:lpstr>User Account Control</vt:lpstr>
      <vt:lpstr>Software Restriction Policies</vt:lpstr>
      <vt:lpstr>AppLocker</vt:lpstr>
      <vt:lpstr>Windows Firewall with Advanced Security</vt:lpstr>
      <vt:lpstr>Règles entrantes et sortantes</vt:lpstr>
      <vt:lpstr>Les profils</vt:lpstr>
      <vt:lpstr>Connection Security Rules</vt:lpstr>
      <vt:lpstr>Demonstration: Implementing Secured Network Traffic with Windows Firewall</vt:lpstr>
      <vt:lpstr>Présentation PowerPoint</vt:lpstr>
      <vt:lpstr>Présentation PowerPoint</vt:lpstr>
    </vt:vector>
  </TitlesOfParts>
  <Company>Microsoft Corporation</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12</dc:title>
  <dc:creator>Colleen Walsh</dc:creator>
  <cp:lastModifiedBy>Sergio Rodrigues</cp:lastModifiedBy>
  <cp:revision>47</cp:revision>
  <dcterms:created xsi:type="dcterms:W3CDTF">2014-03-06T06:19:46Z</dcterms:created>
  <dcterms:modified xsi:type="dcterms:W3CDTF">2017-06-29T05:32:33Z</dcterms:modified>
</cp:coreProperties>
</file>