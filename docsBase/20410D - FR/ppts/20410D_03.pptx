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48"/>
  </p:notesMasterIdLst>
  <p:sldIdLst>
    <p:sldId id="256" r:id="rId2"/>
    <p:sldId id="257" r:id="rId3"/>
    <p:sldId id="258" r:id="rId4"/>
    <p:sldId id="259" r:id="rId5"/>
    <p:sldId id="260" r:id="rId6"/>
    <p:sldId id="308" r:id="rId7"/>
    <p:sldId id="309" r:id="rId8"/>
    <p:sldId id="310" r:id="rId9"/>
    <p:sldId id="311" r:id="rId10"/>
    <p:sldId id="263" r:id="rId11"/>
    <p:sldId id="295" r:id="rId12"/>
    <p:sldId id="296" r:id="rId13"/>
    <p:sldId id="297" r:id="rId14"/>
    <p:sldId id="264" r:id="rId15"/>
    <p:sldId id="312" r:id="rId16"/>
    <p:sldId id="313" r:id="rId17"/>
    <p:sldId id="265" r:id="rId18"/>
    <p:sldId id="266" r:id="rId19"/>
    <p:sldId id="267" r:id="rId20"/>
    <p:sldId id="268" r:id="rId21"/>
    <p:sldId id="274" r:id="rId22"/>
    <p:sldId id="275" r:id="rId23"/>
    <p:sldId id="276" r:id="rId24"/>
    <p:sldId id="299" r:id="rId25"/>
    <p:sldId id="277" r:id="rId26"/>
    <p:sldId id="278" r:id="rId27"/>
    <p:sldId id="279" r:id="rId28"/>
    <p:sldId id="314" r:id="rId29"/>
    <p:sldId id="281" r:id="rId30"/>
    <p:sldId id="282" r:id="rId31"/>
    <p:sldId id="283" r:id="rId32"/>
    <p:sldId id="285" r:id="rId33"/>
    <p:sldId id="286" r:id="rId34"/>
    <p:sldId id="287" r:id="rId35"/>
    <p:sldId id="288" r:id="rId36"/>
    <p:sldId id="289" r:id="rId37"/>
    <p:sldId id="301" r:id="rId38"/>
    <p:sldId id="302" r:id="rId39"/>
    <p:sldId id="290" r:id="rId40"/>
    <p:sldId id="291" r:id="rId41"/>
    <p:sldId id="293" r:id="rId42"/>
    <p:sldId id="294" r:id="rId43"/>
    <p:sldId id="304" r:id="rId44"/>
    <p:sldId id="305" r:id="rId45"/>
    <p:sldId id="306" r:id="rId46"/>
    <p:sldId id="307" r:id="rId47"/>
  </p:sldIdLst>
  <p:sldSz cx="9144000" cy="6858000" type="screen4x3"/>
  <p:notesSz cx="6858000" cy="9144000"/>
  <p:embeddedFontLst>
    <p:embeddedFont>
      <p:font typeface="Segoe" panose="020B0604020202020204" charset="0"/>
      <p:regular r:id="rId49"/>
      <p:bold r:id="rId50"/>
      <p:italic r:id="rId51"/>
      <p:boldItalic r:id="rId52"/>
    </p:embeddedFont>
    <p:embeddedFont>
      <p:font typeface="Lucida Sans Typewriter" panose="020B0509030504030204" pitchFamily="49" charset="0"/>
      <p:regular r:id="rId53"/>
      <p:bold r:id="rId54"/>
      <p:italic r:id="rId55"/>
      <p:boldItalic r:id="rId56"/>
    </p:embeddedFont>
    <p:embeddedFont>
      <p:font typeface="Segoe UI Light" panose="020B0502040204020203" pitchFamily="34" charset="0"/>
      <p:regular r:id="rId57"/>
      <p:italic r:id="rId58"/>
    </p:embeddedFont>
    <p:embeddedFont>
      <p:font typeface="Segoe UI" panose="020B0502040204020203" pitchFamily="34" charset="0"/>
      <p:regular r:id="rId59"/>
      <p:bold r:id="rId60"/>
      <p:italic r:id="rId61"/>
      <p:boldItalic r:id="rId62"/>
    </p:embeddedFont>
    <p:embeddedFont>
      <p:font typeface="Verdana" panose="020B0604030504040204" pitchFamily="34" charset="0"/>
      <p:regular r:id="rId63"/>
      <p:bold r:id="rId64"/>
      <p:italic r:id="rId65"/>
      <p:boldItalic r:id="rId66"/>
    </p:embeddedFont>
    <p:embeddedFont>
      <p:font typeface="Segoe Light" panose="020B0604020202020204" charset="0"/>
      <p:regular r:id="rId67"/>
      <p:italic r:id="rId68"/>
    </p:embeddedFont>
    <p:embeddedFont>
      <p:font typeface="Calibri" panose="020F0502020204030204" pitchFamily="34" charset="0"/>
      <p:regular r:id="rId69"/>
      <p:bold r:id="rId70"/>
      <p:italic r:id="rId71"/>
      <p:boldItalic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7535" autoAdjust="0"/>
    <p:restoredTop sz="61234" autoAdjust="0"/>
  </p:normalViewPr>
  <p:slideViewPr>
    <p:cSldViewPr>
      <p:cViewPr varScale="1">
        <p:scale>
          <a:sx n="66" d="100"/>
          <a:sy n="66" d="100"/>
        </p:scale>
        <p:origin x="2856" y="72"/>
      </p:cViewPr>
      <p:guideLst>
        <p:guide orient="horz" pos="2160"/>
        <p:guide pos="2880"/>
      </p:guideLst>
    </p:cSldViewPr>
  </p:slideViewPr>
  <p:notesTextViewPr>
    <p:cViewPr>
      <p:scale>
        <a:sx n="1" d="1"/>
        <a:sy n="1" d="1"/>
      </p:scale>
      <p:origin x="0" y="0"/>
    </p:cViewPr>
  </p:notesTextViewPr>
  <p:sorterViewPr>
    <p:cViewPr>
      <p:scale>
        <a:sx n="150" d="100"/>
        <a:sy n="150" d="100"/>
      </p:scale>
      <p:origin x="0" y="26106"/>
    </p:cViewPr>
  </p:sorterViewPr>
  <p:notesViewPr>
    <p:cSldViewPr>
      <p:cViewPr varScale="1">
        <p:scale>
          <a:sx n="64" d="100"/>
          <a:sy n="64" d="100"/>
        </p:scale>
        <p:origin x="165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font" Target="fonts/font2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font" Target="fonts/font22.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6753B-D19B-4CD3-964E-1CC38735F8E1}" type="datetimeFigureOut">
              <a:rPr lang="en-CA" smtClean="0"/>
              <a:pPr/>
              <a:t>2017-05-24</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25D2D6-B00A-4B22-9A9A-ED999C7BB1C0}" type="slidenum">
              <a:rPr lang="en-CA" smtClean="0"/>
              <a:pPr/>
              <a:t>‹N°›</a:t>
            </a:fld>
            <a:endParaRPr lang="en-CA" dirty="0"/>
          </a:p>
        </p:txBody>
      </p:sp>
    </p:spTree>
    <p:extLst>
      <p:ext uri="{BB962C8B-B14F-4D97-AF65-F5344CB8AC3E}">
        <p14:creationId xmlns:p14="http://schemas.microsoft.com/office/powerpoint/2010/main" val="2958078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75 minutes</a:t>
            </a:r>
          </a:p>
          <a:p>
            <a:pPr>
              <a:lnSpc>
                <a:spcPct val="115000"/>
              </a:lnSpc>
              <a:spcAft>
                <a:spcPts val="1000"/>
              </a:spcAft>
            </a:pPr>
            <a:r>
              <a:rPr lang="en-CA" sz="1000" b="1" dirty="0">
                <a:latin typeface="Arial"/>
                <a:ea typeface="Calibri"/>
                <a:cs typeface="Times New Roman"/>
              </a:rPr>
              <a:t>Lab: </a:t>
            </a:r>
            <a:r>
              <a:rPr lang="en-CA" sz="1000" dirty="0">
                <a:latin typeface="Arial"/>
                <a:ea typeface="Calibri"/>
                <a:cs typeface="Times New Roman"/>
              </a:rPr>
              <a:t>70 minutes</a:t>
            </a:r>
          </a:p>
          <a:p>
            <a:pPr>
              <a:lnSpc>
                <a:spcPct val="115000"/>
              </a:lnSpc>
              <a:spcAft>
                <a:spcPts val="1000"/>
              </a:spcAft>
            </a:pPr>
            <a:r>
              <a:rPr lang="en-CA" sz="1000" dirty="0">
                <a:latin typeface="Arial"/>
                <a:ea typeface="Calibri"/>
                <a:cs typeface="Segoe UI"/>
              </a:rPr>
              <a:t>After completing this module, students should be able to:</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Manage user accounts with graphical tools.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Manage groups with graphical tools.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Manage computer accounts.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Delegate permission to perform Active Directory</a:t>
            </a:r>
            <a:r>
              <a:rPr lang="en-US" sz="1000" baseline="30000" dirty="0" smtClean="0">
                <a:effectLst/>
                <a:latin typeface="Arial"/>
                <a:ea typeface="Times New Roman"/>
                <a:cs typeface="Segoe UI"/>
              </a:rPr>
              <a:t>®</a:t>
            </a:r>
            <a:r>
              <a:rPr lang="en-US" sz="1000" dirty="0" smtClean="0">
                <a:effectLst/>
                <a:latin typeface="Arial"/>
                <a:ea typeface="Times New Roman"/>
                <a:cs typeface="Segoe UI"/>
              </a:rPr>
              <a:t> Domain Services (AD DS) administration.</a:t>
            </a:r>
            <a:endParaRPr lang="en-CA" sz="1000" dirty="0" smtClean="0">
              <a:effectLst/>
              <a:latin typeface="Arial"/>
              <a:ea typeface="Times New Roman"/>
              <a:cs typeface="Times New Roman"/>
            </a:endParaRPr>
          </a:p>
          <a:p>
            <a:pPr>
              <a:lnSpc>
                <a:spcPct val="115000"/>
              </a:lnSpc>
              <a:spcAft>
                <a:spcPts val="1000"/>
              </a:spcAft>
            </a:pPr>
            <a:r>
              <a:rPr lang="en-CA" sz="1000" b="1" dirty="0">
                <a:latin typeface="Arial"/>
                <a:ea typeface="Calibri"/>
                <a:cs typeface="Times New Roman"/>
              </a:rPr>
              <a:t>Required </a:t>
            </a:r>
            <a:r>
              <a:rPr lang="en-CA" sz="1000" b="1" dirty="0" smtClean="0">
                <a:latin typeface="Arial"/>
                <a:ea typeface="Calibri"/>
                <a:cs typeface="Times New Roman"/>
              </a:rPr>
              <a:t>Materials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teach this module, you need the Microsoft</a:t>
            </a:r>
            <a:r>
              <a:rPr lang="en-CA" sz="1000" baseline="30000" dirty="0">
                <a:latin typeface="Arial"/>
                <a:ea typeface="Calibri"/>
                <a:cs typeface="Segoe UI"/>
              </a:rPr>
              <a:t>® </a:t>
            </a:r>
            <a:r>
              <a:rPr lang="en-CA" sz="1000" dirty="0">
                <a:latin typeface="Arial"/>
                <a:ea typeface="Calibri"/>
                <a:cs typeface="Segoe UI"/>
              </a:rPr>
              <a:t>Office PowerPoint</a:t>
            </a:r>
            <a:r>
              <a:rPr lang="en-CA" sz="1000" baseline="30000" dirty="0">
                <a:latin typeface="Arial"/>
                <a:ea typeface="Calibri"/>
                <a:cs typeface="Segoe UI"/>
              </a:rPr>
              <a:t>® </a:t>
            </a:r>
            <a:r>
              <a:rPr lang="en-CA" sz="1000" dirty="0">
                <a:latin typeface="Arial"/>
                <a:ea typeface="Calibri"/>
                <a:cs typeface="Segoe UI"/>
              </a:rPr>
              <a:t>file 20410D_03.pptx.</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Important: </a:t>
            </a:r>
            <a:r>
              <a:rPr lang="en-CA" sz="1000" dirty="0">
                <a:latin typeface="Arial"/>
                <a:ea typeface="Calibri"/>
                <a:cs typeface="Times New Roman"/>
              </a:rPr>
              <a:t>We recommend </a:t>
            </a:r>
            <a:r>
              <a:rPr lang="en-CA" sz="1000" dirty="0">
                <a:latin typeface="Arial"/>
                <a:ea typeface="Calibri"/>
                <a:cs typeface="Segoe UI"/>
              </a:rPr>
              <a:t>that you use Office PowerPoint 2007 or a newer version to display the slides for this course. If you use PowerPoint Viewer or an older version of PowerPoint, all the features of the slides might not be displayed correctly.</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Preparation </a:t>
            </a:r>
            <a:r>
              <a:rPr lang="en-CA" sz="1000" b="1" dirty="0" smtClean="0">
                <a:latin typeface="Arial"/>
                <a:ea typeface="Calibri"/>
                <a:cs typeface="Times New Roman"/>
              </a:rPr>
              <a:t>Tasks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prepare for this module: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Read all of the materials for this module.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Practice performing the </a:t>
            </a:r>
            <a:r>
              <a:rPr lang="en-US" sz="1000" dirty="0" smtClean="0">
                <a:effectLst/>
                <a:latin typeface="Arial"/>
                <a:cs typeface="Times New Roman"/>
              </a:rPr>
              <a:t>demonstrations and</a:t>
            </a:r>
            <a:r>
              <a:rPr lang="en-US" sz="1000" dirty="0" smtClean="0">
                <a:effectLst/>
                <a:latin typeface="Arial"/>
                <a:ea typeface="Times New Roman"/>
                <a:cs typeface="Segoe UI"/>
              </a:rPr>
              <a:t> lab exercises.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Work through the Module Review and Takeaways section, and determine how you will use this section to reinforce student learning and promote knowledge transfer to on‑the‑job performance.</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115176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537889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85505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r>
              <a:rPr lang="fr-BE" sz="1200" b="0" u="sng" dirty="0" smtClean="0">
                <a:latin typeface="Segoe UI" pitchFamily="34" charset="0"/>
                <a:ea typeface="Segoe UI" pitchFamily="34" charset="0"/>
                <a:cs typeface="Segoe UI" pitchFamily="34" charset="0"/>
              </a:rPr>
              <a:t>Directory Service </a:t>
            </a:r>
            <a:r>
              <a:rPr lang="fr-BE" sz="1200" b="0" u="sng" dirty="0" err="1" smtClean="0">
                <a:latin typeface="Segoe UI" pitchFamily="34" charset="0"/>
                <a:ea typeface="Segoe UI" pitchFamily="34" charset="0"/>
                <a:cs typeface="Segoe UI" pitchFamily="34" charset="0"/>
              </a:rPr>
              <a:t>commands</a:t>
            </a:r>
            <a:r>
              <a:rPr lang="fr-BE" sz="1200" b="0" dirty="0" smtClean="0">
                <a:latin typeface="Segoe UI" pitchFamily="34" charset="0"/>
                <a:ea typeface="Segoe UI" pitchFamily="34" charset="0"/>
                <a:cs typeface="Segoe UI" pitchFamily="34" charset="0"/>
              </a:rPr>
              <a:t> :</a:t>
            </a:r>
          </a:p>
          <a:p>
            <a:endParaRPr lang="fr-FR" sz="1200" kern="1200" baseline="0" noProof="0" dirty="0" smtClean="0">
              <a:solidFill>
                <a:schemeClr val="tx1"/>
              </a:solidFill>
              <a:latin typeface="+mn-lt"/>
              <a:ea typeface="+mn-ea"/>
              <a:cs typeface="+mn-cs"/>
            </a:endParaRPr>
          </a:p>
          <a:p>
            <a:r>
              <a:rPr lang="fr-FR" sz="1200" kern="1200" baseline="0" noProof="0" dirty="0" smtClean="0">
                <a:solidFill>
                  <a:schemeClr val="tx1"/>
                </a:solidFill>
                <a:latin typeface="+mn-lt"/>
                <a:ea typeface="+mn-ea"/>
                <a:cs typeface="+mn-cs"/>
              </a:rPr>
              <a:t>• </a:t>
            </a:r>
            <a:r>
              <a:rPr lang="fr-FR" sz="1200" b="1" kern="1200" baseline="0" noProof="0" dirty="0" err="1" smtClean="0">
                <a:solidFill>
                  <a:schemeClr val="tx1"/>
                </a:solidFill>
                <a:latin typeface="+mn-lt"/>
                <a:ea typeface="+mn-ea"/>
                <a:cs typeface="+mn-cs"/>
              </a:rPr>
              <a:t>dsadd</a:t>
            </a:r>
            <a:r>
              <a:rPr lang="fr-FR" sz="1200" b="1" kern="1200" baseline="0" noProof="0" dirty="0" smtClean="0">
                <a:solidFill>
                  <a:schemeClr val="tx1"/>
                </a:solidFill>
                <a:latin typeface="+mn-lt"/>
                <a:ea typeface="+mn-ea"/>
                <a:cs typeface="+mn-cs"/>
              </a:rPr>
              <a:t> : </a:t>
            </a:r>
            <a:r>
              <a:rPr lang="fr-FR" sz="1200" b="0" kern="1200" baseline="0" noProof="0" dirty="0" smtClean="0">
                <a:solidFill>
                  <a:schemeClr val="tx1"/>
                </a:solidFill>
                <a:latin typeface="+mn-lt"/>
                <a:ea typeface="+mn-ea"/>
                <a:cs typeface="+mn-cs"/>
              </a:rPr>
              <a:t>créer des nouveaux objets</a:t>
            </a:r>
          </a:p>
          <a:p>
            <a:r>
              <a:rPr lang="fr-FR" sz="1200" kern="1200" baseline="0" noProof="0" dirty="0" smtClean="0">
                <a:solidFill>
                  <a:schemeClr val="tx1"/>
                </a:solidFill>
                <a:latin typeface="+mn-lt"/>
                <a:ea typeface="+mn-ea"/>
                <a:cs typeface="+mn-cs"/>
              </a:rPr>
              <a:t>• </a:t>
            </a:r>
            <a:r>
              <a:rPr lang="fr-FR" sz="1200" b="1" kern="1200" baseline="0" noProof="0" dirty="0" err="1" smtClean="0">
                <a:solidFill>
                  <a:schemeClr val="tx1"/>
                </a:solidFill>
                <a:latin typeface="+mn-lt"/>
                <a:ea typeface="+mn-ea"/>
                <a:cs typeface="+mn-cs"/>
              </a:rPr>
              <a:t>dsget</a:t>
            </a:r>
            <a:r>
              <a:rPr lang="fr-FR" sz="1200" b="1" kern="1200" baseline="0" noProof="0" dirty="0" smtClean="0">
                <a:solidFill>
                  <a:schemeClr val="tx1"/>
                </a:solidFill>
                <a:latin typeface="+mn-lt"/>
                <a:ea typeface="+mn-ea"/>
                <a:cs typeface="+mn-cs"/>
              </a:rPr>
              <a:t> : </a:t>
            </a:r>
            <a:r>
              <a:rPr lang="fr-FR" sz="1200" b="0" kern="1200" baseline="0" noProof="0" dirty="0" smtClean="0">
                <a:solidFill>
                  <a:schemeClr val="tx1"/>
                </a:solidFill>
                <a:latin typeface="+mn-lt"/>
                <a:ea typeface="+mn-ea"/>
                <a:cs typeface="+mn-cs"/>
              </a:rPr>
              <a:t>afficher la valeur des attributs d’un objet (exemple : numéro de téléphone d’un utilisateur)</a:t>
            </a:r>
          </a:p>
          <a:p>
            <a:r>
              <a:rPr lang="fr-FR" sz="1200" kern="1200" baseline="0" noProof="0" dirty="0" smtClean="0">
                <a:solidFill>
                  <a:schemeClr val="tx1"/>
                </a:solidFill>
                <a:latin typeface="+mn-lt"/>
                <a:ea typeface="+mn-ea"/>
                <a:cs typeface="+mn-cs"/>
              </a:rPr>
              <a:t>• </a:t>
            </a:r>
            <a:r>
              <a:rPr lang="fr-FR" sz="1200" b="1" kern="1200" baseline="0" noProof="0" dirty="0" err="1" smtClean="0">
                <a:solidFill>
                  <a:schemeClr val="tx1"/>
                </a:solidFill>
                <a:latin typeface="+mn-lt"/>
                <a:ea typeface="+mn-ea"/>
                <a:cs typeface="+mn-cs"/>
              </a:rPr>
              <a:t>dsmod</a:t>
            </a:r>
            <a:r>
              <a:rPr lang="fr-FR" sz="1200" b="1" kern="1200" baseline="0" noProof="0" dirty="0" smtClean="0">
                <a:solidFill>
                  <a:schemeClr val="tx1"/>
                </a:solidFill>
                <a:latin typeface="+mn-lt"/>
                <a:ea typeface="+mn-ea"/>
                <a:cs typeface="+mn-cs"/>
              </a:rPr>
              <a:t> : </a:t>
            </a:r>
            <a:r>
              <a:rPr lang="fr-FR" sz="1200" b="0" kern="1200" baseline="0" noProof="0" dirty="0" smtClean="0">
                <a:solidFill>
                  <a:schemeClr val="tx1"/>
                </a:solidFill>
                <a:latin typeface="+mn-lt"/>
                <a:ea typeface="+mn-ea"/>
                <a:cs typeface="+mn-cs"/>
              </a:rPr>
              <a:t>éditer la valeur des attributs d’un objet </a:t>
            </a:r>
          </a:p>
          <a:p>
            <a:r>
              <a:rPr lang="fr-FR" sz="1200" kern="1200" baseline="0" noProof="0" dirty="0" smtClean="0">
                <a:solidFill>
                  <a:schemeClr val="tx1"/>
                </a:solidFill>
                <a:latin typeface="+mn-lt"/>
                <a:ea typeface="+mn-ea"/>
                <a:cs typeface="+mn-cs"/>
              </a:rPr>
              <a:t>• </a:t>
            </a:r>
            <a:r>
              <a:rPr lang="fr-FR" sz="1200" b="1" kern="1200" baseline="0" noProof="0" dirty="0" err="1" smtClean="0">
                <a:solidFill>
                  <a:schemeClr val="tx1"/>
                </a:solidFill>
                <a:latin typeface="+mn-lt"/>
                <a:ea typeface="+mn-ea"/>
                <a:cs typeface="+mn-cs"/>
              </a:rPr>
              <a:t>dsmove</a:t>
            </a:r>
            <a:r>
              <a:rPr lang="fr-FR" sz="1200" b="1" kern="1200" baseline="0" noProof="0" dirty="0" smtClean="0">
                <a:solidFill>
                  <a:schemeClr val="tx1"/>
                </a:solidFill>
                <a:latin typeface="+mn-lt"/>
                <a:ea typeface="+mn-ea"/>
                <a:cs typeface="+mn-cs"/>
              </a:rPr>
              <a:t> : </a:t>
            </a:r>
            <a:r>
              <a:rPr lang="fr-FR" sz="1200" b="0" kern="1200" baseline="0" noProof="0" dirty="0" smtClean="0">
                <a:solidFill>
                  <a:schemeClr val="tx1"/>
                </a:solidFill>
                <a:latin typeface="+mn-lt"/>
                <a:ea typeface="+mn-ea"/>
                <a:cs typeface="+mn-cs"/>
              </a:rPr>
              <a:t>déplacer un objet</a:t>
            </a:r>
          </a:p>
          <a:p>
            <a:r>
              <a:rPr lang="fr-FR" sz="1200" kern="1200" baseline="0" noProof="0" dirty="0" smtClean="0">
                <a:solidFill>
                  <a:schemeClr val="tx1"/>
                </a:solidFill>
                <a:latin typeface="+mn-lt"/>
                <a:ea typeface="+mn-ea"/>
                <a:cs typeface="+mn-cs"/>
              </a:rPr>
              <a:t>• </a:t>
            </a:r>
            <a:r>
              <a:rPr lang="fr-FR" sz="1200" b="1" kern="1200" baseline="0" noProof="0" dirty="0" err="1" smtClean="0">
                <a:solidFill>
                  <a:schemeClr val="tx1"/>
                </a:solidFill>
                <a:latin typeface="+mn-lt"/>
                <a:ea typeface="+mn-ea"/>
                <a:cs typeface="+mn-cs"/>
              </a:rPr>
              <a:t>dsquery</a:t>
            </a:r>
            <a:r>
              <a:rPr lang="fr-FR" sz="1200" b="1" kern="1200" baseline="0" noProof="0" dirty="0" smtClean="0">
                <a:solidFill>
                  <a:schemeClr val="tx1"/>
                </a:solidFill>
                <a:latin typeface="+mn-lt"/>
                <a:ea typeface="+mn-ea"/>
                <a:cs typeface="+mn-cs"/>
              </a:rPr>
              <a:t> : </a:t>
            </a:r>
            <a:r>
              <a:rPr lang="fr-FR" sz="1200" b="0" kern="1200" baseline="0" noProof="0" dirty="0" smtClean="0">
                <a:solidFill>
                  <a:schemeClr val="tx1"/>
                </a:solidFill>
                <a:latin typeface="+mn-lt"/>
                <a:ea typeface="+mn-ea"/>
                <a:cs typeface="+mn-cs"/>
              </a:rPr>
              <a:t>sélectionner un objet en fonction d’un critère de recherche</a:t>
            </a:r>
          </a:p>
          <a:p>
            <a:r>
              <a:rPr lang="fr-FR" sz="1200" kern="1200" baseline="0" noProof="0" dirty="0" smtClean="0">
                <a:solidFill>
                  <a:schemeClr val="tx1"/>
                </a:solidFill>
                <a:latin typeface="+mn-lt"/>
                <a:ea typeface="+mn-ea"/>
                <a:cs typeface="+mn-cs"/>
              </a:rPr>
              <a:t>• </a:t>
            </a:r>
            <a:r>
              <a:rPr lang="fr-FR" sz="1200" b="1" kern="1200" baseline="0" noProof="0" dirty="0" err="1" smtClean="0">
                <a:solidFill>
                  <a:schemeClr val="tx1"/>
                </a:solidFill>
                <a:latin typeface="+mn-lt"/>
                <a:ea typeface="+mn-ea"/>
                <a:cs typeface="+mn-cs"/>
              </a:rPr>
              <a:t>dsrm</a:t>
            </a:r>
            <a:r>
              <a:rPr lang="fr-FR" sz="1200" b="1" kern="1200" baseline="0" noProof="0" dirty="0" smtClean="0">
                <a:solidFill>
                  <a:schemeClr val="tx1"/>
                </a:solidFill>
                <a:latin typeface="+mn-lt"/>
                <a:ea typeface="+mn-ea"/>
                <a:cs typeface="+mn-cs"/>
              </a:rPr>
              <a:t> : </a:t>
            </a:r>
            <a:r>
              <a:rPr lang="fr-FR" sz="1200" b="0" kern="1200" baseline="0" noProof="0" dirty="0" smtClean="0">
                <a:solidFill>
                  <a:schemeClr val="tx1"/>
                </a:solidFill>
                <a:latin typeface="+mn-lt"/>
                <a:ea typeface="+mn-ea"/>
                <a:cs typeface="+mn-cs"/>
              </a:rPr>
              <a:t>effacer un objet</a:t>
            </a:r>
          </a:p>
          <a:p>
            <a:endParaRPr lang="fr-FR" sz="1200" b="0" kern="1200" baseline="0" noProof="0" dirty="0" smtClean="0">
              <a:solidFill>
                <a:schemeClr val="tx1"/>
              </a:solidFill>
              <a:latin typeface="+mn-lt"/>
              <a:ea typeface="+mn-ea"/>
              <a:cs typeface="+mn-cs"/>
            </a:endParaRPr>
          </a:p>
          <a:p>
            <a:r>
              <a:rPr lang="fr-FR" sz="1200" b="0" kern="1200" baseline="0" noProof="0" dirty="0" smtClean="0">
                <a:solidFill>
                  <a:schemeClr val="tx1"/>
                </a:solidFill>
                <a:latin typeface="+mn-lt"/>
                <a:ea typeface="+mn-ea"/>
                <a:cs typeface="+mn-cs"/>
              </a:rPr>
              <a:t>Exemple : </a:t>
            </a:r>
            <a:r>
              <a:rPr lang="en-US" sz="1200" kern="1200" baseline="0" dirty="0" err="1" smtClean="0">
                <a:solidFill>
                  <a:schemeClr val="tx1"/>
                </a:solidFill>
                <a:latin typeface="+mn-lt"/>
                <a:ea typeface="+mn-ea"/>
                <a:cs typeface="+mn-cs"/>
              </a:rPr>
              <a:t>dsquery</a:t>
            </a:r>
            <a:r>
              <a:rPr lang="en-US" sz="1200" kern="1200" baseline="0" dirty="0" smtClean="0">
                <a:solidFill>
                  <a:schemeClr val="tx1"/>
                </a:solidFill>
                <a:latin typeface="+mn-lt"/>
                <a:ea typeface="+mn-ea"/>
                <a:cs typeface="+mn-cs"/>
              </a:rPr>
              <a:t> user –name Administrator | </a:t>
            </a:r>
            <a:r>
              <a:rPr lang="en-US" sz="1200" kern="1200" baseline="0" dirty="0" err="1" smtClean="0">
                <a:solidFill>
                  <a:schemeClr val="tx1"/>
                </a:solidFill>
                <a:latin typeface="+mn-lt"/>
                <a:ea typeface="+mn-ea"/>
                <a:cs typeface="+mn-cs"/>
              </a:rPr>
              <a:t>dsget</a:t>
            </a:r>
            <a:r>
              <a:rPr lang="en-US" sz="1200" kern="1200" baseline="0" dirty="0" smtClean="0">
                <a:solidFill>
                  <a:schemeClr val="tx1"/>
                </a:solidFill>
                <a:latin typeface="+mn-lt"/>
                <a:ea typeface="+mn-ea"/>
                <a:cs typeface="+mn-cs"/>
              </a:rPr>
              <a:t> user –</a:t>
            </a:r>
            <a:r>
              <a:rPr lang="en-US" sz="1200" kern="1200" baseline="0" dirty="0" err="1" smtClean="0">
                <a:solidFill>
                  <a:schemeClr val="tx1"/>
                </a:solidFill>
                <a:latin typeface="+mn-lt"/>
                <a:ea typeface="+mn-ea"/>
                <a:cs typeface="+mn-cs"/>
              </a:rPr>
              <a:t>tel</a:t>
            </a:r>
            <a:endParaRPr lang="fr-FR" sz="1000" b="0" noProof="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74400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200" kern="1200" baseline="0" noProof="0" dirty="0" smtClean="0">
                <a:solidFill>
                  <a:schemeClr val="tx1"/>
                </a:solidFill>
                <a:latin typeface="+mn-lt"/>
                <a:ea typeface="+mn-ea"/>
                <a:cs typeface="+mn-cs"/>
              </a:rPr>
              <a:t>User </a:t>
            </a:r>
            <a:r>
              <a:rPr lang="fr-FR" sz="1200" kern="1200" baseline="0" noProof="0" dirty="0" err="1" smtClean="0">
                <a:solidFill>
                  <a:schemeClr val="tx1"/>
                </a:solidFill>
                <a:latin typeface="+mn-lt"/>
                <a:ea typeface="+mn-ea"/>
                <a:cs typeface="+mn-cs"/>
              </a:rPr>
              <a:t>sAMAccountName</a:t>
            </a:r>
            <a:r>
              <a:rPr lang="fr-FR" sz="1200" kern="1200" baseline="0" noProof="0" dirty="0" smtClean="0">
                <a:solidFill>
                  <a:schemeClr val="tx1"/>
                </a:solidFill>
                <a:latin typeface="+mn-lt"/>
                <a:ea typeface="+mn-ea"/>
                <a:cs typeface="+mn-cs"/>
              </a:rPr>
              <a:t> : unique dans le domaine</a:t>
            </a:r>
            <a:endParaRPr lang="fr-FR" sz="1000" noProof="0" dirty="0" smtClean="0">
              <a:latin typeface="Arial"/>
              <a:ea typeface="Calibri"/>
              <a:cs typeface="Segoe UI"/>
            </a:endParaRPr>
          </a:p>
          <a:p>
            <a:pPr>
              <a:lnSpc>
                <a:spcPct val="115000"/>
              </a:lnSpc>
              <a:spcAft>
                <a:spcPts val="1000"/>
              </a:spcAft>
            </a:pPr>
            <a:r>
              <a:rPr lang="fr-FR" sz="1000" noProof="0" dirty="0" smtClean="0">
                <a:latin typeface="Arial"/>
                <a:ea typeface="Calibri"/>
                <a:cs typeface="Segoe UI"/>
              </a:rPr>
              <a:t>Full Name : unique dans l’UO</a:t>
            </a:r>
          </a:p>
          <a:p>
            <a:pPr>
              <a:lnSpc>
                <a:spcPct val="115000"/>
              </a:lnSpc>
              <a:spcAft>
                <a:spcPts val="1000"/>
              </a:spcAft>
            </a:pPr>
            <a:r>
              <a:rPr lang="fr-FR" sz="1000" noProof="0" dirty="0" smtClean="0">
                <a:latin typeface="Arial"/>
                <a:ea typeface="Calibri"/>
                <a:cs typeface="Segoe UI"/>
              </a:rPr>
              <a:t>User</a:t>
            </a:r>
            <a:r>
              <a:rPr lang="fr-FR" sz="1000" baseline="0" noProof="0" dirty="0" smtClean="0">
                <a:latin typeface="Arial"/>
                <a:ea typeface="Calibri"/>
                <a:cs typeface="Segoe UI"/>
              </a:rPr>
              <a:t> UPN logon : unique dans la forêt</a:t>
            </a:r>
            <a:endParaRPr lang="fr-FR" sz="1000" noProof="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870788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870788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870788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870788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298784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noProof="0" dirty="0" smtClean="0">
                <a:effectLst/>
                <a:latin typeface="Arial"/>
                <a:ea typeface="Times New Roman"/>
                <a:cs typeface="Times New Roman"/>
              </a:rPr>
              <a:t>Différence</a:t>
            </a:r>
            <a:r>
              <a:rPr lang="fr-FR" sz="1000" baseline="0" noProof="0" dirty="0" smtClean="0">
                <a:effectLst/>
                <a:latin typeface="Arial"/>
                <a:ea typeface="Times New Roman"/>
                <a:cs typeface="Times New Roman"/>
              </a:rPr>
              <a:t> entre un compte verrouillé et un compte désactivé ?</a:t>
            </a:r>
            <a:endParaRPr lang="fr-FR" sz="1000" noProof="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4193793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15000"/>
              </a:lnSpc>
              <a:spcAft>
                <a:spcPts val="1000"/>
              </a:spcAft>
            </a:pPr>
            <a:r>
              <a:rPr lang="en-CA" sz="1000" b="1" dirty="0">
                <a:solidFill>
                  <a:prstClr val="black"/>
                </a:solidFill>
                <a:latin typeface="Arial"/>
                <a:ea typeface="Calibri"/>
                <a:cs typeface="Times New Roman"/>
              </a:rPr>
              <a:t>Demonstration Steps</a:t>
            </a:r>
            <a:endParaRPr lang="en-CA" sz="1000" dirty="0">
              <a:solidFill>
                <a:prstClr val="black"/>
              </a:solidFill>
              <a:latin typeface="Arial"/>
              <a:ea typeface="Calibri"/>
              <a:cs typeface="Times New Roman"/>
            </a:endParaRPr>
          </a:p>
          <a:p>
            <a:pPr lvl="0">
              <a:lnSpc>
                <a:spcPts val="1300"/>
              </a:lnSpc>
              <a:spcBef>
                <a:spcPts val="900"/>
              </a:spcBef>
              <a:spcAft>
                <a:spcPts val="300"/>
              </a:spcAft>
            </a:pPr>
            <a:r>
              <a:rPr lang="en-US" sz="1000" b="1" dirty="0">
                <a:latin typeface="Arial"/>
                <a:ea typeface="Times New Roman"/>
                <a:cs typeface="Segoe UI"/>
              </a:rPr>
              <a:t>Delete a user account</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Segoe UI"/>
              </a:rPr>
              <a:t>Sign in to LON‑DC1 as </a:t>
            </a:r>
            <a:r>
              <a:rPr lang="en-US" sz="1000" b="1" dirty="0">
                <a:latin typeface="Arial"/>
                <a:ea typeface="Times New Roman"/>
                <a:cs typeface="Times New Roman"/>
              </a:rPr>
              <a:t>Adatum\Administrator</a:t>
            </a:r>
            <a:r>
              <a:rPr lang="en-US" sz="1000" dirty="0">
                <a:latin typeface="Arial"/>
                <a:ea typeface="Times New Roman"/>
                <a:cs typeface="Segoe UI"/>
              </a:rPr>
              <a:t> with the password </a:t>
            </a:r>
            <a:r>
              <a:rPr lang="en-US" sz="1000" b="1" dirty="0">
                <a:latin typeface="Arial"/>
                <a:ea typeface="Times New Roman"/>
                <a:cs typeface="Times New Roman"/>
              </a:rPr>
              <a:t>Pa$$w0rd</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On LON‑DC1, in </a:t>
            </a:r>
            <a:r>
              <a:rPr lang="en-US" sz="1000" dirty="0">
                <a:latin typeface="Arial"/>
                <a:ea typeface="Times New Roman"/>
                <a:cs typeface="Times New Roman"/>
              </a:rPr>
              <a:t>Server Manager</a:t>
            </a:r>
            <a:r>
              <a:rPr lang="en-US" sz="1000" dirty="0">
                <a:latin typeface="Arial"/>
                <a:ea typeface="Times New Roman"/>
                <a:cs typeface="Segoe UI"/>
              </a:rPr>
              <a:t>, click </a:t>
            </a:r>
            <a:r>
              <a:rPr lang="en-US" sz="1000" b="1" dirty="0">
                <a:latin typeface="Arial"/>
                <a:ea typeface="Times New Roman"/>
                <a:cs typeface="Times New Roman"/>
              </a:rPr>
              <a:t>Tools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Click </a:t>
            </a:r>
            <a:r>
              <a:rPr lang="en-US" sz="1000" b="1" dirty="0">
                <a:latin typeface="Arial"/>
                <a:ea typeface="Times New Roman"/>
                <a:cs typeface="Times New Roman"/>
              </a:rPr>
              <a:t>Active Directory Administrative Center</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the Active Directory Administrative Center, click </a:t>
            </a:r>
            <a:r>
              <a:rPr lang="en-US" sz="1000" b="1" dirty="0">
                <a:latin typeface="Arial"/>
                <a:ea typeface="Times New Roman"/>
                <a:cs typeface="Times New Roman"/>
              </a:rPr>
              <a:t>Adatum (local)</a:t>
            </a:r>
            <a:r>
              <a:rPr lang="en-US" sz="1000" dirty="0">
                <a:latin typeface="Arial"/>
                <a:ea typeface="Times New Roman"/>
                <a:cs typeface="Segoe UI"/>
              </a:rPr>
              <a:t>, and then double‑click </a:t>
            </a:r>
            <a:r>
              <a:rPr lang="en-US" sz="1000" b="1" dirty="0">
                <a:latin typeface="Arial"/>
                <a:ea typeface="Times New Roman"/>
                <a:cs typeface="Times New Roman"/>
              </a:rPr>
              <a:t>Managers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Managers, right‑click </a:t>
            </a:r>
            <a:r>
              <a:rPr lang="en-US" sz="1000" b="1" dirty="0">
                <a:latin typeface="Arial"/>
                <a:ea typeface="Times New Roman"/>
                <a:cs typeface="Times New Roman"/>
              </a:rPr>
              <a:t>Ed Meadows</a:t>
            </a:r>
            <a:r>
              <a:rPr lang="en-US" sz="1000" dirty="0">
                <a:latin typeface="Arial"/>
                <a:ea typeface="Times New Roman"/>
                <a:cs typeface="Segoe UI"/>
              </a:rPr>
              <a:t>, and then click </a:t>
            </a:r>
            <a:r>
              <a:rPr lang="en-US" sz="1000" b="1" dirty="0">
                <a:latin typeface="Arial"/>
                <a:ea typeface="Times New Roman"/>
                <a:cs typeface="Times New Roman"/>
              </a:rPr>
              <a:t>Delete</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Delete Confirmation</a:t>
            </a:r>
            <a:r>
              <a:rPr lang="en-US" sz="1000" dirty="0">
                <a:latin typeface="Arial"/>
                <a:ea typeface="Times New Roman"/>
                <a:cs typeface="Segoe UI"/>
              </a:rPr>
              <a:t> dialog box, click </a:t>
            </a:r>
            <a:r>
              <a:rPr lang="en-US" sz="1000" b="1" dirty="0">
                <a:latin typeface="Arial"/>
                <a:ea typeface="Times New Roman"/>
                <a:cs typeface="Times New Roman"/>
              </a:rPr>
              <a:t>Yes</a:t>
            </a:r>
            <a:r>
              <a:rPr lang="en-US" sz="1000" dirty="0">
                <a:latin typeface="Arial"/>
                <a:ea typeface="Times New Roman"/>
                <a:cs typeface="Segoe UI"/>
              </a:rPr>
              <a:t>.</a:t>
            </a:r>
            <a:endParaRPr lang="en-CA" sz="1000" dirty="0">
              <a:latin typeface="Arial"/>
              <a:ea typeface="Times New Roman"/>
              <a:cs typeface="Times New Roman"/>
            </a:endParaRPr>
          </a:p>
          <a:p>
            <a:pPr lvl="0">
              <a:lnSpc>
                <a:spcPts val="1300"/>
              </a:lnSpc>
              <a:spcBef>
                <a:spcPts val="900"/>
              </a:spcBef>
              <a:spcAft>
                <a:spcPts val="300"/>
              </a:spcAft>
            </a:pPr>
            <a:r>
              <a:rPr lang="en-US" sz="1000" b="1" dirty="0">
                <a:latin typeface="Arial"/>
                <a:ea typeface="Times New Roman"/>
                <a:cs typeface="Segoe UI"/>
              </a:rPr>
              <a:t>Create a new user account</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the Action pane, click </a:t>
            </a:r>
            <a:r>
              <a:rPr lang="en-US" sz="1000" b="1" dirty="0">
                <a:latin typeface="Arial"/>
                <a:ea typeface="Times New Roman"/>
                <a:cs typeface="Times New Roman"/>
              </a:rPr>
              <a:t>New</a:t>
            </a:r>
            <a:r>
              <a:rPr lang="en-US" sz="1000" dirty="0">
                <a:latin typeface="Arial"/>
                <a:ea typeface="Times New Roman"/>
                <a:cs typeface="Segoe UI"/>
              </a:rPr>
              <a:t>, and then click </a:t>
            </a:r>
            <a:r>
              <a:rPr lang="en-US" sz="1000" b="1" dirty="0">
                <a:latin typeface="Arial"/>
                <a:ea typeface="Times New Roman"/>
                <a:cs typeface="Times New Roman"/>
              </a:rPr>
              <a:t>User</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Create User</a:t>
            </a:r>
            <a:r>
              <a:rPr lang="en-US" sz="1000" dirty="0">
                <a:latin typeface="Arial"/>
                <a:ea typeface="Times New Roman"/>
                <a:cs typeface="Segoe UI"/>
              </a:rPr>
              <a:t> dialog box, in </a:t>
            </a:r>
            <a:r>
              <a:rPr lang="en-US" sz="1000" b="1" dirty="0">
                <a:latin typeface="Arial"/>
                <a:ea typeface="Times New Roman"/>
                <a:cs typeface="Times New Roman"/>
              </a:rPr>
              <a:t>Full name</a:t>
            </a:r>
            <a:r>
              <a:rPr lang="en-US" sz="1000" dirty="0">
                <a:latin typeface="Arial"/>
                <a:ea typeface="Times New Roman"/>
                <a:cs typeface="Segoe UI"/>
              </a:rPr>
              <a:t>, type </a:t>
            </a:r>
            <a:r>
              <a:rPr lang="en-US" sz="1000" b="1" dirty="0">
                <a:latin typeface="Arial"/>
                <a:ea typeface="Times New Roman"/>
                <a:cs typeface="Times New Roman"/>
              </a:rPr>
              <a:t>Ed Meadows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a:t>
            </a:r>
            <a:r>
              <a:rPr lang="en-US" sz="1000" b="1" dirty="0">
                <a:latin typeface="Arial"/>
                <a:ea typeface="Times New Roman"/>
                <a:cs typeface="Times New Roman"/>
              </a:rPr>
              <a:t>User UPN logon</a:t>
            </a:r>
            <a:r>
              <a:rPr lang="en-US" sz="1000" dirty="0">
                <a:latin typeface="Arial"/>
                <a:ea typeface="Times New Roman"/>
                <a:cs typeface="Segoe UI"/>
              </a:rPr>
              <a:t>, type </a:t>
            </a:r>
            <a:r>
              <a:rPr lang="en-US" sz="1000" b="1" dirty="0">
                <a:latin typeface="Arial"/>
                <a:ea typeface="Times New Roman"/>
                <a:cs typeface="Times New Roman"/>
              </a:rPr>
              <a:t>Ed</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a:t>
            </a:r>
            <a:r>
              <a:rPr lang="en-US" sz="1000" b="1" dirty="0">
                <a:latin typeface="Arial"/>
                <a:ea typeface="Times New Roman"/>
                <a:cs typeface="Times New Roman"/>
              </a:rPr>
              <a:t>Password</a:t>
            </a:r>
            <a:r>
              <a:rPr lang="en-US" sz="1000" dirty="0">
                <a:latin typeface="Arial"/>
                <a:ea typeface="Times New Roman"/>
                <a:cs typeface="Segoe UI"/>
              </a:rPr>
              <a:t> and </a:t>
            </a:r>
            <a:r>
              <a:rPr lang="en-US" sz="1000" b="1" dirty="0">
                <a:latin typeface="Arial"/>
                <a:ea typeface="Times New Roman"/>
                <a:cs typeface="Times New Roman"/>
              </a:rPr>
              <a:t>Confirm password</a:t>
            </a:r>
            <a:r>
              <a:rPr lang="en-US" sz="1000" dirty="0">
                <a:latin typeface="Arial"/>
                <a:ea typeface="Times New Roman"/>
                <a:cs typeface="Segoe UI"/>
              </a:rPr>
              <a:t>, type </a:t>
            </a:r>
            <a:r>
              <a:rPr lang="en-US" sz="1000" b="1" dirty="0">
                <a:latin typeface="Arial"/>
                <a:ea typeface="Times New Roman"/>
                <a:cs typeface="Times New Roman"/>
              </a:rPr>
              <a:t>Pa$$w0rd</a:t>
            </a:r>
            <a:r>
              <a:rPr lang="en-US" sz="1000" dirty="0">
                <a:latin typeface="Arial"/>
                <a:ea typeface="Times New Roman"/>
                <a:cs typeface="Segoe UI"/>
              </a:rPr>
              <a:t>, and then click</a:t>
            </a:r>
            <a:r>
              <a:rPr lang="en-US" sz="1000" b="1" dirty="0">
                <a:latin typeface="Arial"/>
                <a:ea typeface="Times New Roman"/>
                <a:cs typeface="Times New Roman"/>
              </a:rPr>
              <a:t> OK</a:t>
            </a:r>
            <a:r>
              <a:rPr lang="en-US" sz="1000" dirty="0">
                <a:latin typeface="Arial"/>
                <a:ea typeface="Times New Roman"/>
                <a:cs typeface="Segoe UI"/>
              </a:rPr>
              <a:t>.</a:t>
            </a:r>
            <a:endParaRPr lang="en-CA" sz="1000" dirty="0">
              <a:latin typeface="Arial"/>
              <a:ea typeface="Times New Roman"/>
              <a:cs typeface="Times New Roman"/>
            </a:endParaRPr>
          </a:p>
          <a:p>
            <a:pPr lvl="0">
              <a:lnSpc>
                <a:spcPts val="1300"/>
              </a:lnSpc>
              <a:spcBef>
                <a:spcPts val="900"/>
              </a:spcBef>
              <a:spcAft>
                <a:spcPts val="300"/>
              </a:spcAft>
            </a:pPr>
            <a:r>
              <a:rPr lang="en-US" sz="1000" b="1" dirty="0">
                <a:latin typeface="Arial"/>
                <a:ea typeface="Times New Roman"/>
                <a:cs typeface="Segoe UI"/>
              </a:rPr>
              <a:t>Move the user account</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Segoe UI"/>
              </a:rPr>
              <a:t>Right‑click </a:t>
            </a:r>
            <a:r>
              <a:rPr lang="en-US" sz="1000" b="1" dirty="0">
                <a:latin typeface="Arial"/>
                <a:ea typeface="Times New Roman"/>
                <a:cs typeface="Times New Roman"/>
              </a:rPr>
              <a:t>Ed Meadows</a:t>
            </a:r>
            <a:r>
              <a:rPr lang="en-US" sz="1000" dirty="0">
                <a:latin typeface="Arial"/>
                <a:ea typeface="Times New Roman"/>
                <a:cs typeface="Segoe UI"/>
              </a:rPr>
              <a:t>, and then click </a:t>
            </a:r>
            <a:r>
              <a:rPr lang="en-US" sz="1000" b="1" dirty="0">
                <a:latin typeface="Arial"/>
                <a:ea typeface="Times New Roman"/>
                <a:cs typeface="Times New Roman"/>
              </a:rPr>
              <a:t>Move</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Click the </a:t>
            </a:r>
            <a:r>
              <a:rPr lang="en-US" sz="1000" b="1" dirty="0">
                <a:latin typeface="Arial"/>
                <a:ea typeface="Times New Roman"/>
                <a:cs typeface="Times New Roman"/>
              </a:rPr>
              <a:t>IT</a:t>
            </a:r>
            <a:r>
              <a:rPr lang="en-US" sz="1000" dirty="0">
                <a:latin typeface="Arial"/>
                <a:ea typeface="Times New Roman"/>
                <a:cs typeface="Segoe UI"/>
              </a:rPr>
              <a:t> organizational unit (OU), and then click</a:t>
            </a:r>
            <a:r>
              <a:rPr lang="en-US" sz="1000" b="1" dirty="0">
                <a:latin typeface="Arial"/>
                <a:ea typeface="Times New Roman"/>
                <a:cs typeface="Times New Roman"/>
              </a:rPr>
              <a:t> OK</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the navigation pane, click </a:t>
            </a:r>
            <a:r>
              <a:rPr lang="en-US" sz="1000" b="1" dirty="0">
                <a:latin typeface="Arial"/>
                <a:ea typeface="Times New Roman"/>
                <a:cs typeface="Times New Roman"/>
              </a:rPr>
              <a:t>Adatum (local)</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In the results pane, double‑click </a:t>
            </a:r>
            <a:r>
              <a:rPr lang="en-US" sz="1000" b="1" dirty="0">
                <a:latin typeface="Arial"/>
                <a:ea typeface="Times New Roman"/>
                <a:cs typeface="Times New Roman"/>
              </a:rPr>
              <a:t>IT</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Segoe UI"/>
              </a:rPr>
              <a:t>Verify that Ed Meadow’s account is listed</a:t>
            </a:r>
            <a:r>
              <a:rPr lang="en-US" sz="1000" dirty="0" smtClean="0">
                <a:latin typeface="Arial"/>
                <a:ea typeface="Times New Roman"/>
                <a:cs typeface="Segoe UI"/>
              </a:rPr>
              <a:t>.</a:t>
            </a:r>
            <a:endParaRPr lang="en-CA" sz="1000" dirty="0">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11</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612646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1000"/>
              </a:spcAft>
            </a:pPr>
            <a:r>
              <a:rPr lang="en-US" sz="1000" b="1" dirty="0">
                <a:latin typeface="Arial"/>
                <a:ea typeface="Times New Roman"/>
                <a:cs typeface="Segoe UI"/>
              </a:rPr>
              <a:t>View the WINDOWS POWERSHELL HISTORY</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If you have not already done so, maximize Active Directory Administrative Center.</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2"/>
            </a:pPr>
            <a:r>
              <a:rPr lang="en-US" sz="1000" dirty="0" smtClean="0">
                <a:latin typeface="Arial"/>
                <a:ea typeface="Times New Roman"/>
                <a:cs typeface="Times New Roman"/>
              </a:rPr>
              <a:t>At </a:t>
            </a:r>
            <a:r>
              <a:rPr lang="en-US" sz="1000" dirty="0">
                <a:latin typeface="Arial"/>
                <a:ea typeface="Times New Roman"/>
                <a:cs typeface="Times New Roman"/>
              </a:rPr>
              <a:t>the bottom of the Active Directory Administrative Center window, click </a:t>
            </a:r>
            <a:r>
              <a:rPr lang="en-US" sz="1000" b="1" dirty="0">
                <a:latin typeface="Arial"/>
                <a:ea typeface="Times New Roman"/>
                <a:cs typeface="Times New Roman"/>
              </a:rPr>
              <a:t>WINDOWS POWERSHELL HISTORY</a:t>
            </a:r>
            <a:r>
              <a:rPr lang="en-US" sz="1000" dirty="0">
                <a:latin typeface="Arial"/>
                <a:ea typeface="Times New Roman"/>
                <a:cs typeface="Times New Roman"/>
              </a:rPr>
              <a:t> to expand the history section.</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2"/>
            </a:pPr>
            <a:r>
              <a:rPr lang="en-US" sz="1000" dirty="0">
                <a:latin typeface="Arial"/>
                <a:ea typeface="Times New Roman"/>
                <a:cs typeface="Times New Roman"/>
              </a:rPr>
              <a:t>Discuss the following commands and switches:</a:t>
            </a:r>
            <a:endParaRPr lang="en-CA" sz="1000" dirty="0">
              <a:latin typeface="Arial"/>
              <a:ea typeface="Times New Roman"/>
              <a:cs typeface="Times New Roman"/>
            </a:endParaRPr>
          </a:p>
          <a:p>
            <a:pPr marL="742950" lvl="1" indent="-285750">
              <a:lnSpc>
                <a:spcPct val="115000"/>
              </a:lnSpc>
              <a:spcAft>
                <a:spcPts val="995"/>
              </a:spcAft>
              <a:buFont typeface="+mj-lt"/>
              <a:buAutoNum type="alphaLcPeriod"/>
            </a:pPr>
            <a:r>
              <a:rPr lang="en-US" sz="1000" dirty="0">
                <a:latin typeface="Arial"/>
                <a:ea typeface="Times New Roman"/>
                <a:cs typeface="Times New Roman"/>
              </a:rPr>
              <a:t>The </a:t>
            </a:r>
            <a:r>
              <a:rPr lang="en-US" sz="1000" b="1" dirty="0">
                <a:latin typeface="Arial"/>
                <a:ea typeface="Times New Roman"/>
                <a:cs typeface="Times New Roman"/>
              </a:rPr>
              <a:t>Remove-ADObject</a:t>
            </a:r>
            <a:r>
              <a:rPr lang="en-US" sz="1000" dirty="0">
                <a:latin typeface="Arial"/>
                <a:ea typeface="Times New Roman"/>
                <a:cs typeface="Times New Roman"/>
              </a:rPr>
              <a:t> command and the switches used with it to delete Ed Meadows.</a:t>
            </a:r>
            <a:endParaRPr lang="en-CA" sz="1000" dirty="0">
              <a:latin typeface="Arial"/>
              <a:ea typeface="Times New Roman"/>
              <a:cs typeface="Times New Roman"/>
            </a:endParaRPr>
          </a:p>
          <a:p>
            <a:pPr marL="742950" lvl="1" indent="-285750">
              <a:lnSpc>
                <a:spcPct val="115000"/>
              </a:lnSpc>
              <a:spcAft>
                <a:spcPts val="995"/>
              </a:spcAft>
              <a:buFont typeface="+mj-lt"/>
              <a:buAutoNum type="alphaLcPeriod"/>
            </a:pPr>
            <a:r>
              <a:rPr lang="en-US" sz="1000" dirty="0">
                <a:latin typeface="Arial"/>
                <a:ea typeface="Times New Roman"/>
                <a:cs typeface="Times New Roman"/>
              </a:rPr>
              <a:t>The </a:t>
            </a:r>
            <a:r>
              <a:rPr lang="en-US" sz="1000" b="1" dirty="0">
                <a:latin typeface="Arial"/>
                <a:ea typeface="Times New Roman"/>
                <a:cs typeface="Times New Roman"/>
              </a:rPr>
              <a:t>New-ADUser</a:t>
            </a:r>
            <a:r>
              <a:rPr lang="en-US" sz="1000" dirty="0">
                <a:latin typeface="Arial"/>
                <a:ea typeface="Times New Roman"/>
                <a:cs typeface="Times New Roman"/>
              </a:rPr>
              <a:t> command and the switches used with it to recreate Ed Meadows.</a:t>
            </a:r>
            <a:endParaRPr lang="en-CA" sz="1000" dirty="0">
              <a:latin typeface="Arial"/>
              <a:ea typeface="Times New Roman"/>
              <a:cs typeface="Times New Roman"/>
            </a:endParaRPr>
          </a:p>
          <a:p>
            <a:pPr marL="742950" lvl="1" indent="-285750">
              <a:lnSpc>
                <a:spcPct val="115000"/>
              </a:lnSpc>
              <a:spcAft>
                <a:spcPts val="995"/>
              </a:spcAft>
              <a:buFont typeface="+mj-lt"/>
              <a:buAutoNum type="alphaLcPeriod"/>
            </a:pPr>
            <a:r>
              <a:rPr lang="en-US" sz="1000" dirty="0">
                <a:latin typeface="Arial"/>
                <a:ea typeface="Times New Roman"/>
                <a:cs typeface="Times New Roman"/>
              </a:rPr>
              <a:t>The additional commands used to configure the Ed Meadows account.</a:t>
            </a:r>
            <a:endParaRPr lang="en-CA" sz="1000" dirty="0">
              <a:latin typeface="Arial"/>
              <a:ea typeface="Times New Roman"/>
              <a:cs typeface="Times New Roman"/>
            </a:endParaRPr>
          </a:p>
          <a:p>
            <a:pPr marL="742950" lvl="1" indent="-285750">
              <a:lnSpc>
                <a:spcPct val="115000"/>
              </a:lnSpc>
              <a:spcAft>
                <a:spcPts val="995"/>
              </a:spcAft>
              <a:buFont typeface="+mj-lt"/>
              <a:buAutoNum type="alphaLcPeriod"/>
            </a:pPr>
            <a:r>
              <a:rPr lang="en-US" sz="1000" dirty="0">
                <a:latin typeface="Arial"/>
                <a:ea typeface="Times New Roman"/>
                <a:cs typeface="Times New Roman"/>
              </a:rPr>
              <a:t>The </a:t>
            </a:r>
            <a:r>
              <a:rPr lang="en-US" sz="1000" b="1" dirty="0">
                <a:latin typeface="Arial"/>
                <a:ea typeface="Times New Roman"/>
                <a:cs typeface="Times New Roman"/>
              </a:rPr>
              <a:t>Move-ADObject</a:t>
            </a:r>
            <a:r>
              <a:rPr lang="en-US" sz="1000" dirty="0">
                <a:latin typeface="Arial"/>
                <a:ea typeface="Times New Roman"/>
                <a:cs typeface="Times New Roman"/>
              </a:rPr>
              <a:t> command and the switches used with it to move Ed Meadows.</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2"/>
            </a:pPr>
            <a:r>
              <a:rPr lang="en-US" sz="1000" dirty="0">
                <a:latin typeface="Arial"/>
                <a:ea typeface="Times New Roman"/>
                <a:cs typeface="Times New Roman"/>
              </a:rPr>
              <a:t>Close the Active Directory Administrative Center.</a:t>
            </a:r>
            <a:endParaRPr lang="en-CA" sz="1000" dirty="0">
              <a:latin typeface="Arial"/>
              <a:ea typeface="Times New Roman"/>
              <a:cs typeface="Times New Roman"/>
            </a:endParaRPr>
          </a:p>
          <a:p>
            <a:pPr lvl="0">
              <a:lnSpc>
                <a:spcPts val="1300"/>
              </a:lnSpc>
              <a:spcBef>
                <a:spcPts val="900"/>
              </a:spcBef>
              <a:spcAft>
                <a:spcPts val="300"/>
              </a:spcAft>
            </a:pPr>
            <a:r>
              <a:rPr lang="en-US" sz="1000" b="1" dirty="0">
                <a:latin typeface="Arial"/>
                <a:ea typeface="Times New Roman"/>
                <a:cs typeface="Segoe UI"/>
              </a:rPr>
              <a:t>Find users who have not signed in during the last 30 days</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On the taskbar, click the </a:t>
            </a:r>
            <a:r>
              <a:rPr lang="en-US" sz="1000" b="1" dirty="0">
                <a:latin typeface="Arial"/>
                <a:ea typeface="Times New Roman"/>
                <a:cs typeface="Times New Roman"/>
              </a:rPr>
              <a:t>Windows PowerShell</a:t>
            </a:r>
            <a:r>
              <a:rPr lang="en-US" sz="1000" dirty="0">
                <a:latin typeface="Arial"/>
                <a:ea typeface="Times New Roman"/>
                <a:cs typeface="Times New Roman"/>
              </a:rPr>
              <a:t> icon.</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To create a variable to specify the past 30 days, type the following command, and then press Enter:</a:t>
            </a:r>
            <a:endParaRPr lang="en-CA" sz="1000" dirty="0">
              <a:latin typeface="Arial"/>
              <a:ea typeface="Times New Roman"/>
              <a:cs typeface="Times New Roman"/>
            </a:endParaRPr>
          </a:p>
          <a:p>
            <a:pPr marL="342000" marR="73025" lvl="0">
              <a:lnSpc>
                <a:spcPct val="115000"/>
              </a:lnSpc>
              <a:spcBef>
                <a:spcPts val="600"/>
              </a:spcBef>
              <a:spcAft>
                <a:spcPts val="995"/>
              </a:spcAft>
            </a:pPr>
            <a:r>
              <a:rPr lang="en-US" sz="1000" b="1" dirty="0">
                <a:latin typeface="Lucida Sans Typewriter" panose="020B0509030504030204" pitchFamily="49" charset="0"/>
                <a:ea typeface="Times New Roman"/>
                <a:cs typeface="Times New Roman"/>
              </a:rPr>
              <a:t>$logonDate = (get‑date).AddDays(‑30)</a:t>
            </a:r>
            <a:endParaRPr lang="en-CA" sz="1000" b="1" dirty="0">
              <a:latin typeface="Lucida Sans Typewriter" panose="020B0509030504030204" pitchFamily="49" charset="0"/>
              <a:ea typeface="Times New Roman"/>
              <a:cs typeface="Times New Roman"/>
            </a:endParaRPr>
          </a:p>
          <a:p>
            <a:pPr marL="342900" indent="-342900">
              <a:lnSpc>
                <a:spcPct val="115000"/>
              </a:lnSpc>
              <a:spcAft>
                <a:spcPts val="995"/>
              </a:spcAft>
              <a:buFont typeface="+mj-lt"/>
              <a:buAutoNum type="arabicPeriod" startAt="3"/>
            </a:pPr>
            <a:r>
              <a:rPr lang="en-US" sz="1000" dirty="0">
                <a:latin typeface="Arial"/>
                <a:ea typeface="Times New Roman"/>
                <a:cs typeface="Times New Roman"/>
              </a:rPr>
              <a:t>To find all the user accounts that have not signed in during the past 30 days, type the following command, and then press Enter:</a:t>
            </a:r>
            <a:endParaRPr lang="en-CA" sz="1000" dirty="0">
              <a:latin typeface="Arial"/>
              <a:ea typeface="Times New Roman"/>
              <a:cs typeface="Times New Roman"/>
            </a:endParaRPr>
          </a:p>
          <a:p>
            <a:pPr marL="342000" marR="73025">
              <a:lnSpc>
                <a:spcPct val="115000"/>
              </a:lnSpc>
              <a:spcBef>
                <a:spcPts val="600"/>
              </a:spcBef>
              <a:spcAft>
                <a:spcPts val="995"/>
              </a:spcAft>
            </a:pPr>
            <a:r>
              <a:rPr lang="en-US" sz="1000" b="1" dirty="0">
                <a:latin typeface="Lucida Sans Typewriter" panose="020B0509030504030204" pitchFamily="49" charset="0"/>
                <a:ea typeface="Times New Roman"/>
                <a:cs typeface="Times New Roman"/>
              </a:rPr>
              <a:t>Get‑ADUser ‑Filter{lastLogon ‑le $logonDate}</a:t>
            </a:r>
            <a:endParaRPr lang="en-CA" sz="1000" b="1" dirty="0">
              <a:latin typeface="Lucida Sans Typewriter" panose="020B0509030504030204" pitchFamily="49" charset="0"/>
              <a:ea typeface="Times New Roman"/>
              <a:cs typeface="Times New Roman"/>
            </a:endParaRPr>
          </a:p>
          <a:p>
            <a:pPr marL="342000" lvl="0">
              <a:lnSpc>
                <a:spcPts val="1300"/>
              </a:lnSpc>
              <a:spcAft>
                <a:spcPts val="600"/>
              </a:spcAft>
            </a:pPr>
            <a:r>
              <a:rPr lang="en-US" sz="1000" dirty="0">
                <a:latin typeface="Arial"/>
                <a:ea typeface="Times New Roman"/>
                <a:cs typeface="Times New Roman"/>
              </a:rPr>
              <a:t>The results include nearly every account in the domain because most of the accounts have never signed in</a:t>
            </a:r>
            <a:r>
              <a:rPr lang="en-US" sz="1000" dirty="0" smtClean="0">
                <a:latin typeface="Arial"/>
                <a:ea typeface="Times New Roman"/>
                <a:cs typeface="Times New Roman"/>
              </a:rPr>
              <a:t>.</a:t>
            </a:r>
            <a:endParaRPr lang="en-CA" sz="1000" dirty="0">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12</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838613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a:ea typeface="Times New Roman"/>
                <a:cs typeface="Segoe UI"/>
              </a:rPr>
              <a:t>Find and delete all disabled user accounts</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To find all the disabled user accounts, type the following command, and then press Enter:</a:t>
            </a:r>
            <a:endParaRPr lang="en-CA" sz="1000" dirty="0">
              <a:solidFill>
                <a:prstClr val="black"/>
              </a:solidFill>
              <a:latin typeface="Arial"/>
              <a:ea typeface="Times New Roman"/>
              <a:cs typeface="Times New Roman"/>
            </a:endParaRPr>
          </a:p>
          <a:p>
            <a:pPr marL="342000" marR="73025">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a:cs typeface="Times New Roman"/>
              </a:rPr>
              <a:t>Get-ADUser ‑Filter{enabled ‑ne $True}</a:t>
            </a:r>
            <a:endParaRPr lang="en-CA" sz="1000" b="1" dirty="0">
              <a:solidFill>
                <a:prstClr val="black"/>
              </a:solidFill>
              <a:latin typeface="Lucida Sans Typewriter" panose="020B0509030504030204" pitchFamily="49" charset="0"/>
              <a:ea typeface="Times New Roman"/>
              <a:cs typeface="Times New Roman"/>
            </a:endParaRPr>
          </a:p>
          <a:p>
            <a:pPr marL="342000" lvl="0">
              <a:lnSpc>
                <a:spcPct val="115000"/>
              </a:lnSpc>
              <a:spcAft>
                <a:spcPts val="995"/>
              </a:spcAft>
            </a:pPr>
            <a:r>
              <a:rPr lang="en-US" sz="1000" dirty="0">
                <a:solidFill>
                  <a:prstClr val="black"/>
                </a:solidFill>
                <a:latin typeface="Arial"/>
                <a:ea typeface="Times New Roman"/>
                <a:cs typeface="Times New Roman"/>
              </a:rPr>
              <a:t>The results should list four accounts in the Sales OU and two system accounts in the Users container, Guest and krbtgt.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pPr>
            <a:r>
              <a:rPr lang="en-US" sz="1000" dirty="0" smtClean="0">
                <a:solidFill>
                  <a:prstClr val="black"/>
                </a:solidFill>
                <a:latin typeface="Arial"/>
                <a:ea typeface="Times New Roman"/>
                <a:cs typeface="Times New Roman"/>
              </a:rPr>
              <a:t>To </a:t>
            </a:r>
            <a:r>
              <a:rPr lang="en-US" sz="1000" dirty="0">
                <a:solidFill>
                  <a:prstClr val="black"/>
                </a:solidFill>
                <a:latin typeface="Arial"/>
                <a:ea typeface="Times New Roman"/>
                <a:cs typeface="Times New Roman"/>
              </a:rPr>
              <a:t>delete the disabled user accounts in the Sales OU without being prompted for confirmation, type the following command, and then press Enter:</a:t>
            </a:r>
            <a:endParaRPr lang="en-CA" sz="1000" dirty="0">
              <a:solidFill>
                <a:prstClr val="black"/>
              </a:solidFill>
              <a:latin typeface="Arial"/>
              <a:ea typeface="Times New Roman"/>
              <a:cs typeface="Times New Roman"/>
            </a:endParaRPr>
          </a:p>
          <a:p>
            <a:pPr marL="342000" marR="73025">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a:cs typeface="Times New Roman"/>
              </a:rPr>
              <a:t>Get-ADUser ‑SearchBase "OU=Sales,DC=Adatum,DC=com" ‑Filter{enabled ‑ne $true} | Remove‑adobject ‑Confirm:$False</a:t>
            </a:r>
            <a:endParaRPr lang="en-CA" sz="1000" b="1" dirty="0">
              <a:solidFill>
                <a:prstClr val="black"/>
              </a:solidFill>
              <a:latin typeface="Lucida Sans Typewriter" panose="020B0509030504030204" pitchFamily="49" charset="0"/>
              <a:ea typeface="Times New Roman"/>
              <a:cs typeface="Times New Roman"/>
            </a:endParaRPr>
          </a:p>
          <a:p>
            <a:pPr marL="342000">
              <a:lnSpc>
                <a:spcPct val="115000"/>
              </a:lnSpc>
              <a:spcAft>
                <a:spcPts val="995"/>
              </a:spcAft>
            </a:pPr>
            <a:r>
              <a:rPr lang="en-US" sz="1000" dirty="0">
                <a:solidFill>
                  <a:prstClr val="black"/>
                </a:solidFill>
                <a:latin typeface="Arial"/>
                <a:ea typeface="Times New Roman"/>
                <a:cs typeface="Times New Roman"/>
              </a:rPr>
              <a:t>If this command runs successfully, there is no output.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3"/>
            </a:pPr>
            <a:r>
              <a:rPr lang="en-US" sz="1000" dirty="0">
                <a:solidFill>
                  <a:srgbClr val="000000"/>
                </a:solidFill>
                <a:latin typeface="Arial"/>
                <a:ea typeface="Times New Roman"/>
                <a:cs typeface="Times New Roman"/>
              </a:rPr>
              <a:t>To verify that the disabled accounts have been deleted, type the following command, and then press Enter:</a:t>
            </a:r>
            <a:endParaRPr lang="en-CA" sz="1000" dirty="0">
              <a:solidFill>
                <a:prstClr val="black"/>
              </a:solidFill>
              <a:latin typeface="Arial"/>
              <a:ea typeface="Times New Roman"/>
              <a:cs typeface="Times New Roman"/>
            </a:endParaRPr>
          </a:p>
          <a:p>
            <a:pPr marL="342000" marR="73025">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a:cs typeface="Times New Roman"/>
              </a:rPr>
              <a:t>Get-ADUser ‑Filter{enabled ‑ne $True}</a:t>
            </a:r>
            <a:endParaRPr lang="en-CA" sz="1000" b="1" dirty="0">
              <a:solidFill>
                <a:prstClr val="black"/>
              </a:solidFill>
              <a:latin typeface="Lucida Sans Typewriter" panose="020B0509030504030204" pitchFamily="49" charset="0"/>
              <a:ea typeface="Times New Roman"/>
              <a:cs typeface="Times New Roman"/>
            </a:endParaRPr>
          </a:p>
          <a:p>
            <a:pPr marL="342000">
              <a:lnSpc>
                <a:spcPct val="115000"/>
              </a:lnSpc>
              <a:spcAft>
                <a:spcPts val="995"/>
              </a:spcAft>
            </a:pPr>
            <a:r>
              <a:rPr lang="en-US" sz="1000" dirty="0">
                <a:solidFill>
                  <a:prstClr val="black"/>
                </a:solidFill>
                <a:latin typeface="Arial"/>
                <a:ea typeface="Times New Roman"/>
                <a:cs typeface="Times New Roman"/>
              </a:rPr>
              <a:t>The results should list the two system accounts in the Users container, Guest and krbtgt.</a:t>
            </a:r>
          </a:p>
          <a:p>
            <a:pPr>
              <a:lnSpc>
                <a:spcPts val="1300"/>
              </a:lnSpc>
              <a:spcAft>
                <a:spcPts val="600"/>
              </a:spcAft>
            </a:pPr>
            <a:endParaRPr lang="en-CA" sz="1000" dirty="0" smtClean="0">
              <a:latin typeface="Arial"/>
              <a:ea typeface="Calibri"/>
              <a:cs typeface="Segoe UI"/>
            </a:endParaRPr>
          </a:p>
          <a:p>
            <a:pPr>
              <a:lnSpc>
                <a:spcPts val="1300"/>
              </a:lnSpc>
              <a:spcAft>
                <a:spcPts val="600"/>
              </a:spcAft>
            </a:pPr>
            <a:r>
              <a:rPr lang="en-CA" sz="1000" dirty="0" smtClean="0">
                <a:latin typeface="Arial"/>
                <a:ea typeface="Calibri"/>
                <a:cs typeface="Segoe UI"/>
              </a:rPr>
              <a:t>Leave </a:t>
            </a:r>
            <a:r>
              <a:rPr lang="en-CA" sz="1000" dirty="0">
                <a:latin typeface="Arial"/>
                <a:ea typeface="Calibri"/>
                <a:cs typeface="Segoe UI"/>
              </a:rPr>
              <a:t>the virtual machine running for the next demonstration.</a:t>
            </a:r>
            <a:endParaRPr lang="en-CA" sz="1000" dirty="0">
              <a:latin typeface="Arial"/>
              <a:ea typeface="Calibri"/>
              <a:cs typeface="Times New Roman"/>
            </a:endParaRPr>
          </a:p>
          <a:p>
            <a:pPr marL="457200" lvl="0">
              <a:lnSpc>
                <a:spcPts val="1300"/>
              </a:lnSpc>
              <a:spcAft>
                <a:spcPts val="600"/>
              </a:spcAft>
            </a:pPr>
            <a:endParaRPr lang="en-CA" dirty="0"/>
          </a:p>
        </p:txBody>
      </p:sp>
      <p:sp>
        <p:nvSpPr>
          <p:cNvPr id="4" name="Slide Number Placeholder 3"/>
          <p:cNvSpPr>
            <a:spLocks noGrp="1"/>
          </p:cNvSpPr>
          <p:nvPr>
            <p:ph type="sldNum" sz="quarter" idx="10"/>
          </p:nvPr>
        </p:nvSpPr>
        <p:spPr/>
        <p:txBody>
          <a:bodyPr/>
          <a:lstStyle/>
          <a:p>
            <a:fld id="{BC25D2D6-B00A-4B22-9A9A-ED999C7BB1C0}" type="slidenum">
              <a:rPr lang="en-CA" smtClean="0"/>
              <a:pPr/>
              <a:t>13</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714184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marL="0" lvl="0" indent="0">
              <a:lnSpc>
                <a:spcPct val="115000"/>
              </a:lnSpc>
              <a:spcAft>
                <a:spcPts val="995"/>
              </a:spcAft>
              <a:buFont typeface="+mj-lt"/>
              <a:buNone/>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1821385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marL="0" lvl="0" indent="0">
              <a:lnSpc>
                <a:spcPct val="115000"/>
              </a:lnSpc>
              <a:spcAft>
                <a:spcPts val="995"/>
              </a:spcAft>
              <a:buFont typeface="+mj-lt"/>
              <a:buNone/>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1666579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marL="0" lvl="0" indent="0">
              <a:lnSpc>
                <a:spcPct val="115000"/>
              </a:lnSpc>
              <a:spcAft>
                <a:spcPts val="995"/>
              </a:spcAft>
              <a:buFont typeface="+mj-lt"/>
              <a:buNone/>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3758074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Some students who are inexperienced with Windows Server often have difficulty grasping the concept of groups within groups. Consider using your whiteboard to go through the following example:</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Draw three domains as triangles, and add a file resource to each domain.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Ask your students how many file permissions are required if each domain hosts 100 users who each need access to the three file resources in your three domains.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Group the three sets of 100 users, and repeat the question.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Group the groups, and repeat the question.</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This elegantly demonstrates the benefit of nesting groups.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Now all you need to do is to explain the particulars of the types and scopes in Windows Server. As with Lesson 1, consider making the demonstration the focus of this lesson.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6162482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Explain to students that they can use distribution groups to send email messages to collections of users, but only with messaging programs such as Microsoft Exchange Server. Stress that distribution lists are not security-enabled, so they cannot be listed in discretionary access control lists (DACLs).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Also explain to students that they can use security groups to assign rights and permissions to both groups of users and groups of computers. A security group is security-enabled, and you can use it to assign permissions to local and network resources.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961088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Use the table to describe group scopes. Consider drawing a diagram with several domains that shows where you can create groups, and the implications of each group scope.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19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393775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This slide and the next five explain the example in the student notes. This slide summarizes the example, and the next five slides build up the example frame by frame. The five frames are:</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Identities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Global groups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Domain-local groups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Assigned resource access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A copy of the summary, as shown in the first slide above</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Alternatively, draw an illustration on the whiteboard by using the following guidelines to illustrate the advantage of group nesting:</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Draw three domain objects, each containing five users. Draw a file object in one of the three domains.</a:t>
            </a:r>
            <a:endParaRPr lang="en-CA" sz="1000" dirty="0" smtClean="0">
              <a:effectLst/>
              <a:latin typeface="Arial"/>
              <a:ea typeface="Times New Roman"/>
              <a:cs typeface="Times New Roman"/>
            </a:endParaRPr>
          </a:p>
          <a:p>
            <a:pPr marL="342000">
              <a:lnSpc>
                <a:spcPct val="115000"/>
              </a:lnSpc>
              <a:spcAft>
                <a:spcPts val="995"/>
              </a:spcAft>
            </a:pPr>
            <a:r>
              <a:rPr lang="en-CA" sz="1000" b="1" dirty="0">
                <a:latin typeface="Arial"/>
                <a:ea typeface="Calibri"/>
                <a:cs typeface="Times New Roman"/>
              </a:rPr>
              <a:t>Question:</a:t>
            </a:r>
            <a:r>
              <a:rPr lang="en-CA" sz="1000" dirty="0">
                <a:latin typeface="Arial"/>
                <a:ea typeface="Calibri"/>
                <a:cs typeface="Segoe UI"/>
              </a:rPr>
              <a:t> How many file permissions do you need to create to assign permissions on this file for each user?</a:t>
            </a:r>
            <a:endParaRPr lang="en-CA" sz="1000" dirty="0">
              <a:latin typeface="Arial"/>
              <a:ea typeface="Calibri"/>
              <a:cs typeface="Times New Roman"/>
            </a:endParaRPr>
          </a:p>
          <a:p>
            <a:pPr marL="342000">
              <a:lnSpc>
                <a:spcPct val="115000"/>
              </a:lnSpc>
              <a:spcAft>
                <a:spcPts val="995"/>
              </a:spcAft>
            </a:pPr>
            <a:r>
              <a:rPr lang="en-CA" sz="1000" b="1" dirty="0">
                <a:latin typeface="Arial"/>
                <a:ea typeface="Calibri"/>
                <a:cs typeface="Times New Roman"/>
              </a:rPr>
              <a:t>Answer:</a:t>
            </a:r>
            <a:r>
              <a:rPr lang="en-CA" sz="1000" dirty="0">
                <a:latin typeface="Arial"/>
                <a:ea typeface="Calibri"/>
                <a:cs typeface="Segoe UI"/>
              </a:rPr>
              <a:t> You need to create 15 file permissions.</a:t>
            </a:r>
            <a:endParaRPr lang="en-CA" sz="1000" dirty="0">
              <a:latin typeface="Arial"/>
              <a:ea typeface="Calibri"/>
              <a:cs typeface="Times New Roman"/>
            </a:endParaRPr>
          </a:p>
          <a:p>
            <a:pPr marL="342900" indent="-342900">
              <a:lnSpc>
                <a:spcPct val="115000"/>
              </a:lnSpc>
              <a:spcAft>
                <a:spcPts val="995"/>
              </a:spcAft>
              <a:buFont typeface="+mj-lt"/>
              <a:buAutoNum type="arabicPeriod" startAt="2"/>
            </a:pPr>
            <a:r>
              <a:rPr lang="en-US" sz="1000" dirty="0">
                <a:latin typeface="Arial"/>
                <a:ea typeface="Times New Roman"/>
                <a:cs typeface="Segoe UI"/>
              </a:rPr>
              <a:t>Draw a circle around the five users in each domain, and explain that the circles represent global groups.</a:t>
            </a:r>
            <a:endParaRPr lang="en-CA" sz="1000" dirty="0">
              <a:latin typeface="Arial"/>
              <a:ea typeface="Times New Roman"/>
              <a:cs typeface="Segoe UI"/>
            </a:endParaRPr>
          </a:p>
          <a:p>
            <a:pPr marL="342000">
              <a:lnSpc>
                <a:spcPct val="115000"/>
              </a:lnSpc>
              <a:spcAft>
                <a:spcPts val="995"/>
              </a:spcAft>
            </a:pPr>
            <a:r>
              <a:rPr lang="en-CA" sz="1000" b="1" dirty="0">
                <a:latin typeface="Arial"/>
                <a:ea typeface="Calibri"/>
                <a:cs typeface="Times New Roman"/>
              </a:rPr>
              <a:t>Question:</a:t>
            </a:r>
            <a:r>
              <a:rPr lang="en-CA" sz="1000" dirty="0">
                <a:latin typeface="Arial"/>
                <a:ea typeface="Calibri"/>
                <a:cs typeface="Segoe UI"/>
              </a:rPr>
              <a:t> How many permissions on the file do you need to assign at the global group level?</a:t>
            </a:r>
            <a:endParaRPr lang="en-CA" sz="1000" dirty="0">
              <a:latin typeface="Arial"/>
              <a:ea typeface="Calibri"/>
              <a:cs typeface="Times New Roman"/>
            </a:endParaRPr>
          </a:p>
          <a:p>
            <a:pPr marL="342000">
              <a:lnSpc>
                <a:spcPct val="115000"/>
              </a:lnSpc>
              <a:spcAft>
                <a:spcPts val="995"/>
              </a:spcAft>
            </a:pPr>
            <a:r>
              <a:rPr lang="en-CA" sz="1000" b="1" dirty="0">
                <a:latin typeface="Arial"/>
                <a:ea typeface="Calibri"/>
                <a:cs typeface="Times New Roman"/>
              </a:rPr>
              <a:t>Answer:</a:t>
            </a:r>
            <a:r>
              <a:rPr lang="en-CA" sz="1000" dirty="0">
                <a:latin typeface="Arial"/>
                <a:ea typeface="Calibri"/>
                <a:cs typeface="Segoe UI"/>
              </a:rPr>
              <a:t> You need to assign three permissions.</a:t>
            </a:r>
            <a:endParaRPr lang="en-CA" sz="1000" dirty="0">
              <a:latin typeface="Arial"/>
              <a:ea typeface="Calibri"/>
              <a:cs typeface="Times New Roman"/>
            </a:endParaRPr>
          </a:p>
          <a:p>
            <a:pPr marL="342900" lvl="0" indent="-342900">
              <a:lnSpc>
                <a:spcPct val="115000"/>
              </a:lnSpc>
              <a:spcAft>
                <a:spcPts val="995"/>
              </a:spcAft>
              <a:buFont typeface="+mj-lt"/>
              <a:buAutoNum type="arabicPeriod" startAt="3"/>
            </a:pPr>
            <a:r>
              <a:rPr lang="en-US" sz="1000" dirty="0" smtClean="0">
                <a:effectLst/>
                <a:latin typeface="Arial"/>
                <a:ea typeface="Times New Roman"/>
                <a:cs typeface="Segoe UI"/>
              </a:rPr>
              <a:t>Draw a circle adjacent to the file. Draw arrows from your global groups to this circle, indicating that you have added these groups to a local group in the resource holding domain.</a:t>
            </a:r>
            <a:endParaRPr lang="en-CA" sz="1000" dirty="0" smtClean="0">
              <a:effectLst/>
              <a:latin typeface="Arial"/>
              <a:ea typeface="Times New Roman"/>
              <a:cs typeface="Times New Roman"/>
            </a:endParaRPr>
          </a:p>
          <a:p>
            <a:pPr marL="342000">
              <a:lnSpc>
                <a:spcPct val="115000"/>
              </a:lnSpc>
              <a:spcAft>
                <a:spcPts val="1000"/>
              </a:spcAft>
            </a:pPr>
            <a:r>
              <a:rPr lang="en-CA" sz="1000" b="1" dirty="0">
                <a:latin typeface="Arial"/>
                <a:ea typeface="Calibri"/>
                <a:cs typeface="Times New Roman"/>
              </a:rPr>
              <a:t>Question:</a:t>
            </a:r>
            <a:r>
              <a:rPr lang="en-CA" sz="1000" dirty="0">
                <a:latin typeface="Arial"/>
                <a:ea typeface="Calibri"/>
                <a:cs typeface="Segoe UI"/>
              </a:rPr>
              <a:t> How many permissions must you assign to the local group?</a:t>
            </a:r>
            <a:endParaRPr lang="en-CA" sz="1000" dirty="0">
              <a:latin typeface="Arial"/>
              <a:ea typeface="Calibri"/>
              <a:cs typeface="Times New Roman"/>
            </a:endParaRPr>
          </a:p>
          <a:p>
            <a:pPr marL="342000">
              <a:lnSpc>
                <a:spcPct val="115000"/>
              </a:lnSpc>
              <a:spcAft>
                <a:spcPts val="1000"/>
              </a:spcAft>
            </a:pPr>
            <a:r>
              <a:rPr lang="en-CA" sz="1000" b="1" dirty="0">
                <a:latin typeface="Arial"/>
                <a:ea typeface="Calibri"/>
                <a:cs typeface="Times New Roman"/>
              </a:rPr>
              <a:t>Answer:</a:t>
            </a:r>
            <a:r>
              <a:rPr lang="en-CA" sz="1000" dirty="0">
                <a:latin typeface="Arial"/>
                <a:ea typeface="Calibri"/>
                <a:cs typeface="Segoe UI"/>
              </a:rPr>
              <a:t> You must assign one permission to the local group.</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286598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b="1" noProof="0" dirty="0" smtClean="0">
                <a:latin typeface="Arial"/>
                <a:ea typeface="Calibri"/>
                <a:cs typeface="Times New Roman"/>
              </a:rPr>
              <a:t>Entreprise </a:t>
            </a:r>
            <a:r>
              <a:rPr lang="fr-FR" sz="1000" b="1" noProof="0" dirty="0" err="1" smtClean="0">
                <a:latin typeface="Arial"/>
                <a:ea typeface="Calibri"/>
                <a:cs typeface="Times New Roman"/>
              </a:rPr>
              <a:t>Admins</a:t>
            </a:r>
            <a:r>
              <a:rPr lang="fr-FR" sz="1000" b="1" noProof="0" dirty="0" smtClean="0">
                <a:latin typeface="Arial"/>
                <a:ea typeface="Calibri"/>
                <a:cs typeface="Times New Roman"/>
              </a:rPr>
              <a:t> </a:t>
            </a:r>
            <a:r>
              <a:rPr lang="fr-FR" sz="1000" noProof="0" dirty="0" smtClean="0">
                <a:latin typeface="Arial"/>
                <a:ea typeface="Calibri"/>
                <a:cs typeface="Times New Roman"/>
              </a:rPr>
              <a:t>: Membre du groupe Administrateurs. Les utilisateurs de ce groupe</a:t>
            </a:r>
            <a:r>
              <a:rPr lang="fr-FR" sz="1000" baseline="0" noProof="0" dirty="0" smtClean="0">
                <a:latin typeface="Arial"/>
                <a:ea typeface="Calibri"/>
                <a:cs typeface="Times New Roman"/>
              </a:rPr>
              <a:t> peuvent gérer</a:t>
            </a:r>
            <a:r>
              <a:rPr lang="fr-FR" sz="1000" noProof="0" dirty="0" smtClean="0">
                <a:latin typeface="Arial"/>
                <a:ea typeface="Calibri"/>
                <a:cs typeface="Times New Roman"/>
              </a:rPr>
              <a:t> la partition « Configuration » et ont également un</a:t>
            </a:r>
            <a:r>
              <a:rPr lang="fr-FR" sz="1000" baseline="0" noProof="0" dirty="0" smtClean="0">
                <a:latin typeface="Arial"/>
                <a:ea typeface="Calibri"/>
                <a:cs typeface="Times New Roman"/>
              </a:rPr>
              <a:t> contrôle total de la partition « Domaine ».</a:t>
            </a:r>
          </a:p>
          <a:p>
            <a:pPr>
              <a:lnSpc>
                <a:spcPct val="115000"/>
              </a:lnSpc>
              <a:spcAft>
                <a:spcPts val="1000"/>
              </a:spcAft>
            </a:pPr>
            <a:r>
              <a:rPr lang="fr-FR" sz="1000" b="1" noProof="0" dirty="0" err="1" smtClean="0">
                <a:latin typeface="Arial"/>
                <a:ea typeface="Calibri"/>
                <a:cs typeface="Times New Roman"/>
              </a:rPr>
              <a:t>Schema</a:t>
            </a:r>
            <a:r>
              <a:rPr lang="fr-FR" sz="1000" b="1" noProof="0" dirty="0" smtClean="0">
                <a:latin typeface="Arial"/>
                <a:ea typeface="Calibri"/>
                <a:cs typeface="Times New Roman"/>
              </a:rPr>
              <a:t> </a:t>
            </a:r>
            <a:r>
              <a:rPr lang="fr-FR" sz="1000" b="1" noProof="0" dirty="0" err="1" smtClean="0">
                <a:latin typeface="Arial"/>
                <a:ea typeface="Calibri"/>
                <a:cs typeface="Times New Roman"/>
              </a:rPr>
              <a:t>Admins</a:t>
            </a:r>
            <a:r>
              <a:rPr lang="fr-FR" sz="1000" b="1" noProof="0" dirty="0" smtClean="0">
                <a:latin typeface="Arial"/>
                <a:ea typeface="Calibri"/>
                <a:cs typeface="Times New Roman"/>
              </a:rPr>
              <a:t> </a:t>
            </a:r>
            <a:r>
              <a:rPr lang="fr-FR" sz="1000" noProof="0" dirty="0" smtClean="0">
                <a:latin typeface="Arial"/>
                <a:ea typeface="Calibri"/>
                <a:cs typeface="Times New Roman"/>
              </a:rPr>
              <a:t>: Contrôle total du schéma.</a:t>
            </a:r>
          </a:p>
          <a:p>
            <a:pPr>
              <a:lnSpc>
                <a:spcPct val="115000"/>
              </a:lnSpc>
              <a:spcAft>
                <a:spcPts val="1000"/>
              </a:spcAft>
            </a:pPr>
            <a:r>
              <a:rPr lang="fr-FR" sz="1000" b="1" noProof="0" dirty="0" err="1" smtClean="0">
                <a:latin typeface="Arial"/>
                <a:ea typeface="Calibri"/>
                <a:cs typeface="Times New Roman"/>
              </a:rPr>
              <a:t>Administrators</a:t>
            </a:r>
            <a:r>
              <a:rPr lang="fr-FR" sz="1000" noProof="0" dirty="0" smtClean="0">
                <a:latin typeface="Arial"/>
                <a:ea typeface="Calibri"/>
                <a:cs typeface="Times New Roman"/>
              </a:rPr>
              <a:t> : Contrôle total des contrôleurs de domaine, ainsi que des</a:t>
            </a:r>
            <a:r>
              <a:rPr lang="fr-FR" sz="1000" baseline="0" noProof="0" dirty="0" smtClean="0">
                <a:latin typeface="Arial"/>
                <a:ea typeface="Calibri"/>
                <a:cs typeface="Times New Roman"/>
              </a:rPr>
              <a:t> données de la partition domaine.</a:t>
            </a:r>
          </a:p>
          <a:p>
            <a:pPr>
              <a:lnSpc>
                <a:spcPct val="115000"/>
              </a:lnSpc>
              <a:spcAft>
                <a:spcPts val="1000"/>
              </a:spcAft>
            </a:pPr>
            <a:r>
              <a:rPr lang="fr-FR" sz="1000" b="1" baseline="0" noProof="0" dirty="0" smtClean="0">
                <a:latin typeface="Arial"/>
                <a:ea typeface="Calibri"/>
                <a:cs typeface="Times New Roman"/>
              </a:rPr>
              <a:t>Domain</a:t>
            </a:r>
            <a:r>
              <a:rPr lang="fr-FR" sz="1000" baseline="0" noProof="0" dirty="0" smtClean="0">
                <a:latin typeface="Arial"/>
                <a:ea typeface="Calibri"/>
                <a:cs typeface="Times New Roman"/>
              </a:rPr>
              <a:t> </a:t>
            </a:r>
            <a:r>
              <a:rPr lang="fr-FR" sz="1000" b="1" baseline="0" noProof="0" dirty="0" err="1" smtClean="0">
                <a:latin typeface="Arial"/>
                <a:ea typeface="Calibri"/>
                <a:cs typeface="Times New Roman"/>
              </a:rPr>
              <a:t>Admins</a:t>
            </a:r>
            <a:r>
              <a:rPr lang="fr-FR" sz="1000" baseline="0" noProof="0" dirty="0" smtClean="0">
                <a:latin typeface="Arial"/>
                <a:ea typeface="Calibri"/>
                <a:cs typeface="Times New Roman"/>
              </a:rPr>
              <a:t> : Ajouté au groupe Administrateurs et au groupe Administrateurs locaux. Les membres de ce groupent ont la capacité de gérer n’importe quelle machine du domaine.</a:t>
            </a:r>
          </a:p>
          <a:p>
            <a:pPr>
              <a:lnSpc>
                <a:spcPct val="115000"/>
              </a:lnSpc>
              <a:spcAft>
                <a:spcPts val="1000"/>
              </a:spcAft>
            </a:pPr>
            <a:r>
              <a:rPr lang="fr-FR" sz="1000" b="1" noProof="0" dirty="0" smtClean="0">
                <a:latin typeface="Arial"/>
                <a:ea typeface="Calibri"/>
                <a:cs typeface="Times New Roman"/>
              </a:rPr>
              <a:t>Server </a:t>
            </a:r>
            <a:r>
              <a:rPr lang="fr-FR" sz="1000" b="1" noProof="0" dirty="0" err="1" smtClean="0">
                <a:latin typeface="Arial"/>
                <a:ea typeface="Calibri"/>
                <a:cs typeface="Times New Roman"/>
              </a:rPr>
              <a:t>Operators</a:t>
            </a:r>
            <a:r>
              <a:rPr lang="fr-FR" sz="1000" noProof="0" dirty="0" smtClean="0">
                <a:latin typeface="Arial"/>
                <a:ea typeface="Calibri"/>
                <a:cs typeface="Times New Roman"/>
              </a:rPr>
              <a:t> : Gèrent la</a:t>
            </a:r>
            <a:r>
              <a:rPr lang="fr-FR" sz="1000" baseline="0" noProof="0" dirty="0" smtClean="0">
                <a:latin typeface="Arial"/>
                <a:ea typeface="Calibri"/>
                <a:cs typeface="Times New Roman"/>
              </a:rPr>
              <a:t> maintenant des contrôleurs de domaine (</a:t>
            </a:r>
            <a:r>
              <a:rPr lang="fr-FR" sz="1000" baseline="0" noProof="0" dirty="0" err="1" smtClean="0">
                <a:latin typeface="Arial"/>
                <a:ea typeface="Calibri"/>
                <a:cs typeface="Times New Roman"/>
              </a:rPr>
              <a:t>start</a:t>
            </a:r>
            <a:r>
              <a:rPr lang="fr-FR" sz="1000" baseline="0" noProof="0" dirty="0" smtClean="0">
                <a:latin typeface="Arial"/>
                <a:ea typeface="Calibri"/>
                <a:cs typeface="Times New Roman"/>
              </a:rPr>
              <a:t>/stop services, sauvegarde/restauration, </a:t>
            </a:r>
            <a:r>
              <a:rPr lang="fr-FR" sz="1000" baseline="0" noProof="0" dirty="0" err="1" smtClean="0">
                <a:latin typeface="Arial"/>
                <a:ea typeface="Calibri"/>
                <a:cs typeface="Times New Roman"/>
              </a:rPr>
              <a:t>etc</a:t>
            </a:r>
            <a:r>
              <a:rPr lang="fr-FR" sz="1000" baseline="0" noProof="0" dirty="0" smtClean="0">
                <a:latin typeface="Arial"/>
                <a:ea typeface="Calibri"/>
                <a:cs typeface="Times New Roman"/>
              </a:rPr>
              <a:t>). Par défaut, aucun membre dans ce groupe.</a:t>
            </a:r>
          </a:p>
          <a:p>
            <a:pPr>
              <a:lnSpc>
                <a:spcPct val="115000"/>
              </a:lnSpc>
              <a:spcAft>
                <a:spcPts val="1000"/>
              </a:spcAft>
            </a:pPr>
            <a:r>
              <a:rPr lang="fr-FR" sz="1000" b="1" baseline="0" noProof="0" dirty="0" err="1" smtClean="0">
                <a:latin typeface="Arial"/>
                <a:ea typeface="Calibri"/>
                <a:cs typeface="Times New Roman"/>
              </a:rPr>
              <a:t>Account</a:t>
            </a:r>
            <a:r>
              <a:rPr lang="fr-FR" sz="1000" b="1" baseline="0" noProof="0" dirty="0" smtClean="0">
                <a:latin typeface="Arial"/>
                <a:ea typeface="Calibri"/>
                <a:cs typeface="Times New Roman"/>
              </a:rPr>
              <a:t> </a:t>
            </a:r>
            <a:r>
              <a:rPr lang="fr-FR" sz="1000" b="1" baseline="0" noProof="0" dirty="0" err="1" smtClean="0">
                <a:latin typeface="Arial"/>
                <a:ea typeface="Calibri"/>
                <a:cs typeface="Times New Roman"/>
              </a:rPr>
              <a:t>Operators</a:t>
            </a:r>
            <a:r>
              <a:rPr lang="fr-FR" sz="1000" baseline="0" noProof="0" dirty="0" smtClean="0">
                <a:latin typeface="Arial"/>
                <a:ea typeface="Calibri"/>
                <a:cs typeface="Times New Roman"/>
              </a:rPr>
              <a:t> : Gèrent les comptes (</a:t>
            </a:r>
            <a:r>
              <a:rPr lang="fr-FR" sz="1000" baseline="0" noProof="0" dirty="0" err="1" smtClean="0">
                <a:latin typeface="Arial"/>
                <a:ea typeface="Calibri"/>
                <a:cs typeface="Times New Roman"/>
              </a:rPr>
              <a:t>users</a:t>
            </a:r>
            <a:r>
              <a:rPr lang="fr-FR" sz="1000" baseline="0" noProof="0" dirty="0" smtClean="0">
                <a:latin typeface="Arial"/>
                <a:ea typeface="Calibri"/>
                <a:cs typeface="Times New Roman"/>
              </a:rPr>
              <a:t>, groupes, </a:t>
            </a:r>
            <a:r>
              <a:rPr lang="fr-FR" sz="1000" baseline="0" noProof="0" dirty="0" err="1" smtClean="0">
                <a:latin typeface="Arial"/>
                <a:ea typeface="Calibri"/>
                <a:cs typeface="Times New Roman"/>
              </a:rPr>
              <a:t>etc</a:t>
            </a:r>
            <a:r>
              <a:rPr lang="fr-FR" sz="1000" baseline="0" noProof="0" dirty="0" smtClean="0">
                <a:latin typeface="Arial"/>
                <a:ea typeface="Calibri"/>
                <a:cs typeface="Times New Roman"/>
              </a:rPr>
              <a:t>). Par défaut, aucun membre dans ce groupe.</a:t>
            </a:r>
          </a:p>
          <a:p>
            <a:pPr>
              <a:lnSpc>
                <a:spcPct val="115000"/>
              </a:lnSpc>
              <a:spcAft>
                <a:spcPts val="1000"/>
              </a:spcAft>
            </a:pPr>
            <a:r>
              <a:rPr lang="fr-FR" sz="1000" b="1" baseline="0" noProof="0" dirty="0" smtClean="0">
                <a:latin typeface="Arial"/>
                <a:ea typeface="Calibri"/>
                <a:cs typeface="Times New Roman"/>
              </a:rPr>
              <a:t>Backup </a:t>
            </a:r>
            <a:r>
              <a:rPr lang="fr-FR" sz="1000" b="1" baseline="0" noProof="0" dirty="0" err="1" smtClean="0">
                <a:latin typeface="Arial"/>
                <a:ea typeface="Calibri"/>
                <a:cs typeface="Times New Roman"/>
              </a:rPr>
              <a:t>Operators</a:t>
            </a:r>
            <a:r>
              <a:rPr lang="fr-FR" sz="1000" baseline="0" noProof="0" dirty="0" smtClean="0">
                <a:latin typeface="Arial"/>
                <a:ea typeface="Calibri"/>
                <a:cs typeface="Times New Roman"/>
              </a:rPr>
              <a:t> : Gèrent la sauvegarde/restauration d’un DC. Par défaut, aucun membre dans ce groupe.</a:t>
            </a:r>
          </a:p>
          <a:p>
            <a:pPr>
              <a:lnSpc>
                <a:spcPct val="115000"/>
              </a:lnSpc>
              <a:spcAft>
                <a:spcPts val="1000"/>
              </a:spcAft>
            </a:pPr>
            <a:r>
              <a:rPr lang="fr-FR" sz="1000" b="1" baseline="0" noProof="0" dirty="0" err="1" smtClean="0">
                <a:latin typeface="Arial"/>
                <a:ea typeface="Calibri"/>
                <a:cs typeface="Times New Roman"/>
              </a:rPr>
              <a:t>Print</a:t>
            </a:r>
            <a:r>
              <a:rPr lang="fr-FR" sz="1000" b="1" baseline="0" noProof="0" dirty="0" smtClean="0">
                <a:latin typeface="Arial"/>
                <a:ea typeface="Calibri"/>
                <a:cs typeface="Times New Roman"/>
              </a:rPr>
              <a:t> </a:t>
            </a:r>
            <a:r>
              <a:rPr lang="fr-FR" sz="1000" b="1" baseline="0" noProof="0" dirty="0" err="1" smtClean="0">
                <a:latin typeface="Arial"/>
                <a:ea typeface="Calibri"/>
                <a:cs typeface="Times New Roman"/>
              </a:rPr>
              <a:t>Operators</a:t>
            </a:r>
            <a:r>
              <a:rPr lang="fr-FR" sz="1000" baseline="0" noProof="0" dirty="0" smtClean="0">
                <a:latin typeface="Arial"/>
                <a:ea typeface="Calibri"/>
                <a:cs typeface="Times New Roman"/>
              </a:rPr>
              <a:t> : Gèrent la file d’attente du service d’impression.</a:t>
            </a:r>
          </a:p>
          <a:p>
            <a:pPr>
              <a:lnSpc>
                <a:spcPct val="115000"/>
              </a:lnSpc>
              <a:spcAft>
                <a:spcPts val="1000"/>
              </a:spcAft>
            </a:pPr>
            <a:r>
              <a:rPr lang="fr-FR" sz="1000" b="1" noProof="0" dirty="0" err="1" smtClean="0">
                <a:latin typeface="Arial"/>
                <a:ea typeface="Calibri"/>
                <a:cs typeface="Times New Roman"/>
              </a:rPr>
              <a:t>Cert</a:t>
            </a:r>
            <a:r>
              <a:rPr lang="fr-FR" sz="1000" b="1" noProof="0" dirty="0" smtClean="0">
                <a:latin typeface="Arial"/>
                <a:ea typeface="Calibri"/>
                <a:cs typeface="Times New Roman"/>
              </a:rPr>
              <a:t> </a:t>
            </a:r>
            <a:r>
              <a:rPr lang="fr-FR" sz="1000" b="1" noProof="0" dirty="0" err="1" smtClean="0">
                <a:latin typeface="Arial"/>
                <a:ea typeface="Calibri"/>
                <a:cs typeface="Times New Roman"/>
              </a:rPr>
              <a:t>Publishers</a:t>
            </a:r>
            <a:r>
              <a:rPr lang="fr-FR" sz="1000" b="0" baseline="0" noProof="0" dirty="0" smtClean="0">
                <a:latin typeface="Arial"/>
                <a:ea typeface="Calibri"/>
                <a:cs typeface="Times New Roman"/>
              </a:rPr>
              <a:t> : Gèrent la publication de certificats.</a:t>
            </a:r>
          </a:p>
          <a:p>
            <a:pPr>
              <a:lnSpc>
                <a:spcPct val="115000"/>
              </a:lnSpc>
              <a:spcAft>
                <a:spcPts val="1000"/>
              </a:spcAft>
            </a:pPr>
            <a:endParaRPr lang="fr-FR" sz="1000" b="0" baseline="0" noProof="0" dirty="0" smtClean="0">
              <a:latin typeface="Arial"/>
              <a:ea typeface="Calibri"/>
              <a:cs typeface="Times New Roman"/>
            </a:endParaRPr>
          </a:p>
          <a:p>
            <a:pPr>
              <a:lnSpc>
                <a:spcPct val="115000"/>
              </a:lnSpc>
              <a:spcAft>
                <a:spcPts val="1000"/>
              </a:spcAft>
            </a:pPr>
            <a:r>
              <a:rPr lang="fr-FR" sz="1000" b="0" baseline="0" noProof="0" dirty="0" smtClean="0">
                <a:latin typeface="Arial"/>
                <a:ea typeface="Calibri"/>
                <a:cs typeface="Times New Roman"/>
              </a:rPr>
              <a:t>Tout ceci forme ce qu’on appelle les </a:t>
            </a:r>
            <a:r>
              <a:rPr lang="fr-FR" sz="1000" b="0" u="sng" baseline="0" noProof="0" dirty="0" smtClean="0">
                <a:latin typeface="Arial"/>
                <a:ea typeface="Calibri"/>
                <a:cs typeface="Times New Roman"/>
              </a:rPr>
              <a:t>groupes protégés</a:t>
            </a:r>
            <a:r>
              <a:rPr lang="fr-FR" sz="1000" b="0" baseline="0" noProof="0" dirty="0" smtClean="0">
                <a:latin typeface="Arial"/>
                <a:ea typeface="Calibri"/>
                <a:cs typeface="Times New Roman"/>
              </a:rPr>
              <a:t>.</a:t>
            </a:r>
          </a:p>
          <a:p>
            <a:pPr>
              <a:lnSpc>
                <a:spcPct val="115000"/>
              </a:lnSpc>
              <a:spcAft>
                <a:spcPts val="1000"/>
              </a:spcAft>
            </a:pPr>
            <a:endParaRPr lang="fr-FR" sz="1000" b="1" noProof="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6396227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667193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required virtual machine, 20410D‑LON‑DC1, should be running after the previous 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 new group</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LON‑DC1, switch to </a:t>
            </a:r>
            <a:r>
              <a:rPr lang="en-US" sz="1000" b="1" dirty="0" smtClean="0">
                <a:effectLst/>
                <a:latin typeface="Arial"/>
                <a:ea typeface="Times New Roman"/>
                <a:cs typeface="Times New Roman"/>
              </a:rPr>
              <a:t>Active Directory Administrative Center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Times New Roman"/>
              </a:rPr>
              <a:t>Expand Adatum (Local), and then click </a:t>
            </a:r>
            <a:r>
              <a:rPr lang="en-US" sz="1000" b="1" dirty="0" smtClean="0">
                <a:effectLst/>
                <a:latin typeface="Arial"/>
                <a:ea typeface="Times New Roman"/>
                <a:cs typeface="Times New Roman"/>
              </a:rPr>
              <a:t>IT</a:t>
            </a:r>
            <a:r>
              <a:rPr lang="en-US" sz="1000" dirty="0" smtClean="0">
                <a:solidFill>
                  <a:srgbClr val="000000"/>
                </a:solidFill>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Tasks list, under IT, point to </a:t>
            </a:r>
            <a:r>
              <a:rPr lang="en-US" sz="1000" b="1" dirty="0" smtClean="0">
                <a:effectLst/>
                <a:latin typeface="Arial"/>
                <a:ea typeface="Times New Roman"/>
                <a:cs typeface="Times New Roman"/>
              </a:rPr>
              <a:t>New</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Group</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Create Group</a:t>
            </a:r>
            <a:r>
              <a:rPr lang="en-US" sz="1000" dirty="0" smtClean="0">
                <a:effectLst/>
                <a:latin typeface="Arial"/>
                <a:ea typeface="Times New Roman"/>
                <a:cs typeface="Segoe UI"/>
              </a:rPr>
              <a:t> dialog box, in </a:t>
            </a:r>
            <a:r>
              <a:rPr lang="en-US" sz="1000" b="1" dirty="0" smtClean="0">
                <a:effectLst/>
                <a:latin typeface="Arial"/>
                <a:ea typeface="Times New Roman"/>
                <a:cs typeface="Times New Roman"/>
              </a:rPr>
              <a:t>Group name</a:t>
            </a:r>
            <a:r>
              <a:rPr lang="en-US" sz="1000" dirty="0" smtClean="0">
                <a:effectLst/>
                <a:latin typeface="Arial"/>
                <a:ea typeface="Times New Roman"/>
                <a:cs typeface="Segoe UI"/>
              </a:rPr>
              <a:t>, type </a:t>
            </a:r>
            <a:r>
              <a:rPr lang="en-US" sz="1000" b="1" dirty="0" smtClean="0">
                <a:effectLst/>
                <a:latin typeface="Arial"/>
                <a:ea typeface="Times New Roman"/>
                <a:cs typeface="Times New Roman"/>
              </a:rPr>
              <a:t>IT</a:t>
            </a:r>
            <a:r>
              <a:rPr lang="en-US" sz="1000" dirty="0" smtClean="0">
                <a:effectLst/>
                <a:latin typeface="Arial"/>
                <a:ea typeface="Times New Roman"/>
                <a:cs typeface="Segoe UI"/>
              </a:rPr>
              <a:t> </a:t>
            </a:r>
            <a:r>
              <a:rPr lang="en-US" sz="1000" b="1" dirty="0" smtClean="0">
                <a:effectLst/>
                <a:latin typeface="Arial"/>
                <a:ea typeface="Times New Roman"/>
                <a:cs typeface="Times New Roman"/>
              </a:rPr>
              <a:t>Managers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Add members to the group</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Scroll down, and under Members, click </a:t>
            </a:r>
            <a:r>
              <a:rPr lang="en-US" sz="1000" b="1" dirty="0" smtClean="0">
                <a:effectLst/>
                <a:latin typeface="Arial"/>
                <a:ea typeface="Times New Roman"/>
                <a:cs typeface="Times New Roman"/>
              </a:rPr>
              <a:t>Add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Select Users, Contacts, Computers, Service Accounts, or Groups</a:t>
            </a:r>
            <a:r>
              <a:rPr lang="en-US" sz="1000" dirty="0" smtClean="0">
                <a:effectLst/>
                <a:latin typeface="Arial"/>
                <a:ea typeface="Times New Roman"/>
                <a:cs typeface="Segoe UI"/>
              </a:rPr>
              <a:t> dialog box, in </a:t>
            </a:r>
            <a:r>
              <a:rPr lang="en-US" sz="1000" b="1" dirty="0" smtClean="0">
                <a:effectLst/>
                <a:latin typeface="Arial"/>
                <a:ea typeface="Times New Roman"/>
                <a:cs typeface="Times New Roman"/>
              </a:rPr>
              <a:t>Enter the object names to select (examples)</a:t>
            </a:r>
            <a:r>
              <a:rPr lang="en-US" sz="1000" dirty="0" smtClean="0">
                <a:effectLst/>
                <a:latin typeface="Arial"/>
                <a:ea typeface="Times New Roman"/>
                <a:cs typeface="Segoe UI"/>
              </a:rPr>
              <a:t>, type </a:t>
            </a:r>
            <a:r>
              <a:rPr lang="en-US" sz="1000" b="1" dirty="0" smtClean="0">
                <a:effectLst/>
                <a:latin typeface="Arial"/>
                <a:ea typeface="Times New Roman"/>
                <a:cs typeface="Times New Roman"/>
              </a:rPr>
              <a:t>April; Don</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Check Names</a:t>
            </a:r>
            <a:r>
              <a:rPr lang="en-US" sz="1000" dirty="0" smtClean="0">
                <a:effectLst/>
                <a:latin typeface="Arial"/>
                <a:ea typeface="Times New Roman"/>
                <a:cs typeface="Segoe UI"/>
              </a:rPr>
              <a:t>, and then click</a:t>
            </a:r>
            <a:r>
              <a:rPr lang="en-US" sz="1000" b="1" dirty="0" smtClean="0">
                <a:effectLst/>
                <a:latin typeface="Arial"/>
                <a:ea typeface="Times New Roman"/>
                <a:cs typeface="Times New Roman"/>
              </a:rPr>
              <a:t> OK</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Create Group IT Managers</a:t>
            </a:r>
            <a:r>
              <a:rPr lang="en-US" sz="1000" dirty="0" smtClean="0">
                <a:effectLst/>
                <a:latin typeface="Arial"/>
                <a:ea typeface="Times New Roman"/>
                <a:cs typeface="Segoe UI"/>
              </a:rPr>
              <a:t> dialog box, click</a:t>
            </a:r>
            <a:r>
              <a:rPr lang="en-US" sz="1000" b="1" dirty="0" smtClean="0">
                <a:effectLst/>
                <a:latin typeface="Arial"/>
                <a:ea typeface="Times New Roman"/>
                <a:cs typeface="Times New Roman"/>
              </a:rPr>
              <a:t> OK</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Add a user to the group</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details pane, right‑click </a:t>
            </a:r>
            <a:r>
              <a:rPr lang="en-US" sz="1000" b="1" dirty="0" smtClean="0">
                <a:effectLst/>
                <a:latin typeface="Arial"/>
                <a:ea typeface="Times New Roman"/>
                <a:cs typeface="Times New Roman"/>
              </a:rPr>
              <a:t>Ed Meadows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Add to group</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Select Groups</a:t>
            </a:r>
            <a:r>
              <a:rPr lang="en-US" sz="1000" dirty="0" smtClean="0">
                <a:effectLst/>
                <a:latin typeface="Arial"/>
                <a:ea typeface="Times New Roman"/>
                <a:cs typeface="Segoe UI"/>
              </a:rPr>
              <a:t> dialog box, in </a:t>
            </a:r>
            <a:r>
              <a:rPr lang="en-US" sz="1000" b="1" dirty="0" smtClean="0">
                <a:effectLst/>
                <a:latin typeface="Arial"/>
                <a:ea typeface="Times New Roman"/>
                <a:cs typeface="Times New Roman"/>
              </a:rPr>
              <a:t>Enter the object names to select (examples)</a:t>
            </a:r>
            <a:r>
              <a:rPr lang="en-US" sz="1000" dirty="0" smtClean="0">
                <a:effectLst/>
                <a:latin typeface="Arial"/>
                <a:ea typeface="Times New Roman"/>
                <a:cs typeface="Segoe UI"/>
              </a:rPr>
              <a:t>, type </a:t>
            </a:r>
            <a:r>
              <a:rPr lang="en-US" sz="1000" b="1" dirty="0" smtClean="0">
                <a:effectLst/>
                <a:latin typeface="Arial"/>
                <a:ea typeface="Times New Roman"/>
                <a:cs typeface="Times New Roman"/>
              </a:rPr>
              <a:t>IT Managers.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Check Names</a:t>
            </a:r>
            <a:r>
              <a:rPr lang="en-US" sz="1000" dirty="0" smtClean="0">
                <a:effectLst/>
                <a:latin typeface="Arial"/>
                <a:ea typeface="Times New Roman"/>
                <a:cs typeface="Segoe UI"/>
              </a:rPr>
              <a:t>, and then click</a:t>
            </a:r>
            <a:r>
              <a:rPr lang="en-US" sz="1000" b="1" dirty="0" smtClean="0">
                <a:effectLst/>
                <a:latin typeface="Arial"/>
                <a:ea typeface="Times New Roman"/>
                <a:cs typeface="Times New Roman"/>
              </a:rPr>
              <a:t> OK</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3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297381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a:ea typeface="Times New Roman"/>
                <a:cs typeface="Segoe UI"/>
              </a:rPr>
              <a:t>Change the group type and scope</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details pane, double‑click </a:t>
            </a:r>
            <a:r>
              <a:rPr lang="en-US" sz="1000" b="1" dirty="0">
                <a:solidFill>
                  <a:prstClr val="black"/>
                </a:solidFill>
                <a:latin typeface="Arial"/>
                <a:ea typeface="Times New Roman"/>
                <a:cs typeface="Times New Roman"/>
              </a:rPr>
              <a:t>IT</a:t>
            </a:r>
            <a:r>
              <a:rPr lang="en-US" sz="1000" dirty="0">
                <a:solidFill>
                  <a:prstClr val="black"/>
                </a:solidFill>
                <a:latin typeface="Arial"/>
                <a:ea typeface="Times New Roman"/>
                <a:cs typeface="Segoe UI"/>
              </a:rPr>
              <a:t> </a:t>
            </a:r>
            <a:r>
              <a:rPr lang="en-US" sz="1000" b="1" dirty="0">
                <a:solidFill>
                  <a:prstClr val="black"/>
                </a:solidFill>
                <a:latin typeface="Arial"/>
                <a:ea typeface="Times New Roman"/>
                <a:cs typeface="Times New Roman"/>
              </a:rPr>
              <a:t>Managers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IT Managers </a:t>
            </a:r>
            <a:r>
              <a:rPr lang="en-US" sz="1000" dirty="0">
                <a:solidFill>
                  <a:prstClr val="black"/>
                </a:solidFill>
                <a:latin typeface="Arial"/>
                <a:ea typeface="Times New Roman"/>
                <a:cs typeface="Segoe UI"/>
              </a:rPr>
              <a:t>dialog box, under </a:t>
            </a:r>
            <a:r>
              <a:rPr lang="en-US" sz="1000" b="1" dirty="0">
                <a:solidFill>
                  <a:prstClr val="black"/>
                </a:solidFill>
                <a:latin typeface="Arial"/>
                <a:ea typeface="Times New Roman"/>
                <a:cs typeface="Times New Roman"/>
              </a:rPr>
              <a:t>Group scope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Universal</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Under </a:t>
            </a:r>
            <a:r>
              <a:rPr lang="en-US" sz="1000" b="1" dirty="0">
                <a:solidFill>
                  <a:prstClr val="black"/>
                </a:solidFill>
                <a:latin typeface="Arial"/>
                <a:ea typeface="Times New Roman"/>
                <a:cs typeface="Times New Roman"/>
              </a:rPr>
              <a:t>Group type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Distribution</a:t>
            </a:r>
            <a:r>
              <a:rPr lang="en-US" sz="1000" dirty="0">
                <a:solidFill>
                  <a:prstClr val="black"/>
                </a:solidFill>
                <a:latin typeface="Arial"/>
                <a:ea typeface="Times New Roman"/>
                <a:cs typeface="Segoe UI"/>
              </a:rPr>
              <a:t>, and then click</a:t>
            </a:r>
            <a:r>
              <a:rPr lang="en-US" sz="1000" b="1" dirty="0">
                <a:solidFill>
                  <a:prstClr val="black"/>
                </a:solidFill>
                <a:latin typeface="Arial"/>
                <a:ea typeface="Times New Roman"/>
                <a:cs typeface="Times New Roman"/>
              </a:rPr>
              <a:t> OK</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Modify the group’s Managed By property</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details pane, double‑click </a:t>
            </a:r>
            <a:r>
              <a:rPr lang="en-US" sz="1000" b="1" dirty="0">
                <a:solidFill>
                  <a:prstClr val="black"/>
                </a:solidFill>
                <a:latin typeface="Arial"/>
                <a:ea typeface="Times New Roman"/>
                <a:cs typeface="Times New Roman"/>
              </a:rPr>
              <a:t>IT</a:t>
            </a:r>
            <a:r>
              <a:rPr lang="en-US" sz="1000" dirty="0">
                <a:solidFill>
                  <a:prstClr val="black"/>
                </a:solidFill>
                <a:latin typeface="Arial"/>
                <a:ea typeface="Times New Roman"/>
                <a:cs typeface="Segoe UI"/>
              </a:rPr>
              <a:t> </a:t>
            </a:r>
            <a:r>
              <a:rPr lang="en-US" sz="1000" b="1" dirty="0">
                <a:solidFill>
                  <a:prstClr val="black"/>
                </a:solidFill>
                <a:latin typeface="Arial"/>
                <a:ea typeface="Times New Roman"/>
                <a:cs typeface="Times New Roman"/>
              </a:rPr>
              <a:t>Managers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details pane, under Managed By, click </a:t>
            </a:r>
            <a:r>
              <a:rPr lang="en-US" sz="1000" b="1" dirty="0">
                <a:solidFill>
                  <a:prstClr val="black"/>
                </a:solidFill>
                <a:latin typeface="Arial"/>
                <a:ea typeface="Times New Roman"/>
                <a:cs typeface="Times New Roman"/>
              </a:rPr>
              <a:t>Edit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Select User,</a:t>
            </a:r>
            <a:r>
              <a:rPr lang="en-US" sz="1000" dirty="0">
                <a:solidFill>
                  <a:srgbClr val="000000"/>
                </a:solidFill>
                <a:latin typeface="Arial"/>
                <a:ea typeface="Times New Roman"/>
                <a:cs typeface="Times New Roman"/>
              </a:rPr>
              <a:t> </a:t>
            </a:r>
            <a:r>
              <a:rPr lang="en-US" sz="1000" b="1" dirty="0">
                <a:solidFill>
                  <a:prstClr val="black"/>
                </a:solidFill>
                <a:latin typeface="Arial"/>
                <a:ea typeface="Times New Roman"/>
                <a:cs typeface="Times New Roman"/>
              </a:rPr>
              <a:t>Contact or</a:t>
            </a:r>
            <a:r>
              <a:rPr lang="en-US" sz="1000" dirty="0">
                <a:solidFill>
                  <a:srgbClr val="000000"/>
                </a:solidFill>
                <a:latin typeface="Arial"/>
                <a:ea typeface="Times New Roman"/>
                <a:cs typeface="Times New Roman"/>
              </a:rPr>
              <a:t> </a:t>
            </a:r>
            <a:r>
              <a:rPr lang="en-US" sz="1000" b="1" dirty="0">
                <a:solidFill>
                  <a:prstClr val="black"/>
                </a:solidFill>
                <a:latin typeface="Arial"/>
                <a:ea typeface="Times New Roman"/>
                <a:cs typeface="Times New Roman"/>
              </a:rPr>
              <a:t>Groups</a:t>
            </a:r>
            <a:r>
              <a:rPr lang="en-US" sz="1000" dirty="0">
                <a:solidFill>
                  <a:prstClr val="black"/>
                </a:solidFill>
                <a:latin typeface="Arial"/>
                <a:ea typeface="Times New Roman"/>
                <a:cs typeface="Segoe UI"/>
              </a:rPr>
              <a:t> dialog box, in </a:t>
            </a:r>
            <a:r>
              <a:rPr lang="en-US" sz="1000" b="1" dirty="0">
                <a:solidFill>
                  <a:prstClr val="black"/>
                </a:solidFill>
                <a:latin typeface="Arial"/>
                <a:ea typeface="Times New Roman"/>
                <a:cs typeface="Times New Roman"/>
              </a:rPr>
              <a:t>Enter the object names to select (examples)</a:t>
            </a:r>
            <a:r>
              <a:rPr lang="en-US" sz="1000" dirty="0">
                <a:solidFill>
                  <a:prstClr val="black"/>
                </a:solidFill>
                <a:latin typeface="Arial"/>
                <a:ea typeface="Times New Roman"/>
                <a:cs typeface="Segoe UI"/>
              </a:rPr>
              <a:t>, type </a:t>
            </a:r>
            <a:r>
              <a:rPr lang="en-US" sz="1000" b="1" dirty="0">
                <a:solidFill>
                  <a:prstClr val="black"/>
                </a:solidFill>
                <a:latin typeface="Arial"/>
                <a:ea typeface="Times New Roman"/>
                <a:cs typeface="Times New Roman"/>
              </a:rPr>
              <a:t>Ed Meadows</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Check Names</a:t>
            </a:r>
            <a:r>
              <a:rPr lang="en-US" sz="1000" dirty="0">
                <a:solidFill>
                  <a:prstClr val="black"/>
                </a:solidFill>
                <a:latin typeface="Arial"/>
                <a:ea typeface="Times New Roman"/>
                <a:cs typeface="Segoe UI"/>
              </a:rPr>
              <a:t>, and then click</a:t>
            </a:r>
            <a:r>
              <a:rPr lang="en-US" sz="1000" b="1" dirty="0">
                <a:solidFill>
                  <a:prstClr val="black"/>
                </a:solidFill>
                <a:latin typeface="Arial"/>
                <a:ea typeface="Times New Roman"/>
                <a:cs typeface="Times New Roman"/>
              </a:rPr>
              <a:t> OK</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Select </a:t>
            </a:r>
            <a:r>
              <a:rPr lang="en-US" sz="1000" b="1" dirty="0">
                <a:solidFill>
                  <a:prstClr val="black"/>
                </a:solidFill>
                <a:latin typeface="Arial"/>
                <a:ea typeface="Times New Roman"/>
                <a:cs typeface="Times New Roman"/>
              </a:rPr>
              <a:t>Manager can update membership list</a:t>
            </a:r>
            <a:r>
              <a:rPr lang="en-US" sz="1000" dirty="0">
                <a:solidFill>
                  <a:prstClr val="black"/>
                </a:solidFill>
                <a:latin typeface="Arial"/>
                <a:ea typeface="Times New Roman"/>
                <a:cs typeface="Segoe UI"/>
              </a:rPr>
              <a:t>, and then click</a:t>
            </a:r>
            <a:r>
              <a:rPr lang="en-US" sz="1000" b="1" dirty="0">
                <a:solidFill>
                  <a:prstClr val="black"/>
                </a:solidFill>
                <a:latin typeface="Arial"/>
                <a:ea typeface="Times New Roman"/>
                <a:cs typeface="Times New Roman"/>
              </a:rPr>
              <a:t> OK</a:t>
            </a:r>
            <a:r>
              <a:rPr lang="en-US" sz="1000" dirty="0" smtClean="0">
                <a:solidFill>
                  <a:prstClr val="black"/>
                </a:solidFill>
                <a:latin typeface="Arial"/>
                <a:ea typeface="Times New Roman"/>
                <a:cs typeface="Segoe UI"/>
              </a:rPr>
              <a:t>.</a:t>
            </a:r>
          </a:p>
          <a:p>
            <a:pPr marL="342900" lvl="0" indent="-342900">
              <a:lnSpc>
                <a:spcPct val="115000"/>
              </a:lnSpc>
              <a:spcAft>
                <a:spcPts val="995"/>
              </a:spcAft>
              <a:buFont typeface="+mj-lt"/>
              <a:buAutoNum type="arabicPeriod"/>
            </a:pPr>
            <a:endParaRPr lang="en-US" sz="1000" dirty="0">
              <a:solidFill>
                <a:prstClr val="black"/>
              </a:solidFill>
              <a:latin typeface="Arial"/>
              <a:cs typeface="Segoe UI"/>
            </a:endParaRPr>
          </a:p>
          <a:p>
            <a:pPr>
              <a:lnSpc>
                <a:spcPct val="115000"/>
              </a:lnSpc>
              <a:spcAft>
                <a:spcPts val="995"/>
              </a:spcAft>
            </a:pPr>
            <a:r>
              <a:rPr lang="en-CA" sz="1000" dirty="0">
                <a:latin typeface="Arial"/>
                <a:ea typeface="Calibri"/>
                <a:cs typeface="Segoe UI"/>
              </a:rPr>
              <a:t>Leave the virtual machine running for the next demonstration.</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endParaRPr lang="en-CA" dirty="0"/>
          </a:p>
        </p:txBody>
      </p:sp>
      <p:sp>
        <p:nvSpPr>
          <p:cNvPr id="4" name="Slide Number Placeholder 3"/>
          <p:cNvSpPr>
            <a:spLocks noGrp="1"/>
          </p:cNvSpPr>
          <p:nvPr>
            <p:ph type="sldNum" sz="quarter" idx="10"/>
          </p:nvPr>
        </p:nvSpPr>
        <p:spPr/>
        <p:txBody>
          <a:bodyPr/>
          <a:lstStyle/>
          <a:p>
            <a:fld id="{BC25D2D6-B00A-4B22-9A9A-ED999C7BB1C0}" type="slidenum">
              <a:rPr lang="en-CA" smtClean="0"/>
              <a:pPr/>
              <a:t>24</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823491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There are no demonstrations in this lesson. As you proceed through the content, consider performing small, impromptu demonstrations to help reinforce the content.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5217707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smtClean="0">
                <a:latin typeface="Arial"/>
                <a:ea typeface="Calibri"/>
                <a:cs typeface="Segoe UI"/>
              </a:rPr>
              <a:t>Distinguished </a:t>
            </a:r>
            <a:r>
              <a:rPr lang="en-CA" sz="1000" dirty="0">
                <a:latin typeface="Arial"/>
                <a:ea typeface="Calibri"/>
                <a:cs typeface="Segoe UI"/>
              </a:rPr>
              <a:t>Name “</a:t>
            </a:r>
            <a:r>
              <a:rPr lang="en-CA" sz="1000" dirty="0" err="1">
                <a:latin typeface="Arial"/>
                <a:ea typeface="Calibri"/>
                <a:cs typeface="Segoe UI"/>
              </a:rPr>
              <a:t>cn</a:t>
            </a:r>
            <a:r>
              <a:rPr lang="en-CA" sz="1000" dirty="0">
                <a:latin typeface="Arial"/>
                <a:ea typeface="Calibri"/>
                <a:cs typeface="Segoe UI"/>
              </a:rPr>
              <a:t>=</a:t>
            </a:r>
            <a:r>
              <a:rPr lang="en-CA" sz="1000" dirty="0" err="1">
                <a:latin typeface="Arial"/>
                <a:ea typeface="Calibri"/>
                <a:cs typeface="Segoe UI"/>
              </a:rPr>
              <a:t>Computers,DC</a:t>
            </a:r>
            <a:r>
              <a:rPr lang="en-CA" sz="1000" dirty="0">
                <a:latin typeface="Arial"/>
                <a:ea typeface="Calibri"/>
                <a:cs typeface="Segoe UI"/>
              </a:rPr>
              <a:t>=</a:t>
            </a:r>
            <a:r>
              <a:rPr lang="en-CA" sz="1000" dirty="0" err="1">
                <a:latin typeface="Arial"/>
                <a:ea typeface="Calibri"/>
                <a:cs typeface="Segoe UI"/>
              </a:rPr>
              <a:t>Adatum,DC</a:t>
            </a:r>
            <a:r>
              <a:rPr lang="en-CA" sz="1000" dirty="0">
                <a:latin typeface="Arial"/>
                <a:ea typeface="Calibri"/>
                <a:cs typeface="Segoe UI"/>
              </a:rPr>
              <a:t>=com</a:t>
            </a:r>
            <a:r>
              <a:rPr lang="en-CA" sz="1000" dirty="0" smtClean="0">
                <a:latin typeface="Arial"/>
                <a:ea typeface="Calibri"/>
                <a:cs typeface="Segoe UI"/>
              </a:rPr>
              <a:t>”</a:t>
            </a:r>
          </a:p>
          <a:p>
            <a:pPr>
              <a:lnSpc>
                <a:spcPct val="115000"/>
              </a:lnSpc>
              <a:spcAft>
                <a:spcPts val="1000"/>
              </a:spcAft>
            </a:pPr>
            <a:endParaRPr lang="en-CA" sz="1000" dirty="0" smtClean="0">
              <a:latin typeface="Arial"/>
              <a:ea typeface="Calibri"/>
              <a:cs typeface="Segoe UI"/>
            </a:endParaRPr>
          </a:p>
          <a:p>
            <a:pPr>
              <a:lnSpc>
                <a:spcPct val="115000"/>
              </a:lnSpc>
              <a:spcAft>
                <a:spcPts val="1000"/>
              </a:spcAft>
            </a:pPr>
            <a:r>
              <a:rPr lang="fr-FR" sz="1000" b="0" i="0" u="none" strike="noStrike" kern="1200" baseline="0" dirty="0" smtClean="0">
                <a:solidFill>
                  <a:schemeClr val="tx1"/>
                </a:solidFill>
                <a:latin typeface="+mn-lt"/>
                <a:ea typeface="+mn-ea"/>
                <a:cs typeface="+mn-cs"/>
              </a:rPr>
              <a:t>Pour changer le computers container : </a:t>
            </a:r>
            <a:r>
              <a:rPr lang="fr-FR" sz="1000" b="1" i="0" u="none" strike="noStrike" kern="1200" baseline="0" dirty="0" err="1" smtClean="0">
                <a:solidFill>
                  <a:schemeClr val="tx1"/>
                </a:solidFill>
                <a:latin typeface="+mn-lt"/>
                <a:ea typeface="+mn-ea"/>
                <a:cs typeface="+mn-cs"/>
              </a:rPr>
              <a:t>redircmp</a:t>
            </a:r>
            <a:r>
              <a:rPr lang="fr-FR" sz="1000" b="1" i="0" u="none" strike="noStrike" kern="1200" baseline="0" dirty="0" smtClean="0">
                <a:solidFill>
                  <a:schemeClr val="tx1"/>
                </a:solidFill>
                <a:latin typeface="+mn-lt"/>
                <a:ea typeface="+mn-ea"/>
                <a:cs typeface="+mn-cs"/>
              </a:rPr>
              <a:t> ou=</a:t>
            </a:r>
            <a:r>
              <a:rPr lang="fr-FR" sz="1000" b="1" i="0" u="none" strike="noStrike" kern="1200" baseline="0" dirty="0" err="1" smtClean="0">
                <a:solidFill>
                  <a:schemeClr val="tx1"/>
                </a:solidFill>
                <a:latin typeface="+mn-lt"/>
                <a:ea typeface="+mn-ea"/>
                <a:cs typeface="+mn-cs"/>
              </a:rPr>
              <a:t>mycomputers</a:t>
            </a:r>
            <a:r>
              <a:rPr lang="fr-FR" sz="1000" b="1" i="0" u="none" strike="noStrike" kern="1200" baseline="0" dirty="0" smtClean="0">
                <a:solidFill>
                  <a:schemeClr val="tx1"/>
                </a:solidFill>
                <a:latin typeface="+mn-lt"/>
                <a:ea typeface="+mn-ea"/>
                <a:cs typeface="+mn-cs"/>
              </a:rPr>
              <a:t>, DC=</a:t>
            </a:r>
            <a:r>
              <a:rPr lang="fr-FR" sz="1000" b="1" i="0" u="none" strike="noStrike" kern="1200" baseline="0" dirty="0" err="1" smtClean="0">
                <a:solidFill>
                  <a:schemeClr val="tx1"/>
                </a:solidFill>
                <a:latin typeface="+mn-lt"/>
                <a:ea typeface="+mn-ea"/>
                <a:cs typeface="+mn-cs"/>
              </a:rPr>
              <a:t>contoso</a:t>
            </a:r>
            <a:r>
              <a:rPr lang="fr-FR" sz="1000" b="1" i="0" u="none" strike="noStrike" kern="1200" baseline="0" dirty="0" smtClean="0">
                <a:solidFill>
                  <a:schemeClr val="tx1"/>
                </a:solidFill>
                <a:latin typeface="+mn-lt"/>
                <a:ea typeface="+mn-ea"/>
                <a:cs typeface="+mn-cs"/>
              </a:rPr>
              <a:t>, dc=</a:t>
            </a:r>
            <a:r>
              <a:rPr lang="fr-FR" sz="1000" b="1" i="0" u="none" strike="noStrike" kern="1200" baseline="0" dirty="0" err="1" smtClean="0">
                <a:solidFill>
                  <a:schemeClr val="tx1"/>
                </a:solidFill>
                <a:latin typeface="+mn-lt"/>
                <a:ea typeface="+mn-ea"/>
                <a:cs typeface="+mn-cs"/>
              </a:rPr>
              <a:t>com</a:t>
            </a:r>
            <a:r>
              <a:rPr lang="fr-FR" sz="1000" b="1" i="0" u="none" strike="noStrike" kern="1200" baseline="0" dirty="0" smtClean="0">
                <a:solidFill>
                  <a:schemeClr val="tx1"/>
                </a:solidFill>
                <a:latin typeface="+mn-lt"/>
                <a:ea typeface="+mn-ea"/>
                <a:cs typeface="+mn-cs"/>
              </a:rPr>
              <a:t> </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374941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b="1"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585626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4152444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BE" sz="1000" noProof="0" dirty="0" smtClean="0">
                <a:latin typeface="Arial"/>
                <a:ea typeface="Calibri"/>
                <a:cs typeface="Times New Roman"/>
              </a:rPr>
              <a:t>Exemple : </a:t>
            </a:r>
          </a:p>
          <a:p>
            <a:pPr>
              <a:lnSpc>
                <a:spcPct val="115000"/>
              </a:lnSpc>
              <a:spcAft>
                <a:spcPts val="1000"/>
              </a:spcAft>
            </a:pPr>
            <a:endParaRPr lang="fr-BE" sz="1000" noProof="0" dirty="0" smtClean="0">
              <a:latin typeface="Arial"/>
              <a:ea typeface="Calibri"/>
              <a:cs typeface="Times New Roman"/>
            </a:endParaRPr>
          </a:p>
          <a:p>
            <a:pPr>
              <a:lnSpc>
                <a:spcPct val="115000"/>
              </a:lnSpc>
              <a:spcAft>
                <a:spcPts val="1000"/>
              </a:spcAft>
            </a:pPr>
            <a:r>
              <a:rPr lang="fr-BE" sz="1000" noProof="0" dirty="0" smtClean="0">
                <a:latin typeface="Arial"/>
                <a:ea typeface="Calibri"/>
                <a:cs typeface="Times New Roman"/>
              </a:rPr>
              <a:t>- djoin.exe</a:t>
            </a:r>
            <a:r>
              <a:rPr lang="fr-BE" sz="1000" baseline="0" noProof="0" dirty="0" smtClean="0">
                <a:latin typeface="Arial"/>
                <a:ea typeface="Calibri"/>
                <a:cs typeface="Times New Roman"/>
              </a:rPr>
              <a:t> </a:t>
            </a:r>
            <a:r>
              <a:rPr lang="fr-BE" sz="1000" noProof="0" dirty="0" smtClean="0">
                <a:latin typeface="Arial"/>
                <a:ea typeface="Calibri"/>
                <a:cs typeface="Times New Roman"/>
              </a:rPr>
              <a:t>/Provision</a:t>
            </a:r>
            <a:r>
              <a:rPr lang="fr-BE" sz="1000" baseline="0" noProof="0" dirty="0" smtClean="0">
                <a:latin typeface="Arial"/>
                <a:ea typeface="Calibri"/>
                <a:cs typeface="Times New Roman"/>
              </a:rPr>
              <a:t> </a:t>
            </a:r>
            <a:r>
              <a:rPr lang="fr-BE" sz="1000" noProof="0" dirty="0" smtClean="0">
                <a:latin typeface="Arial"/>
                <a:ea typeface="Calibri"/>
                <a:cs typeface="Times New Roman"/>
              </a:rPr>
              <a:t>/Domain adatum.com</a:t>
            </a:r>
            <a:r>
              <a:rPr lang="fr-BE" sz="1000" baseline="0" noProof="0" dirty="0" smtClean="0">
                <a:latin typeface="Arial"/>
                <a:ea typeface="Calibri"/>
                <a:cs typeface="Times New Roman"/>
              </a:rPr>
              <a:t> </a:t>
            </a:r>
            <a:r>
              <a:rPr lang="fr-BE" sz="1000" noProof="0" dirty="0" smtClean="0">
                <a:latin typeface="Arial"/>
                <a:ea typeface="Calibri"/>
                <a:cs typeface="Times New Roman"/>
              </a:rPr>
              <a:t>/Machine LON-CL1</a:t>
            </a:r>
            <a:r>
              <a:rPr lang="fr-BE" sz="1000" baseline="0" noProof="0" dirty="0" smtClean="0">
                <a:latin typeface="Arial"/>
                <a:ea typeface="Calibri"/>
                <a:cs typeface="Times New Roman"/>
              </a:rPr>
              <a:t> </a:t>
            </a:r>
            <a:r>
              <a:rPr lang="fr-BE" sz="1000" noProof="0" dirty="0" smtClean="0">
                <a:latin typeface="Arial"/>
                <a:ea typeface="Calibri"/>
                <a:cs typeface="Times New Roman"/>
              </a:rPr>
              <a:t>/</a:t>
            </a:r>
            <a:r>
              <a:rPr lang="fr-BE" sz="1000" noProof="0" dirty="0" err="1" smtClean="0">
                <a:latin typeface="Arial"/>
                <a:ea typeface="Calibri"/>
                <a:cs typeface="Times New Roman"/>
              </a:rPr>
              <a:t>SaveFile</a:t>
            </a:r>
            <a:r>
              <a:rPr lang="fr-BE" sz="1000" noProof="0" dirty="0" smtClean="0">
                <a:latin typeface="Arial"/>
                <a:ea typeface="Calibri"/>
                <a:cs typeface="Times New Roman"/>
              </a:rPr>
              <a:t> C:\offlinedomainjoin.txt</a:t>
            </a:r>
          </a:p>
          <a:p>
            <a:pPr>
              <a:lnSpc>
                <a:spcPct val="115000"/>
              </a:lnSpc>
              <a:spcAft>
                <a:spcPts val="1000"/>
              </a:spcAft>
            </a:pPr>
            <a:r>
              <a:rPr lang="fr-BE" sz="1000" noProof="0" dirty="0" smtClean="0">
                <a:latin typeface="Arial"/>
                <a:ea typeface="Calibri"/>
                <a:cs typeface="Times New Roman"/>
              </a:rPr>
              <a:t>- </a:t>
            </a:r>
            <a:r>
              <a:rPr lang="fr-BE" sz="1000" dirty="0" smtClean="0"/>
              <a:t>djoin.exe</a:t>
            </a:r>
            <a:r>
              <a:rPr lang="fr-BE" sz="1000" baseline="0" dirty="0" smtClean="0"/>
              <a:t> </a:t>
            </a:r>
            <a:r>
              <a:rPr lang="fr-BE" sz="1000" dirty="0" smtClean="0"/>
              <a:t>/</a:t>
            </a:r>
            <a:r>
              <a:rPr lang="fr-BE" sz="1000" dirty="0" err="1" smtClean="0"/>
              <a:t>requestODJ</a:t>
            </a:r>
            <a:r>
              <a:rPr lang="fr-BE" sz="1000" baseline="0" dirty="0" smtClean="0"/>
              <a:t> </a:t>
            </a:r>
            <a:r>
              <a:rPr lang="fr-BE" sz="1000" dirty="0" smtClean="0"/>
              <a:t>/</a:t>
            </a:r>
            <a:r>
              <a:rPr lang="fr-BE" sz="1000" dirty="0" err="1" smtClean="0"/>
              <a:t>loadfile</a:t>
            </a:r>
            <a:r>
              <a:rPr lang="fr-BE" sz="1000" dirty="0" smtClean="0"/>
              <a:t> </a:t>
            </a:r>
            <a:r>
              <a:rPr lang="fr-BE" sz="1000" noProof="0" dirty="0" smtClean="0">
                <a:latin typeface="Arial"/>
                <a:ea typeface="Calibri"/>
                <a:cs typeface="Times New Roman"/>
              </a:rPr>
              <a:t>C:\offlinedomainjoin.txt</a:t>
            </a:r>
            <a:r>
              <a:rPr lang="fr-BE" sz="1000" baseline="0" noProof="0" dirty="0" smtClean="0">
                <a:latin typeface="Arial"/>
                <a:ea typeface="Calibri"/>
                <a:cs typeface="Times New Roman"/>
              </a:rPr>
              <a:t> </a:t>
            </a:r>
            <a:r>
              <a:rPr lang="fr-BE" sz="1000" dirty="0" smtClean="0"/>
              <a:t>/</a:t>
            </a:r>
            <a:r>
              <a:rPr lang="fr-BE" sz="1000" dirty="0" err="1" smtClean="0"/>
              <a:t>windowspath</a:t>
            </a:r>
            <a:r>
              <a:rPr lang="fr-BE" sz="1000" dirty="0" smtClean="0"/>
              <a:t> %</a:t>
            </a:r>
            <a:r>
              <a:rPr lang="fr-BE" sz="1000" dirty="0" err="1" smtClean="0"/>
              <a:t>SystemRoot</a:t>
            </a:r>
            <a:r>
              <a:rPr lang="fr-BE" sz="1000" dirty="0" smtClean="0"/>
              <a:t>%</a:t>
            </a:r>
            <a:r>
              <a:rPr lang="fr-BE" sz="1000" baseline="0" dirty="0" smtClean="0"/>
              <a:t> </a:t>
            </a:r>
            <a:r>
              <a:rPr lang="fr-BE" sz="1000" dirty="0" smtClean="0"/>
              <a:t>/</a:t>
            </a:r>
            <a:r>
              <a:rPr lang="fr-BE" sz="1000" dirty="0" err="1" smtClean="0"/>
              <a:t>localos</a:t>
            </a:r>
            <a:endParaRPr lang="fr-BE" sz="1000" noProof="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29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4924549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123728"/>
            <a:ext cx="6153912" cy="6696744"/>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3659753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err="1" smtClean="0">
                <a:latin typeface="Arial"/>
                <a:ea typeface="Calibri"/>
                <a:cs typeface="Times New Roman"/>
              </a:rPr>
              <a:t>dsmod</a:t>
            </a:r>
            <a:r>
              <a:rPr lang="en-CA" sz="1000" baseline="0" dirty="0" smtClean="0">
                <a:latin typeface="Arial"/>
                <a:ea typeface="Calibri"/>
                <a:cs typeface="Times New Roman"/>
              </a:rPr>
              <a:t> : </a:t>
            </a:r>
            <a:r>
              <a:rPr lang="fr-BE" sz="1200" kern="1200" baseline="0" dirty="0" err="1" smtClean="0">
                <a:solidFill>
                  <a:schemeClr val="tx1"/>
                </a:solidFill>
                <a:latin typeface="Courier New" pitchFamily="49" charset="0"/>
                <a:ea typeface="+mn-ea"/>
                <a:cs typeface="Courier New" pitchFamily="49" charset="0"/>
              </a:rPr>
              <a:t>dsmod</a:t>
            </a:r>
            <a:r>
              <a:rPr lang="fr-BE" sz="1200" kern="1200" baseline="0" dirty="0" smtClean="0">
                <a:solidFill>
                  <a:schemeClr val="tx1"/>
                </a:solidFill>
                <a:latin typeface="Courier New" pitchFamily="49" charset="0"/>
                <a:ea typeface="+mn-ea"/>
                <a:cs typeface="Courier New" pitchFamily="49" charset="0"/>
              </a:rPr>
              <a:t> computer “</a:t>
            </a:r>
            <a:r>
              <a:rPr lang="fr-BE" sz="1200" kern="1200" baseline="0" dirty="0" err="1" smtClean="0">
                <a:solidFill>
                  <a:schemeClr val="tx1"/>
                </a:solidFill>
                <a:latin typeface="Courier New" pitchFamily="49" charset="0"/>
                <a:ea typeface="+mn-ea"/>
                <a:cs typeface="Courier New" pitchFamily="49" charset="0"/>
              </a:rPr>
              <a:t>ComputerDN</a:t>
            </a:r>
            <a:r>
              <a:rPr lang="fr-BE" sz="1200" kern="1200" baseline="0" dirty="0" smtClean="0">
                <a:solidFill>
                  <a:schemeClr val="tx1"/>
                </a:solidFill>
                <a:latin typeface="Courier New" pitchFamily="49" charset="0"/>
                <a:ea typeface="+mn-ea"/>
                <a:cs typeface="Courier New" pitchFamily="49" charset="0"/>
              </a:rPr>
              <a:t>” –reset</a:t>
            </a:r>
          </a:p>
          <a:p>
            <a:r>
              <a:rPr lang="en-US" sz="1200" b="1" kern="1200" baseline="0" dirty="0" err="1" smtClean="0">
                <a:solidFill>
                  <a:schemeClr val="tx1"/>
                </a:solidFill>
                <a:latin typeface="+mn-lt"/>
                <a:ea typeface="+mn-ea"/>
                <a:cs typeface="+mn-cs"/>
              </a:rPr>
              <a:t>netdom</a:t>
            </a:r>
            <a:r>
              <a:rPr lang="en-US" sz="1200" kern="1200" baseline="0" dirty="0" smtClean="0">
                <a:solidFill>
                  <a:schemeClr val="tx1"/>
                </a:solidFill>
                <a:latin typeface="+mn-lt"/>
                <a:ea typeface="+mn-ea"/>
                <a:cs typeface="+mn-cs"/>
              </a:rPr>
              <a:t> : </a:t>
            </a:r>
            <a:r>
              <a:rPr lang="en-US" sz="1200" kern="1200" baseline="0" dirty="0" err="1" smtClean="0">
                <a:solidFill>
                  <a:schemeClr val="tx1"/>
                </a:solidFill>
                <a:latin typeface="Courier New" pitchFamily="49" charset="0"/>
                <a:ea typeface="+mn-ea"/>
                <a:cs typeface="Courier New" pitchFamily="49" charset="0"/>
              </a:rPr>
              <a:t>netdom</a:t>
            </a:r>
            <a:r>
              <a:rPr lang="en-US" sz="1200" kern="1200" baseline="0" dirty="0" smtClean="0">
                <a:solidFill>
                  <a:schemeClr val="tx1"/>
                </a:solidFill>
                <a:latin typeface="Courier New" pitchFamily="49" charset="0"/>
                <a:ea typeface="+mn-ea"/>
                <a:cs typeface="Courier New" pitchFamily="49" charset="0"/>
              </a:rPr>
              <a:t> reset </a:t>
            </a:r>
            <a:r>
              <a:rPr lang="en-US" sz="1200" i="1" kern="1200" baseline="0" dirty="0" err="1" smtClean="0">
                <a:solidFill>
                  <a:schemeClr val="tx1"/>
                </a:solidFill>
                <a:latin typeface="Courier New" pitchFamily="49" charset="0"/>
                <a:ea typeface="+mn-ea"/>
                <a:cs typeface="Courier New" pitchFamily="49" charset="0"/>
              </a:rPr>
              <a:t>MachineName</a:t>
            </a:r>
            <a:r>
              <a:rPr lang="en-US" sz="1200" i="1" kern="1200" baseline="0" dirty="0" smtClean="0">
                <a:solidFill>
                  <a:schemeClr val="tx1"/>
                </a:solidFill>
                <a:latin typeface="Courier New" pitchFamily="49" charset="0"/>
                <a:ea typeface="+mn-ea"/>
                <a:cs typeface="Courier New" pitchFamily="49" charset="0"/>
              </a:rPr>
              <a:t> /domain </a:t>
            </a:r>
            <a:r>
              <a:rPr lang="en-US" sz="1200" i="1" kern="1200" baseline="0" dirty="0" err="1" smtClean="0">
                <a:solidFill>
                  <a:schemeClr val="tx1"/>
                </a:solidFill>
                <a:latin typeface="Courier New" pitchFamily="49" charset="0"/>
                <a:ea typeface="+mn-ea"/>
                <a:cs typeface="Courier New" pitchFamily="49" charset="0"/>
              </a:rPr>
              <a:t>DomainName</a:t>
            </a:r>
            <a:r>
              <a:rPr lang="en-US" sz="1200" i="1" kern="1200" baseline="0" dirty="0" smtClean="0">
                <a:solidFill>
                  <a:schemeClr val="tx1"/>
                </a:solidFill>
                <a:latin typeface="Courier New" pitchFamily="49" charset="0"/>
                <a:ea typeface="+mn-ea"/>
                <a:cs typeface="Courier New" pitchFamily="49" charset="0"/>
              </a:rPr>
              <a:t> /</a:t>
            </a:r>
            <a:r>
              <a:rPr lang="en-US" sz="1200" i="1" kern="1200" baseline="0" dirty="0" err="1" smtClean="0">
                <a:solidFill>
                  <a:schemeClr val="tx1"/>
                </a:solidFill>
                <a:latin typeface="Courier New" pitchFamily="49" charset="0"/>
                <a:ea typeface="+mn-ea"/>
                <a:cs typeface="Courier New" pitchFamily="49" charset="0"/>
              </a:rPr>
              <a:t>UserO</a:t>
            </a:r>
            <a:r>
              <a:rPr lang="en-US" sz="1200" i="1" kern="1200" baseline="0" dirty="0" smtClean="0">
                <a:solidFill>
                  <a:schemeClr val="tx1"/>
                </a:solidFill>
                <a:latin typeface="Courier New" pitchFamily="49" charset="0"/>
                <a:ea typeface="+mn-ea"/>
                <a:cs typeface="Courier New" pitchFamily="49" charset="0"/>
              </a:rPr>
              <a:t> </a:t>
            </a:r>
            <a:r>
              <a:rPr lang="en-US" sz="1200" i="1" kern="1200" baseline="0" dirty="0" err="1" smtClean="0">
                <a:solidFill>
                  <a:schemeClr val="tx1"/>
                </a:solidFill>
                <a:latin typeface="Courier New" pitchFamily="49" charset="0"/>
                <a:ea typeface="+mn-ea"/>
                <a:cs typeface="Courier New" pitchFamily="49" charset="0"/>
              </a:rPr>
              <a:t>UserName</a:t>
            </a:r>
            <a:r>
              <a:rPr lang="en-US" sz="1200" i="1" kern="1200" baseline="0" dirty="0" smtClean="0">
                <a:solidFill>
                  <a:schemeClr val="tx1"/>
                </a:solidFill>
                <a:latin typeface="Courier New" pitchFamily="49" charset="0"/>
                <a:ea typeface="+mn-ea"/>
                <a:cs typeface="Courier New" pitchFamily="49" charset="0"/>
              </a:rPr>
              <a:t> /</a:t>
            </a:r>
            <a:r>
              <a:rPr lang="en-US" sz="1200" i="1" kern="1200" baseline="0" dirty="0" err="1" smtClean="0">
                <a:solidFill>
                  <a:schemeClr val="tx1"/>
                </a:solidFill>
                <a:latin typeface="Courier New" pitchFamily="49" charset="0"/>
                <a:ea typeface="+mn-ea"/>
                <a:cs typeface="Courier New" pitchFamily="49" charset="0"/>
              </a:rPr>
              <a:t>PasswordO</a:t>
            </a:r>
            <a:r>
              <a:rPr lang="en-US" sz="1200" i="1" kern="1200" baseline="0" dirty="0" smtClean="0">
                <a:solidFill>
                  <a:schemeClr val="tx1"/>
                </a:solidFill>
                <a:latin typeface="Courier New" pitchFamily="49" charset="0"/>
                <a:ea typeface="+mn-ea"/>
                <a:cs typeface="Courier New" pitchFamily="49" charset="0"/>
              </a:rPr>
              <a:t> {Password | </a:t>
            </a:r>
            <a:r>
              <a:rPr lang="fr-BE" sz="1200" kern="1200" baseline="0" dirty="0" smtClean="0">
                <a:solidFill>
                  <a:schemeClr val="tx1"/>
                </a:solidFill>
                <a:latin typeface="Courier New" pitchFamily="49" charset="0"/>
                <a:ea typeface="+mn-ea"/>
                <a:cs typeface="Courier New" pitchFamily="49" charset="0"/>
              </a:rPr>
              <a:t>*}</a:t>
            </a:r>
          </a:p>
          <a:p>
            <a:r>
              <a:rPr lang="fr-BE" sz="1200" b="1" kern="1200" baseline="0" dirty="0" err="1" smtClean="0">
                <a:solidFill>
                  <a:schemeClr val="tx1"/>
                </a:solidFill>
                <a:latin typeface="+mn-lt"/>
                <a:ea typeface="+mn-ea"/>
                <a:cs typeface="+mn-cs"/>
              </a:rPr>
              <a:t>nltest</a:t>
            </a:r>
            <a:r>
              <a:rPr lang="fr-BE" sz="1200" kern="1200" baseline="0" dirty="0" smtClean="0">
                <a:solidFill>
                  <a:schemeClr val="tx1"/>
                </a:solidFill>
                <a:latin typeface="+mn-lt"/>
                <a:ea typeface="+mn-ea"/>
                <a:cs typeface="+mn-cs"/>
              </a:rPr>
              <a:t> : </a:t>
            </a:r>
            <a:r>
              <a:rPr lang="fr-BE" sz="1200" kern="1200" baseline="0" dirty="0" err="1" smtClean="0">
                <a:solidFill>
                  <a:schemeClr val="tx1"/>
                </a:solidFill>
                <a:latin typeface="Courier New" pitchFamily="49" charset="0"/>
                <a:ea typeface="+mn-ea"/>
                <a:cs typeface="Courier New" pitchFamily="49" charset="0"/>
              </a:rPr>
              <a:t>nltest</a:t>
            </a:r>
            <a:r>
              <a:rPr lang="fr-BE" sz="1200" kern="1200" baseline="0" dirty="0" smtClean="0">
                <a:solidFill>
                  <a:schemeClr val="tx1"/>
                </a:solidFill>
                <a:latin typeface="Courier New" pitchFamily="49" charset="0"/>
                <a:ea typeface="+mn-ea"/>
                <a:cs typeface="Courier New" pitchFamily="49" charset="0"/>
              </a:rPr>
              <a:t> /</a:t>
            </a:r>
            <a:r>
              <a:rPr lang="fr-BE" sz="1200" kern="1200" baseline="0" dirty="0" err="1" smtClean="0">
                <a:solidFill>
                  <a:schemeClr val="tx1"/>
                </a:solidFill>
                <a:latin typeface="Courier New" pitchFamily="49" charset="0"/>
                <a:ea typeface="+mn-ea"/>
                <a:cs typeface="Courier New" pitchFamily="49" charset="0"/>
              </a:rPr>
              <a:t>server:servername</a:t>
            </a:r>
            <a:r>
              <a:rPr lang="fr-BE" sz="1200" kern="1200" baseline="0" dirty="0" smtClean="0">
                <a:solidFill>
                  <a:schemeClr val="tx1"/>
                </a:solidFill>
                <a:latin typeface="Courier New" pitchFamily="49" charset="0"/>
                <a:ea typeface="+mn-ea"/>
                <a:cs typeface="Courier New" pitchFamily="49" charset="0"/>
              </a:rPr>
              <a:t> /</a:t>
            </a:r>
            <a:r>
              <a:rPr lang="fr-BE" sz="1200" kern="1200" baseline="0" dirty="0" err="1" smtClean="0">
                <a:solidFill>
                  <a:schemeClr val="tx1"/>
                </a:solidFill>
                <a:latin typeface="Courier New" pitchFamily="49" charset="0"/>
                <a:ea typeface="+mn-ea"/>
                <a:cs typeface="Courier New" pitchFamily="49" charset="0"/>
              </a:rPr>
              <a:t>sc_reset:domain</a:t>
            </a:r>
            <a:r>
              <a:rPr lang="fr-BE" sz="1200" kern="1200" baseline="0" dirty="0" smtClean="0">
                <a:solidFill>
                  <a:schemeClr val="tx1"/>
                </a:solidFill>
                <a:latin typeface="Courier New" pitchFamily="49" charset="0"/>
                <a:ea typeface="+mn-ea"/>
                <a:cs typeface="Courier New" pitchFamily="49" charset="0"/>
              </a:rPr>
              <a:t>\</a:t>
            </a:r>
            <a:r>
              <a:rPr lang="fr-BE" sz="1200" kern="1200" baseline="0" dirty="0" err="1" smtClean="0">
                <a:solidFill>
                  <a:schemeClr val="tx1"/>
                </a:solidFill>
                <a:latin typeface="Courier New" pitchFamily="49" charset="0"/>
                <a:ea typeface="+mn-ea"/>
                <a:cs typeface="Courier New" pitchFamily="49" charset="0"/>
              </a:rPr>
              <a:t>domaincontroller</a:t>
            </a:r>
            <a:endParaRPr lang="fr-BE" sz="1200" kern="1200" baseline="0" dirty="0" smtClean="0">
              <a:solidFill>
                <a:schemeClr val="tx1"/>
              </a:solidFill>
              <a:latin typeface="Courier New" pitchFamily="49" charset="0"/>
              <a:ea typeface="+mn-ea"/>
              <a:cs typeface="Courier New" pitchFamily="49" charset="0"/>
            </a:endParaRPr>
          </a:p>
          <a:p>
            <a:r>
              <a:rPr lang="fr-BE" sz="1200" b="1" kern="1200" baseline="0" dirty="0" err="1" smtClean="0">
                <a:solidFill>
                  <a:schemeClr val="tx1"/>
                </a:solidFill>
                <a:latin typeface="+mn-lt"/>
                <a:ea typeface="+mn-ea"/>
                <a:cs typeface="+mn-cs"/>
              </a:rPr>
              <a:t>PowerShell</a:t>
            </a:r>
            <a:r>
              <a:rPr lang="fr-BE" sz="1200" kern="1200" baseline="0" dirty="0" smtClean="0">
                <a:solidFill>
                  <a:schemeClr val="tx1"/>
                </a:solidFill>
                <a:latin typeface="+mn-lt"/>
                <a:ea typeface="+mn-ea"/>
                <a:cs typeface="+mn-cs"/>
              </a:rPr>
              <a:t> : </a:t>
            </a:r>
            <a:r>
              <a:rPr lang="fr-BE" sz="1200" kern="1200" baseline="0" dirty="0" smtClean="0">
                <a:solidFill>
                  <a:schemeClr val="tx1"/>
                </a:solidFill>
                <a:latin typeface="Courier New" pitchFamily="49" charset="0"/>
                <a:ea typeface="+mn-ea"/>
                <a:cs typeface="Courier New" pitchFamily="49" charset="0"/>
              </a:rPr>
              <a:t>Test-</a:t>
            </a:r>
            <a:r>
              <a:rPr lang="fr-BE" sz="1200" kern="1200" baseline="0" dirty="0" err="1" smtClean="0">
                <a:solidFill>
                  <a:schemeClr val="tx1"/>
                </a:solidFill>
                <a:latin typeface="Courier New" pitchFamily="49" charset="0"/>
                <a:ea typeface="+mn-ea"/>
                <a:cs typeface="Courier New" pitchFamily="49" charset="0"/>
              </a:rPr>
              <a:t>ComputerSecureChannel</a:t>
            </a:r>
            <a:r>
              <a:rPr lang="fr-BE" sz="1200" kern="1200" baseline="0" dirty="0" smtClean="0">
                <a:solidFill>
                  <a:schemeClr val="tx1"/>
                </a:solidFill>
                <a:latin typeface="Courier New" pitchFamily="49" charset="0"/>
                <a:ea typeface="+mn-ea"/>
                <a:cs typeface="Courier New" pitchFamily="49" charset="0"/>
              </a:rPr>
              <a:t> -</a:t>
            </a:r>
            <a:r>
              <a:rPr lang="fr-BE" sz="1200" kern="1200" baseline="0" dirty="0" err="1" smtClean="0">
                <a:solidFill>
                  <a:schemeClr val="tx1"/>
                </a:solidFill>
                <a:latin typeface="Courier New" pitchFamily="49" charset="0"/>
                <a:ea typeface="+mn-ea"/>
                <a:cs typeface="Courier New" pitchFamily="49" charset="0"/>
              </a:rPr>
              <a:t>Repair</a:t>
            </a:r>
            <a:endParaRPr lang="en-CA" sz="1000" dirty="0">
              <a:latin typeface="Courier New" pitchFamily="49" charset="0"/>
              <a:ea typeface="Calibri"/>
              <a:cs typeface="Courier New" pitchFamily="49" charset="0"/>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9611797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Consider starting the demonstration topic, and then discussing the content in the other three topics. Start the lesson by asking your students to consider at what point a single administrator is unable to manage a network alone, and how best to allocate administrative tasks to other administrators.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9947314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4014125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6365847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noProof="0" dirty="0" smtClean="0">
                <a:latin typeface="Arial"/>
                <a:ea typeface="Calibri"/>
                <a:cs typeface="Segoe UI"/>
              </a:rPr>
              <a:t>!!!!! Une permission non autorisée</a:t>
            </a:r>
            <a:r>
              <a:rPr lang="fr-FR" sz="1000" baseline="0" noProof="0" dirty="0" smtClean="0">
                <a:latin typeface="Arial"/>
                <a:ea typeface="Calibri"/>
                <a:cs typeface="Segoe UI"/>
              </a:rPr>
              <a:t> sur une tâche, la rend impossible à l’exécuter. Pourquoi alors utiliser un « </a:t>
            </a:r>
            <a:r>
              <a:rPr lang="fr-FR" sz="1000" baseline="0" noProof="0" dirty="0" err="1" smtClean="0">
                <a:latin typeface="Arial"/>
                <a:ea typeface="Calibri"/>
                <a:cs typeface="Segoe UI"/>
              </a:rPr>
              <a:t>deny</a:t>
            </a:r>
            <a:r>
              <a:rPr lang="fr-FR" sz="1000" baseline="0" noProof="0" dirty="0" smtClean="0">
                <a:latin typeface="Arial"/>
                <a:ea typeface="Calibri"/>
                <a:cs typeface="Segoe UI"/>
              </a:rPr>
              <a:t> » ? (deux raisons)  !!!!!!</a:t>
            </a:r>
            <a:endParaRPr lang="fr-FR" sz="1000" noProof="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36478258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ts val="1300"/>
              </a:lnSpc>
              <a:spcBef>
                <a:spcPts val="900"/>
              </a:spcBef>
              <a:spcAft>
                <a:spcPts val="300"/>
              </a:spcAft>
            </a:pPr>
            <a:r>
              <a:rPr lang="en-US" sz="1000" b="1" dirty="0" smtClean="0">
                <a:effectLst/>
                <a:latin typeface="Arial"/>
                <a:ea typeface="Times New Roman"/>
                <a:cs typeface="Segoe UI"/>
              </a:rPr>
              <a:t>Discussion Prompt</a:t>
            </a:r>
            <a:endParaRPr lang="en-CA" sz="1000" b="1" dirty="0" smtClean="0">
              <a:effectLst/>
              <a:latin typeface="Arial"/>
              <a:ea typeface="Times New Roman"/>
              <a:cs typeface="Segoe UI"/>
            </a:endParaRPr>
          </a:p>
          <a:p>
            <a:pPr>
              <a:lnSpc>
                <a:spcPct val="115000"/>
              </a:lnSpc>
              <a:spcAft>
                <a:spcPts val="1000"/>
              </a:spcAft>
            </a:pPr>
            <a:r>
              <a:rPr lang="en-CA" sz="1000" dirty="0">
                <a:latin typeface="Arial"/>
                <a:ea typeface="Calibri"/>
                <a:cs typeface="Segoe UI"/>
              </a:rPr>
              <a:t>You can manage delegation of control in Active Directory Domain Services (AD DS) either manually or by using the Delegation of Control Wizard. </a:t>
            </a:r>
            <a:r>
              <a:rPr lang="en-CA" sz="1000" dirty="0">
                <a:latin typeface="Arial"/>
                <a:ea typeface="Calibri"/>
                <a:cs typeface="Times New Roman"/>
              </a:rPr>
              <a:t>If you have a complex permission scenario, you may need to configure the permissions manually,</a:t>
            </a:r>
            <a:r>
              <a:rPr lang="en-CA" sz="1000" dirty="0">
                <a:latin typeface="Arial"/>
                <a:ea typeface="Calibri"/>
                <a:cs typeface="Segoe UI"/>
              </a:rPr>
              <a:t> but it is usually easier to </a:t>
            </a:r>
            <a:r>
              <a:rPr lang="en-CA" sz="1000" dirty="0">
                <a:latin typeface="Arial"/>
                <a:ea typeface="Calibri"/>
                <a:cs typeface="Times New Roman"/>
              </a:rPr>
              <a:t>assign permissions in AD DS</a:t>
            </a:r>
            <a:r>
              <a:rPr lang="en-CA" sz="1000" dirty="0">
                <a:latin typeface="Arial"/>
                <a:ea typeface="Calibri"/>
                <a:cs typeface="Segoe UI"/>
              </a:rPr>
              <a:t> by using the </a:t>
            </a:r>
            <a:r>
              <a:rPr lang="en-CA" sz="1000" dirty="0">
                <a:latin typeface="Arial"/>
                <a:ea typeface="Calibri"/>
                <a:cs typeface="Times New Roman"/>
              </a:rPr>
              <a:t>Delegation of Control Wizard.</a:t>
            </a:r>
          </a:p>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required virtual machine, 20410D‑LON‑DC1, should be running after the previous 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an OU</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LON‑DC1, in Server Manager, click </a:t>
            </a:r>
            <a:r>
              <a:rPr lang="en-US" sz="1000" b="1" dirty="0" smtClean="0">
                <a:effectLst/>
                <a:latin typeface="Arial"/>
                <a:ea typeface="Times New Roman"/>
                <a:cs typeface="Times New Roman"/>
              </a:rPr>
              <a:t>Tools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Active Directory Users and Computers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Expand the </a:t>
            </a:r>
            <a:r>
              <a:rPr lang="en-US" sz="1000" b="1" dirty="0" smtClean="0">
                <a:effectLst/>
                <a:latin typeface="Arial"/>
                <a:ea typeface="Times New Roman"/>
                <a:cs typeface="Times New Roman"/>
              </a:rPr>
              <a:t>Adatum.com</a:t>
            </a:r>
            <a:r>
              <a:rPr lang="en-US" sz="1000" dirty="0" smtClean="0">
                <a:effectLst/>
                <a:latin typeface="Arial"/>
                <a:ea typeface="Times New Roman"/>
                <a:cs typeface="Segoe UI"/>
              </a:rPr>
              <a:t> domain.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Right click </a:t>
            </a:r>
            <a:r>
              <a:rPr lang="en-US" sz="1000" b="1" dirty="0" smtClean="0">
                <a:effectLst/>
                <a:latin typeface="Arial"/>
                <a:ea typeface="Times New Roman"/>
                <a:cs typeface="Times New Roman"/>
              </a:rPr>
              <a:t>Adatum.com, </a:t>
            </a:r>
            <a:r>
              <a:rPr lang="en-US" sz="1000" dirty="0" smtClean="0">
                <a:effectLst/>
                <a:latin typeface="Arial"/>
                <a:ea typeface="Times New Roman"/>
                <a:cs typeface="Segoe UI"/>
              </a:rPr>
              <a:t>point to </a:t>
            </a:r>
            <a:r>
              <a:rPr lang="en-US" sz="1000" b="1" dirty="0" smtClean="0">
                <a:effectLst/>
                <a:latin typeface="Arial"/>
                <a:ea typeface="Times New Roman"/>
                <a:cs typeface="Times New Roman"/>
              </a:rPr>
              <a:t>New</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Organizational Unit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New Object – Organizational Unit</a:t>
            </a:r>
            <a:r>
              <a:rPr lang="en-US" sz="1000" dirty="0" smtClean="0">
                <a:effectLst/>
                <a:latin typeface="Arial"/>
                <a:ea typeface="Times New Roman"/>
                <a:cs typeface="Segoe UI"/>
              </a:rPr>
              <a:t> dialog box, in </a:t>
            </a:r>
            <a:r>
              <a:rPr lang="en-US" sz="1000" b="1" dirty="0" smtClean="0">
                <a:effectLst/>
                <a:latin typeface="Arial"/>
                <a:ea typeface="Times New Roman"/>
                <a:cs typeface="Times New Roman"/>
              </a:rPr>
              <a:t>Name</a:t>
            </a:r>
            <a:r>
              <a:rPr lang="en-US" sz="1000" dirty="0" smtClean="0">
                <a:effectLst/>
                <a:latin typeface="Arial"/>
                <a:ea typeface="Times New Roman"/>
                <a:cs typeface="Segoe UI"/>
              </a:rPr>
              <a:t>, type </a:t>
            </a:r>
            <a:r>
              <a:rPr lang="en-US" sz="1000" b="1" dirty="0" smtClean="0">
                <a:effectLst/>
                <a:latin typeface="Arial"/>
                <a:ea typeface="Times New Roman"/>
                <a:cs typeface="Times New Roman"/>
              </a:rPr>
              <a:t>Executives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000">
              <a:lnSpc>
                <a:spcPct val="115000"/>
              </a:lnSpc>
              <a:spcAft>
                <a:spcPts val="995"/>
              </a:spcAft>
            </a:pPr>
            <a:r>
              <a:rPr lang="en-US" sz="1000" b="1" dirty="0" smtClean="0">
                <a:effectLst/>
                <a:latin typeface="Arial"/>
                <a:ea typeface="Times New Roman"/>
                <a:cs typeface="Times New Roman"/>
              </a:rPr>
              <a:t>Note: </a:t>
            </a:r>
            <a:r>
              <a:rPr lang="en-US" sz="1000" dirty="0" smtClean="0">
                <a:effectLst/>
                <a:latin typeface="Arial"/>
                <a:ea typeface="Times New Roman"/>
                <a:cs typeface="Times New Roman"/>
              </a:rPr>
              <a:t>Discuss the purpose of the </a:t>
            </a:r>
            <a:r>
              <a:rPr lang="en-US" sz="1000" b="1" dirty="0" smtClean="0">
                <a:effectLst/>
                <a:latin typeface="Arial"/>
                <a:ea typeface="Times New Roman"/>
                <a:cs typeface="Times New Roman"/>
              </a:rPr>
              <a:t>Protect Container From Accidental Deletion</a:t>
            </a:r>
            <a:r>
              <a:rPr lang="en-US" sz="1000" dirty="0" smtClean="0">
                <a:effectLst/>
                <a:latin typeface="Arial"/>
                <a:ea typeface="Times New Roman"/>
                <a:cs typeface="Times New Roman"/>
              </a:rPr>
              <a:t> setting.</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New Object – Organizational Unit</a:t>
            </a:r>
            <a:r>
              <a:rPr lang="en-US" sz="1000" dirty="0" smtClean="0">
                <a:effectLst/>
                <a:latin typeface="Arial"/>
                <a:ea typeface="Times New Roman"/>
                <a:cs typeface="Segoe UI"/>
              </a:rPr>
              <a:t> dialog box, click</a:t>
            </a:r>
            <a:r>
              <a:rPr lang="en-US" sz="1000" b="1" dirty="0" smtClean="0">
                <a:effectLst/>
                <a:latin typeface="Arial"/>
                <a:ea typeface="Times New Roman"/>
                <a:cs typeface="Times New Roman"/>
              </a:rPr>
              <a:t> OK</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Move users into the Executives OU</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the </a:t>
            </a:r>
            <a:r>
              <a:rPr lang="en-US" sz="1000" b="1" dirty="0" smtClean="0">
                <a:effectLst/>
                <a:latin typeface="Arial"/>
                <a:ea typeface="Times New Roman"/>
                <a:cs typeface="Times New Roman"/>
              </a:rPr>
              <a:t>Managers</a:t>
            </a:r>
            <a:r>
              <a:rPr lang="en-US" sz="1000" dirty="0" smtClean="0">
                <a:effectLst/>
                <a:latin typeface="Arial"/>
                <a:ea typeface="Times New Roman"/>
                <a:cs typeface="Times New Roman"/>
              </a:rPr>
              <a:t> OU</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Carol Troup</a:t>
            </a:r>
            <a:r>
              <a:rPr lang="en-US" sz="1000" dirty="0" smtClean="0">
                <a:effectLst/>
                <a:latin typeface="Arial"/>
                <a:ea typeface="Times New Roman"/>
                <a:cs typeface="Times New Roman"/>
              </a:rPr>
              <a:t>,</a:t>
            </a:r>
            <a:r>
              <a:rPr lang="en-US" sz="1000" dirty="0" smtClean="0">
                <a:effectLst/>
                <a:latin typeface="Arial"/>
                <a:ea typeface="Times New Roman"/>
                <a:cs typeface="Segoe UI"/>
              </a:rPr>
              <a:t> and then </a:t>
            </a:r>
            <a:r>
              <a:rPr lang="en-US" sz="1000" dirty="0" smtClean="0">
                <a:effectLst/>
                <a:latin typeface="Arial"/>
                <a:ea typeface="Times New Roman"/>
                <a:cs typeface="Times New Roman"/>
              </a:rPr>
              <a:t>hold down Shift while clicking </a:t>
            </a:r>
            <a:r>
              <a:rPr lang="en-US" sz="1000" b="1" dirty="0" smtClean="0">
                <a:effectLst/>
                <a:latin typeface="Arial"/>
                <a:ea typeface="Times New Roman"/>
                <a:cs typeface="Times New Roman"/>
              </a:rPr>
              <a:t>Euan Garden</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Right click </a:t>
            </a:r>
            <a:r>
              <a:rPr lang="en-US" sz="1000" b="1" dirty="0" smtClean="0">
                <a:effectLst/>
                <a:latin typeface="Arial"/>
                <a:ea typeface="Times New Roman"/>
                <a:cs typeface="Times New Roman"/>
              </a:rPr>
              <a:t>Euan Garden</a:t>
            </a:r>
            <a:r>
              <a:rPr lang="en-US" sz="1000" dirty="0" smtClean="0">
                <a:effectLst/>
                <a:latin typeface="Arial"/>
                <a:ea typeface="Times New Roman"/>
                <a:cs typeface="Times New Roman"/>
              </a:rPr>
              <a:t>,</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Move</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Move </a:t>
            </a:r>
            <a:r>
              <a:rPr lang="en-US" sz="1000" dirty="0" smtClean="0">
                <a:effectLst/>
                <a:latin typeface="Arial"/>
                <a:ea typeface="Times New Roman"/>
                <a:cs typeface="Segoe UI"/>
              </a:rPr>
              <a:t>dialog box, click </a:t>
            </a:r>
            <a:r>
              <a:rPr lang="en-US" sz="1000" b="1" dirty="0" smtClean="0">
                <a:effectLst/>
                <a:latin typeface="Arial"/>
                <a:ea typeface="Times New Roman"/>
                <a:cs typeface="Times New Roman"/>
              </a:rPr>
              <a:t>Executives</a:t>
            </a:r>
            <a:r>
              <a:rPr lang="en-US" sz="1000" dirty="0" smtClean="0">
                <a:effectLst/>
                <a:latin typeface="Arial"/>
                <a:ea typeface="Times New Roman"/>
                <a:cs typeface="Segoe UI"/>
              </a:rPr>
              <a:t>, and then click</a:t>
            </a:r>
            <a:r>
              <a:rPr lang="en-US" sz="1000" b="1" dirty="0" smtClean="0">
                <a:effectLst/>
                <a:latin typeface="Arial"/>
                <a:ea typeface="Times New Roman"/>
                <a:cs typeface="Times New Roman"/>
              </a:rPr>
              <a:t> OK</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3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970236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1691680"/>
            <a:ext cx="6153912" cy="6912768"/>
          </a:xfrm>
        </p:spPr>
        <p:txBody>
          <a:bodyPr>
            <a:noAutofit/>
          </a:bodyPr>
          <a:lstStyle/>
          <a:p>
            <a:pPr lvl="0">
              <a:lnSpc>
                <a:spcPts val="1300"/>
              </a:lnSpc>
              <a:spcBef>
                <a:spcPts val="900"/>
              </a:spcBef>
              <a:spcAft>
                <a:spcPts val="300"/>
              </a:spcAft>
            </a:pPr>
            <a:r>
              <a:rPr lang="en-US" sz="1000" b="1" dirty="0">
                <a:solidFill>
                  <a:prstClr val="black"/>
                </a:solidFill>
                <a:latin typeface="Arial"/>
                <a:ea typeface="Times New Roman"/>
                <a:cs typeface="Segoe UI"/>
              </a:rPr>
              <a:t>Delegate a standard task</a:t>
            </a:r>
            <a:endParaRPr lang="en-CA" sz="1000" b="1" dirty="0">
              <a:solidFill>
                <a:prstClr val="black"/>
              </a:solidFill>
              <a:latin typeface="Arial"/>
              <a:ea typeface="Times New Roman"/>
              <a:cs typeface="Segoe UI"/>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In the navigation pane, right‑click </a:t>
            </a:r>
            <a:r>
              <a:rPr lang="en-US" sz="1000" b="1" dirty="0">
                <a:solidFill>
                  <a:prstClr val="black"/>
                </a:solidFill>
                <a:latin typeface="Arial"/>
                <a:ea typeface="Times New Roman"/>
                <a:cs typeface="Times New Roman"/>
              </a:rPr>
              <a:t>Executives</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Delegate Control</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In the </a:t>
            </a:r>
            <a:r>
              <a:rPr lang="en-US" sz="1000" dirty="0">
                <a:solidFill>
                  <a:prstClr val="black"/>
                </a:solidFill>
                <a:latin typeface="Arial"/>
                <a:ea typeface="Times New Roman"/>
                <a:cs typeface="Times New Roman"/>
              </a:rPr>
              <a:t>Delegation of Control Wizard</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Users or Groups</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Add</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srgbClr val="000000"/>
                </a:solidFill>
                <a:latin typeface="Arial"/>
                <a:ea typeface="Times New Roman"/>
                <a:cs typeface="Times New Roman"/>
              </a:rPr>
              <a:t>In the </a:t>
            </a:r>
            <a:r>
              <a:rPr lang="en-US" sz="1000" b="1" dirty="0">
                <a:solidFill>
                  <a:prstClr val="black"/>
                </a:solidFill>
                <a:latin typeface="Arial"/>
                <a:ea typeface="Times New Roman"/>
                <a:cs typeface="Times New Roman"/>
              </a:rPr>
              <a:t>Select Users, Computers, or Groups</a:t>
            </a:r>
            <a:r>
              <a:rPr lang="en-US" sz="1000" dirty="0">
                <a:solidFill>
                  <a:srgbClr val="000000"/>
                </a:solidFill>
                <a:latin typeface="Arial"/>
                <a:ea typeface="Times New Roman"/>
                <a:cs typeface="Times New Roman"/>
              </a:rPr>
              <a:t> dialog box, </a:t>
            </a:r>
            <a:r>
              <a:rPr lang="en-US" sz="1000" dirty="0">
                <a:solidFill>
                  <a:prstClr val="black"/>
                </a:solidFill>
                <a:latin typeface="Arial"/>
                <a:ea typeface="Times New Roman"/>
                <a:cs typeface="Segoe UI"/>
              </a:rPr>
              <a:t>in </a:t>
            </a:r>
            <a:r>
              <a:rPr lang="en-US" sz="1000" b="1" dirty="0">
                <a:solidFill>
                  <a:prstClr val="black"/>
                </a:solidFill>
                <a:latin typeface="Arial"/>
                <a:ea typeface="Times New Roman"/>
                <a:cs typeface="Times New Roman"/>
              </a:rPr>
              <a:t>Enter the object names to select (examples)</a:t>
            </a:r>
            <a:r>
              <a:rPr lang="en-US" sz="1000" dirty="0">
                <a:solidFill>
                  <a:prstClr val="black"/>
                </a:solidFill>
                <a:latin typeface="Arial"/>
                <a:ea typeface="Times New Roman"/>
                <a:cs typeface="Segoe UI"/>
              </a:rPr>
              <a:t>, type </a:t>
            </a:r>
            <a:r>
              <a:rPr lang="en-US" sz="1000" b="1" dirty="0">
                <a:solidFill>
                  <a:prstClr val="black"/>
                </a:solidFill>
                <a:latin typeface="Arial"/>
                <a:ea typeface="Times New Roman"/>
                <a:cs typeface="Times New Roman"/>
              </a:rPr>
              <a:t>IT</a:t>
            </a:r>
            <a:r>
              <a:rPr lang="en-US" sz="1000" dirty="0">
                <a:solidFill>
                  <a:prstClr val="black"/>
                </a:solidFill>
                <a:latin typeface="Arial"/>
                <a:ea typeface="Times New Roman"/>
                <a:cs typeface="Segoe UI"/>
              </a:rPr>
              <a:t>, and then click</a:t>
            </a:r>
            <a:r>
              <a:rPr lang="en-US" sz="1000" b="1" dirty="0">
                <a:solidFill>
                  <a:prstClr val="black"/>
                </a:solidFill>
                <a:latin typeface="Arial"/>
                <a:ea typeface="Times New Roman"/>
                <a:cs typeface="Times New Roman"/>
              </a:rPr>
              <a:t> OK</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Users or Groups</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400"/>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Tasks to Delegate</a:t>
            </a:r>
            <a:r>
              <a:rPr lang="en-US" sz="1000" dirty="0">
                <a:solidFill>
                  <a:prstClr val="black"/>
                </a:solidFill>
                <a:latin typeface="Arial"/>
                <a:ea typeface="Times New Roman"/>
                <a:cs typeface="Segoe UI"/>
              </a:rPr>
              <a:t> page, in the </a:t>
            </a:r>
            <a:r>
              <a:rPr lang="en-US" sz="1000" b="1" dirty="0">
                <a:solidFill>
                  <a:prstClr val="black"/>
                </a:solidFill>
                <a:latin typeface="Arial"/>
                <a:ea typeface="Times New Roman"/>
                <a:cs typeface="Times New Roman"/>
              </a:rPr>
              <a:t>Delegate the following common tasks</a:t>
            </a:r>
            <a:r>
              <a:rPr lang="en-US" sz="1000" dirty="0">
                <a:solidFill>
                  <a:prstClr val="black"/>
                </a:solidFill>
                <a:latin typeface="Arial"/>
                <a:ea typeface="Times New Roman"/>
                <a:cs typeface="Segoe UI"/>
              </a:rPr>
              <a:t> list, select the following options, and then click </a:t>
            </a:r>
            <a:r>
              <a:rPr lang="en-US" sz="1000" b="1" dirty="0">
                <a:solidFill>
                  <a:prstClr val="black"/>
                </a:solidFill>
                <a:latin typeface="Arial"/>
                <a:ea typeface="Times New Roman"/>
                <a:cs typeface="Times New Roman"/>
              </a:rPr>
              <a:t>Next</a:t>
            </a:r>
            <a:endParaRPr lang="en-CA" sz="1000" dirty="0">
              <a:solidFill>
                <a:prstClr val="black"/>
              </a:solidFill>
              <a:latin typeface="Arial"/>
              <a:ea typeface="Times New Roman"/>
              <a:cs typeface="Times New Roman"/>
            </a:endParaRPr>
          </a:p>
          <a:p>
            <a:pPr marL="648000" lvl="1" indent="-285750">
              <a:lnSpc>
                <a:spcPct val="115000"/>
              </a:lnSpc>
              <a:spcAft>
                <a:spcPts val="400"/>
              </a:spcAft>
              <a:buSzPts val="800"/>
              <a:buFont typeface="Courier New"/>
              <a:buChar char="o"/>
            </a:pPr>
            <a:r>
              <a:rPr lang="en-US" sz="1000" b="1" dirty="0">
                <a:solidFill>
                  <a:prstClr val="black"/>
                </a:solidFill>
                <a:latin typeface="Arial"/>
                <a:ea typeface="Times New Roman"/>
                <a:cs typeface="Times New Roman"/>
              </a:rPr>
              <a:t>Create, delete, and manage user accounts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648000" lvl="1" indent="-285750">
              <a:lnSpc>
                <a:spcPct val="115000"/>
              </a:lnSpc>
              <a:spcAft>
                <a:spcPts val="400"/>
              </a:spcAft>
              <a:buSzPts val="800"/>
              <a:buFont typeface="Courier New"/>
              <a:buChar char="o"/>
            </a:pPr>
            <a:r>
              <a:rPr lang="en-US" sz="1000" b="1" dirty="0">
                <a:solidFill>
                  <a:prstClr val="black"/>
                </a:solidFill>
                <a:latin typeface="Arial"/>
                <a:ea typeface="Times New Roman"/>
                <a:cs typeface="Times New Roman"/>
              </a:rPr>
              <a:t>Reset user passwords and force password change at next logon</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648000" lvl="1" indent="-285750">
              <a:lnSpc>
                <a:spcPct val="115000"/>
              </a:lnSpc>
              <a:spcAft>
                <a:spcPts val="995"/>
              </a:spcAft>
              <a:buSzPts val="800"/>
              <a:buFont typeface="Courier New"/>
              <a:buChar char="o"/>
            </a:pPr>
            <a:r>
              <a:rPr lang="en-US" sz="1000" b="1" dirty="0">
                <a:solidFill>
                  <a:prstClr val="black"/>
                </a:solidFill>
                <a:latin typeface="Arial"/>
                <a:ea typeface="Times New Roman"/>
                <a:cs typeface="Times New Roman"/>
              </a:rPr>
              <a:t>Read all user information</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Completing the Delegation of Control Wizard</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Finish</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Delegate a custom task</a:t>
            </a:r>
            <a:endParaRPr lang="en-CA" sz="1000" b="1" dirty="0">
              <a:solidFill>
                <a:prstClr val="black"/>
              </a:solidFill>
              <a:latin typeface="Arial"/>
              <a:ea typeface="Times New Roman"/>
              <a:cs typeface="Segoe UI"/>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In the navigation pane, right‑click </a:t>
            </a:r>
            <a:r>
              <a:rPr lang="en-US" sz="1000" b="1" dirty="0">
                <a:solidFill>
                  <a:prstClr val="black"/>
                </a:solidFill>
                <a:latin typeface="Arial"/>
                <a:ea typeface="Times New Roman"/>
                <a:cs typeface="Times New Roman"/>
              </a:rPr>
              <a:t>Executives</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Delegate Control</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In the </a:t>
            </a:r>
            <a:r>
              <a:rPr lang="en-US" sz="1000" dirty="0">
                <a:solidFill>
                  <a:prstClr val="black"/>
                </a:solidFill>
                <a:latin typeface="Arial"/>
                <a:ea typeface="Times New Roman"/>
                <a:cs typeface="Times New Roman"/>
              </a:rPr>
              <a:t>Delegation of Control Wizard</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Users or Groups</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Add</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Select Users, Computers, or Groups</a:t>
            </a:r>
            <a:r>
              <a:rPr lang="en-US" sz="1000" dirty="0">
                <a:solidFill>
                  <a:prstClr val="black"/>
                </a:solidFill>
                <a:latin typeface="Arial"/>
                <a:ea typeface="Times New Roman"/>
                <a:cs typeface="Segoe UI"/>
              </a:rPr>
              <a:t> dialog box, in </a:t>
            </a:r>
            <a:r>
              <a:rPr lang="en-US" sz="1000" b="1" dirty="0">
                <a:solidFill>
                  <a:prstClr val="black"/>
                </a:solidFill>
                <a:latin typeface="Arial"/>
                <a:ea typeface="Times New Roman"/>
                <a:cs typeface="Times New Roman"/>
              </a:rPr>
              <a:t>Enter the object names to select (examples)</a:t>
            </a:r>
            <a:r>
              <a:rPr lang="en-US" sz="1000" dirty="0">
                <a:solidFill>
                  <a:prstClr val="black"/>
                </a:solidFill>
                <a:latin typeface="Arial"/>
                <a:ea typeface="Times New Roman"/>
                <a:cs typeface="Segoe UI"/>
              </a:rPr>
              <a:t>, type </a:t>
            </a:r>
            <a:r>
              <a:rPr lang="en-US" sz="1000" b="1" dirty="0">
                <a:solidFill>
                  <a:prstClr val="black"/>
                </a:solidFill>
                <a:latin typeface="Arial"/>
                <a:ea typeface="Times New Roman"/>
                <a:cs typeface="Times New Roman"/>
              </a:rPr>
              <a:t>IT</a:t>
            </a:r>
            <a:r>
              <a:rPr lang="en-US" sz="1000" dirty="0">
                <a:solidFill>
                  <a:prstClr val="black"/>
                </a:solidFill>
                <a:latin typeface="Arial"/>
                <a:ea typeface="Times New Roman"/>
                <a:cs typeface="Segoe UI"/>
              </a:rPr>
              <a:t>, and then click</a:t>
            </a:r>
            <a:r>
              <a:rPr lang="en-US" sz="1000" b="1" dirty="0">
                <a:solidFill>
                  <a:prstClr val="black"/>
                </a:solidFill>
                <a:latin typeface="Arial"/>
                <a:ea typeface="Times New Roman"/>
                <a:cs typeface="Times New Roman"/>
              </a:rPr>
              <a:t> OK</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00"/>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Users or Groups</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Tasks</a:t>
            </a:r>
            <a:r>
              <a:rPr lang="en-US" sz="1000" dirty="0">
                <a:solidFill>
                  <a:prstClr val="black"/>
                </a:solidFill>
                <a:latin typeface="Arial"/>
                <a:ea typeface="Times New Roman"/>
                <a:cs typeface="Times New Roman"/>
              </a:rPr>
              <a:t> </a:t>
            </a:r>
            <a:r>
              <a:rPr lang="en-US" sz="1000" b="1" dirty="0">
                <a:solidFill>
                  <a:prstClr val="black"/>
                </a:solidFill>
                <a:latin typeface="Arial"/>
                <a:ea typeface="Times New Roman"/>
                <a:cs typeface="Times New Roman"/>
              </a:rPr>
              <a:t>to Delegate</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Create a custom task to delegate</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Times New Roman"/>
              </a:rPr>
              <a:t>On the </a:t>
            </a:r>
            <a:r>
              <a:rPr lang="en-US" sz="1000" b="1" dirty="0">
                <a:solidFill>
                  <a:prstClr val="black"/>
                </a:solidFill>
                <a:latin typeface="Arial"/>
                <a:ea typeface="Times New Roman"/>
                <a:cs typeface="Times New Roman"/>
              </a:rPr>
              <a:t>Active Directory Object Type</a:t>
            </a:r>
            <a:r>
              <a:rPr lang="en-US" sz="1000" dirty="0">
                <a:solidFill>
                  <a:srgbClr val="000000"/>
                </a:solidFill>
                <a:latin typeface="Arial"/>
                <a:ea typeface="Times New Roman"/>
                <a:cs typeface="Times New Roman"/>
              </a:rPr>
              <a:t> page, </a:t>
            </a:r>
            <a:r>
              <a:rPr lang="en-US" sz="1000" dirty="0">
                <a:solidFill>
                  <a:prstClr val="black"/>
                </a:solidFill>
                <a:latin typeface="Arial"/>
                <a:ea typeface="Times New Roman"/>
                <a:cs typeface="Segoe UI"/>
              </a:rPr>
              <a:t>click </a:t>
            </a:r>
            <a:r>
              <a:rPr lang="en-US" sz="1000" b="1" dirty="0">
                <a:solidFill>
                  <a:prstClr val="black"/>
                </a:solidFill>
                <a:latin typeface="Arial"/>
                <a:ea typeface="Times New Roman"/>
                <a:cs typeface="Times New Roman"/>
              </a:rPr>
              <a:t>Only the following objects in the folder</a:t>
            </a:r>
            <a:r>
              <a:rPr lang="en-US" sz="1000" dirty="0" smtClean="0">
                <a:solidFill>
                  <a:prstClr val="black"/>
                </a:solidFill>
                <a:latin typeface="Arial"/>
                <a:ea typeface="Times New Roman"/>
                <a:cs typeface="Segoe UI"/>
              </a:rPr>
              <a:t>.</a:t>
            </a:r>
          </a:p>
          <a:p>
            <a:pPr marL="342900" lvl="0" indent="-342900">
              <a:lnSpc>
                <a:spcPct val="115000"/>
              </a:lnSpc>
              <a:spcAft>
                <a:spcPts val="900"/>
              </a:spcAft>
              <a:buFont typeface="+mj-lt"/>
              <a:buAutoNum type="arabicPeriod" startAt="8"/>
            </a:pPr>
            <a:r>
              <a:rPr lang="en-US" sz="1000" dirty="0">
                <a:solidFill>
                  <a:prstClr val="black"/>
                </a:solidFill>
                <a:latin typeface="Arial"/>
                <a:ea typeface="Times New Roman"/>
                <a:cs typeface="Segoe UI"/>
              </a:rPr>
              <a:t>In the list, select </a:t>
            </a:r>
            <a:r>
              <a:rPr lang="en-US" sz="1000" b="1" dirty="0">
                <a:solidFill>
                  <a:prstClr val="black"/>
                </a:solidFill>
                <a:latin typeface="Arial"/>
                <a:ea typeface="Times New Roman"/>
                <a:cs typeface="Times New Roman"/>
              </a:rPr>
              <a:t>Computer objects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00"/>
              </a:spcAft>
              <a:buFont typeface="+mj-lt"/>
              <a:buAutoNum type="arabicPeriod" startAt="8"/>
            </a:pPr>
            <a:r>
              <a:rPr lang="en-US" sz="1000" dirty="0">
                <a:solidFill>
                  <a:prstClr val="black"/>
                </a:solidFill>
                <a:latin typeface="Arial"/>
                <a:ea typeface="Times New Roman"/>
                <a:cs typeface="Segoe UI"/>
              </a:rPr>
              <a:t>Select </a:t>
            </a:r>
            <a:r>
              <a:rPr lang="en-US" sz="1000" b="1" dirty="0">
                <a:solidFill>
                  <a:prstClr val="black"/>
                </a:solidFill>
                <a:latin typeface="Arial"/>
                <a:ea typeface="Times New Roman"/>
                <a:cs typeface="Times New Roman"/>
              </a:rPr>
              <a:t>Create selected objects in this folder</a:t>
            </a:r>
            <a:r>
              <a:rPr lang="en-US" sz="1000" dirty="0">
                <a:solidFill>
                  <a:prstClr val="black"/>
                </a:solidFill>
                <a:latin typeface="Arial"/>
                <a:ea typeface="Times New Roman"/>
                <a:cs typeface="Segoe UI"/>
              </a:rPr>
              <a:t> and </a:t>
            </a:r>
            <a:r>
              <a:rPr lang="en-US" sz="1000" b="1" dirty="0">
                <a:solidFill>
                  <a:prstClr val="black"/>
                </a:solidFill>
                <a:latin typeface="Arial"/>
                <a:ea typeface="Times New Roman"/>
                <a:cs typeface="Times New Roman"/>
              </a:rPr>
              <a:t>Delete selected objects in this folder</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lvl="0">
              <a:lnSpc>
                <a:spcPct val="115000"/>
              </a:lnSpc>
              <a:spcAft>
                <a:spcPts val="995"/>
              </a:spcAft>
            </a:pPr>
            <a:endParaRPr lang="en-CA"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37</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960630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10"/>
            </a:pPr>
            <a:r>
              <a:rPr lang="en-US" sz="1000" dirty="0">
                <a:solidFill>
                  <a:srgbClr val="000000"/>
                </a:solidFill>
                <a:latin typeface="Arial"/>
                <a:ea typeface="Times New Roman"/>
                <a:cs typeface="Times New Roman"/>
              </a:rPr>
              <a:t>On the </a:t>
            </a:r>
            <a:r>
              <a:rPr lang="en-US" sz="1000" b="1" dirty="0">
                <a:solidFill>
                  <a:prstClr val="black"/>
                </a:solidFill>
                <a:latin typeface="Arial"/>
                <a:ea typeface="Times New Roman"/>
                <a:cs typeface="Times New Roman"/>
              </a:rPr>
              <a:t>Permissions</a:t>
            </a:r>
            <a:r>
              <a:rPr lang="en-US" sz="1000" dirty="0">
                <a:solidFill>
                  <a:srgbClr val="000000"/>
                </a:solidFill>
                <a:latin typeface="Arial"/>
                <a:ea typeface="Times New Roman"/>
                <a:cs typeface="Times New Roman"/>
              </a:rPr>
              <a:t> page, </a:t>
            </a: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Permissions </a:t>
            </a:r>
            <a:r>
              <a:rPr lang="en-US" sz="1000" dirty="0">
                <a:solidFill>
                  <a:prstClr val="black"/>
                </a:solidFill>
                <a:latin typeface="Arial"/>
                <a:ea typeface="Times New Roman"/>
                <a:cs typeface="Segoe UI"/>
              </a:rPr>
              <a:t>list, select </a:t>
            </a:r>
            <a:r>
              <a:rPr lang="en-US" sz="1000" b="1" dirty="0">
                <a:solidFill>
                  <a:prstClr val="black"/>
                </a:solidFill>
                <a:latin typeface="Arial"/>
                <a:ea typeface="Times New Roman"/>
                <a:cs typeface="Times New Roman"/>
              </a:rPr>
              <a:t>Full</a:t>
            </a:r>
            <a:r>
              <a:rPr lang="en-US" sz="1000" dirty="0">
                <a:solidFill>
                  <a:prstClr val="black"/>
                </a:solidFill>
                <a:latin typeface="Arial"/>
                <a:ea typeface="Times New Roman"/>
                <a:cs typeface="Segoe UI"/>
              </a:rPr>
              <a:t> </a:t>
            </a:r>
            <a:r>
              <a:rPr lang="en-US" sz="1000" b="1" dirty="0">
                <a:solidFill>
                  <a:prstClr val="black"/>
                </a:solidFill>
                <a:latin typeface="Arial"/>
                <a:ea typeface="Times New Roman"/>
                <a:cs typeface="Times New Roman"/>
              </a:rPr>
              <a:t>Control</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10"/>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Completing the Delegation of Control Wizard</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Finish</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lvl="0">
              <a:lnSpc>
                <a:spcPts val="1300"/>
              </a:lnSpc>
              <a:spcBef>
                <a:spcPts val="900"/>
              </a:spcBef>
              <a:spcAft>
                <a:spcPts val="600"/>
              </a:spcAft>
            </a:pPr>
            <a:r>
              <a:rPr lang="en-US" sz="1000" b="1" dirty="0" smtClean="0">
                <a:solidFill>
                  <a:prstClr val="black"/>
                </a:solidFill>
                <a:latin typeface="Arial"/>
                <a:ea typeface="Times New Roman"/>
                <a:cs typeface="Segoe UI"/>
              </a:rPr>
              <a:t>View AD DS permissions resulting from these delegations</a:t>
            </a:r>
            <a:endParaRPr lang="en-CA" sz="1000" b="1" dirty="0" smtClean="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solidFill>
                  <a:prstClr val="black"/>
                </a:solidFill>
                <a:latin typeface="Arial"/>
                <a:ea typeface="Times New Roman"/>
                <a:cs typeface="Segoe UI"/>
              </a:rPr>
              <a:t>On </a:t>
            </a:r>
            <a:r>
              <a:rPr lang="en-US" sz="1000" dirty="0">
                <a:solidFill>
                  <a:prstClr val="black"/>
                </a:solidFill>
                <a:latin typeface="Arial"/>
                <a:ea typeface="Times New Roman"/>
                <a:cs typeface="Segoe UI"/>
              </a:rPr>
              <a:t>the </a:t>
            </a:r>
            <a:r>
              <a:rPr lang="en-US" sz="1000" b="1" dirty="0">
                <a:solidFill>
                  <a:prstClr val="black"/>
                </a:solidFill>
                <a:latin typeface="Arial"/>
                <a:ea typeface="Times New Roman"/>
                <a:cs typeface="Times New Roman"/>
              </a:rPr>
              <a:t>View</a:t>
            </a:r>
            <a:r>
              <a:rPr lang="en-US" sz="1000" dirty="0">
                <a:solidFill>
                  <a:prstClr val="black"/>
                </a:solidFill>
                <a:latin typeface="Arial"/>
                <a:ea typeface="Times New Roman"/>
                <a:cs typeface="Segoe UI"/>
              </a:rPr>
              <a:t> menu, click </a:t>
            </a:r>
            <a:r>
              <a:rPr lang="en-US" sz="1000" b="1" dirty="0">
                <a:solidFill>
                  <a:prstClr val="black"/>
                </a:solidFill>
                <a:latin typeface="Arial"/>
                <a:ea typeface="Times New Roman"/>
                <a:cs typeface="Times New Roman"/>
              </a:rPr>
              <a:t>Advanced Features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In the navigation pane, right‑click </a:t>
            </a:r>
            <a:r>
              <a:rPr lang="en-US" sz="1000" b="1" dirty="0">
                <a:solidFill>
                  <a:prstClr val="black"/>
                </a:solidFill>
                <a:latin typeface="Arial"/>
                <a:ea typeface="Times New Roman"/>
                <a:cs typeface="Times New Roman"/>
              </a:rPr>
              <a:t>Executives</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Properties</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In the</a:t>
            </a:r>
            <a:r>
              <a:rPr lang="en-US" sz="1000" b="1" dirty="0">
                <a:solidFill>
                  <a:prstClr val="black"/>
                </a:solidFill>
                <a:latin typeface="Arial"/>
                <a:ea typeface="Times New Roman"/>
                <a:cs typeface="Times New Roman"/>
              </a:rPr>
              <a:t> Executives Properties</a:t>
            </a:r>
            <a:r>
              <a:rPr lang="en-US" sz="1000" dirty="0">
                <a:solidFill>
                  <a:srgbClr val="000000"/>
                </a:solidFill>
                <a:latin typeface="Arial"/>
                <a:ea typeface="Times New Roman"/>
                <a:cs typeface="Segoe UI"/>
              </a:rPr>
              <a:t> dialog box, on the </a:t>
            </a:r>
            <a:r>
              <a:rPr lang="en-US" sz="1000" b="1" dirty="0">
                <a:solidFill>
                  <a:prstClr val="black"/>
                </a:solidFill>
                <a:latin typeface="Arial"/>
                <a:ea typeface="Times New Roman"/>
                <a:cs typeface="Times New Roman"/>
              </a:rPr>
              <a:t>Security </a:t>
            </a:r>
            <a:r>
              <a:rPr lang="en-US" sz="1000" dirty="0">
                <a:solidFill>
                  <a:srgbClr val="000000"/>
                </a:solidFill>
                <a:latin typeface="Arial"/>
                <a:ea typeface="Times New Roman"/>
                <a:cs typeface="Segoe UI"/>
              </a:rPr>
              <a:t>tab, click </a:t>
            </a:r>
            <a:r>
              <a:rPr lang="en-US" sz="1000" b="1" dirty="0">
                <a:solidFill>
                  <a:prstClr val="black"/>
                </a:solidFill>
                <a:latin typeface="Arial"/>
                <a:ea typeface="Times New Roman"/>
                <a:cs typeface="Times New Roman"/>
              </a:rPr>
              <a:t>Advanced</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000" lvl="0">
              <a:lnSpc>
                <a:spcPct val="115000"/>
              </a:lnSpc>
              <a:spcAft>
                <a:spcPts val="995"/>
              </a:spcAft>
            </a:pPr>
            <a:r>
              <a:rPr lang="en-US" sz="1000" dirty="0">
                <a:solidFill>
                  <a:srgbClr val="000000"/>
                </a:solidFill>
                <a:latin typeface="Arial"/>
                <a:ea typeface="Times New Roman"/>
                <a:cs typeface="Segoe UI"/>
              </a:rPr>
              <a:t>In the </a:t>
            </a:r>
            <a:r>
              <a:rPr lang="en-US" sz="1000" b="1" dirty="0">
                <a:solidFill>
                  <a:prstClr val="black"/>
                </a:solidFill>
                <a:latin typeface="Arial"/>
                <a:ea typeface="Times New Roman"/>
                <a:cs typeface="Times New Roman"/>
              </a:rPr>
              <a:t>Advanced Security Settings for Executives</a:t>
            </a:r>
            <a:r>
              <a:rPr lang="en-US" sz="1000" dirty="0">
                <a:solidFill>
                  <a:srgbClr val="000000"/>
                </a:solidFill>
                <a:latin typeface="Arial"/>
                <a:ea typeface="Times New Roman"/>
                <a:cs typeface="Segoe UI"/>
              </a:rPr>
              <a:t> dialog box, notice the Allow permissions that are assigned to IT (ADATUM\IT). These were created during the delegation process.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4"/>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Cancel</a:t>
            </a:r>
            <a:r>
              <a:rPr lang="en-US" sz="1000" dirty="0">
                <a:solidFill>
                  <a:srgbClr val="000000"/>
                </a:solidFill>
                <a:latin typeface="Arial"/>
                <a:ea typeface="Times New Roman"/>
                <a:cs typeface="Segoe UI"/>
              </a:rPr>
              <a:t> twice, and then </a:t>
            </a:r>
            <a:r>
              <a:rPr lang="en-US" sz="1000" dirty="0" smtClean="0">
                <a:solidFill>
                  <a:srgbClr val="000000"/>
                </a:solidFill>
                <a:latin typeface="Arial"/>
                <a:ea typeface="Times New Roman"/>
                <a:cs typeface="Segoe UI"/>
              </a:rPr>
              <a:t>close all open windows except Server Manager.</a:t>
            </a:r>
          </a:p>
          <a:p>
            <a:pPr marL="342900" lvl="0" indent="-342900">
              <a:lnSpc>
                <a:spcPct val="115000"/>
              </a:lnSpc>
              <a:spcAft>
                <a:spcPts val="995"/>
              </a:spcAft>
              <a:buFont typeface="+mj-lt"/>
              <a:buAutoNum type="arabicPeriod" startAt="4"/>
            </a:pPr>
            <a:endParaRPr lang="en-US" sz="1000" dirty="0">
              <a:solidFill>
                <a:srgbClr val="000000"/>
              </a:solidFill>
              <a:latin typeface="Arial"/>
              <a:cs typeface="Segoe UI"/>
            </a:endParaRPr>
          </a:p>
          <a:p>
            <a:pPr>
              <a:lnSpc>
                <a:spcPct val="115000"/>
              </a:lnSpc>
              <a:spcAft>
                <a:spcPts val="995"/>
              </a:spcAft>
            </a:pPr>
            <a:r>
              <a:rPr lang="en-CA" sz="1000" dirty="0" smtClean="0">
                <a:solidFill>
                  <a:srgbClr val="000000"/>
                </a:solidFill>
                <a:latin typeface="Arial"/>
                <a:ea typeface="Calibri"/>
                <a:cs typeface="Segoe UI"/>
              </a:rPr>
              <a:t>After </a:t>
            </a:r>
            <a:r>
              <a:rPr lang="en-CA" sz="1000" dirty="0">
                <a:solidFill>
                  <a:srgbClr val="000000"/>
                </a:solidFill>
                <a:latin typeface="Arial"/>
                <a:ea typeface="Calibri"/>
                <a:cs typeface="Segoe UI"/>
              </a:rPr>
              <a:t>you complete the demonstration, revert all virtual machines.</a:t>
            </a:r>
            <a:endParaRPr lang="en-CA" sz="1000" dirty="0">
              <a:latin typeface="Arial"/>
              <a:ea typeface="Calibri"/>
              <a:cs typeface="Times New Roman"/>
            </a:endParaRPr>
          </a:p>
          <a:p>
            <a:pPr lvl="0">
              <a:lnSpc>
                <a:spcPct val="115000"/>
              </a:lnSpc>
              <a:spcAft>
                <a:spcPts val="995"/>
              </a:spcAft>
            </a:pPr>
            <a:endParaRPr lang="en-CA" dirty="0"/>
          </a:p>
        </p:txBody>
      </p:sp>
      <p:sp>
        <p:nvSpPr>
          <p:cNvPr id="4" name="Slide Number Placeholder 3"/>
          <p:cNvSpPr>
            <a:spLocks noGrp="1"/>
          </p:cNvSpPr>
          <p:nvPr>
            <p:ph type="sldNum" sz="quarter" idx="10"/>
          </p:nvPr>
        </p:nvSpPr>
        <p:spPr/>
        <p:txBody>
          <a:bodyPr/>
          <a:lstStyle/>
          <a:p>
            <a:fld id="{BC25D2D6-B00A-4B22-9A9A-ED999C7BB1C0}" type="slidenum">
              <a:rPr lang="en-CA" smtClean="0"/>
              <a:pPr/>
              <a:t>38</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277204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Times New Roman"/>
                <a:cs typeface="Segoe UI"/>
              </a:rPr>
              <a:t>Before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endParaRPr lang="en-CA" sz="1000" dirty="0">
              <a:latin typeface="Arial"/>
              <a:ea typeface="Calibri"/>
              <a:cs typeface="Times New Roman"/>
            </a:endParaRPr>
          </a:p>
          <a:p>
            <a:pPr>
              <a:lnSpc>
                <a:spcPct val="115000"/>
              </a:lnSpc>
              <a:spcAft>
                <a:spcPts val="1000"/>
              </a:spcAft>
            </a:pPr>
            <a:r>
              <a:rPr lang="en-CA" sz="1000" b="1" dirty="0">
                <a:solidFill>
                  <a:srgbClr val="000000"/>
                </a:solidFill>
                <a:latin typeface="Arial"/>
                <a:ea typeface="Calibri"/>
                <a:cs typeface="Segoe UI"/>
              </a:rPr>
              <a:t>Exercise 1: Delegating Administration for a Branch Office</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A. Datum delegates management of each branch office to a specific group. This allows an employee who works onsite to be configured as an administrator when required. Each branch office has a branch administrators group that can perform full administration within the branch office OU. There is also a branch office help desk group that is able to manage users in the branch office OU, but not other objects. You need to create these groups for the new branch office and delegate permissions to the groups.</a:t>
            </a:r>
            <a:endParaRPr lang="en-CA" sz="1000" dirty="0">
              <a:latin typeface="Arial"/>
              <a:ea typeface="Calibri"/>
              <a:cs typeface="Times New Roman"/>
            </a:endParaRPr>
          </a:p>
          <a:p>
            <a:pPr>
              <a:lnSpc>
                <a:spcPct val="115000"/>
              </a:lnSpc>
              <a:spcAft>
                <a:spcPts val="1000"/>
              </a:spcAft>
            </a:pPr>
            <a:r>
              <a:rPr lang="en-CA" sz="1000" b="1" dirty="0">
                <a:solidFill>
                  <a:srgbClr val="000000"/>
                </a:solidFill>
                <a:latin typeface="Arial"/>
                <a:ea typeface="Calibri"/>
                <a:cs typeface="Segoe UI"/>
              </a:rPr>
              <a:t>Exercise 2: Creating and Configuring User Accounts in AD DS</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You have a list of new users for the branch office, and you need to create user accounts for them.</a:t>
            </a:r>
            <a:endParaRPr lang="en-CA" sz="1000" dirty="0">
              <a:latin typeface="Arial"/>
              <a:ea typeface="Calibri"/>
              <a:cs typeface="Times New Roman"/>
            </a:endParaRPr>
          </a:p>
          <a:p>
            <a:pPr>
              <a:lnSpc>
                <a:spcPct val="115000"/>
              </a:lnSpc>
              <a:spcAft>
                <a:spcPts val="1000"/>
              </a:spcAft>
            </a:pPr>
            <a:r>
              <a:rPr lang="en-CA" sz="1000" b="1" dirty="0">
                <a:solidFill>
                  <a:srgbClr val="000000"/>
                </a:solidFill>
                <a:latin typeface="Arial"/>
                <a:ea typeface="Calibri"/>
                <a:cs typeface="Segoe UI"/>
              </a:rPr>
              <a:t>Exercise 3: Managing Computer Objects in AD DS</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A workstation has lost its connectivity to the domain and cannot authenticate users properly. When users attempt to access resources from this workstation, access is denied. You need to reset the computer account to recreate the trust relationship between the client and the domain.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39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42246866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BC25D2D6-B00A-4B22-9A9A-ED999C7BB1C0}" type="slidenum">
              <a:rPr lang="en-CA" smtClean="0"/>
              <a:pPr/>
              <a:t>40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40994583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1907704"/>
            <a:ext cx="6153912" cy="6604000"/>
          </a:xfrm>
        </p:spPr>
        <p:txBody>
          <a:bodyPr>
            <a:noAutofit/>
          </a:bodyPr>
          <a:lstStyle/>
          <a:p>
            <a:pPr>
              <a:lnSpc>
                <a:spcPct val="115000"/>
              </a:lnSpc>
              <a:spcAft>
                <a:spcPts val="1000"/>
              </a:spcAft>
            </a:pPr>
            <a:r>
              <a:rPr lang="en-CA" sz="1000" b="1" dirty="0">
                <a:latin typeface="Arial"/>
                <a:ea typeface="Calibri"/>
                <a:cs typeface="Times New Roman"/>
              </a:rPr>
              <a:t>Lab Review </a:t>
            </a:r>
            <a:r>
              <a:rPr lang="en-CA" sz="1000" b="1" dirty="0" smtClean="0">
                <a:latin typeface="Arial"/>
                <a:ea typeface="Calibri"/>
                <a:cs typeface="Times New Roman"/>
              </a:rPr>
              <a:t>Questions</a:t>
            </a:r>
          </a:p>
          <a:p>
            <a:pPr>
              <a:lnSpc>
                <a:spcPct val="115000"/>
              </a:lnSpc>
              <a:spcAft>
                <a:spcPts val="8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What are the options for modifying the attributes of new and existing users?</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600"/>
              </a:spcAft>
            </a:pPr>
            <a:r>
              <a:rPr lang="en-CA" sz="1000" dirty="0">
                <a:solidFill>
                  <a:srgbClr val="000000"/>
                </a:solidFill>
                <a:latin typeface="Arial"/>
                <a:ea typeface="Calibri"/>
                <a:cs typeface="Segoe UI"/>
              </a:rPr>
              <a:t>You can modify attributes of new and existing users in the following ways:</a:t>
            </a:r>
            <a:endParaRPr lang="en-CA" sz="1000" dirty="0">
              <a:latin typeface="Arial"/>
              <a:ea typeface="Calibri"/>
              <a:cs typeface="Times New Roman"/>
            </a:endParaRPr>
          </a:p>
          <a:p>
            <a:pPr marL="342900" lvl="0" indent="-342900">
              <a:lnSpc>
                <a:spcPct val="115000"/>
              </a:lnSpc>
              <a:spcAft>
                <a:spcPts val="600"/>
              </a:spcAft>
              <a:buFont typeface="Symbol"/>
              <a:buChar char=""/>
            </a:pPr>
            <a:r>
              <a:rPr lang="en-US" sz="1000" dirty="0" smtClean="0">
                <a:solidFill>
                  <a:srgbClr val="000000"/>
                </a:solidFill>
                <a:effectLst/>
                <a:latin typeface="Arial"/>
                <a:ea typeface="Times New Roman"/>
                <a:cs typeface="Segoe UI"/>
              </a:rPr>
              <a:t>Select multiple users and then open the </a:t>
            </a:r>
            <a:r>
              <a:rPr lang="en-US" sz="1000" dirty="0" smtClean="0">
                <a:effectLst/>
                <a:latin typeface="Arial"/>
                <a:ea typeface="Times New Roman"/>
                <a:cs typeface="Times New Roman"/>
              </a:rPr>
              <a:t>Properties</a:t>
            </a:r>
            <a:r>
              <a:rPr lang="en-US" sz="1000" b="1" dirty="0" smtClean="0">
                <a:effectLst/>
                <a:latin typeface="Arial"/>
                <a:ea typeface="Times New Roman"/>
                <a:cs typeface="Times New Roman"/>
              </a:rPr>
              <a:t> </a:t>
            </a:r>
            <a:r>
              <a:rPr lang="en-US" sz="1000" dirty="0" smtClean="0">
                <a:solidFill>
                  <a:srgbClr val="000000"/>
                </a:solidFill>
                <a:effectLst/>
                <a:latin typeface="Arial"/>
                <a:ea typeface="Times New Roman"/>
                <a:cs typeface="Segoe UI"/>
              </a:rPr>
              <a:t>dialog box</a:t>
            </a:r>
            <a:endParaRPr lang="en-CA" sz="1000" dirty="0" smtClean="0">
              <a:effectLst/>
              <a:latin typeface="Arial"/>
              <a:ea typeface="Times New Roman"/>
              <a:cs typeface="Times New Roman"/>
            </a:endParaRPr>
          </a:p>
          <a:p>
            <a:pPr marL="342900" lvl="0" indent="-342900">
              <a:lnSpc>
                <a:spcPct val="115000"/>
              </a:lnSpc>
              <a:spcAft>
                <a:spcPts val="600"/>
              </a:spcAft>
              <a:buFont typeface="Symbol"/>
              <a:buChar char=""/>
            </a:pPr>
            <a:r>
              <a:rPr lang="en-US" sz="1000" dirty="0" smtClean="0">
                <a:solidFill>
                  <a:srgbClr val="000000"/>
                </a:solidFill>
                <a:effectLst/>
                <a:latin typeface="Arial"/>
                <a:ea typeface="Times New Roman"/>
                <a:cs typeface="Segoe UI"/>
              </a:rPr>
              <a:t>Use the </a:t>
            </a:r>
            <a:r>
              <a:rPr lang="en-US" sz="1000" b="1" dirty="0" smtClean="0">
                <a:effectLst/>
                <a:latin typeface="Arial"/>
                <a:ea typeface="Times New Roman"/>
                <a:cs typeface="Times New Roman"/>
              </a:rPr>
              <a:t>dsmod</a:t>
            </a:r>
            <a:r>
              <a:rPr lang="en-US" sz="1000" dirty="0" smtClean="0">
                <a:solidFill>
                  <a:srgbClr val="000000"/>
                </a:solidFill>
                <a:effectLst/>
                <a:latin typeface="Arial"/>
                <a:ea typeface="Times New Roman"/>
                <a:cs typeface="Segoe UI"/>
              </a:rPr>
              <a:t> command</a:t>
            </a:r>
            <a:endParaRPr lang="en-CA" sz="1000" dirty="0" smtClean="0">
              <a:effectLst/>
              <a:latin typeface="Arial"/>
              <a:ea typeface="Times New Roman"/>
              <a:cs typeface="Times New Roman"/>
            </a:endParaRPr>
          </a:p>
          <a:p>
            <a:pPr marL="342900" lvl="0" indent="-342900">
              <a:lnSpc>
                <a:spcPct val="115000"/>
              </a:lnSpc>
              <a:spcAft>
                <a:spcPts val="600"/>
              </a:spcAft>
              <a:buFont typeface="Symbol"/>
              <a:buChar char=""/>
            </a:pPr>
            <a:r>
              <a:rPr lang="en-US" sz="1000" dirty="0" smtClean="0">
                <a:solidFill>
                  <a:srgbClr val="000000"/>
                </a:solidFill>
                <a:effectLst/>
                <a:latin typeface="Arial"/>
                <a:ea typeface="Times New Roman"/>
                <a:cs typeface="Segoe UI"/>
              </a:rPr>
              <a:t>Create a user account based on a user account template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Use the</a:t>
            </a:r>
            <a:r>
              <a:rPr lang="en-US" sz="1000" b="1" dirty="0" smtClean="0">
                <a:effectLst/>
                <a:latin typeface="Arial"/>
                <a:ea typeface="Times New Roman"/>
                <a:cs typeface="Times New Roman"/>
              </a:rPr>
              <a:t> Set-ADUser</a:t>
            </a:r>
            <a:r>
              <a:rPr lang="en-US" sz="1000" dirty="0" smtClean="0">
                <a:solidFill>
                  <a:srgbClr val="000000"/>
                </a:solidFill>
                <a:effectLst/>
                <a:latin typeface="Arial"/>
                <a:ea typeface="Times New Roman"/>
                <a:cs typeface="Segoe UI"/>
              </a:rPr>
              <a:t> Windows PowerShell cmdlet</a:t>
            </a:r>
            <a:endParaRPr lang="en-CA" sz="1000" dirty="0" smtClean="0">
              <a:effectLst/>
              <a:latin typeface="Arial"/>
              <a:ea typeface="Times New Roman"/>
              <a:cs typeface="Times New Roman"/>
            </a:endParaRPr>
          </a:p>
          <a:p>
            <a:pPr>
              <a:lnSpc>
                <a:spcPct val="115000"/>
              </a:lnSpc>
              <a:spcAft>
                <a:spcPts val="8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What types of objects can be members of global groups?</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Global groups can include as members users and other roles (global groups) from the same domain.</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What types of objects can be members of domain-local groups?</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Domain-local groups can contain roles (global groups) and individual users from any trusted domain in the same forest or an external forest, and other domain-local groups in the same domain. Finally, domain-local groups can contain universal groups from anywhere in the forest.</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Which </a:t>
            </a:r>
            <a:r>
              <a:rPr lang="en-CA" sz="1000" dirty="0">
                <a:solidFill>
                  <a:srgbClr val="000000"/>
                </a:solidFill>
                <a:latin typeface="Arial"/>
                <a:ea typeface="Calibri"/>
                <a:cs typeface="Segoe UI"/>
              </a:rPr>
              <a:t>two credentials are necessary for any computer to join a domain?</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The necessary credentials are the local credentials that are in the local Administrators group of the computer, and domain credentials that have permissions to join a computer to the computer </a:t>
            </a:r>
            <a:r>
              <a:rPr lang="en-CA" sz="1000" dirty="0" smtClean="0">
                <a:solidFill>
                  <a:srgbClr val="000000"/>
                </a:solidFill>
                <a:latin typeface="Arial"/>
                <a:ea typeface="Calibri"/>
                <a:cs typeface="Segoe UI"/>
              </a:rPr>
              <a:t>account.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41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6534259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32656" y="1763688"/>
            <a:ext cx="6120680" cy="7056784"/>
          </a:xfrm>
        </p:spPr>
        <p:txBody>
          <a:bodyPr>
            <a:noAutofit/>
          </a:bodyPr>
          <a:lstStyle/>
          <a:p>
            <a:pPr>
              <a:lnSpc>
                <a:spcPct val="115000"/>
              </a:lnSpc>
              <a:spcAft>
                <a:spcPts val="400"/>
              </a:spcAft>
            </a:pPr>
            <a:r>
              <a:rPr lang="en-CA" sz="1000" b="1" dirty="0" smtClean="0">
                <a:latin typeface="Arial"/>
                <a:ea typeface="Calibri"/>
                <a:cs typeface="Times New Roman"/>
              </a:rPr>
              <a:t>Module Review Questions</a:t>
            </a:r>
            <a:endParaRPr lang="en-CA" sz="1000" dirty="0">
              <a:latin typeface="Arial"/>
              <a:ea typeface="Calibri"/>
              <a:cs typeface="Times New Roman"/>
            </a:endParaRPr>
          </a:p>
          <a:p>
            <a:pPr lvl="0">
              <a:lnSpc>
                <a:spcPct val="115000"/>
              </a:lnSpc>
              <a:spcAft>
                <a:spcPts val="1000"/>
              </a:spcAft>
            </a:pPr>
            <a:r>
              <a:rPr lang="en-CA" sz="1000" dirty="0" smtClean="0">
                <a:solidFill>
                  <a:prstClr val="black"/>
                </a:solidFill>
                <a:latin typeface="Arial"/>
                <a:ea typeface="Calibri"/>
                <a:cs typeface="Segoe UI"/>
              </a:rPr>
              <a:t>Point </a:t>
            </a:r>
            <a:r>
              <a:rPr lang="en-CA" sz="1000" dirty="0">
                <a:solidFill>
                  <a:prstClr val="black"/>
                </a:solidFill>
                <a:latin typeface="Arial"/>
                <a:ea typeface="Calibri"/>
                <a:cs typeface="Segoe UI"/>
              </a:rPr>
              <a:t>students to the appropriate section in the course so that they are able to answer the questions that this section presents.</a:t>
            </a:r>
            <a:endParaRPr lang="en-CA" sz="1000" dirty="0"/>
          </a:p>
          <a:p>
            <a:pPr>
              <a:lnSpc>
                <a:spcPct val="115000"/>
              </a:lnSpc>
              <a:spcAft>
                <a:spcPts val="7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600"/>
              </a:spcAft>
            </a:pPr>
            <a:r>
              <a:rPr lang="en-CA" sz="1000" dirty="0">
                <a:latin typeface="Arial"/>
                <a:ea typeface="Calibri"/>
                <a:cs typeface="Segoe UI"/>
              </a:rPr>
              <a:t>Your company has branches in multiple cities, and each branch has a local domain that is part of the company forest. Each branch also has their own printers that are managed by using domain-local groups from their local domain. The company's sales people frequently travel between locations.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can you provide the sales people with access to the various printers as they travel between locations?</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You can create a group with domain local scope, and assign it permission to access the printer. Put the Sales user accounts in a group with global scope, and then add this group to the group that has domain-local scope. When you want to give the Sales users access to a new printer, assign the group with domain-local scope permission to access the new printer. All members of the group with global scope receive access to the new printer automatically.</a:t>
            </a:r>
          </a:p>
          <a:p>
            <a:pPr>
              <a:lnSpc>
                <a:spcPct val="115000"/>
              </a:lnSpc>
              <a:spcAft>
                <a:spcPts val="7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are responsible for managing accounts and access to resources for your group members. A user in your group transfers to another department within the company. What should you do with the user’s account?</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Although your company might have a Human Resources representative with AD DS permissions to move user accounts, the best solution is to move the user account into the appropriate OU of the new department. In this manner, the Group Policies associated with the new department are enforced. If applying the correct Group Policies is important, the user’s account should be disabled until someone with appropriate security permissions can move it into the new OU.</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is the main difference between the Computers container and an OU?</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smtClean="0">
                <a:latin typeface="Arial"/>
                <a:ea typeface="Calibri"/>
                <a:cs typeface="Segoe UI"/>
              </a:rPr>
              <a:t>You cannot create an OU within a Computers container, so you cannot subdivide the Computers container. In </a:t>
            </a:r>
            <a:r>
              <a:rPr lang="en-CA" sz="1000" dirty="0">
                <a:latin typeface="Arial"/>
                <a:ea typeface="Calibri"/>
                <a:cs typeface="Segoe UI"/>
              </a:rPr>
              <a:t>addition, you cannot link a GPO to a container. </a:t>
            </a:r>
            <a:r>
              <a:rPr lang="en-CA" sz="1000" dirty="0" smtClean="0">
                <a:latin typeface="Arial"/>
                <a:ea typeface="Calibri"/>
                <a:cs typeface="Segoe UI"/>
              </a:rPr>
              <a:t>Because </a:t>
            </a:r>
            <a:r>
              <a:rPr lang="en-CA" sz="1000" dirty="0">
                <a:latin typeface="Arial"/>
                <a:ea typeface="Calibri"/>
                <a:cs typeface="Segoe UI"/>
              </a:rPr>
              <a:t>of this, as a best practice you should move newly created computer accounts from the Computers container to an OU</a:t>
            </a:r>
            <a:r>
              <a:rPr lang="en-CA" sz="1000" dirty="0" smtClean="0">
                <a:latin typeface="Arial"/>
                <a:ea typeface="Calibri"/>
                <a:cs typeface="Segoe UI"/>
              </a:rPr>
              <a: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42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35113695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32656" y="2123728"/>
            <a:ext cx="6153912" cy="6604000"/>
          </a:xfrm>
        </p:spPr>
        <p:txBody>
          <a:bodyPr>
            <a:noAutofit/>
          </a:bodyPr>
          <a:lstStyle/>
          <a:p>
            <a:pPr lvl="0">
              <a:lnSpc>
                <a:spcPct val="115000"/>
              </a:lnSpc>
              <a:spcAft>
                <a:spcPts val="600"/>
              </a:spcAft>
            </a:pPr>
            <a:r>
              <a:rPr lang="en-CA" sz="1000" b="1" dirty="0" smtClean="0">
                <a:solidFill>
                  <a:prstClr val="black"/>
                </a:solidFill>
                <a:latin typeface="Arial"/>
                <a:ea typeface="Calibri"/>
                <a:cs typeface="Times New Roman"/>
              </a:rPr>
              <a:t>Question</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Segoe UI"/>
              </a:rPr>
              <a:t>When should you reset a computer account? Why is it better to reset the computer account rather than to disjoin and then rejoin it to the domain?</a:t>
            </a:r>
            <a:endParaRPr lang="en-CA" sz="1000" dirty="0">
              <a:solidFill>
                <a:prstClr val="black"/>
              </a:solidFill>
              <a:latin typeface="Arial"/>
              <a:ea typeface="Calibri"/>
              <a:cs typeface="Times New Roman"/>
            </a:endParaRPr>
          </a:p>
          <a:p>
            <a:pPr lvl="0">
              <a:lnSpc>
                <a:spcPct val="115000"/>
              </a:lnSpc>
              <a:spcAft>
                <a:spcPts val="600"/>
              </a:spcAft>
            </a:pPr>
            <a:r>
              <a:rPr lang="en-CA" sz="1000" b="1" dirty="0">
                <a:solidFill>
                  <a:prstClr val="black"/>
                </a:solidFill>
                <a:latin typeface="Arial"/>
                <a:ea typeface="Calibri"/>
                <a:cs typeface="Times New Roman"/>
              </a:rPr>
              <a:t>Answer</a:t>
            </a:r>
            <a:endParaRPr lang="en-CA" sz="1000" dirty="0">
              <a:solidFill>
                <a:prstClr val="black"/>
              </a:solidFill>
              <a:latin typeface="Arial"/>
              <a:ea typeface="Calibri"/>
              <a:cs typeface="Times New Roman"/>
            </a:endParaRPr>
          </a:p>
          <a:p>
            <a:pPr lvl="0">
              <a:lnSpc>
                <a:spcPct val="115000"/>
              </a:lnSpc>
              <a:spcAft>
                <a:spcPts val="600"/>
              </a:spcAft>
            </a:pPr>
            <a:r>
              <a:rPr lang="en-CA" sz="1000" dirty="0">
                <a:solidFill>
                  <a:prstClr val="black"/>
                </a:solidFill>
                <a:latin typeface="Arial"/>
                <a:ea typeface="Calibri"/>
                <a:cs typeface="Segoe UI"/>
              </a:rPr>
              <a:t>You should reset a computer account when the computer is no longer able to authenticate to the domain. That can happen if the operating system is reinstalled, if the computer is restored from backup, or if the password </a:t>
            </a:r>
            <a:r>
              <a:rPr lang="en-CA" sz="1000" dirty="0">
                <a:latin typeface="Arial"/>
                <a:ea typeface="Calibri"/>
                <a:cs typeface="Segoe UI"/>
              </a:rPr>
              <a:t>is out of the synchronization interval.</a:t>
            </a:r>
            <a:endParaRPr lang="en-CA" sz="1000" dirty="0">
              <a:latin typeface="Arial"/>
              <a:ea typeface="Calibri"/>
              <a:cs typeface="Times New Roman"/>
            </a:endParaRPr>
          </a:p>
          <a:p>
            <a:pPr lvl="0">
              <a:lnSpc>
                <a:spcPct val="115000"/>
              </a:lnSpc>
              <a:spcAft>
                <a:spcPts val="1000"/>
              </a:spcAft>
            </a:pPr>
            <a:r>
              <a:rPr lang="en-CA" sz="1000" dirty="0">
                <a:latin typeface="Arial"/>
                <a:ea typeface="Calibri"/>
                <a:cs typeface="Segoe UI"/>
              </a:rPr>
              <a:t>It is better to reset the computer account because if you disjoin the computer from a domain and then rejoin it, you risk losing the computer account completely, which results in loss of the computer’s SID and, more importantly, its group memberships. When you rejoin the domain, even though the computer has the same name, the account has a new SID, and all the group memberships of the previous computer object must be recreated.</a:t>
            </a:r>
            <a:endParaRPr lang="en-CA" sz="1000" dirty="0">
              <a:latin typeface="Arial"/>
              <a:ea typeface="Calibri"/>
              <a:cs typeface="Times New Roman"/>
            </a:endParaRPr>
          </a:p>
          <a:p>
            <a:pPr lvl="0">
              <a:lnSpc>
                <a:spcPct val="115000"/>
              </a:lnSpc>
              <a:spcAft>
                <a:spcPts val="600"/>
              </a:spcAft>
            </a:pPr>
            <a:r>
              <a:rPr lang="en-CA" sz="1000" b="1" dirty="0">
                <a:latin typeface="Arial"/>
                <a:ea typeface="Calibri"/>
                <a:cs typeface="Times New Roman"/>
              </a:rPr>
              <a:t>Question</a:t>
            </a:r>
            <a:endParaRPr lang="en-CA" sz="1000" dirty="0">
              <a:latin typeface="Arial"/>
              <a:ea typeface="Calibri"/>
              <a:cs typeface="Times New Roman"/>
            </a:endParaRPr>
          </a:p>
          <a:p>
            <a:pPr lvl="0">
              <a:lnSpc>
                <a:spcPct val="115000"/>
              </a:lnSpc>
              <a:spcAft>
                <a:spcPts val="1000"/>
              </a:spcAft>
            </a:pPr>
            <a:r>
              <a:rPr lang="en-CA" sz="1000" dirty="0">
                <a:latin typeface="Arial"/>
                <a:ea typeface="Calibri"/>
                <a:cs typeface="Times New Roman"/>
              </a:rPr>
              <a:t>A project manager in your department is starting a group project that will continue for the next year. Several users from your department and other departments will be dedicated to the project during this time. The project team must have access to the same shared resources. The project manager must be able to manage the user accounts and group accounts in AD DS; however, you do not want to give the project manager permission to manage anything else in AD DS. What is the best way to do this?</a:t>
            </a:r>
          </a:p>
          <a:p>
            <a:pPr lvl="0">
              <a:lnSpc>
                <a:spcPct val="115000"/>
              </a:lnSpc>
              <a:spcAft>
                <a:spcPts val="600"/>
              </a:spcAft>
            </a:pPr>
            <a:r>
              <a:rPr lang="en-CA" sz="1000" b="1" dirty="0">
                <a:latin typeface="Arial"/>
                <a:ea typeface="Calibri"/>
                <a:cs typeface="Times New Roman"/>
              </a:rPr>
              <a:t>Answer</a:t>
            </a:r>
            <a:endParaRPr lang="en-CA" sz="1000" dirty="0">
              <a:latin typeface="Arial"/>
              <a:ea typeface="Calibri"/>
              <a:cs typeface="Times New Roman"/>
            </a:endParaRPr>
          </a:p>
          <a:p>
            <a:pPr lvl="0">
              <a:lnSpc>
                <a:spcPct val="115000"/>
              </a:lnSpc>
              <a:spcAft>
                <a:spcPts val="1000"/>
              </a:spcAft>
            </a:pPr>
            <a:r>
              <a:rPr lang="en-CA" sz="1000" dirty="0">
                <a:latin typeface="Arial"/>
                <a:ea typeface="Calibri"/>
                <a:cs typeface="Times New Roman"/>
              </a:rPr>
              <a:t>The best way to do this is to create a new global security group and then add the project members to the group. Create a new OU outside your department’s OU, and then assign full control of the OU to the project manager. Add the global group to the new OU, and then add resources, such as shared files and printers, to the OU. Keep track of the project, and delete the global group when the work finishes. You can keep the OU if another project requires it; however, you should delete it if there is no immediate need for it.</a:t>
            </a:r>
          </a:p>
        </p:txBody>
      </p:sp>
      <p:sp>
        <p:nvSpPr>
          <p:cNvPr id="4" name="Slide Number Placeholder 3"/>
          <p:cNvSpPr>
            <a:spLocks noGrp="1"/>
          </p:cNvSpPr>
          <p:nvPr>
            <p:ph type="sldNum" sz="quarter" idx="10"/>
          </p:nvPr>
        </p:nvSpPr>
        <p:spPr/>
        <p:txBody>
          <a:bodyPr/>
          <a:lstStyle/>
          <a:p>
            <a:fld id="{BC25D2D6-B00A-4B22-9A9A-ED999C7BB1C0}" type="slidenum">
              <a:rPr lang="en-CA" smtClean="0"/>
              <a:pPr/>
              <a:t>43</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4106970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15000"/>
              </a:lnSpc>
              <a:spcAft>
                <a:spcPts val="600"/>
              </a:spcAft>
            </a:pPr>
            <a:r>
              <a:rPr lang="en-CA" sz="1000" b="1" dirty="0">
                <a:solidFill>
                  <a:prstClr val="black"/>
                </a:solidFill>
                <a:latin typeface="Arial"/>
                <a:ea typeface="Calibri"/>
                <a:cs typeface="Times New Roman"/>
              </a:rPr>
              <a:t>Question</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Times New Roman"/>
              </a:rPr>
              <a:t>You are working as an IT technician in Contoso, Ltd. You are managing the Windows Server–based infrastructure. You have to find a method for joining new Windows 8.1‑based computers to a domain during the installation process, without intervention of a user or an administrator. What is the best way to do this?</a:t>
            </a:r>
          </a:p>
          <a:p>
            <a:pPr lvl="0">
              <a:lnSpc>
                <a:spcPct val="115000"/>
              </a:lnSpc>
              <a:spcAft>
                <a:spcPts val="600"/>
              </a:spcAft>
            </a:pPr>
            <a:r>
              <a:rPr lang="en-CA" sz="1000" b="1" dirty="0">
                <a:solidFill>
                  <a:prstClr val="black"/>
                </a:solidFill>
                <a:latin typeface="Arial"/>
                <a:ea typeface="Calibri"/>
                <a:cs typeface="Times New Roman"/>
              </a:rPr>
              <a:t>Answer</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Times New Roman"/>
              </a:rPr>
              <a:t>The best way to do this is to provision the computer accounts to AD DS by using the </a:t>
            </a:r>
            <a:r>
              <a:rPr lang="en-CA" sz="1000" b="1" dirty="0">
                <a:solidFill>
                  <a:prstClr val="black"/>
                </a:solidFill>
                <a:latin typeface="Arial"/>
                <a:ea typeface="Calibri"/>
                <a:cs typeface="Times New Roman"/>
              </a:rPr>
              <a:t>djoin</a:t>
            </a:r>
            <a:r>
              <a:rPr lang="en-CA" sz="1000" dirty="0">
                <a:solidFill>
                  <a:srgbClr val="000000"/>
                </a:solidFill>
                <a:latin typeface="Arial"/>
                <a:ea typeface="Calibri"/>
                <a:cs typeface="Times New Roman"/>
              </a:rPr>
              <a:t> </a:t>
            </a:r>
            <a:r>
              <a:rPr lang="en-CA" sz="1000" dirty="0">
                <a:solidFill>
                  <a:prstClr val="black"/>
                </a:solidFill>
                <a:latin typeface="Arial"/>
                <a:ea typeface="Calibri"/>
                <a:cs typeface="Times New Roman"/>
              </a:rPr>
              <a:t>command‑line tool with the</a:t>
            </a:r>
            <a:r>
              <a:rPr lang="en-CA" sz="1000" b="1" dirty="0">
                <a:solidFill>
                  <a:prstClr val="black"/>
                </a:solidFill>
                <a:latin typeface="Arial"/>
                <a:ea typeface="Calibri"/>
                <a:cs typeface="Times New Roman"/>
              </a:rPr>
              <a:t> /provision</a:t>
            </a:r>
            <a:r>
              <a:rPr lang="en-CA" sz="1000" dirty="0">
                <a:solidFill>
                  <a:prstClr val="black"/>
                </a:solidFill>
                <a:latin typeface="Arial"/>
                <a:ea typeface="Calibri"/>
                <a:cs typeface="Times New Roman"/>
              </a:rPr>
              <a:t> switch, and then use an unattended setup to perform the installation. By using a tool such as Windows System Image Manager, you can perform an unattended domain join during an operating system installation by providing information in an Unattend.xml file that is relevant to the domain join</a:t>
            </a:r>
            <a:r>
              <a:rPr lang="en-CA" sz="1000" dirty="0" smtClean="0">
                <a:solidFill>
                  <a:prstClr val="black"/>
                </a:solidFill>
                <a:latin typeface="Arial"/>
                <a:ea typeface="Calibri"/>
                <a:cs typeface="Times New Roman"/>
              </a:rPr>
              <a:t>.</a:t>
            </a:r>
            <a:endParaRPr lang="en-CA" sz="1000" dirty="0">
              <a:solidFill>
                <a:prstClr val="black"/>
              </a:solidFill>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44</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23101293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a:ea typeface="Times New Roman"/>
                <a:cs typeface="Segoe UI"/>
              </a:rPr>
              <a:t>Best Practices </a:t>
            </a:r>
            <a:endParaRPr lang="en-US" sz="1000" b="1" dirty="0" smtClean="0">
              <a:solidFill>
                <a:prstClr val="black"/>
              </a:solidFill>
              <a:latin typeface="Arial"/>
              <a:ea typeface="Times New Roman"/>
              <a:cs typeface="Segoe UI"/>
            </a:endParaRPr>
          </a:p>
          <a:p>
            <a:pPr lvl="0">
              <a:lnSpc>
                <a:spcPts val="1300"/>
              </a:lnSpc>
              <a:spcBef>
                <a:spcPts val="900"/>
              </a:spcBef>
              <a:spcAft>
                <a:spcPts val="300"/>
              </a:spcAft>
            </a:pPr>
            <a:r>
              <a:rPr lang="en-US" sz="1000" dirty="0">
                <a:latin typeface="Arial" panose="020B0604020202020204" pitchFamily="34" charset="0"/>
                <a:cs typeface="Arial" panose="020B0604020202020204" pitchFamily="34" charset="0"/>
              </a:rPr>
              <a:t>T</a:t>
            </a:r>
            <a:r>
              <a:rPr lang="en-CA" sz="1000" dirty="0">
                <a:latin typeface="Arial" panose="020B0604020202020204" pitchFamily="34" charset="0"/>
                <a:cs typeface="Arial" panose="020B0604020202020204" pitchFamily="34" charset="0"/>
              </a:rPr>
              <a:t>he following are recommended best practices:</a:t>
            </a:r>
            <a:endParaRPr lang="en-US" sz="1000" b="1" dirty="0" smtClean="0">
              <a:solidFill>
                <a:prstClr val="black"/>
              </a:solidFill>
              <a:latin typeface="Arial" panose="020B0604020202020204" pitchFamily="34" charset="0"/>
              <a:ea typeface="Times New Roman"/>
              <a:cs typeface="Arial" panose="020B0604020202020204" pitchFamily="34" charset="0"/>
            </a:endParaRPr>
          </a:p>
          <a:p>
            <a:pPr lvl="0">
              <a:lnSpc>
                <a:spcPts val="1300"/>
              </a:lnSpc>
              <a:spcBef>
                <a:spcPts val="900"/>
              </a:spcBef>
              <a:spcAft>
                <a:spcPts val="300"/>
              </a:spcAft>
            </a:pPr>
            <a:r>
              <a:rPr lang="en-US" sz="1000" b="1" dirty="0" smtClean="0">
                <a:solidFill>
                  <a:prstClr val="black"/>
                </a:solidFill>
                <a:latin typeface="Arial"/>
                <a:ea typeface="Times New Roman"/>
                <a:cs typeface="Segoe UI"/>
              </a:rPr>
              <a:t>Best </a:t>
            </a:r>
            <a:r>
              <a:rPr lang="en-US" sz="1000" b="1" dirty="0">
                <a:solidFill>
                  <a:prstClr val="black"/>
                </a:solidFill>
                <a:latin typeface="Arial"/>
                <a:ea typeface="Times New Roman"/>
                <a:cs typeface="Segoe UI"/>
              </a:rPr>
              <a:t>Practices for User Account Management</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Times New Roman"/>
              </a:rPr>
              <a:t>Do not let users share user accounts. Always create a user account for each individual, even if that person will not be with your organization for a long time.</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Times New Roman"/>
              </a:rPr>
              <a:t>Educate users about the importance of password security.</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Times New Roman"/>
              </a:rPr>
              <a:t>Ensure that you choose a naming strategy for user accounts that enables you to identify the user to whom the account relates. Also ensure that your naming strategy uses unique names within your domain.</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Best Practices for Group Management</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When you manage access to resources, try to use both domain-local groups and role groups.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Use universal groups only when necessary because they add weight to replication traffic.</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Use Windows PowerShell with Active Directory Module for batch jobs on groups.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Avoid adding users to built‑in and default groups.</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Best Practices Related to Computer Account Management</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Symbol"/>
              <a:buChar char=""/>
            </a:pPr>
            <a:r>
              <a:rPr lang="en-US" sz="1000" dirty="0">
                <a:solidFill>
                  <a:srgbClr val="000000"/>
                </a:solidFill>
                <a:latin typeface="Arial"/>
                <a:ea typeface="Times New Roman"/>
                <a:cs typeface="Segoe UI"/>
              </a:rPr>
              <a:t>Always provision a computer account before joining computers to a domain</a:t>
            </a:r>
            <a:r>
              <a:rPr lang="en-US" sz="1000" dirty="0">
                <a:solidFill>
                  <a:prstClr val="black"/>
                </a:solidFill>
                <a:latin typeface="Arial"/>
                <a:ea typeface="Times New Roman"/>
                <a:cs typeface="Times New Roman"/>
              </a:rPr>
              <a:t>,</a:t>
            </a:r>
            <a:r>
              <a:rPr lang="en-US" sz="1000" dirty="0">
                <a:solidFill>
                  <a:srgbClr val="000000"/>
                </a:solidFill>
                <a:latin typeface="Arial"/>
                <a:ea typeface="Times New Roman"/>
                <a:cs typeface="Segoe UI"/>
              </a:rPr>
              <a:t> and then place them in appropriate OU.</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srgbClr val="000000"/>
                </a:solidFill>
                <a:latin typeface="Arial"/>
                <a:ea typeface="Times New Roman"/>
                <a:cs typeface="Segoe UI"/>
              </a:rPr>
              <a:t>Redirect the default Computers container to another location</a:t>
            </a:r>
            <a:r>
              <a:rPr lang="en-US" sz="1000" dirty="0" smtClean="0">
                <a:solidFill>
                  <a:srgbClr val="000000"/>
                </a:solidFill>
                <a:latin typeface="Arial"/>
                <a:ea typeface="Times New Roman"/>
                <a:cs typeface="Segoe UI"/>
              </a:rPr>
              <a:t>.</a:t>
            </a:r>
          </a:p>
          <a:p>
            <a:pPr marL="342900" lvl="0" indent="-342900">
              <a:lnSpc>
                <a:spcPct val="115000"/>
              </a:lnSpc>
              <a:spcAft>
                <a:spcPts val="995"/>
              </a:spcAft>
              <a:buFont typeface="Symbol"/>
              <a:buChar char=""/>
            </a:pPr>
            <a:r>
              <a:rPr lang="en-US" sz="1000" dirty="0" smtClean="0">
                <a:solidFill>
                  <a:srgbClr val="000000"/>
                </a:solidFill>
                <a:latin typeface="Arial"/>
                <a:ea typeface="Times New Roman"/>
                <a:cs typeface="Segoe UI"/>
              </a:rPr>
              <a:t>Reset </a:t>
            </a:r>
            <a:r>
              <a:rPr lang="en-US" sz="1000" dirty="0">
                <a:solidFill>
                  <a:srgbClr val="000000"/>
                </a:solidFill>
                <a:latin typeface="Arial"/>
                <a:ea typeface="Times New Roman"/>
                <a:cs typeface="Segoe UI"/>
              </a:rPr>
              <a:t>the computer account, instead of disjoining and </a:t>
            </a:r>
            <a:r>
              <a:rPr lang="en-US" sz="1000" dirty="0" smtClean="0">
                <a:solidFill>
                  <a:srgbClr val="000000"/>
                </a:solidFill>
                <a:latin typeface="Arial"/>
                <a:ea typeface="Times New Roman"/>
                <a:cs typeface="Segoe UI"/>
              </a:rPr>
              <a:t>rejoining.</a:t>
            </a:r>
          </a:p>
          <a:p>
            <a:pPr marL="342900" lvl="0" indent="-342900">
              <a:lnSpc>
                <a:spcPct val="115000"/>
              </a:lnSpc>
              <a:spcAft>
                <a:spcPts val="995"/>
              </a:spcAft>
              <a:buFont typeface="Symbol"/>
              <a:buChar char=""/>
            </a:pPr>
            <a:r>
              <a:rPr lang="en-US" sz="1000" dirty="0" smtClean="0">
                <a:solidFill>
                  <a:srgbClr val="000000"/>
                </a:solidFill>
                <a:latin typeface="Arial"/>
                <a:ea typeface="Times New Roman"/>
                <a:cs typeface="Segoe UI"/>
              </a:rPr>
              <a:t>Integrate </a:t>
            </a:r>
            <a:r>
              <a:rPr lang="en-US" sz="1000" dirty="0">
                <a:solidFill>
                  <a:srgbClr val="000000"/>
                </a:solidFill>
                <a:latin typeface="Arial"/>
                <a:ea typeface="Times New Roman"/>
                <a:cs typeface="Segoe UI"/>
              </a:rPr>
              <a:t>the offline domain join functionality with unattended installations.</a:t>
            </a:r>
          </a:p>
          <a:p>
            <a:pPr marL="342900" lvl="0" indent="-342900">
              <a:lnSpc>
                <a:spcPct val="115000"/>
              </a:lnSpc>
              <a:spcAft>
                <a:spcPts val="995"/>
              </a:spcAft>
              <a:buFont typeface="Symbol"/>
              <a:buAutoNum type="arabicPeriod" startAt="2"/>
            </a:pPr>
            <a:endParaRPr lang="en-US" sz="1000" dirty="0">
              <a:solidFill>
                <a:srgbClr val="000000"/>
              </a:solidFill>
              <a:latin typeface="Arial"/>
              <a:ea typeface="Times New Roman"/>
              <a:cs typeface="Segoe UI"/>
            </a:endParaRPr>
          </a:p>
          <a:p>
            <a:pPr marL="342900" lvl="0" indent="-342900">
              <a:lnSpc>
                <a:spcPct val="115000"/>
              </a:lnSpc>
              <a:spcAft>
                <a:spcPts val="995"/>
              </a:spcAft>
              <a:buFont typeface="Symbol"/>
              <a:buChar char=""/>
            </a:pPr>
            <a:endParaRPr lang="en-CA"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pPr/>
              <a:t>45</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spTree>
    <p:extLst>
      <p:ext uri="{BB962C8B-B14F-4D97-AF65-F5344CB8AC3E}">
        <p14:creationId xmlns:p14="http://schemas.microsoft.com/office/powerpoint/2010/main" val="17395705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4" name="Slide Number Placeholder 3"/>
          <p:cNvSpPr>
            <a:spLocks noGrp="1"/>
          </p:cNvSpPr>
          <p:nvPr>
            <p:ph type="sldNum" sz="quarter" idx="10"/>
          </p:nvPr>
        </p:nvSpPr>
        <p:spPr/>
        <p:txBody>
          <a:bodyPr/>
          <a:lstStyle/>
          <a:p>
            <a:fld id="{BC25D2D6-B00A-4B22-9A9A-ED999C7BB1C0}" type="slidenum">
              <a:rPr lang="en-CA" smtClean="0"/>
              <a:pPr/>
              <a:t>46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3: Managing Active Directory Domain Services Objects</a:t>
            </a:r>
            <a:endParaRPr lang="en-CA" sz="1200" b="1" dirty="0">
              <a:solidFill>
                <a:srgbClr val="336699"/>
              </a:solidFill>
              <a:latin typeface="Arial"/>
            </a:endParaRPr>
          </a:p>
        </p:txBody>
      </p:sp>
      <p:graphicFrame>
        <p:nvGraphicFramePr>
          <p:cNvPr id="7" name="Table 6"/>
          <p:cNvGraphicFramePr>
            <a:graphicFrameLocks noGrp="1"/>
          </p:cNvGraphicFramePr>
          <p:nvPr>
            <p:extLst>
              <p:ext uri="{D42A27DB-BD31-4B8C-83A1-F6EECF244321}">
                <p14:modId xmlns:p14="http://schemas.microsoft.com/office/powerpoint/2010/main" val="1642698243"/>
              </p:ext>
            </p:extLst>
          </p:nvPr>
        </p:nvGraphicFramePr>
        <p:xfrm>
          <a:off x="332656" y="2915816"/>
          <a:ext cx="6192687" cy="4032449"/>
        </p:xfrm>
        <a:graphic>
          <a:graphicData uri="http://schemas.openxmlformats.org/drawingml/2006/table">
            <a:tbl>
              <a:tblPr firstRow="1" bandRow="1">
                <a:tableStyleId>{2D5ABB26-0587-4C30-8999-92F81FD0307C}</a:tableStyleId>
              </a:tblPr>
              <a:tblGrid>
                <a:gridCol w="1872208"/>
                <a:gridCol w="2304256"/>
                <a:gridCol w="2016223"/>
              </a:tblGrid>
              <a:tr h="3835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Tool</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Used for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Where to find it</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02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Active Directory Administrative Center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Manage users and groups</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Administrative Tools</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1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Active Directory Users and Computers</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Manage users and groups</a:t>
                      </a:r>
                      <a:endParaRPr lang="en-CA" sz="1000" dirty="0" smtClean="0">
                        <a:solidFill>
                          <a:prstClr val="black"/>
                        </a:solidFill>
                        <a:latin typeface="Arial" panose="020B0604020202020204" pitchFamily="34" charset="0"/>
                        <a:ea typeface="Calibri"/>
                        <a:cs typeface="Arial" panose="020B0604020202020204" pitchFamily="34" charset="0"/>
                      </a:endParaRPr>
                    </a:p>
                    <a:p>
                      <a:pPr algn="l"/>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Administrative Tools</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1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Active Directory module for Windows PowerShell</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Manage users and groups</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Installed as Windows Feature</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58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Active Directory module for Windows PowerShell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Computer account management</a:t>
                      </a:r>
                      <a:endParaRPr lang="en-CA"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Administrative Tools</a:t>
                      </a:r>
                      <a:endParaRPr lang="en-CA"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75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djoin</a:t>
                      </a:r>
                      <a:r>
                        <a:rPr lang="en-US" sz="1000" dirty="0" smtClean="0">
                          <a:solidFill>
                            <a:srgbClr val="000000"/>
                          </a:solidFill>
                          <a:latin typeface="Arial" panose="020B0604020202020204" pitchFamily="34" charset="0"/>
                          <a:ea typeface="Times New Roman"/>
                          <a:cs typeface="Arial" panose="020B0604020202020204" pitchFamily="34" charset="0"/>
                        </a:rPr>
                        <a:t>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Offline domain join</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Must be launched from a Command Prompt or a Windows PowerShell prompt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52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redircmp</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Change default computer container</a:t>
                      </a:r>
                      <a:endParaRPr lang="en-CA"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Command line</a:t>
                      </a:r>
                      <a:endParaRPr lang="en-CA"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71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dsacls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15000"/>
                        </a:lnSpc>
                      </a:pPr>
                      <a:r>
                        <a:rPr lang="en-US" sz="1000" dirty="0" smtClean="0">
                          <a:solidFill>
                            <a:prstClr val="black"/>
                          </a:solidFill>
                          <a:latin typeface="Arial" panose="020B0604020202020204" pitchFamily="34" charset="0"/>
                          <a:ea typeface="Times New Roman"/>
                          <a:cs typeface="Arial" panose="020B0604020202020204" pitchFamily="34" charset="0"/>
                        </a:rPr>
                        <a:t>View and modify AD DS permissions</a:t>
                      </a:r>
                      <a:endParaRPr lang="en-CA" sz="1000" dirty="0" smtClean="0">
                        <a:solidFill>
                          <a:prstClr val="black"/>
                        </a:solidFill>
                        <a:latin typeface="Arial" panose="020B0604020202020204" pitchFamily="34" charset="0"/>
                        <a:ea typeface="Calibri"/>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Command line</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Notes Placeholder 7"/>
          <p:cNvSpPr>
            <a:spLocks noGrp="1"/>
          </p:cNvSpPr>
          <p:nvPr>
            <p:ph type="body" sz="quarter" idx="11"/>
          </p:nvPr>
        </p:nvSpPr>
        <p:spPr>
          <a:xfrm>
            <a:off x="260648" y="2483768"/>
            <a:ext cx="6153912" cy="504056"/>
          </a:xfrm>
        </p:spPr>
        <p:txBody>
          <a:bodyPr/>
          <a:lstStyle/>
          <a:p>
            <a:r>
              <a:rPr lang="en-CA" sz="1000" b="1" dirty="0" smtClean="0">
                <a:latin typeface="Arial" panose="020B0604020202020204" pitchFamily="34" charset="0"/>
                <a:cs typeface="Arial" panose="020B0604020202020204" pitchFamily="34" charset="0"/>
              </a:rPr>
              <a:t>Tools</a:t>
            </a:r>
            <a:endParaRPr lang="en-CA" sz="1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566192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924801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emf"/><Relationship Id="rId4" Type="http://schemas.openxmlformats.org/officeDocument/2006/relationships/image" Target="../media/image10.png"/><Relationship Id="rId9"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8282158b-a467-48c3-a458-bf9ba407e5a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3</a:t>
            </a:r>
            <a:endParaRPr lang="en-CA" sz="2600" dirty="0"/>
          </a:p>
        </p:txBody>
      </p:sp>
      <p:sp>
        <p:nvSpPr>
          <p:cNvPr id="3" name="Subtitle 2"/>
          <p:cNvSpPr>
            <a:spLocks noGrp="1"/>
          </p:cNvSpPr>
          <p:nvPr>
            <p:ph type="subTitle" sz="quarter" idx="1"/>
          </p:nvPr>
        </p:nvSpPr>
        <p:spPr/>
        <p:txBody>
          <a:bodyPr/>
          <a:lstStyle/>
          <a:p>
            <a:r>
              <a:rPr lang="en-CA" dirty="0" smtClean="0"/>
              <a:t>Managing Active Directory Domain Services Objects
</a:t>
            </a:r>
            <a:endParaRPr lang="en-CA" dirty="0"/>
          </a:p>
        </p:txBody>
      </p:sp>
    </p:spTree>
    <p:extLst>
      <p:ext uri="{BB962C8B-B14F-4D97-AF65-F5344CB8AC3E}">
        <p14:creationId xmlns:p14="http://schemas.microsoft.com/office/powerpoint/2010/main" val="2639963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550d516f-784e-4b6e-b5f6-29f36230919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Managing User Accounts
Managing Groups
Managing Computer Accounts
Delegating Administration</a:t>
            </a:r>
            <a:endParaRPr lang="en-CA" dirty="0"/>
          </a:p>
        </p:txBody>
      </p:sp>
    </p:spTree>
    <p:extLst>
      <p:ext uri="{BB962C8B-B14F-4D97-AF65-F5344CB8AC3E}">
        <p14:creationId xmlns:p14="http://schemas.microsoft.com/office/powerpoint/2010/main" val="453908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b753524-d5f4-4e10-926e-c3c1088170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Managing User Accounts</a:t>
            </a:r>
            <a:endParaRPr lang="en-CA" dirty="0"/>
          </a:p>
        </p:txBody>
      </p:sp>
      <p:sp>
        <p:nvSpPr>
          <p:cNvPr id="3" name="Text Placeholder 2"/>
          <p:cNvSpPr>
            <a:spLocks noGrp="1"/>
          </p:cNvSpPr>
          <p:nvPr>
            <p:ph type="body" idx="1"/>
          </p:nvPr>
        </p:nvSpPr>
        <p:spPr/>
        <p:txBody>
          <a:bodyPr/>
          <a:lstStyle/>
          <a:p>
            <a:r>
              <a:rPr lang="en-CA" dirty="0" smtClean="0"/>
              <a:t>AD DS Administration Tools
Creating User Accounts
Configuring User Account Attributes
Creating User Profiles
Demonstration: Managing User Accounts
Demonstration: Using Templates to Manage User Accounts</a:t>
            </a:r>
            <a:endParaRPr lang="en-CA" dirty="0"/>
          </a:p>
        </p:txBody>
      </p:sp>
    </p:spTree>
    <p:extLst>
      <p:ext uri="{BB962C8B-B14F-4D97-AF65-F5344CB8AC3E}">
        <p14:creationId xmlns:p14="http://schemas.microsoft.com/office/powerpoint/2010/main" val="1009414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56939ee9-cb7a-40fe-927f-a4e60bd476e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Outils d’administration AD DS </a:t>
            </a:r>
            <a:endParaRPr lang="fr-FR" dirty="0"/>
          </a:p>
        </p:txBody>
      </p:sp>
      <p:sp>
        <p:nvSpPr>
          <p:cNvPr id="4" name="Rounded Rectangle 3"/>
          <p:cNvSpPr>
            <a:spLocks noChangeArrowheads="1"/>
          </p:cNvSpPr>
          <p:nvPr/>
        </p:nvSpPr>
        <p:spPr bwMode="auto">
          <a:xfrm>
            <a:off x="311562" y="942975"/>
            <a:ext cx="6982792" cy="5407025"/>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fr-BE" sz="2800" b="0" dirty="0" smtClean="0">
                <a:latin typeface="Segoe UI" pitchFamily="34" charset="0"/>
                <a:ea typeface="Segoe UI" pitchFamily="34" charset="0"/>
                <a:cs typeface="Segoe UI" pitchFamily="34" charset="0"/>
              </a:rPr>
              <a:t>Pour gérer les objets AD DS, on peut utiliser les outils graphiques suivants :</a:t>
            </a:r>
          </a:p>
          <a:p>
            <a:pPr marL="228600" indent="-228600">
              <a:lnSpc>
                <a:spcPct val="90000"/>
              </a:lnSpc>
              <a:spcBef>
                <a:spcPct val="40000"/>
              </a:spcBef>
              <a:buClr>
                <a:srgbClr val="006699"/>
              </a:buClr>
              <a:buFontTx/>
              <a:buChar char="•"/>
            </a:pPr>
            <a:r>
              <a:rPr lang="fr-BE" sz="2400" b="0" dirty="0" smtClean="0">
                <a:latin typeface="Segoe UI" pitchFamily="34" charset="0"/>
                <a:ea typeface="Segoe UI" pitchFamily="34" charset="0"/>
                <a:cs typeface="Segoe UI" pitchFamily="34" charset="0"/>
              </a:rPr>
              <a:t>Active Directory Administration </a:t>
            </a:r>
            <a:r>
              <a:rPr lang="fr-BE" sz="2400" b="0" dirty="0" err="1" smtClean="0">
                <a:latin typeface="Segoe UI" pitchFamily="34" charset="0"/>
                <a:ea typeface="Segoe UI" pitchFamily="34" charset="0"/>
                <a:cs typeface="Segoe UI" pitchFamily="34" charset="0"/>
              </a:rPr>
              <a:t>snap</a:t>
            </a:r>
            <a:r>
              <a:rPr lang="fr-BE" sz="2400" b="0" dirty="0" smtClean="0">
                <a:latin typeface="Segoe UI" pitchFamily="34" charset="0"/>
                <a:ea typeface="Segoe UI" pitchFamily="34" charset="0"/>
                <a:cs typeface="Segoe UI" pitchFamily="34" charset="0"/>
              </a:rPr>
              <a:t>-</a:t>
            </a:r>
            <a:r>
              <a:rPr lang="fr-BE" sz="2400" b="0" dirty="0" err="1" smtClean="0">
                <a:latin typeface="Segoe UI" pitchFamily="34" charset="0"/>
                <a:ea typeface="Segoe UI" pitchFamily="34" charset="0"/>
                <a:cs typeface="Segoe UI" pitchFamily="34" charset="0"/>
              </a:rPr>
              <a:t>ins</a:t>
            </a:r>
            <a:endParaRPr lang="fr-BE" sz="2400" b="0" dirty="0" smtClean="0">
              <a:latin typeface="Segoe UI" pitchFamily="34" charset="0"/>
              <a:ea typeface="Segoe UI" pitchFamily="34" charset="0"/>
              <a:cs typeface="Segoe UI" pitchFamily="34" charset="0"/>
            </a:endParaRPr>
          </a:p>
          <a:p>
            <a:pPr marL="228600" indent="-228600">
              <a:lnSpc>
                <a:spcPct val="90000"/>
              </a:lnSpc>
              <a:spcBef>
                <a:spcPct val="40000"/>
              </a:spcBef>
              <a:buClr>
                <a:srgbClr val="006699"/>
              </a:buClr>
              <a:buFontTx/>
              <a:buChar char="•"/>
            </a:pPr>
            <a:r>
              <a:rPr lang="fr-BE" sz="2400" b="0" dirty="0" smtClean="0">
                <a:latin typeface="Segoe UI" pitchFamily="34" charset="0"/>
                <a:ea typeface="Segoe UI" pitchFamily="34" charset="0"/>
                <a:cs typeface="Segoe UI" pitchFamily="34" charset="0"/>
              </a:rPr>
              <a:t>Active Directory Administrative Center</a:t>
            </a:r>
          </a:p>
          <a:p>
            <a:pPr algn="l"/>
            <a:endParaRPr lang="fr-BE" sz="2800" b="0" dirty="0" smtClean="0">
              <a:latin typeface="Segoe UI" pitchFamily="34" charset="0"/>
              <a:ea typeface="Segoe UI" pitchFamily="34" charset="0"/>
              <a:cs typeface="Segoe UI" pitchFamily="34" charset="0"/>
            </a:endParaRPr>
          </a:p>
          <a:p>
            <a:r>
              <a:rPr lang="fr-BE" sz="2800" b="0" dirty="0" smtClean="0">
                <a:latin typeface="Segoe UI" pitchFamily="34" charset="0"/>
                <a:ea typeface="Segoe UI" pitchFamily="34" charset="0"/>
                <a:cs typeface="Segoe UI" pitchFamily="34" charset="0"/>
              </a:rPr>
              <a:t>Ou alors les outils en lignes de commande suivants :</a:t>
            </a:r>
          </a:p>
          <a:p>
            <a:pPr marL="228600" indent="-228600">
              <a:lnSpc>
                <a:spcPct val="90000"/>
              </a:lnSpc>
              <a:spcBef>
                <a:spcPct val="40000"/>
              </a:spcBef>
              <a:buClr>
                <a:srgbClr val="006699"/>
              </a:buClr>
              <a:buFontTx/>
              <a:buChar char="•"/>
            </a:pPr>
            <a:r>
              <a:rPr lang="fr-BE" sz="2400" b="0" dirty="0" smtClean="0">
                <a:latin typeface="Segoe UI" pitchFamily="34" charset="0"/>
                <a:ea typeface="Segoe UI" pitchFamily="34" charset="0"/>
                <a:cs typeface="Segoe UI" pitchFamily="34" charset="0"/>
              </a:rPr>
              <a:t>Active Directory module in Windows </a:t>
            </a:r>
            <a:r>
              <a:rPr lang="fr-BE" sz="2400" b="0" dirty="0" err="1" smtClean="0">
                <a:latin typeface="Segoe UI" pitchFamily="34" charset="0"/>
                <a:ea typeface="Segoe UI" pitchFamily="34" charset="0"/>
                <a:cs typeface="Segoe UI" pitchFamily="34" charset="0"/>
              </a:rPr>
              <a:t>PowerShell</a:t>
            </a:r>
            <a:endParaRPr lang="fr-BE" sz="2400" b="0" dirty="0" smtClean="0">
              <a:latin typeface="Segoe UI" pitchFamily="34" charset="0"/>
              <a:ea typeface="Segoe UI" pitchFamily="34" charset="0"/>
              <a:cs typeface="Segoe UI" pitchFamily="34" charset="0"/>
            </a:endParaRPr>
          </a:p>
          <a:p>
            <a:pPr marL="228600" indent="-228600">
              <a:lnSpc>
                <a:spcPct val="90000"/>
              </a:lnSpc>
              <a:spcBef>
                <a:spcPct val="40000"/>
              </a:spcBef>
              <a:buClr>
                <a:srgbClr val="006699"/>
              </a:buClr>
              <a:buFontTx/>
              <a:buChar char="•"/>
            </a:pPr>
            <a:r>
              <a:rPr lang="fr-BE" sz="2400" b="0" dirty="0" smtClean="0">
                <a:latin typeface="Segoe UI" pitchFamily="34" charset="0"/>
                <a:ea typeface="Segoe UI" pitchFamily="34" charset="0"/>
                <a:cs typeface="Segoe UI" pitchFamily="34" charset="0"/>
              </a:rPr>
              <a:t>Directory Service </a:t>
            </a:r>
            <a:r>
              <a:rPr lang="fr-BE" sz="2400" b="0" dirty="0" err="1" smtClean="0">
                <a:latin typeface="Segoe UI" pitchFamily="34" charset="0"/>
                <a:ea typeface="Segoe UI" pitchFamily="34" charset="0"/>
                <a:cs typeface="Segoe UI" pitchFamily="34" charset="0"/>
              </a:rPr>
              <a:t>commands</a:t>
            </a:r>
            <a:endParaRPr lang="fr-BE" sz="2400" b="0" dirty="0" smtClean="0">
              <a:latin typeface="Segoe UI" pitchFamily="34" charset="0"/>
              <a:ea typeface="Segoe UI" pitchFamily="34" charset="0"/>
              <a:cs typeface="Segoe UI" pitchFamily="34" charset="0"/>
            </a:endParaRPr>
          </a:p>
          <a:p>
            <a:endParaRPr lang="fr-BE" sz="2200" dirty="0" smtClean="0">
              <a:latin typeface="Segoe" pitchFamily="34" charset="0"/>
            </a:endParaRPr>
          </a:p>
          <a:p>
            <a:pPr algn="l"/>
            <a:endParaRPr lang="fr-BE" sz="2200" dirty="0">
              <a:latin typeface="Segoe" pitchFamily="34" charset="0"/>
            </a:endParaRPr>
          </a:p>
        </p:txBody>
      </p:sp>
      <p:grpSp>
        <p:nvGrpSpPr>
          <p:cNvPr id="5" name="Group 4"/>
          <p:cNvGrpSpPr/>
          <p:nvPr/>
        </p:nvGrpSpPr>
        <p:grpSpPr>
          <a:xfrm>
            <a:off x="7201999" y="1603375"/>
            <a:ext cx="1417547" cy="1553914"/>
            <a:chOff x="6281696" y="942975"/>
            <a:chExt cx="2608873" cy="2641008"/>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5393" y="942975"/>
              <a:ext cx="1877413" cy="1938368"/>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81696" y="2419743"/>
              <a:ext cx="2608873" cy="1164240"/>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87339" y="1146897"/>
              <a:ext cx="1431316" cy="1349991"/>
            </a:xfrm>
            <a:prstGeom prst="rect">
              <a:avLst/>
            </a:prstGeom>
          </p:spPr>
        </p:pic>
      </p:grpSp>
      <p:grpSp>
        <p:nvGrpSpPr>
          <p:cNvPr id="9" name="Group 8"/>
          <p:cNvGrpSpPr/>
          <p:nvPr/>
        </p:nvGrpSpPr>
        <p:grpSpPr>
          <a:xfrm>
            <a:off x="7046743" y="4077098"/>
            <a:ext cx="1370721" cy="1415225"/>
            <a:chOff x="6706382" y="4055809"/>
            <a:chExt cx="1370721" cy="1415225"/>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6382" y="4055809"/>
              <a:ext cx="1370721" cy="1415225"/>
            </a:xfrm>
            <a:prstGeom prst="rect">
              <a:avLst/>
            </a:prstGeom>
          </p:spPr>
        </p:pic>
        <p:sp>
          <p:nvSpPr>
            <p:cNvPr id="11" name="TextBox 14"/>
            <p:cNvSpPr txBox="1"/>
            <p:nvPr/>
          </p:nvSpPr>
          <p:spPr>
            <a:xfrm>
              <a:off x="6953993" y="4442549"/>
              <a:ext cx="824878"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400" dirty="0" smtClean="0"/>
                <a:t>C:/</a:t>
              </a:r>
              <a:endParaRPr lang="en-CA" sz="2400" dirty="0"/>
            </a:p>
          </p:txBody>
        </p:sp>
      </p:grpSp>
    </p:spTree>
    <p:extLst>
      <p:ext uri="{BB962C8B-B14F-4D97-AF65-F5344CB8AC3E}">
        <p14:creationId xmlns:p14="http://schemas.microsoft.com/office/powerpoint/2010/main" val="1782291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17ca41f9-d6ac-477a-b02f-4c462792a85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Création d’un compte utilisateur</a:t>
            </a:r>
            <a:endParaRPr lang="fr-FR" dirty="0"/>
          </a:p>
        </p:txBody>
      </p:sp>
      <p:grpSp>
        <p:nvGrpSpPr>
          <p:cNvPr id="4" name="alt text here, screen image" descr="Screen shot from the Active Directory Administrative Center that depicts the Create User dialog box."/>
          <p:cNvGrpSpPr/>
          <p:nvPr/>
        </p:nvGrpSpPr>
        <p:grpSpPr>
          <a:xfrm>
            <a:off x="381000" y="2124596"/>
            <a:ext cx="8223448" cy="3885601"/>
            <a:chOff x="381000" y="2124596"/>
            <a:chExt cx="8223448" cy="3885601"/>
          </a:xfrm>
        </p:grpSpPr>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66" r="57337"/>
            <a:stretch/>
          </p:blipFill>
          <p:spPr bwMode="auto">
            <a:xfrm>
              <a:off x="381000" y="2124597"/>
              <a:ext cx="3756947" cy="3816423"/>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52722" r="901"/>
            <a:stretch/>
          </p:blipFill>
          <p:spPr bwMode="auto">
            <a:xfrm>
              <a:off x="4536295" y="2124597"/>
              <a:ext cx="4068153" cy="3816423"/>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46463" r="48996"/>
            <a:stretch/>
          </p:blipFill>
          <p:spPr bwMode="auto">
            <a:xfrm>
              <a:off x="4137947" y="2124596"/>
              <a:ext cx="398349" cy="3816423"/>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8" name="Rectangle 7"/>
            <p:cNvSpPr/>
            <p:nvPr/>
          </p:nvSpPr>
          <p:spPr bwMode="auto">
            <a:xfrm>
              <a:off x="381000" y="2124596"/>
              <a:ext cx="8223448" cy="3885601"/>
            </a:xfrm>
            <a:prstGeom prst="rect">
              <a:avLst/>
            </a:prstGeom>
            <a:noFill/>
            <a:ln w="28575">
              <a:solidFill>
                <a:schemeClr val="bg1">
                  <a:lumMod val="8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w="28575">
                  <a:solidFill>
                    <a:schemeClr val="tx1"/>
                  </a:solidFill>
                </a:ln>
                <a:solidFill>
                  <a:schemeClr val="tx1"/>
                </a:solidFill>
                <a:effectLst/>
                <a:latin typeface="Verdana" pitchFamily="34" charset="0"/>
              </a:endParaRPr>
            </a:p>
          </p:txBody>
        </p:sp>
      </p:grpSp>
      <p:sp>
        <p:nvSpPr>
          <p:cNvPr id="9" name="text box"/>
          <p:cNvSpPr/>
          <p:nvPr/>
        </p:nvSpPr>
        <p:spPr>
          <a:xfrm>
            <a:off x="357158" y="1048392"/>
            <a:ext cx="8429683" cy="523220"/>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800" b="0" dirty="0" smtClean="0">
                <a:latin typeface="Segoe UI" panose="020B0502040204020203" pitchFamily="34" charset="0"/>
                <a:ea typeface="Segoe UI" panose="020B0502040204020203" pitchFamily="34" charset="0"/>
                <a:cs typeface="Segoe UI" panose="020B0502040204020203" pitchFamily="34" charset="0"/>
              </a:rPr>
              <a:t>En utilisant : Active Directory Administrative Center</a:t>
            </a:r>
            <a:endParaRPr lang="fr-FR" sz="2800" b="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0323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Création d’un compte utilisateur</a:t>
            </a:r>
            <a:endParaRPr lang="fr-FR" dirty="0"/>
          </a:p>
        </p:txBody>
      </p:sp>
      <p:sp>
        <p:nvSpPr>
          <p:cNvPr id="9" name="text box"/>
          <p:cNvSpPr/>
          <p:nvPr/>
        </p:nvSpPr>
        <p:spPr>
          <a:xfrm>
            <a:off x="357158" y="1048392"/>
            <a:ext cx="8429683" cy="523220"/>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800" b="0" dirty="0" smtClean="0">
                <a:latin typeface="Segoe UI" panose="020B0502040204020203" pitchFamily="34" charset="0"/>
                <a:ea typeface="Segoe UI" panose="020B0502040204020203" pitchFamily="34" charset="0"/>
                <a:cs typeface="Segoe UI" panose="020B0502040204020203" pitchFamily="34" charset="0"/>
              </a:rPr>
              <a:t>En utilisant : Active Directory </a:t>
            </a:r>
            <a:r>
              <a:rPr lang="fr-FR" sz="2800" b="0" dirty="0" err="1" smtClean="0">
                <a:latin typeface="Segoe UI" panose="020B0502040204020203" pitchFamily="34" charset="0"/>
                <a:ea typeface="Segoe UI" panose="020B0502040204020203" pitchFamily="34" charset="0"/>
                <a:cs typeface="Segoe UI" panose="020B0502040204020203" pitchFamily="34" charset="0"/>
              </a:rPr>
              <a:t>Users</a:t>
            </a:r>
            <a:r>
              <a:rPr lang="fr-FR" sz="2800" b="0" dirty="0" smtClean="0">
                <a:latin typeface="Segoe UI" panose="020B0502040204020203" pitchFamily="34" charset="0"/>
                <a:ea typeface="Segoe UI" panose="020B0502040204020203" pitchFamily="34" charset="0"/>
                <a:cs typeface="Segoe UI" panose="020B0502040204020203" pitchFamily="34" charset="0"/>
              </a:rPr>
              <a:t> and Computers</a:t>
            </a:r>
            <a:endParaRPr lang="fr-FR" sz="2800" b="0" dirty="0">
              <a:latin typeface="Segoe UI" panose="020B0502040204020203" pitchFamily="34" charset="0"/>
              <a:ea typeface="Segoe UI" panose="020B0502040204020203" pitchFamily="34" charset="0"/>
              <a:cs typeface="Segoe UI" panose="020B0502040204020203" pitchFamily="34" charset="0"/>
            </a:endParaRPr>
          </a:p>
        </p:txBody>
      </p:sp>
      <p:pic>
        <p:nvPicPr>
          <p:cNvPr id="2051" name="Picture 3" descr="D:\Téléchargements\image.png"/>
          <p:cNvPicPr>
            <a:picLocks noChangeAspect="1" noChangeArrowheads="1"/>
          </p:cNvPicPr>
          <p:nvPr/>
        </p:nvPicPr>
        <p:blipFill>
          <a:blip r:embed="rId3"/>
          <a:srcRect/>
          <a:stretch>
            <a:fillRect/>
          </a:stretch>
        </p:blipFill>
        <p:spPr bwMode="auto">
          <a:xfrm>
            <a:off x="2428860" y="2214554"/>
            <a:ext cx="4147202" cy="3540294"/>
          </a:xfrm>
          <a:prstGeom prst="rect">
            <a:avLst/>
          </a:prstGeom>
          <a:noFill/>
        </p:spPr>
      </p:pic>
    </p:spTree>
    <p:extLst>
      <p:ext uri="{BB962C8B-B14F-4D97-AF65-F5344CB8AC3E}">
        <p14:creationId xmlns:p14="http://schemas.microsoft.com/office/powerpoint/2010/main" val="2003233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Création d’un compte utilisateur</a:t>
            </a:r>
            <a:endParaRPr lang="fr-FR" dirty="0"/>
          </a:p>
        </p:txBody>
      </p:sp>
      <p:sp>
        <p:nvSpPr>
          <p:cNvPr id="9" name="text box"/>
          <p:cNvSpPr/>
          <p:nvPr/>
        </p:nvSpPr>
        <p:spPr>
          <a:xfrm>
            <a:off x="357158" y="1048392"/>
            <a:ext cx="8429683" cy="6924973"/>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800" b="0" dirty="0" smtClean="0">
                <a:latin typeface="Segoe UI" panose="020B0502040204020203" pitchFamily="34" charset="0"/>
                <a:ea typeface="Segoe UI" panose="020B0502040204020203" pitchFamily="34" charset="0"/>
                <a:cs typeface="Segoe UI" panose="020B0502040204020203" pitchFamily="34" charset="0"/>
              </a:rPr>
              <a:t>En utilisant : Windows </a:t>
            </a:r>
            <a:r>
              <a:rPr lang="fr-FR" sz="2800" b="0" dirty="0" err="1" smtClean="0">
                <a:latin typeface="Segoe UI" panose="020B0502040204020203" pitchFamily="34" charset="0"/>
                <a:ea typeface="Segoe UI" panose="020B0502040204020203" pitchFamily="34" charset="0"/>
                <a:cs typeface="Segoe UI" panose="020B0502040204020203" pitchFamily="34" charset="0"/>
              </a:rPr>
              <a:t>PowerShell</a:t>
            </a: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r>
              <a:rPr lang="fr-FR" sz="2400" b="0" dirty="0" smtClean="0">
                <a:latin typeface="Courier New" pitchFamily="49" charset="0"/>
                <a:ea typeface="Segoe UI" panose="020B0502040204020203" pitchFamily="34" charset="0"/>
                <a:cs typeface="Courier New" pitchFamily="49" charset="0"/>
              </a:rPr>
              <a:t>New-</a:t>
            </a:r>
            <a:r>
              <a:rPr lang="fr-FR" sz="2400" b="0" dirty="0" err="1" smtClean="0">
                <a:latin typeface="Courier New" pitchFamily="49" charset="0"/>
                <a:ea typeface="Segoe UI" panose="020B0502040204020203" pitchFamily="34" charset="0"/>
                <a:cs typeface="Courier New" pitchFamily="49" charset="0"/>
              </a:rPr>
              <a:t>ADUser</a:t>
            </a:r>
            <a:r>
              <a:rPr lang="fr-FR" sz="2400" b="0" dirty="0" smtClean="0">
                <a:latin typeface="Courier New" pitchFamily="49" charset="0"/>
                <a:ea typeface="Segoe UI" panose="020B0502040204020203" pitchFamily="34" charset="0"/>
                <a:cs typeface="Courier New" pitchFamily="49" charset="0"/>
              </a:rPr>
              <a:t> -Name "Dan Park" -</a:t>
            </a:r>
            <a:r>
              <a:rPr lang="fr-FR" sz="2400" b="0" dirty="0" err="1" smtClean="0">
                <a:latin typeface="Courier New" pitchFamily="49" charset="0"/>
                <a:ea typeface="Segoe UI" panose="020B0502040204020203" pitchFamily="34" charset="0"/>
                <a:cs typeface="Courier New" pitchFamily="49" charset="0"/>
              </a:rPr>
              <a:t>SamAccountName</a:t>
            </a:r>
            <a:r>
              <a:rPr lang="fr-FR" sz="2400" b="0" dirty="0" smtClean="0">
                <a:latin typeface="Courier New" pitchFamily="49" charset="0"/>
                <a:ea typeface="Segoe UI" panose="020B0502040204020203" pitchFamily="34" charset="0"/>
                <a:cs typeface="Courier New" pitchFamily="49" charset="0"/>
              </a:rPr>
              <a:t> "Dan" -</a:t>
            </a:r>
            <a:r>
              <a:rPr lang="fr-FR" sz="2400" b="0" dirty="0" err="1" smtClean="0">
                <a:latin typeface="Courier New" pitchFamily="49" charset="0"/>
                <a:ea typeface="Segoe UI" panose="020B0502040204020203" pitchFamily="34" charset="0"/>
                <a:cs typeface="Courier New" pitchFamily="49" charset="0"/>
              </a:rPr>
              <a:t>Path</a:t>
            </a:r>
            <a:r>
              <a:rPr lang="fr-FR" sz="2400" b="0" dirty="0" smtClean="0">
                <a:latin typeface="Courier New" pitchFamily="49" charset="0"/>
                <a:ea typeface="Segoe UI" panose="020B0502040204020203" pitchFamily="34" charset="0"/>
                <a:cs typeface="Courier New" pitchFamily="49" charset="0"/>
              </a:rPr>
              <a:t> "OU=</a:t>
            </a:r>
            <a:r>
              <a:rPr lang="fr-FR" sz="2400" b="0" dirty="0" err="1" smtClean="0">
                <a:latin typeface="Courier New" pitchFamily="49" charset="0"/>
                <a:ea typeface="Segoe UI" panose="020B0502040204020203" pitchFamily="34" charset="0"/>
                <a:cs typeface="Courier New" pitchFamily="49" charset="0"/>
              </a:rPr>
              <a:t>Sales,DC</a:t>
            </a: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Adatum,DC</a:t>
            </a: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com</a:t>
            </a:r>
            <a:r>
              <a:rPr lang="fr-FR" sz="2400" b="0" dirty="0" smtClean="0">
                <a:latin typeface="Courier New" pitchFamily="49" charset="0"/>
                <a:ea typeface="Segoe UI" panose="020B0502040204020203" pitchFamily="34" charset="0"/>
                <a:cs typeface="Courier New" pitchFamily="49" charset="0"/>
              </a:rPr>
              <a:t>"</a:t>
            </a:r>
          </a:p>
          <a:p>
            <a:pPr algn="ct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AccountPassword</a:t>
            </a:r>
            <a:r>
              <a:rPr lang="fr-FR" sz="2400" b="0" dirty="0" smtClean="0">
                <a:latin typeface="Courier New" pitchFamily="49" charset="0"/>
                <a:ea typeface="Segoe UI" panose="020B0502040204020203" pitchFamily="34" charset="0"/>
                <a:cs typeface="Courier New" pitchFamily="49" charset="0"/>
              </a:rPr>
              <a:t> (</a:t>
            </a:r>
            <a:r>
              <a:rPr lang="fr-FR" sz="2400" b="0" dirty="0" err="1" smtClean="0">
                <a:latin typeface="Courier New" pitchFamily="49" charset="0"/>
                <a:ea typeface="Segoe UI" panose="020B0502040204020203" pitchFamily="34" charset="0"/>
                <a:cs typeface="Courier New" pitchFamily="49" charset="0"/>
              </a:rPr>
              <a:t>ConvertTo</a:t>
            </a: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SecureString</a:t>
            </a:r>
            <a:r>
              <a:rPr lang="fr-FR" sz="2400" b="0" dirty="0" smtClean="0">
                <a:latin typeface="Courier New" pitchFamily="49" charset="0"/>
                <a:ea typeface="Segoe UI" panose="020B0502040204020203" pitchFamily="34" charset="0"/>
                <a:cs typeface="Courier New" pitchFamily="49" charset="0"/>
              </a:rPr>
              <a:t> -</a:t>
            </a:r>
            <a:r>
              <a:rPr lang="fr-FR" sz="2400" b="0" dirty="0" err="1" smtClean="0">
                <a:latin typeface="Courier New" pitchFamily="49" charset="0"/>
                <a:ea typeface="Segoe UI" panose="020B0502040204020203" pitchFamily="34" charset="0"/>
                <a:cs typeface="Courier New" pitchFamily="49" charset="0"/>
              </a:rPr>
              <a:t>AsPlaintext</a:t>
            </a:r>
            <a:r>
              <a:rPr lang="fr-FR" sz="2400" b="0" dirty="0" smtClean="0">
                <a:latin typeface="Courier New" pitchFamily="49" charset="0"/>
                <a:ea typeface="Segoe UI" panose="020B0502040204020203" pitchFamily="34" charset="0"/>
                <a:cs typeface="Courier New" pitchFamily="49" charset="0"/>
              </a:rPr>
              <a:t> "Pa$$w0rd" -Force)</a:t>
            </a:r>
          </a:p>
          <a:p>
            <a:pPr algn="ct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GivenName</a:t>
            </a:r>
            <a:r>
              <a:rPr lang="fr-FR" sz="2400" b="0" dirty="0" smtClean="0">
                <a:latin typeface="Courier New" pitchFamily="49" charset="0"/>
                <a:ea typeface="Segoe UI" panose="020B0502040204020203" pitchFamily="34" charset="0"/>
                <a:cs typeface="Courier New" pitchFamily="49" charset="0"/>
              </a:rPr>
              <a:t> "Dan" -</a:t>
            </a:r>
            <a:r>
              <a:rPr lang="fr-FR" sz="2400" b="0" dirty="0" err="1" smtClean="0">
                <a:latin typeface="Courier New" pitchFamily="49" charset="0"/>
                <a:ea typeface="Segoe UI" panose="020B0502040204020203" pitchFamily="34" charset="0"/>
                <a:cs typeface="Courier New" pitchFamily="49" charset="0"/>
              </a:rPr>
              <a:t>Surname</a:t>
            </a:r>
            <a:r>
              <a:rPr lang="fr-FR" sz="2400" b="0" dirty="0" smtClean="0">
                <a:latin typeface="Courier New" pitchFamily="49" charset="0"/>
                <a:ea typeface="Segoe UI" panose="020B0502040204020203" pitchFamily="34" charset="0"/>
                <a:cs typeface="Courier New" pitchFamily="49" charset="0"/>
              </a:rPr>
              <a:t> "Park" -</a:t>
            </a:r>
            <a:r>
              <a:rPr lang="fr-FR" sz="2400" b="0" dirty="0" err="1" smtClean="0">
                <a:latin typeface="Courier New" pitchFamily="49" charset="0"/>
                <a:ea typeface="Segoe UI" panose="020B0502040204020203" pitchFamily="34" charset="0"/>
                <a:cs typeface="Courier New" pitchFamily="49" charset="0"/>
              </a:rPr>
              <a:t>DisplayName</a:t>
            </a:r>
            <a:r>
              <a:rPr lang="fr-FR" sz="2400" b="0" dirty="0" smtClean="0">
                <a:latin typeface="Courier New" pitchFamily="49" charset="0"/>
                <a:ea typeface="Segoe UI" panose="020B0502040204020203" pitchFamily="34" charset="0"/>
                <a:cs typeface="Courier New" pitchFamily="49" charset="0"/>
              </a:rPr>
              <a:t> "Dan Park" -</a:t>
            </a:r>
            <a:r>
              <a:rPr lang="fr-FR" sz="2400" b="0" dirty="0" err="1" smtClean="0">
                <a:latin typeface="Courier New" pitchFamily="49" charset="0"/>
                <a:ea typeface="Segoe UI" panose="020B0502040204020203" pitchFamily="34" charset="0"/>
                <a:cs typeface="Courier New" pitchFamily="49" charset="0"/>
              </a:rPr>
              <a:t>Enabled</a:t>
            </a:r>
            <a:r>
              <a:rPr lang="fr-FR" sz="2400" b="0" dirty="0" smtClean="0">
                <a:latin typeface="Courier New" pitchFamily="49" charset="0"/>
                <a:ea typeface="Segoe UI" panose="020B0502040204020203" pitchFamily="34" charset="0"/>
                <a:cs typeface="Courier New" pitchFamily="49" charset="0"/>
              </a:rPr>
              <a:t> $</a:t>
            </a:r>
            <a:r>
              <a:rPr lang="fr-FR" sz="2400" b="0" dirty="0" err="1" smtClean="0">
                <a:latin typeface="Courier New" pitchFamily="49" charset="0"/>
                <a:ea typeface="Segoe UI" panose="020B0502040204020203" pitchFamily="34" charset="0"/>
                <a:cs typeface="Courier New" pitchFamily="49" charset="0"/>
              </a:rPr>
              <a:t>True</a:t>
            </a:r>
            <a:endParaRPr lang="fr-FR" sz="2400" b="0" dirty="0" smtClean="0">
              <a:latin typeface="Courier New" pitchFamily="49" charset="0"/>
              <a:ea typeface="Segoe UI" panose="020B0502040204020203" pitchFamily="34" charset="0"/>
              <a:cs typeface="Courier New" pitchFamily="49" charset="0"/>
            </a:endParaRPr>
          </a:p>
          <a:p>
            <a:pPr algn="ct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UserPrincipalName</a:t>
            </a:r>
            <a:r>
              <a:rPr lang="fr-FR" sz="2400" b="0" dirty="0" smtClean="0">
                <a:latin typeface="Courier New" pitchFamily="49" charset="0"/>
                <a:ea typeface="Segoe UI" panose="020B0502040204020203" pitchFamily="34" charset="0"/>
                <a:cs typeface="Courier New" pitchFamily="49" charset="0"/>
              </a:rPr>
              <a:t> "Dan@Adatum.com" -</a:t>
            </a:r>
            <a:r>
              <a:rPr lang="fr-FR" sz="2400" b="0" dirty="0" err="1" smtClean="0">
                <a:latin typeface="Courier New" pitchFamily="49" charset="0"/>
                <a:ea typeface="Segoe UI" panose="020B0502040204020203" pitchFamily="34" charset="0"/>
                <a:cs typeface="Courier New" pitchFamily="49" charset="0"/>
              </a:rPr>
              <a:t>ChangePasswordAtLogon</a:t>
            </a:r>
            <a:r>
              <a:rPr lang="fr-FR" sz="2400" b="0" dirty="0" smtClean="0">
                <a:latin typeface="Courier New" pitchFamily="49" charset="0"/>
                <a:ea typeface="Segoe UI" panose="020B0502040204020203" pitchFamily="34" charset="0"/>
                <a:cs typeface="Courier New" pitchFamily="49" charset="0"/>
              </a:rPr>
              <a:t> $false</a:t>
            </a: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03233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Création d’un compte utilisateur</a:t>
            </a:r>
            <a:endParaRPr lang="fr-FR" dirty="0"/>
          </a:p>
        </p:txBody>
      </p:sp>
      <p:sp>
        <p:nvSpPr>
          <p:cNvPr id="9" name="text box"/>
          <p:cNvSpPr/>
          <p:nvPr/>
        </p:nvSpPr>
        <p:spPr>
          <a:xfrm>
            <a:off x="357158" y="1048392"/>
            <a:ext cx="8429683" cy="2862322"/>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800" b="0" dirty="0" smtClean="0">
                <a:latin typeface="Segoe UI" panose="020B0502040204020203" pitchFamily="34" charset="0"/>
                <a:ea typeface="Segoe UI" panose="020B0502040204020203" pitchFamily="34" charset="0"/>
                <a:cs typeface="Segoe UI" panose="020B0502040204020203" pitchFamily="34" charset="0"/>
              </a:rPr>
              <a:t>En utilisant : Directory Service </a:t>
            </a:r>
            <a:r>
              <a:rPr lang="fr-FR" sz="2800" b="0" dirty="0" err="1" smtClean="0">
                <a:latin typeface="Segoe UI" panose="020B0502040204020203" pitchFamily="34" charset="0"/>
                <a:ea typeface="Segoe UI" panose="020B0502040204020203" pitchFamily="34" charset="0"/>
                <a:cs typeface="Segoe UI" panose="020B0502040204020203" pitchFamily="34" charset="0"/>
              </a:rPr>
              <a:t>commands</a:t>
            </a:r>
            <a:r>
              <a:rPr lang="fr-FR" sz="2800" b="0" dirty="0" smtClean="0">
                <a:latin typeface="Segoe UI" panose="020B0502040204020203" pitchFamily="34" charset="0"/>
                <a:ea typeface="Segoe UI" panose="020B0502040204020203" pitchFamily="34" charset="0"/>
                <a:cs typeface="Segoe UI" panose="020B0502040204020203" pitchFamily="34" charset="0"/>
              </a:rPr>
              <a:t> (</a:t>
            </a:r>
            <a:r>
              <a:rPr lang="fr-FR" sz="2800" b="0" dirty="0" err="1" smtClean="0">
                <a:latin typeface="Segoe UI" panose="020B0502040204020203" pitchFamily="34" charset="0"/>
                <a:ea typeface="Segoe UI" panose="020B0502040204020203" pitchFamily="34" charset="0"/>
                <a:cs typeface="Segoe UI" panose="020B0502040204020203" pitchFamily="34" charset="0"/>
              </a:rPr>
              <a:t>dsadd</a:t>
            </a:r>
            <a:r>
              <a:rPr lang="fr-FR" sz="2800" b="0" dirty="0" smtClean="0">
                <a:latin typeface="Segoe UI" panose="020B0502040204020203" pitchFamily="34" charset="0"/>
                <a:ea typeface="Segoe UI" panose="020B0502040204020203" pitchFamily="34" charset="0"/>
                <a:cs typeface="Segoe UI" panose="020B0502040204020203" pitchFamily="34" charset="0"/>
              </a:rPr>
              <a:t>)</a:t>
            </a: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endParaRPr lang="fr-FR" sz="2800" b="0" dirty="0" smtClean="0">
              <a:latin typeface="Segoe UI" panose="020B0502040204020203" pitchFamily="34" charset="0"/>
              <a:ea typeface="Segoe UI" panose="020B0502040204020203" pitchFamily="34" charset="0"/>
              <a:cs typeface="Segoe UI" panose="020B0502040204020203" pitchFamily="34" charset="0"/>
            </a:endParaRPr>
          </a:p>
          <a:p>
            <a:pPr algn="ctr"/>
            <a:r>
              <a:rPr lang="fr-FR" sz="2400" b="0" dirty="0" err="1" smtClean="0">
                <a:latin typeface="Courier New" pitchFamily="49" charset="0"/>
                <a:ea typeface="Segoe UI" panose="020B0502040204020203" pitchFamily="34" charset="0"/>
                <a:cs typeface="Courier New" pitchFamily="49" charset="0"/>
              </a:rPr>
              <a:t>dsadd</a:t>
            </a:r>
            <a:r>
              <a:rPr lang="fr-FR" sz="2400" b="0" dirty="0" smtClean="0">
                <a:latin typeface="Courier New" pitchFamily="49" charset="0"/>
                <a:ea typeface="Segoe UI" panose="020B0502040204020203" pitchFamily="34" charset="0"/>
                <a:cs typeface="Courier New" pitchFamily="49" charset="0"/>
              </a:rPr>
              <a:t> user "</a:t>
            </a:r>
            <a:r>
              <a:rPr lang="fr-FR" sz="2400" b="0" dirty="0" err="1" smtClean="0">
                <a:latin typeface="Courier New" pitchFamily="49" charset="0"/>
                <a:ea typeface="Segoe UI" panose="020B0502040204020203" pitchFamily="34" charset="0"/>
                <a:cs typeface="Courier New" pitchFamily="49" charset="0"/>
              </a:rPr>
              <a:t>cn</a:t>
            </a:r>
            <a:r>
              <a:rPr lang="fr-FR" sz="2400" b="0" dirty="0" smtClean="0">
                <a:latin typeface="Courier New" pitchFamily="49" charset="0"/>
                <a:ea typeface="Segoe UI" panose="020B0502040204020203" pitchFamily="34" charset="0"/>
                <a:cs typeface="Courier New" pitchFamily="49" charset="0"/>
              </a:rPr>
              <a:t>=Joe </a:t>
            </a:r>
            <a:r>
              <a:rPr lang="fr-FR" sz="2400" b="0" dirty="0" err="1" smtClean="0">
                <a:latin typeface="Courier New" pitchFamily="49" charset="0"/>
                <a:ea typeface="Segoe UI" panose="020B0502040204020203" pitchFamily="34" charset="0"/>
                <a:cs typeface="Courier New" pitchFamily="49" charset="0"/>
              </a:rPr>
              <a:t>Healy,ou</a:t>
            </a: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Managers,dc</a:t>
            </a: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adatum,dc</a:t>
            </a: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com</a:t>
            </a:r>
            <a:r>
              <a:rPr lang="fr-FR" sz="2400" b="0" dirty="0" smtClean="0">
                <a:latin typeface="Courier New" pitchFamily="49" charset="0"/>
                <a:ea typeface="Segoe UI" panose="020B0502040204020203" pitchFamily="34" charset="0"/>
                <a:cs typeface="Courier New" pitchFamily="49" charset="0"/>
              </a:rPr>
              <a:t>" -</a:t>
            </a:r>
            <a:r>
              <a:rPr lang="fr-FR" sz="2400" b="0" dirty="0" err="1" smtClean="0">
                <a:latin typeface="Courier New" pitchFamily="49" charset="0"/>
                <a:ea typeface="Segoe UI" panose="020B0502040204020203" pitchFamily="34" charset="0"/>
                <a:cs typeface="Courier New" pitchFamily="49" charset="0"/>
              </a:rPr>
              <a:t>pwd</a:t>
            </a:r>
            <a:r>
              <a:rPr lang="fr-FR" sz="2400" b="0" dirty="0" smtClean="0">
                <a:latin typeface="Courier New" pitchFamily="49" charset="0"/>
                <a:ea typeface="Segoe UI" panose="020B0502040204020203" pitchFamily="34" charset="0"/>
                <a:cs typeface="Courier New" pitchFamily="49" charset="0"/>
              </a:rPr>
              <a:t> Pa$$w0rd -</a:t>
            </a:r>
            <a:r>
              <a:rPr lang="fr-FR" sz="2400" b="0" dirty="0" err="1" smtClean="0">
                <a:latin typeface="Courier New" pitchFamily="49" charset="0"/>
                <a:ea typeface="Segoe UI" panose="020B0502040204020203" pitchFamily="34" charset="0"/>
                <a:cs typeface="Courier New" pitchFamily="49" charset="0"/>
              </a:rPr>
              <a:t>disabled</a:t>
            </a:r>
            <a:r>
              <a:rPr lang="fr-FR" sz="2400" b="0" dirty="0" smtClean="0">
                <a:latin typeface="Courier New" pitchFamily="49" charset="0"/>
                <a:ea typeface="Segoe UI" panose="020B0502040204020203" pitchFamily="34" charset="0"/>
                <a:cs typeface="Courier New" pitchFamily="49" charset="0"/>
              </a:rPr>
              <a:t> no -</a:t>
            </a:r>
            <a:r>
              <a:rPr lang="fr-FR" sz="2400" b="0" dirty="0" err="1" smtClean="0">
                <a:latin typeface="Courier New" pitchFamily="49" charset="0"/>
                <a:ea typeface="Segoe UI" panose="020B0502040204020203" pitchFamily="34" charset="0"/>
                <a:cs typeface="Courier New" pitchFamily="49" charset="0"/>
              </a:rPr>
              <a:t>acctexpires</a:t>
            </a:r>
            <a:r>
              <a:rPr lang="fr-FR" sz="2400" b="0" dirty="0" smtClean="0">
                <a:latin typeface="Courier New" pitchFamily="49" charset="0"/>
                <a:ea typeface="Segoe UI" panose="020B0502040204020203" pitchFamily="34" charset="0"/>
                <a:cs typeface="Courier New" pitchFamily="49" charset="0"/>
              </a:rPr>
              <a:t> </a:t>
            </a:r>
            <a:r>
              <a:rPr lang="fr-FR" sz="2400" b="0" dirty="0" err="1" smtClean="0">
                <a:latin typeface="Courier New" pitchFamily="49" charset="0"/>
                <a:ea typeface="Segoe UI" panose="020B0502040204020203" pitchFamily="34" charset="0"/>
                <a:cs typeface="Courier New" pitchFamily="49" charset="0"/>
              </a:rPr>
              <a:t>never</a:t>
            </a:r>
            <a:r>
              <a:rPr lang="fr-FR" sz="2400" b="0" dirty="0" smtClean="0">
                <a:latin typeface="Courier New" pitchFamily="49" charset="0"/>
                <a:ea typeface="Segoe UI" panose="020B0502040204020203" pitchFamily="34" charset="0"/>
                <a:cs typeface="Courier New" pitchFamily="49" charset="0"/>
              </a:rPr>
              <a:t> </a:t>
            </a:r>
            <a:br>
              <a:rPr lang="fr-FR" sz="2400" b="0" dirty="0" smtClean="0">
                <a:latin typeface="Courier New" pitchFamily="49" charset="0"/>
                <a:ea typeface="Segoe UI" panose="020B0502040204020203" pitchFamily="34" charset="0"/>
                <a:cs typeface="Courier New" pitchFamily="49" charset="0"/>
              </a:rPr>
            </a:br>
            <a:r>
              <a:rPr lang="fr-FR" sz="2400" b="0" dirty="0" smtClean="0">
                <a:latin typeface="Courier New" pitchFamily="49" charset="0"/>
                <a:ea typeface="Segoe UI" panose="020B0502040204020203" pitchFamily="34" charset="0"/>
                <a:cs typeface="Courier New" pitchFamily="49" charset="0"/>
              </a:rPr>
              <a:t>-</a:t>
            </a:r>
            <a:r>
              <a:rPr lang="fr-FR" sz="2400" b="0" dirty="0" err="1" smtClean="0">
                <a:latin typeface="Courier New" pitchFamily="49" charset="0"/>
                <a:ea typeface="Segoe UI" panose="020B0502040204020203" pitchFamily="34" charset="0"/>
                <a:cs typeface="Courier New" pitchFamily="49" charset="0"/>
              </a:rPr>
              <a:t>mustchpwd</a:t>
            </a:r>
            <a:r>
              <a:rPr lang="fr-FR" sz="2400" b="0" dirty="0" smtClean="0">
                <a:latin typeface="Courier New" pitchFamily="49" charset="0"/>
                <a:ea typeface="Segoe UI" panose="020B0502040204020203" pitchFamily="34" charset="0"/>
                <a:cs typeface="Courier New" pitchFamily="49" charset="0"/>
              </a:rPr>
              <a:t> no </a:t>
            </a:r>
          </a:p>
        </p:txBody>
      </p:sp>
    </p:spTree>
    <p:extLst>
      <p:ext uri="{BB962C8B-B14F-4D97-AF65-F5344CB8AC3E}">
        <p14:creationId xmlns:p14="http://schemas.microsoft.com/office/powerpoint/2010/main" val="2003233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Création d’un profil utilisateur</a:t>
            </a:r>
            <a:endParaRPr lang="fr-FR" dirty="0"/>
          </a:p>
        </p:txBody>
      </p:sp>
      <p:pic>
        <p:nvPicPr>
          <p:cNvPr id="4" name="alt text here, Picture 3" descr="Screen shot of the Active Directory Administrative Center which depicts the Profile section of a user account Properties dialog box. The Profile Path and Home Folder boxes are populated with the UNC path \\lon-dc1\USERDATA\Ed\Profile and \\lon-dc1\USERDATA\Ed, respectively."/>
          <p:cNvPicPr>
            <a:picLocks noChangeAspect="1"/>
          </p:cNvPicPr>
          <p:nvPr/>
        </p:nvPicPr>
        <p:blipFill>
          <a:blip r:embed="rId3"/>
          <a:stretch>
            <a:fillRect/>
          </a:stretch>
        </p:blipFill>
        <p:spPr>
          <a:xfrm>
            <a:off x="681565" y="3032868"/>
            <a:ext cx="7792403" cy="2160270"/>
          </a:xfrm>
          <a:prstGeom prst="rect">
            <a:avLst/>
          </a:prstGeom>
          <a:ln w="19050">
            <a:solidFill>
              <a:srgbClr val="569AD2"/>
            </a:solidFill>
          </a:ln>
        </p:spPr>
      </p:pic>
      <p:sp>
        <p:nvSpPr>
          <p:cNvPr id="5" name="text box"/>
          <p:cNvSpPr txBox="1">
            <a:spLocks/>
          </p:cNvSpPr>
          <p:nvPr/>
        </p:nvSpPr>
        <p:spPr>
          <a:xfrm>
            <a:off x="642910" y="1300997"/>
            <a:ext cx="7858179" cy="823377"/>
          </a:xfrm>
          <a:prstGeom prst="rect">
            <a:avLst/>
          </a:prstGeom>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just">
              <a:spcBef>
                <a:spcPts val="600"/>
              </a:spcBef>
            </a:pPr>
            <a:r>
              <a:rPr lang="fr-FR" sz="2800" b="0" dirty="0" smtClean="0">
                <a:latin typeface="Segoe UI" pitchFamily="34" charset="0"/>
                <a:ea typeface="Segoe UI" pitchFamily="34" charset="0"/>
                <a:cs typeface="Segoe UI" pitchFamily="34" charset="0"/>
              </a:rPr>
              <a:t>Allez dans l‘onglet « profil » qui se trouve dans les propriétés d’un profil.</a:t>
            </a:r>
          </a:p>
        </p:txBody>
      </p:sp>
    </p:spTree>
    <p:extLst>
      <p:ext uri="{BB962C8B-B14F-4D97-AF65-F5344CB8AC3E}">
        <p14:creationId xmlns:p14="http://schemas.microsoft.com/office/powerpoint/2010/main" val="1514323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0fad1719-2596-428d-ae2b-affdfa6dab7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Gestion de </a:t>
            </a:r>
            <a:r>
              <a:rPr lang="fr-FR" dirty="0"/>
              <a:t>C</a:t>
            </a:r>
            <a:r>
              <a:rPr lang="fr-FR" dirty="0" smtClean="0"/>
              <a:t>omptes Utilisateur (PowerShell)</a:t>
            </a:r>
            <a:endParaRPr lang="fr-FR" dirty="0"/>
          </a:p>
        </p:txBody>
      </p:sp>
      <p:sp>
        <p:nvSpPr>
          <p:cNvPr id="4" name="TextBox 3"/>
          <p:cNvSpPr txBox="1">
            <a:spLocks noGrp="1" noChangeArrowheads="1"/>
          </p:cNvSpPr>
          <p:nvPr/>
        </p:nvSpPr>
        <p:spPr bwMode="auto">
          <a:xfrm>
            <a:off x="458788" y="992187"/>
            <a:ext cx="8289676" cy="524235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sz="2600" dirty="0" smtClean="0"/>
              <a:t>Changement de mot de passe :</a:t>
            </a:r>
          </a:p>
          <a:p>
            <a:pPr lvl="1"/>
            <a:r>
              <a:rPr lang="fr-FR" sz="2000" b="1" dirty="0" smtClean="0">
                <a:latin typeface="Courier New" panose="02070309020205020404" pitchFamily="49" charset="0"/>
                <a:cs typeface="Courier New" panose="02070309020205020404" pitchFamily="49" charset="0"/>
              </a:rPr>
              <a:t>Set-</a:t>
            </a:r>
            <a:r>
              <a:rPr lang="fr-FR" sz="2000" b="1" dirty="0" err="1" smtClean="0">
                <a:latin typeface="Courier New" panose="02070309020205020404" pitchFamily="49" charset="0"/>
                <a:cs typeface="Courier New" panose="02070309020205020404" pitchFamily="49" charset="0"/>
              </a:rPr>
              <a:t>ADAccountPassword</a:t>
            </a:r>
            <a:r>
              <a:rPr lang="fr-FR" sz="2000" dirty="0" smtClean="0">
                <a:latin typeface="Courier New" panose="02070309020205020404" pitchFamily="49" charset="0"/>
                <a:cs typeface="Courier New" panose="02070309020205020404" pitchFamily="49" charset="0"/>
              </a:rPr>
              <a:t> </a:t>
            </a:r>
            <a:r>
              <a:rPr lang="fr-FR" sz="2000" dirty="0">
                <a:latin typeface="Courier New" panose="02070309020205020404" pitchFamily="49" charset="0"/>
                <a:cs typeface="Courier New" panose="02070309020205020404" pitchFamily="49" charset="0"/>
              </a:rPr>
              <a:t>‑</a:t>
            </a:r>
            <a:r>
              <a:rPr lang="fr-FR" sz="2000" dirty="0" err="1">
                <a:latin typeface="Courier New" panose="02070309020205020404" pitchFamily="49" charset="0"/>
                <a:cs typeface="Courier New" panose="02070309020205020404" pitchFamily="49" charset="0"/>
              </a:rPr>
              <a:t>identity</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cn</a:t>
            </a:r>
            <a:r>
              <a:rPr lang="fr-FR" sz="2000" dirty="0">
                <a:latin typeface="Courier New" panose="02070309020205020404" pitchFamily="49" charset="0"/>
                <a:cs typeface="Courier New" panose="02070309020205020404" pitchFamily="49" charset="0"/>
              </a:rPr>
              <a:t>=</a:t>
            </a:r>
            <a:r>
              <a:rPr lang="fr-FR" sz="2000" dirty="0" err="1">
                <a:latin typeface="Courier New" panose="02070309020205020404" pitchFamily="49" charset="0"/>
                <a:cs typeface="Courier New" panose="02070309020205020404" pitchFamily="49" charset="0"/>
              </a:rPr>
              <a:t>amy</a:t>
            </a:r>
            <a:r>
              <a:rPr lang="fr-FR" sz="2000" dirty="0">
                <a:latin typeface="Courier New" panose="02070309020205020404" pitchFamily="49" charset="0"/>
                <a:cs typeface="Courier New" panose="02070309020205020404" pitchFamily="49" charset="0"/>
              </a:rPr>
              <a:t>, ou=IT, dc=</a:t>
            </a:r>
            <a:r>
              <a:rPr lang="fr-FR" sz="2000" dirty="0" err="1">
                <a:latin typeface="Courier New" panose="02070309020205020404" pitchFamily="49" charset="0"/>
                <a:cs typeface="Courier New" panose="02070309020205020404" pitchFamily="49" charset="0"/>
              </a:rPr>
              <a:t>contoso</a:t>
            </a:r>
            <a:r>
              <a:rPr lang="fr-FR" sz="2000" dirty="0">
                <a:latin typeface="Courier New" panose="02070309020205020404" pitchFamily="49" charset="0"/>
                <a:cs typeface="Courier New" panose="02070309020205020404" pitchFamily="49" charset="0"/>
              </a:rPr>
              <a:t>, dc=</a:t>
            </a:r>
            <a:r>
              <a:rPr lang="fr-FR" sz="2000" dirty="0" err="1">
                <a:latin typeface="Courier New" panose="02070309020205020404" pitchFamily="49" charset="0"/>
                <a:cs typeface="Courier New" panose="02070309020205020404" pitchFamily="49" charset="0"/>
              </a:rPr>
              <a:t>com</a:t>
            </a:r>
            <a:r>
              <a:rPr lang="fr-FR" sz="2000" dirty="0">
                <a:latin typeface="Courier New" panose="02070309020205020404" pitchFamily="49" charset="0"/>
                <a:cs typeface="Courier New" panose="02070309020205020404" pitchFamily="49" charset="0"/>
              </a:rPr>
              <a:t>’ ‑Reset ‑</a:t>
            </a:r>
            <a:r>
              <a:rPr lang="fr-FR" sz="2000" dirty="0" err="1">
                <a:latin typeface="Courier New" panose="02070309020205020404" pitchFamily="49" charset="0"/>
                <a:cs typeface="Courier New" panose="02070309020205020404" pitchFamily="49" charset="0"/>
              </a:rPr>
              <a:t>NewPassword</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ConvertTo</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SecureString</a:t>
            </a:r>
            <a:r>
              <a:rPr lang="fr-FR" sz="2000" dirty="0">
                <a:latin typeface="Courier New" panose="02070309020205020404" pitchFamily="49" charset="0"/>
                <a:cs typeface="Courier New" panose="02070309020205020404" pitchFamily="49" charset="0"/>
              </a:rPr>
              <a:t> ‑</a:t>
            </a:r>
            <a:r>
              <a:rPr lang="fr-FR" sz="2000" dirty="0" err="1">
                <a:latin typeface="Courier New" panose="02070309020205020404" pitchFamily="49" charset="0"/>
                <a:cs typeface="Courier New" panose="02070309020205020404" pitchFamily="49" charset="0"/>
              </a:rPr>
              <a:t>AsPlainText</a:t>
            </a:r>
            <a:r>
              <a:rPr lang="fr-FR" sz="2000" dirty="0">
                <a:latin typeface="Courier New" panose="02070309020205020404" pitchFamily="49" charset="0"/>
                <a:cs typeface="Courier New" panose="02070309020205020404" pitchFamily="49" charset="0"/>
              </a:rPr>
              <a:t> “Pa$$w0rd2” ‑Force)</a:t>
            </a:r>
          </a:p>
          <a:p>
            <a:pPr marL="0" indent="0">
              <a:buNone/>
            </a:pPr>
            <a:endParaRPr lang="fr-FR" sz="2000" dirty="0" smtClean="0"/>
          </a:p>
          <a:p>
            <a:r>
              <a:rPr lang="fr-FR" sz="2600" dirty="0" smtClean="0"/>
              <a:t>Déverrouiller un compte utilisateur</a:t>
            </a:r>
          </a:p>
          <a:p>
            <a:pPr lvl="1"/>
            <a:r>
              <a:rPr lang="en-US" sz="2000" b="1" dirty="0" smtClean="0">
                <a:latin typeface="Courier New" panose="02070309020205020404" pitchFamily="49" charset="0"/>
                <a:cs typeface="Courier New" panose="02070309020205020404" pitchFamily="49" charset="0"/>
              </a:rPr>
              <a:t>Unlock-</a:t>
            </a:r>
            <a:r>
              <a:rPr lang="en-US" sz="2000" b="1" dirty="0" err="1" smtClean="0">
                <a:latin typeface="Courier New" panose="02070309020205020404" pitchFamily="49" charset="0"/>
                <a:cs typeface="Courier New" panose="02070309020205020404" pitchFamily="49" charset="0"/>
              </a:rPr>
              <a:t>ADAccount</a:t>
            </a:r>
            <a:r>
              <a:rPr lang="en-US" sz="2000" dirty="0" smtClean="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‑identity ‘</a:t>
            </a:r>
            <a:r>
              <a:rPr lang="en-US" sz="2000" dirty="0" err="1">
                <a:latin typeface="Courier New" panose="02070309020205020404" pitchFamily="49" charset="0"/>
                <a:cs typeface="Courier New" panose="02070309020205020404" pitchFamily="49" charset="0"/>
              </a:rPr>
              <a:t>cn</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amy</a:t>
            </a:r>
            <a:r>
              <a:rPr lang="en-US" sz="2000" dirty="0">
                <a:latin typeface="Courier New" panose="02070309020205020404" pitchFamily="49" charset="0"/>
                <a:cs typeface="Courier New" panose="02070309020205020404" pitchFamily="49" charset="0"/>
              </a:rPr>
              <a:t> strand, </a:t>
            </a:r>
            <a:r>
              <a:rPr lang="en-US" sz="2000" dirty="0" err="1">
                <a:latin typeface="Courier New" panose="02070309020205020404" pitchFamily="49" charset="0"/>
                <a:cs typeface="Courier New" panose="02070309020205020404" pitchFamily="49" charset="0"/>
              </a:rPr>
              <a:t>ou</a:t>
            </a:r>
            <a:r>
              <a:rPr lang="en-US" sz="2000" dirty="0">
                <a:latin typeface="Courier New" panose="02070309020205020404" pitchFamily="49" charset="0"/>
                <a:cs typeface="Courier New" panose="02070309020205020404" pitchFamily="49" charset="0"/>
              </a:rPr>
              <a:t>=IT, dc=</a:t>
            </a:r>
            <a:r>
              <a:rPr lang="en-US" sz="2000" dirty="0" err="1">
                <a:latin typeface="Courier New" panose="02070309020205020404" pitchFamily="49" charset="0"/>
                <a:cs typeface="Courier New" panose="02070309020205020404" pitchFamily="49" charset="0"/>
              </a:rPr>
              <a:t>contoso</a:t>
            </a:r>
            <a:r>
              <a:rPr lang="en-US" sz="2000" dirty="0">
                <a:latin typeface="Courier New" panose="02070309020205020404" pitchFamily="49" charset="0"/>
                <a:cs typeface="Courier New" panose="02070309020205020404" pitchFamily="49" charset="0"/>
              </a:rPr>
              <a:t>, dc=com</a:t>
            </a:r>
            <a:r>
              <a:rPr lang="en-US" sz="2000" dirty="0" smtClean="0">
                <a:latin typeface="Courier New" panose="02070309020205020404" pitchFamily="49" charset="0"/>
                <a:cs typeface="Courier New" panose="02070309020205020404" pitchFamily="49" charset="0"/>
              </a:rPr>
              <a:t>’</a:t>
            </a:r>
          </a:p>
          <a:p>
            <a:pPr marL="288925" lvl="1" indent="0">
              <a:buNone/>
            </a:pPr>
            <a:endParaRPr lang="en-US" sz="2000" dirty="0" smtClean="0">
              <a:latin typeface="Courier New" panose="02070309020205020404" pitchFamily="49" charset="0"/>
              <a:cs typeface="Courier New" panose="02070309020205020404" pitchFamily="49" charset="0"/>
            </a:endParaRPr>
          </a:p>
          <a:p>
            <a:r>
              <a:rPr lang="fr-FR" sz="2600" dirty="0" smtClean="0"/>
              <a:t>Activer/Désactiver </a:t>
            </a:r>
            <a:r>
              <a:rPr lang="fr-FR" sz="2600" dirty="0"/>
              <a:t>un compte utilisateur</a:t>
            </a:r>
          </a:p>
          <a:p>
            <a:pPr lvl="1"/>
            <a:r>
              <a:rPr lang="en-US" sz="2000" b="1" dirty="0" smtClean="0">
                <a:latin typeface="Courier New" panose="02070309020205020404" pitchFamily="49" charset="0"/>
                <a:cs typeface="Courier New" panose="02070309020205020404" pitchFamily="49" charset="0"/>
              </a:rPr>
              <a:t>Enable-</a:t>
            </a:r>
            <a:r>
              <a:rPr lang="en-US" sz="2000" b="1" dirty="0" err="1" smtClean="0">
                <a:latin typeface="Courier New" panose="02070309020205020404" pitchFamily="49" charset="0"/>
                <a:cs typeface="Courier New" panose="02070309020205020404" pitchFamily="49" charset="0"/>
              </a:rPr>
              <a:t>ADAccount</a:t>
            </a:r>
            <a:r>
              <a:rPr lang="en-US" sz="2000" dirty="0" smtClean="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‑identity &lt;name</a:t>
            </a:r>
            <a:r>
              <a:rPr lang="en-US" sz="2000" dirty="0" smtClean="0">
                <a:latin typeface="Courier New" panose="02070309020205020404" pitchFamily="49" charset="0"/>
                <a:cs typeface="Courier New" panose="02070309020205020404" pitchFamily="49" charset="0"/>
              </a:rPr>
              <a:t>&gt;</a:t>
            </a:r>
          </a:p>
          <a:p>
            <a:pPr lvl="1"/>
            <a:r>
              <a:rPr lang="en-US" sz="2000" b="1" dirty="0" smtClean="0">
                <a:latin typeface="Courier New" panose="02070309020205020404" pitchFamily="49" charset="0"/>
                <a:cs typeface="Courier New" panose="02070309020205020404" pitchFamily="49" charset="0"/>
              </a:rPr>
              <a:t>Disable-</a:t>
            </a:r>
            <a:r>
              <a:rPr lang="en-US" sz="2000" b="1" dirty="0" err="1" smtClean="0">
                <a:latin typeface="Courier New" panose="02070309020205020404" pitchFamily="49" charset="0"/>
                <a:cs typeface="Courier New" panose="02070309020205020404" pitchFamily="49" charset="0"/>
              </a:rPr>
              <a:t>ADAccount</a:t>
            </a:r>
            <a:r>
              <a:rPr lang="en-US" sz="2000" dirty="0" smtClean="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‑identity &lt;name&gt;</a:t>
            </a:r>
          </a:p>
          <a:p>
            <a:pPr lvl="1"/>
            <a:endParaRPr lang="en-US" sz="2000" dirty="0" smtClean="0">
              <a:latin typeface="Courier New" panose="02070309020205020404" pitchFamily="49" charset="0"/>
              <a:cs typeface="Courier New" panose="02070309020205020404" pitchFamily="49" charset="0"/>
            </a:endParaRPr>
          </a:p>
          <a:p>
            <a:pPr lvl="1"/>
            <a:endParaRPr lang="en-US" sz="2000" dirty="0" smtClean="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57756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Gestion de Comptes </a:t>
            </a:r>
            <a:r>
              <a:rPr lang="fr-FR" dirty="0" smtClean="0"/>
              <a:t>Utilisateur</a:t>
            </a:r>
            <a:endParaRPr lang="en-CA" dirty="0"/>
          </a:p>
        </p:txBody>
      </p:sp>
      <p:sp>
        <p:nvSpPr>
          <p:cNvPr id="3" name="Text Placeholder 2"/>
          <p:cNvSpPr>
            <a:spLocks noGrp="1"/>
          </p:cNvSpPr>
          <p:nvPr>
            <p:ph type="body" idx="1"/>
          </p:nvPr>
        </p:nvSpPr>
        <p:spPr/>
        <p:txBody>
          <a:bodyPr/>
          <a:lstStyle/>
          <a:p>
            <a:pPr marL="0" indent="0">
              <a:buNone/>
            </a:pPr>
            <a:r>
              <a:rPr lang="fr-FR" dirty="0" smtClean="0"/>
              <a:t>Voir zone “commentaires”.</a:t>
            </a:r>
            <a:endParaRPr lang="fr-FR" dirty="0"/>
          </a:p>
        </p:txBody>
      </p:sp>
    </p:spTree>
    <p:extLst>
      <p:ext uri="{BB962C8B-B14F-4D97-AF65-F5344CB8AC3E}">
        <p14:creationId xmlns:p14="http://schemas.microsoft.com/office/powerpoint/2010/main" val="30004199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Gestion de Comptes Utilisateur</a:t>
            </a:r>
            <a:endParaRPr lang="en-CA" dirty="0"/>
          </a:p>
        </p:txBody>
      </p:sp>
      <p:sp>
        <p:nvSpPr>
          <p:cNvPr id="3" name="Text Placeholder 2"/>
          <p:cNvSpPr>
            <a:spLocks noGrp="1"/>
          </p:cNvSpPr>
          <p:nvPr>
            <p:ph type="body" idx="1"/>
          </p:nvPr>
        </p:nvSpPr>
        <p:spPr/>
        <p:txBody>
          <a:bodyPr/>
          <a:lstStyle/>
          <a:p>
            <a:pPr marL="0" lvl="0" indent="0">
              <a:buNone/>
            </a:pPr>
            <a:r>
              <a:rPr lang="fr-FR" dirty="0">
                <a:solidFill>
                  <a:srgbClr val="000000"/>
                </a:solidFill>
              </a:rPr>
              <a:t>Voir zone “commentaires”.</a:t>
            </a:r>
          </a:p>
          <a:p>
            <a:pPr marL="0" indent="0">
              <a:buNone/>
            </a:pPr>
            <a:endParaRPr lang="en-CA" dirty="0"/>
          </a:p>
        </p:txBody>
      </p:sp>
    </p:spTree>
    <p:extLst>
      <p:ext uri="{BB962C8B-B14F-4D97-AF65-F5344CB8AC3E}">
        <p14:creationId xmlns:p14="http://schemas.microsoft.com/office/powerpoint/2010/main" val="1445941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Gestion de Comptes Utilisateur</a:t>
            </a:r>
            <a:endParaRPr lang="en-CA" dirty="0"/>
          </a:p>
        </p:txBody>
      </p:sp>
      <p:sp>
        <p:nvSpPr>
          <p:cNvPr id="3" name="Text Placeholder 2"/>
          <p:cNvSpPr>
            <a:spLocks noGrp="1"/>
          </p:cNvSpPr>
          <p:nvPr>
            <p:ph type="body" idx="1"/>
          </p:nvPr>
        </p:nvSpPr>
        <p:spPr/>
        <p:txBody>
          <a:bodyPr/>
          <a:lstStyle/>
          <a:p>
            <a:pPr marL="0" lvl="0" indent="0">
              <a:buNone/>
            </a:pPr>
            <a:r>
              <a:rPr lang="fr-FR" dirty="0">
                <a:solidFill>
                  <a:srgbClr val="000000"/>
                </a:solidFill>
              </a:rPr>
              <a:t>Voir zone “commentaires”.</a:t>
            </a:r>
          </a:p>
          <a:p>
            <a:pPr marL="0" indent="0">
              <a:buNone/>
            </a:pPr>
            <a:endParaRPr lang="en-CA" dirty="0"/>
          </a:p>
        </p:txBody>
      </p:sp>
    </p:spTree>
    <p:extLst>
      <p:ext uri="{BB962C8B-B14F-4D97-AF65-F5344CB8AC3E}">
        <p14:creationId xmlns:p14="http://schemas.microsoft.com/office/powerpoint/2010/main" val="36347086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5e953103-9946-4044-8090-cea719ce47b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Démonstration: Les “</a:t>
            </a:r>
            <a:r>
              <a:rPr lang="fr-FR" dirty="0" err="1" smtClean="0"/>
              <a:t>templates</a:t>
            </a:r>
            <a:r>
              <a:rPr lang="fr-FR" dirty="0" smtClean="0"/>
              <a:t>”</a:t>
            </a:r>
            <a:endParaRPr lang="fr-FR" dirty="0"/>
          </a:p>
        </p:txBody>
      </p:sp>
      <p:sp>
        <p:nvSpPr>
          <p:cNvPr id="4" name="Content Placeholder 2"/>
          <p:cNvSpPr>
            <a:spLocks noGrp="1"/>
          </p:cNvSpPr>
          <p:nvPr/>
        </p:nvSpPr>
        <p:spPr bwMode="auto">
          <a:xfrm>
            <a:off x="449061" y="1215767"/>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Times New Roman"/>
              </a:rPr>
              <a:t>On LON‑DC1, in Server Manager, click </a:t>
            </a:r>
            <a:r>
              <a:rPr lang="en-US" sz="2400" b="1" dirty="0">
                <a:solidFill>
                  <a:prstClr val="black"/>
                </a:solidFill>
                <a:latin typeface="Arial"/>
                <a:ea typeface="Times New Roman"/>
                <a:cs typeface="Times New Roman"/>
              </a:rPr>
              <a:t>Tools</a:t>
            </a:r>
            <a:r>
              <a:rPr lang="en-US" sz="2400" dirty="0">
                <a:solidFill>
                  <a:srgbClr val="000000"/>
                </a:solidFill>
                <a:latin typeface="Arial"/>
                <a:ea typeface="Times New Roman"/>
                <a:cs typeface="Times New Roman"/>
              </a:rPr>
              <a:t>, and then click </a:t>
            </a:r>
            <a:r>
              <a:rPr lang="en-US" sz="2400" b="1" dirty="0">
                <a:solidFill>
                  <a:prstClr val="black"/>
                </a:solidFill>
                <a:latin typeface="Arial"/>
                <a:ea typeface="Times New Roman"/>
                <a:cs typeface="Times New Roman"/>
              </a:rPr>
              <a:t>Active Directory Administrative Center</a:t>
            </a:r>
            <a:r>
              <a:rPr lang="en-US" sz="2400" dirty="0">
                <a:solidFill>
                  <a:srgbClr val="000000"/>
                </a:solidFill>
                <a:latin typeface="Arial"/>
                <a:ea typeface="Times New Roman"/>
                <a:cs typeface="Times New Roman"/>
              </a:rPr>
              <a:t>. </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Segoe UI"/>
              </a:rPr>
              <a:t>In the Active Directory Administrative Center, click </a:t>
            </a:r>
            <a:r>
              <a:rPr lang="en-US" sz="2400" b="1" dirty="0" err="1">
                <a:solidFill>
                  <a:prstClr val="black"/>
                </a:solidFill>
                <a:latin typeface="Arial"/>
                <a:ea typeface="Times New Roman"/>
                <a:cs typeface="Times New Roman"/>
              </a:rPr>
              <a:t>Adatum</a:t>
            </a:r>
            <a:r>
              <a:rPr lang="en-US" sz="2400" b="1" dirty="0">
                <a:solidFill>
                  <a:prstClr val="black"/>
                </a:solidFill>
                <a:latin typeface="Arial"/>
                <a:ea typeface="Times New Roman"/>
                <a:cs typeface="Times New Roman"/>
              </a:rPr>
              <a:t> (local)</a:t>
            </a:r>
            <a:r>
              <a:rPr lang="en-US" sz="2400" dirty="0">
                <a:solidFill>
                  <a:srgbClr val="000000"/>
                </a:solidFill>
                <a:latin typeface="Arial"/>
                <a:ea typeface="Times New Roman"/>
                <a:cs typeface="Segoe UI"/>
              </a:rPr>
              <a:t>, and then double</a:t>
            </a:r>
            <a:r>
              <a:rPr lang="en-US" sz="2400" dirty="0">
                <a:solidFill>
                  <a:prstClr val="black"/>
                </a:solidFill>
                <a:latin typeface="Arial"/>
                <a:ea typeface="Times New Roman"/>
                <a:cs typeface="Times New Roman"/>
              </a:rPr>
              <a:t>‑</a:t>
            </a:r>
            <a:r>
              <a:rPr lang="en-US" sz="2400" dirty="0">
                <a:solidFill>
                  <a:srgbClr val="000000"/>
                </a:solidFill>
                <a:latin typeface="Arial"/>
                <a:ea typeface="Times New Roman"/>
                <a:cs typeface="Segoe UI"/>
              </a:rPr>
              <a:t>click </a:t>
            </a:r>
            <a:r>
              <a:rPr lang="en-US" sz="2400" b="1" dirty="0">
                <a:solidFill>
                  <a:prstClr val="black"/>
                </a:solidFill>
                <a:latin typeface="Arial"/>
                <a:ea typeface="Times New Roman"/>
                <a:cs typeface="Times New Roman"/>
              </a:rPr>
              <a:t>Sales.</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prstClr val="black"/>
                </a:solidFill>
                <a:latin typeface="Arial"/>
                <a:ea typeface="Times New Roman"/>
                <a:cs typeface="Segoe UI"/>
              </a:rPr>
              <a:t>In the Action pane, click </a:t>
            </a:r>
            <a:r>
              <a:rPr lang="en-US" sz="2400" b="1" dirty="0">
                <a:solidFill>
                  <a:prstClr val="black"/>
                </a:solidFill>
                <a:latin typeface="Arial"/>
                <a:ea typeface="Times New Roman"/>
                <a:cs typeface="Times New Roman"/>
              </a:rPr>
              <a:t>New</a:t>
            </a:r>
            <a:r>
              <a:rPr lang="en-US" sz="2400" dirty="0">
                <a:solidFill>
                  <a:prstClr val="black"/>
                </a:solidFill>
                <a:latin typeface="Arial"/>
                <a:ea typeface="Times New Roman"/>
                <a:cs typeface="Segoe UI"/>
              </a:rPr>
              <a:t>, and then click </a:t>
            </a:r>
            <a:r>
              <a:rPr lang="en-US" sz="2400" b="1" dirty="0">
                <a:solidFill>
                  <a:prstClr val="black"/>
                </a:solidFill>
                <a:latin typeface="Arial"/>
                <a:ea typeface="Times New Roman"/>
                <a:cs typeface="Times New Roman"/>
              </a:rPr>
              <a:t>User</a:t>
            </a:r>
            <a:r>
              <a:rPr lang="en-US" sz="2400" dirty="0">
                <a:solidFill>
                  <a:prstClr val="black"/>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Segoe UI"/>
              </a:rPr>
              <a:t>In the </a:t>
            </a:r>
            <a:r>
              <a:rPr lang="en-US" sz="2400" b="1" dirty="0">
                <a:solidFill>
                  <a:prstClr val="black"/>
                </a:solidFill>
                <a:latin typeface="Arial"/>
                <a:ea typeface="Times New Roman"/>
                <a:cs typeface="Times New Roman"/>
              </a:rPr>
              <a:t>Create User</a:t>
            </a:r>
            <a:r>
              <a:rPr lang="en-US" sz="2400" dirty="0">
                <a:solidFill>
                  <a:srgbClr val="000000"/>
                </a:solidFill>
                <a:latin typeface="Arial"/>
                <a:ea typeface="Times New Roman"/>
                <a:cs typeface="Segoe UI"/>
              </a:rPr>
              <a:t> dialog box, in </a:t>
            </a:r>
            <a:r>
              <a:rPr lang="en-US" sz="2400" b="1" dirty="0">
                <a:solidFill>
                  <a:prstClr val="black"/>
                </a:solidFill>
                <a:latin typeface="Arial"/>
                <a:ea typeface="Times New Roman"/>
                <a:cs typeface="Times New Roman"/>
              </a:rPr>
              <a:t>First name</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_</a:t>
            </a:r>
            <a:r>
              <a:rPr lang="en-US" sz="2400" b="1" dirty="0" err="1">
                <a:solidFill>
                  <a:prstClr val="black"/>
                </a:solidFill>
                <a:latin typeface="Arial"/>
                <a:ea typeface="Times New Roman"/>
                <a:cs typeface="Times New Roman"/>
              </a:rPr>
              <a:t>LondonSales</a:t>
            </a:r>
            <a:r>
              <a:rPr lang="en-US" sz="2400" dirty="0">
                <a:solidFill>
                  <a:prstClr val="black"/>
                </a:solidFill>
                <a:latin typeface="Arial"/>
                <a:ea typeface="Times New Roman"/>
                <a:cs typeface="Times New Roman"/>
              </a:rPr>
              <a:t>, in </a:t>
            </a:r>
            <a:r>
              <a:rPr lang="en-US" sz="2400" b="1" dirty="0">
                <a:solidFill>
                  <a:prstClr val="black"/>
                </a:solidFill>
                <a:latin typeface="Arial"/>
                <a:ea typeface="Times New Roman"/>
                <a:cs typeface="Times New Roman"/>
              </a:rPr>
              <a:t>Last name</a:t>
            </a:r>
            <a:r>
              <a:rPr lang="en-US" sz="2400" dirty="0">
                <a:solidFill>
                  <a:prstClr val="black"/>
                </a:solidFill>
                <a:latin typeface="Arial"/>
                <a:ea typeface="Times New Roman"/>
                <a:cs typeface="Times New Roman"/>
              </a:rPr>
              <a:t>, type </a:t>
            </a:r>
            <a:r>
              <a:rPr lang="en-US" sz="2400" b="1" dirty="0">
                <a:solidFill>
                  <a:prstClr val="black"/>
                </a:solidFill>
                <a:latin typeface="Arial"/>
                <a:ea typeface="Times New Roman"/>
                <a:cs typeface="Times New Roman"/>
              </a:rPr>
              <a:t>Template</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Segoe UI"/>
              </a:rPr>
              <a:t>In </a:t>
            </a:r>
            <a:r>
              <a:rPr lang="en-US" sz="2400" b="1" dirty="0">
                <a:solidFill>
                  <a:prstClr val="black"/>
                </a:solidFill>
                <a:latin typeface="Arial"/>
                <a:ea typeface="Times New Roman"/>
                <a:cs typeface="Times New Roman"/>
              </a:rPr>
              <a:t>User UPN logon</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_</a:t>
            </a:r>
            <a:r>
              <a:rPr lang="en-US" sz="2400" b="1" dirty="0" err="1">
                <a:solidFill>
                  <a:prstClr val="black"/>
                </a:solidFill>
                <a:latin typeface="Arial"/>
                <a:ea typeface="Times New Roman"/>
                <a:cs typeface="Times New Roman"/>
              </a:rPr>
              <a:t>LondonSales</a:t>
            </a:r>
            <a:r>
              <a:rPr lang="en-US" sz="2400" dirty="0">
                <a:solidFill>
                  <a:prstClr val="black"/>
                </a:solidFill>
                <a:latin typeface="Arial"/>
                <a:ea typeface="Times New Roman"/>
                <a:cs typeface="Times New Roman"/>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Segoe UI"/>
              </a:rPr>
              <a:t>Select </a:t>
            </a:r>
            <a:r>
              <a:rPr lang="en-US" sz="2400" b="1" dirty="0">
                <a:solidFill>
                  <a:prstClr val="black"/>
                </a:solidFill>
                <a:latin typeface="Arial"/>
                <a:ea typeface="Times New Roman"/>
                <a:cs typeface="Times New Roman"/>
              </a:rPr>
              <a:t>Protect from accidental deletion</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Segoe UI"/>
              </a:rPr>
              <a:t>Under Organization, in </a:t>
            </a:r>
            <a:r>
              <a:rPr lang="en-US" sz="2400" b="1" dirty="0">
                <a:solidFill>
                  <a:prstClr val="black"/>
                </a:solidFill>
                <a:latin typeface="Arial"/>
                <a:ea typeface="Times New Roman"/>
                <a:cs typeface="Times New Roman"/>
              </a:rPr>
              <a:t>Department</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Sales</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a:pPr>
            <a:r>
              <a:rPr lang="en-US" sz="2400" dirty="0">
                <a:solidFill>
                  <a:srgbClr val="000000"/>
                </a:solidFill>
                <a:latin typeface="Arial"/>
                <a:ea typeface="Times New Roman"/>
                <a:cs typeface="Segoe UI"/>
              </a:rPr>
              <a:t>In </a:t>
            </a:r>
            <a:r>
              <a:rPr lang="en-US" sz="2400" b="1" dirty="0">
                <a:solidFill>
                  <a:prstClr val="black"/>
                </a:solidFill>
                <a:latin typeface="Arial"/>
                <a:ea typeface="Times New Roman"/>
                <a:cs typeface="Times New Roman"/>
              </a:rPr>
              <a:t>Company,</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A. Datum</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p:txBody>
      </p:sp>
    </p:spTree>
    <p:extLst>
      <p:ext uri="{BB962C8B-B14F-4D97-AF65-F5344CB8AC3E}">
        <p14:creationId xmlns:p14="http://schemas.microsoft.com/office/powerpoint/2010/main" val="256952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Démonstration: Les “</a:t>
            </a:r>
            <a:r>
              <a:rPr lang="fr-FR" dirty="0" err="1" smtClean="0"/>
              <a:t>templates</a:t>
            </a:r>
            <a:r>
              <a:rPr lang="fr-FR" dirty="0" smtClean="0"/>
              <a:t>”</a:t>
            </a:r>
            <a:endParaRPr lang="fr-FR" dirty="0"/>
          </a:p>
        </p:txBody>
      </p:sp>
      <p:sp>
        <p:nvSpPr>
          <p:cNvPr id="4" name="Content Placeholder 2"/>
          <p:cNvSpPr>
            <a:spLocks noGrp="1"/>
          </p:cNvSpPr>
          <p:nvPr/>
        </p:nvSpPr>
        <p:spPr bwMode="auto">
          <a:xfrm>
            <a:off x="449060" y="1215767"/>
            <a:ext cx="8299403"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342900" lvl="0" indent="-342900" fontAlgn="auto">
              <a:lnSpc>
                <a:spcPct val="115000"/>
              </a:lnSpc>
              <a:spcBef>
                <a:spcPts val="0"/>
              </a:spcBef>
              <a:spcAft>
                <a:spcPts val="995"/>
              </a:spcAft>
              <a:buClrTx/>
              <a:buSzTx/>
              <a:buFont typeface="+mj-lt"/>
              <a:buAutoNum type="arabicPeriod" startAt="9"/>
            </a:pPr>
            <a:r>
              <a:rPr lang="en-US" sz="2400" dirty="0">
                <a:solidFill>
                  <a:srgbClr val="000000"/>
                </a:solidFill>
                <a:latin typeface="Arial"/>
                <a:ea typeface="Times New Roman"/>
                <a:cs typeface="Segoe UI"/>
              </a:rPr>
              <a:t>In </a:t>
            </a:r>
            <a:r>
              <a:rPr lang="en-US" sz="2400" b="1" dirty="0">
                <a:solidFill>
                  <a:prstClr val="black"/>
                </a:solidFill>
                <a:latin typeface="Arial"/>
                <a:ea typeface="Times New Roman"/>
                <a:cs typeface="Times New Roman"/>
              </a:rPr>
              <a:t>City</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London</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startAt="9"/>
            </a:pPr>
            <a:r>
              <a:rPr lang="en-US" sz="2400" dirty="0">
                <a:solidFill>
                  <a:srgbClr val="000000"/>
                </a:solidFill>
                <a:latin typeface="Arial"/>
                <a:ea typeface="Times New Roman"/>
                <a:cs typeface="Segoe UI"/>
              </a:rPr>
              <a:t>In </a:t>
            </a:r>
            <a:r>
              <a:rPr lang="en-US" sz="2400" b="1" dirty="0">
                <a:solidFill>
                  <a:prstClr val="black"/>
                </a:solidFill>
                <a:latin typeface="Arial"/>
                <a:ea typeface="Times New Roman"/>
                <a:cs typeface="Times New Roman"/>
              </a:rPr>
              <a:t>Description</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London Sales users</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startAt="9"/>
            </a:pPr>
            <a:r>
              <a:rPr lang="en-US" sz="2400" dirty="0">
                <a:solidFill>
                  <a:srgbClr val="000000"/>
                </a:solidFill>
                <a:latin typeface="Arial"/>
                <a:ea typeface="Times New Roman"/>
                <a:cs typeface="Segoe UI"/>
              </a:rPr>
              <a:t>In the </a:t>
            </a:r>
            <a:r>
              <a:rPr lang="en-US" sz="2400" b="1" dirty="0">
                <a:solidFill>
                  <a:prstClr val="black"/>
                </a:solidFill>
                <a:latin typeface="Arial"/>
                <a:ea typeface="Times New Roman"/>
                <a:cs typeface="Times New Roman"/>
              </a:rPr>
              <a:t>Member of</a:t>
            </a:r>
            <a:r>
              <a:rPr lang="en-US" sz="2400" dirty="0">
                <a:solidFill>
                  <a:srgbClr val="000000"/>
                </a:solidFill>
                <a:latin typeface="Arial"/>
                <a:ea typeface="Times New Roman"/>
                <a:cs typeface="Segoe UI"/>
              </a:rPr>
              <a:t> section, click </a:t>
            </a:r>
            <a:r>
              <a:rPr lang="en-US" sz="2400" b="1" dirty="0">
                <a:solidFill>
                  <a:prstClr val="black"/>
                </a:solidFill>
                <a:latin typeface="Arial"/>
                <a:ea typeface="Times New Roman"/>
                <a:cs typeface="Times New Roman"/>
              </a:rPr>
              <a:t>Add</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startAt="9"/>
            </a:pPr>
            <a:r>
              <a:rPr lang="en-US" sz="2400" dirty="0">
                <a:solidFill>
                  <a:srgbClr val="000000"/>
                </a:solidFill>
                <a:latin typeface="Arial"/>
                <a:ea typeface="Times New Roman"/>
                <a:cs typeface="Segoe UI"/>
              </a:rPr>
              <a:t>In </a:t>
            </a:r>
            <a:r>
              <a:rPr lang="en-US" sz="2400" b="1" dirty="0">
                <a:solidFill>
                  <a:prstClr val="black"/>
                </a:solidFill>
                <a:latin typeface="Arial"/>
                <a:ea typeface="Times New Roman"/>
                <a:cs typeface="Times New Roman"/>
              </a:rPr>
              <a:t>Enter the object names to select</a:t>
            </a:r>
            <a:r>
              <a:rPr lang="en-US" sz="2400" dirty="0">
                <a:solidFill>
                  <a:srgbClr val="000000"/>
                </a:solidFill>
                <a:latin typeface="Arial"/>
                <a:ea typeface="Times New Roman"/>
                <a:cs typeface="Segoe UI"/>
              </a:rPr>
              <a:t>, type </a:t>
            </a:r>
            <a:r>
              <a:rPr lang="en-US" sz="2400" b="1" dirty="0">
                <a:solidFill>
                  <a:prstClr val="black"/>
                </a:solidFill>
                <a:latin typeface="Arial"/>
                <a:ea typeface="Times New Roman"/>
                <a:cs typeface="Times New Roman"/>
              </a:rPr>
              <a:t>Sales</a:t>
            </a:r>
            <a:r>
              <a:rPr lang="en-US" sz="2400" dirty="0">
                <a:solidFill>
                  <a:prstClr val="black"/>
                </a:solidFill>
                <a:latin typeface="Arial"/>
                <a:ea typeface="Times New Roman"/>
                <a:cs typeface="Times New Roman"/>
              </a:rPr>
              <a:t>,</a:t>
            </a:r>
            <a:r>
              <a:rPr lang="en-US" sz="2400" dirty="0">
                <a:solidFill>
                  <a:srgbClr val="000000"/>
                </a:solidFill>
                <a:latin typeface="Arial"/>
                <a:ea typeface="Times New Roman"/>
                <a:cs typeface="Segoe UI"/>
              </a:rPr>
              <a:t> and then click</a:t>
            </a:r>
            <a:r>
              <a:rPr lang="en-US" sz="2400" b="1" dirty="0">
                <a:solidFill>
                  <a:prstClr val="black"/>
                </a:solidFill>
                <a:latin typeface="Arial"/>
                <a:ea typeface="Times New Roman"/>
                <a:cs typeface="Times New Roman"/>
              </a:rPr>
              <a:t> OK</a:t>
            </a:r>
            <a:r>
              <a:rPr lang="en-US" sz="2400" dirty="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startAt="9"/>
            </a:pPr>
            <a:r>
              <a:rPr lang="en-US" sz="2400" dirty="0">
                <a:solidFill>
                  <a:srgbClr val="000000"/>
                </a:solidFill>
                <a:latin typeface="Arial"/>
                <a:ea typeface="Times New Roman"/>
                <a:cs typeface="Segoe UI"/>
              </a:rPr>
              <a:t>In the </a:t>
            </a:r>
            <a:r>
              <a:rPr lang="en-US" sz="2400" b="1" dirty="0">
                <a:solidFill>
                  <a:prstClr val="black"/>
                </a:solidFill>
                <a:latin typeface="Arial"/>
                <a:ea typeface="Times New Roman"/>
                <a:cs typeface="Times New Roman"/>
              </a:rPr>
              <a:t>Create User _</a:t>
            </a:r>
            <a:r>
              <a:rPr lang="en-US" sz="2400" b="1" dirty="0" err="1">
                <a:solidFill>
                  <a:prstClr val="black"/>
                </a:solidFill>
                <a:latin typeface="Arial"/>
                <a:ea typeface="Times New Roman"/>
                <a:cs typeface="Times New Roman"/>
              </a:rPr>
              <a:t>LondonSales</a:t>
            </a:r>
            <a:r>
              <a:rPr lang="en-US" sz="2400" b="1" dirty="0">
                <a:solidFill>
                  <a:prstClr val="black"/>
                </a:solidFill>
                <a:latin typeface="Arial"/>
                <a:ea typeface="Times New Roman"/>
                <a:cs typeface="Times New Roman"/>
              </a:rPr>
              <a:t> Template</a:t>
            </a:r>
            <a:r>
              <a:rPr lang="en-US" sz="2400" dirty="0">
                <a:solidFill>
                  <a:srgbClr val="000000"/>
                </a:solidFill>
                <a:latin typeface="Arial"/>
                <a:ea typeface="Times New Roman"/>
                <a:cs typeface="Segoe UI"/>
              </a:rPr>
              <a:t> dialog box, click</a:t>
            </a:r>
            <a:r>
              <a:rPr lang="en-US" sz="2400" b="1" dirty="0">
                <a:solidFill>
                  <a:prstClr val="black"/>
                </a:solidFill>
                <a:latin typeface="Arial"/>
                <a:ea typeface="Times New Roman"/>
                <a:cs typeface="Times New Roman"/>
              </a:rPr>
              <a:t> OK</a:t>
            </a:r>
            <a:r>
              <a:rPr lang="en-US" sz="2400" dirty="0" smtClean="0">
                <a:solidFill>
                  <a:srgbClr val="000000"/>
                </a:solidFill>
                <a:latin typeface="Arial"/>
                <a:ea typeface="Times New Roman"/>
                <a:cs typeface="Segoe UI"/>
              </a:rPr>
              <a:t>.</a:t>
            </a:r>
            <a:endParaRPr lang="en-CA" sz="2400" dirty="0">
              <a:solidFill>
                <a:prstClr val="black"/>
              </a:solidFill>
              <a:latin typeface="Arial"/>
              <a:ea typeface="Times New Roman"/>
              <a:cs typeface="Times New Roman"/>
            </a:endParaRPr>
          </a:p>
        </p:txBody>
      </p:sp>
    </p:spTree>
    <p:extLst>
      <p:ext uri="{BB962C8B-B14F-4D97-AF65-F5344CB8AC3E}">
        <p14:creationId xmlns:p14="http://schemas.microsoft.com/office/powerpoint/2010/main" val="2529579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Démonstration: Les “</a:t>
            </a:r>
            <a:r>
              <a:rPr lang="fr-FR" dirty="0" err="1" smtClean="0"/>
              <a:t>templates</a:t>
            </a:r>
            <a:r>
              <a:rPr lang="fr-FR" dirty="0" smtClean="0"/>
              <a:t>”</a:t>
            </a:r>
            <a:endParaRPr lang="fr-FR" dirty="0"/>
          </a:p>
        </p:txBody>
      </p:sp>
      <p:sp>
        <p:nvSpPr>
          <p:cNvPr id="4" name="Content Placeholder 2"/>
          <p:cNvSpPr>
            <a:spLocks noGrp="1"/>
          </p:cNvSpPr>
          <p:nvPr/>
        </p:nvSpPr>
        <p:spPr bwMode="auto">
          <a:xfrm>
            <a:off x="449060" y="1215767"/>
            <a:ext cx="8371411"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fontAlgn="auto">
              <a:lnSpc>
                <a:spcPts val="1300"/>
              </a:lnSpc>
              <a:spcBef>
                <a:spcPts val="900"/>
              </a:spcBef>
              <a:spcAft>
                <a:spcPts val="300"/>
              </a:spcAft>
              <a:buClrTx/>
              <a:buSzTx/>
              <a:buNone/>
            </a:pPr>
            <a:r>
              <a:rPr lang="en-US" sz="1400" b="1" dirty="0" smtClean="0">
                <a:solidFill>
                  <a:prstClr val="black"/>
                </a:solidFill>
                <a:latin typeface="Arial"/>
                <a:ea typeface="Times New Roman"/>
                <a:cs typeface="Segoe UI"/>
              </a:rPr>
              <a:t>Create </a:t>
            </a:r>
            <a:r>
              <a:rPr lang="en-US" sz="1400" b="1" dirty="0">
                <a:solidFill>
                  <a:prstClr val="black"/>
                </a:solidFill>
                <a:latin typeface="Arial"/>
                <a:ea typeface="Times New Roman"/>
                <a:cs typeface="Segoe UI"/>
              </a:rPr>
              <a:t>a user from the _</a:t>
            </a:r>
            <a:r>
              <a:rPr lang="en-US" sz="1400" b="1" dirty="0" err="1">
                <a:solidFill>
                  <a:prstClr val="black"/>
                </a:solidFill>
                <a:latin typeface="Arial"/>
                <a:ea typeface="Times New Roman"/>
                <a:cs typeface="Segoe UI"/>
              </a:rPr>
              <a:t>LondonSales</a:t>
            </a:r>
            <a:r>
              <a:rPr lang="en-US" sz="1400" b="1" dirty="0">
                <a:solidFill>
                  <a:prstClr val="black"/>
                </a:solidFill>
                <a:latin typeface="Arial"/>
                <a:ea typeface="Times New Roman"/>
                <a:cs typeface="Segoe UI"/>
              </a:rPr>
              <a:t> template</a:t>
            </a:r>
            <a:endParaRPr lang="en-CA" sz="1400" b="1" dirty="0">
              <a:solidFill>
                <a:prstClr val="black"/>
              </a:solidFill>
              <a:latin typeface="Arial"/>
              <a:ea typeface="Times New Roman"/>
              <a:cs typeface="Segoe UI"/>
            </a:endParaRPr>
          </a:p>
          <a:p>
            <a:pPr marL="342900" lvl="0" indent="-342900" fontAlgn="auto">
              <a:lnSpc>
                <a:spcPct val="115000"/>
              </a:lnSpc>
              <a:spcBef>
                <a:spcPts val="0"/>
              </a:spcBef>
              <a:spcAft>
                <a:spcPts val="995"/>
              </a:spcAft>
              <a:buClrTx/>
              <a:buSzTx/>
              <a:buFont typeface="+mj-lt"/>
              <a:buAutoNum type="arabicPeriod"/>
            </a:pPr>
            <a:r>
              <a:rPr lang="en-US" sz="1400" dirty="0">
                <a:solidFill>
                  <a:prstClr val="black"/>
                </a:solidFill>
                <a:latin typeface="Arial"/>
                <a:ea typeface="Times New Roman"/>
                <a:cs typeface="Times New Roman"/>
              </a:rPr>
              <a:t>In the Windows PowerShell window, create a variable ($</a:t>
            </a:r>
            <a:r>
              <a:rPr lang="en-US" sz="1400" dirty="0" err="1">
                <a:solidFill>
                  <a:prstClr val="black"/>
                </a:solidFill>
                <a:latin typeface="Arial"/>
                <a:ea typeface="Times New Roman"/>
                <a:cs typeface="Times New Roman"/>
              </a:rPr>
              <a:t>LondonSales</a:t>
            </a:r>
            <a:r>
              <a:rPr lang="en-US" sz="1400" dirty="0">
                <a:solidFill>
                  <a:prstClr val="black"/>
                </a:solidFill>
                <a:latin typeface="Arial"/>
                <a:ea typeface="Times New Roman"/>
                <a:cs typeface="Times New Roman"/>
              </a:rPr>
              <a:t>) to hold the _</a:t>
            </a:r>
            <a:r>
              <a:rPr lang="en-US" sz="1400" dirty="0" err="1">
                <a:solidFill>
                  <a:prstClr val="black"/>
                </a:solidFill>
                <a:latin typeface="Arial"/>
                <a:ea typeface="Times New Roman"/>
                <a:cs typeface="Times New Roman"/>
              </a:rPr>
              <a:t>LondonSales</a:t>
            </a:r>
            <a:r>
              <a:rPr lang="en-US" sz="1400" dirty="0">
                <a:solidFill>
                  <a:prstClr val="black"/>
                </a:solidFill>
                <a:latin typeface="Arial"/>
                <a:ea typeface="Times New Roman"/>
                <a:cs typeface="Times New Roman"/>
              </a:rPr>
              <a:t> properties by using the following command, and then press Enter:</a:t>
            </a:r>
            <a:endParaRPr lang="en-CA" sz="1400" dirty="0">
              <a:solidFill>
                <a:prstClr val="black"/>
              </a:solidFill>
              <a:latin typeface="Arial"/>
              <a:ea typeface="Times New Roman"/>
              <a:cs typeface="Times New Roman"/>
            </a:endParaRPr>
          </a:p>
          <a:p>
            <a:pPr marL="342000" marR="73025" lvl="0" indent="0" fontAlgn="auto">
              <a:lnSpc>
                <a:spcPct val="115000"/>
              </a:lnSpc>
              <a:spcAft>
                <a:spcPts val="995"/>
              </a:spcAft>
              <a:buClrTx/>
              <a:buSzTx/>
              <a:buNone/>
            </a:pPr>
            <a:r>
              <a:rPr lang="en-US" sz="1400" b="1" dirty="0">
                <a:solidFill>
                  <a:prstClr val="black"/>
                </a:solidFill>
                <a:latin typeface="Lucida Sans Typewriter" panose="020B0509030504030204" pitchFamily="49" charset="0"/>
                <a:ea typeface="Times New Roman"/>
                <a:cs typeface="Times New Roman"/>
              </a:rPr>
              <a:t>$</a:t>
            </a:r>
            <a:r>
              <a:rPr lang="en-US" sz="1400" b="1" dirty="0" err="1">
                <a:solidFill>
                  <a:prstClr val="black"/>
                </a:solidFill>
                <a:latin typeface="Lucida Sans Typewriter" panose="020B0509030504030204" pitchFamily="49" charset="0"/>
                <a:ea typeface="Times New Roman"/>
                <a:cs typeface="Times New Roman"/>
              </a:rPr>
              <a:t>LondonSales</a:t>
            </a:r>
            <a:r>
              <a:rPr lang="en-US" sz="1400" b="1" dirty="0">
                <a:solidFill>
                  <a:prstClr val="black"/>
                </a:solidFill>
                <a:latin typeface="Lucida Sans Typewriter" panose="020B0509030504030204" pitchFamily="49" charset="0"/>
                <a:ea typeface="Times New Roman"/>
                <a:cs typeface="Times New Roman"/>
              </a:rPr>
              <a:t> = Get‑</a:t>
            </a:r>
            <a:r>
              <a:rPr lang="en-US" sz="1400" b="1" dirty="0" err="1">
                <a:solidFill>
                  <a:prstClr val="black"/>
                </a:solidFill>
                <a:latin typeface="Lucida Sans Typewriter" panose="020B0509030504030204" pitchFamily="49" charset="0"/>
                <a:ea typeface="Times New Roman"/>
                <a:cs typeface="Times New Roman"/>
              </a:rPr>
              <a:t>ADUser</a:t>
            </a:r>
            <a:r>
              <a:rPr lang="en-US" sz="1400" b="1" dirty="0">
                <a:solidFill>
                  <a:prstClr val="black"/>
                </a:solidFill>
                <a:latin typeface="Lucida Sans Typewriter" panose="020B0509030504030204" pitchFamily="49" charset="0"/>
                <a:ea typeface="Times New Roman"/>
                <a:cs typeface="Times New Roman"/>
              </a:rPr>
              <a:t> ‑Identity "_</a:t>
            </a:r>
            <a:r>
              <a:rPr lang="en-US" sz="1400" b="1" dirty="0" err="1">
                <a:solidFill>
                  <a:prstClr val="black"/>
                </a:solidFill>
                <a:latin typeface="Lucida Sans Typewriter" panose="020B0509030504030204" pitchFamily="49" charset="0"/>
                <a:ea typeface="Times New Roman"/>
                <a:cs typeface="Times New Roman"/>
              </a:rPr>
              <a:t>LondonSales</a:t>
            </a:r>
            <a:r>
              <a:rPr lang="en-US" sz="1400" b="1" dirty="0">
                <a:solidFill>
                  <a:prstClr val="black"/>
                </a:solidFill>
                <a:latin typeface="Lucida Sans Typewriter" panose="020B0509030504030204" pitchFamily="49" charset="0"/>
                <a:ea typeface="Times New Roman"/>
                <a:cs typeface="Times New Roman"/>
              </a:rPr>
              <a:t>" ‑Properties </a:t>
            </a:r>
            <a:r>
              <a:rPr lang="en-US" sz="1400" b="1" dirty="0" err="1">
                <a:solidFill>
                  <a:prstClr val="black"/>
                </a:solidFill>
                <a:latin typeface="Lucida Sans Typewriter" panose="020B0509030504030204" pitchFamily="49" charset="0"/>
                <a:ea typeface="Times New Roman"/>
                <a:cs typeface="Times New Roman"/>
              </a:rPr>
              <a:t>Department,Company,City</a:t>
            </a:r>
            <a:endParaRPr lang="en-CA" sz="1400" b="1" dirty="0">
              <a:solidFill>
                <a:prstClr val="black"/>
              </a:solidFill>
              <a:latin typeface="Lucida Sans Typewriter" panose="020B0509030504030204" pitchFamily="49" charset="0"/>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startAt="2"/>
            </a:pPr>
            <a:r>
              <a:rPr lang="en-US" sz="1400" dirty="0">
                <a:solidFill>
                  <a:prstClr val="black"/>
                </a:solidFill>
                <a:latin typeface="Arial"/>
                <a:ea typeface="Times New Roman"/>
                <a:cs typeface="Times New Roman"/>
              </a:rPr>
              <a:t>To create a new Sales user in the Sales OU, type the following command, and then press Enter:</a:t>
            </a:r>
            <a:endParaRPr lang="en-CA" sz="1400" dirty="0">
              <a:solidFill>
                <a:prstClr val="black"/>
              </a:solidFill>
              <a:latin typeface="Arial"/>
              <a:ea typeface="Times New Roman"/>
              <a:cs typeface="Times New Roman"/>
            </a:endParaRPr>
          </a:p>
          <a:p>
            <a:pPr marL="342000" marR="73025" lvl="0" indent="0" fontAlgn="auto">
              <a:lnSpc>
                <a:spcPct val="115000"/>
              </a:lnSpc>
              <a:spcAft>
                <a:spcPts val="995"/>
              </a:spcAft>
              <a:buClrTx/>
              <a:buSzTx/>
              <a:buNone/>
            </a:pPr>
            <a:r>
              <a:rPr lang="en-US" sz="1400" b="1" dirty="0">
                <a:solidFill>
                  <a:prstClr val="black"/>
                </a:solidFill>
                <a:latin typeface="Lucida Sans Typewriter" panose="020B0509030504030204" pitchFamily="49" charset="0"/>
                <a:ea typeface="Times New Roman"/>
                <a:cs typeface="Times New Roman"/>
              </a:rPr>
              <a:t>New‑</a:t>
            </a:r>
            <a:r>
              <a:rPr lang="en-US" sz="1400" b="1" dirty="0" err="1">
                <a:solidFill>
                  <a:prstClr val="black"/>
                </a:solidFill>
                <a:latin typeface="Lucida Sans Typewriter" panose="020B0509030504030204" pitchFamily="49" charset="0"/>
                <a:ea typeface="Times New Roman"/>
                <a:cs typeface="Times New Roman"/>
              </a:rPr>
              <a:t>ADUser</a:t>
            </a:r>
            <a:r>
              <a:rPr lang="en-US" sz="1400" b="1" dirty="0">
                <a:solidFill>
                  <a:prstClr val="black"/>
                </a:solidFill>
                <a:latin typeface="Lucida Sans Typewriter" panose="020B0509030504030204" pitchFamily="49" charset="0"/>
                <a:ea typeface="Times New Roman"/>
                <a:cs typeface="Times New Roman"/>
              </a:rPr>
              <a:t> ‑Name "Dan Park" ‑</a:t>
            </a:r>
            <a:r>
              <a:rPr lang="en-US" sz="1400" b="1" dirty="0" err="1">
                <a:solidFill>
                  <a:prstClr val="black"/>
                </a:solidFill>
                <a:latin typeface="Lucida Sans Typewriter" panose="020B0509030504030204" pitchFamily="49" charset="0"/>
                <a:ea typeface="Times New Roman"/>
                <a:cs typeface="Times New Roman"/>
              </a:rPr>
              <a:t>SamAccountName</a:t>
            </a:r>
            <a:r>
              <a:rPr lang="en-US" sz="1400" b="1" dirty="0">
                <a:solidFill>
                  <a:prstClr val="black"/>
                </a:solidFill>
                <a:latin typeface="Lucida Sans Typewriter" panose="020B0509030504030204" pitchFamily="49" charset="0"/>
                <a:ea typeface="Times New Roman"/>
                <a:cs typeface="Times New Roman"/>
              </a:rPr>
              <a:t> "Dan" ‑Path "OU=</a:t>
            </a:r>
            <a:r>
              <a:rPr lang="en-US" sz="1400" b="1" dirty="0" err="1">
                <a:solidFill>
                  <a:prstClr val="black"/>
                </a:solidFill>
                <a:latin typeface="Lucida Sans Typewriter" panose="020B0509030504030204" pitchFamily="49" charset="0"/>
                <a:ea typeface="Times New Roman"/>
                <a:cs typeface="Times New Roman"/>
              </a:rPr>
              <a:t>Sales,DC</a:t>
            </a:r>
            <a:r>
              <a:rPr lang="en-US" sz="1400" b="1" dirty="0">
                <a:solidFill>
                  <a:prstClr val="black"/>
                </a:solidFill>
                <a:latin typeface="Lucida Sans Typewriter" panose="020B0509030504030204" pitchFamily="49" charset="0"/>
                <a:ea typeface="Times New Roman"/>
                <a:cs typeface="Times New Roman"/>
              </a:rPr>
              <a:t>=</a:t>
            </a:r>
            <a:r>
              <a:rPr lang="en-US" sz="1400" b="1" dirty="0" err="1">
                <a:solidFill>
                  <a:prstClr val="black"/>
                </a:solidFill>
                <a:latin typeface="Lucida Sans Typewriter" panose="020B0509030504030204" pitchFamily="49" charset="0"/>
                <a:ea typeface="Times New Roman"/>
                <a:cs typeface="Times New Roman"/>
              </a:rPr>
              <a:t>Adatum,DC</a:t>
            </a:r>
            <a:r>
              <a:rPr lang="en-US" sz="1400" b="1" dirty="0">
                <a:solidFill>
                  <a:prstClr val="black"/>
                </a:solidFill>
                <a:latin typeface="Lucida Sans Typewriter" panose="020B0509030504030204" pitchFamily="49" charset="0"/>
                <a:ea typeface="Times New Roman"/>
                <a:cs typeface="Times New Roman"/>
              </a:rPr>
              <a:t>=com" ‑</a:t>
            </a:r>
            <a:r>
              <a:rPr lang="en-US" sz="1400" b="1" dirty="0" err="1">
                <a:solidFill>
                  <a:prstClr val="black"/>
                </a:solidFill>
                <a:latin typeface="Lucida Sans Typewriter" panose="020B0509030504030204" pitchFamily="49" charset="0"/>
                <a:ea typeface="Times New Roman"/>
                <a:cs typeface="Times New Roman"/>
              </a:rPr>
              <a:t>AccountPassword</a:t>
            </a:r>
            <a:r>
              <a:rPr lang="en-US" sz="1400" b="1" dirty="0">
                <a:solidFill>
                  <a:prstClr val="black"/>
                </a:solidFill>
                <a:latin typeface="Lucida Sans Typewriter" panose="020B0509030504030204" pitchFamily="49" charset="0"/>
                <a:ea typeface="Times New Roman"/>
                <a:cs typeface="Times New Roman"/>
              </a:rPr>
              <a:t> (</a:t>
            </a:r>
            <a:r>
              <a:rPr lang="en-US" sz="1400" b="1" dirty="0" err="1">
                <a:solidFill>
                  <a:prstClr val="black"/>
                </a:solidFill>
                <a:latin typeface="Lucida Sans Typewriter" panose="020B0509030504030204" pitchFamily="49" charset="0"/>
                <a:ea typeface="Times New Roman"/>
                <a:cs typeface="Times New Roman"/>
              </a:rPr>
              <a:t>ConvertTo‑SecureString</a:t>
            </a:r>
            <a:r>
              <a:rPr lang="en-US" sz="1400" b="1" dirty="0">
                <a:solidFill>
                  <a:prstClr val="black"/>
                </a:solidFill>
                <a:latin typeface="Lucida Sans Typewriter" panose="020B0509030504030204" pitchFamily="49" charset="0"/>
                <a:ea typeface="Times New Roman"/>
                <a:cs typeface="Times New Roman"/>
              </a:rPr>
              <a:t> ‑</a:t>
            </a:r>
            <a:r>
              <a:rPr lang="en-US" sz="1400" b="1" dirty="0" err="1">
                <a:solidFill>
                  <a:prstClr val="black"/>
                </a:solidFill>
                <a:latin typeface="Lucida Sans Typewriter" panose="020B0509030504030204" pitchFamily="49" charset="0"/>
                <a:ea typeface="Times New Roman"/>
                <a:cs typeface="Times New Roman"/>
              </a:rPr>
              <a:t>AsPlaintext</a:t>
            </a:r>
            <a:r>
              <a:rPr lang="en-US" sz="1400" b="1" dirty="0">
                <a:solidFill>
                  <a:prstClr val="black"/>
                </a:solidFill>
                <a:latin typeface="Lucida Sans Typewriter" panose="020B0509030504030204" pitchFamily="49" charset="0"/>
                <a:ea typeface="Times New Roman"/>
                <a:cs typeface="Times New Roman"/>
              </a:rPr>
              <a:t> "Pa$$w0rd" ‑Force) ‑</a:t>
            </a:r>
            <a:r>
              <a:rPr lang="en-US" sz="1400" b="1" dirty="0" err="1">
                <a:solidFill>
                  <a:prstClr val="black"/>
                </a:solidFill>
                <a:latin typeface="Lucida Sans Typewriter" panose="020B0509030504030204" pitchFamily="49" charset="0"/>
                <a:ea typeface="Times New Roman"/>
                <a:cs typeface="Times New Roman"/>
              </a:rPr>
              <a:t>GivenName</a:t>
            </a:r>
            <a:r>
              <a:rPr lang="en-US" sz="1400" b="1" dirty="0">
                <a:solidFill>
                  <a:prstClr val="black"/>
                </a:solidFill>
                <a:latin typeface="Lucida Sans Typewriter" panose="020B0509030504030204" pitchFamily="49" charset="0"/>
                <a:ea typeface="Times New Roman"/>
                <a:cs typeface="Times New Roman"/>
              </a:rPr>
              <a:t> "Dan" ‑Surname "Park" ‑</a:t>
            </a:r>
            <a:r>
              <a:rPr lang="en-US" sz="1400" b="1" dirty="0" err="1">
                <a:solidFill>
                  <a:prstClr val="black"/>
                </a:solidFill>
                <a:latin typeface="Lucida Sans Typewriter" panose="020B0509030504030204" pitchFamily="49" charset="0"/>
                <a:ea typeface="Times New Roman"/>
                <a:cs typeface="Times New Roman"/>
              </a:rPr>
              <a:t>DisplayName</a:t>
            </a:r>
            <a:r>
              <a:rPr lang="en-US" sz="1400" b="1" dirty="0">
                <a:solidFill>
                  <a:prstClr val="black"/>
                </a:solidFill>
                <a:latin typeface="Lucida Sans Typewriter" panose="020B0509030504030204" pitchFamily="49" charset="0"/>
                <a:ea typeface="Times New Roman"/>
                <a:cs typeface="Times New Roman"/>
              </a:rPr>
              <a:t> "Dan Park" ‑Enabled $True ‑</a:t>
            </a:r>
            <a:r>
              <a:rPr lang="en-US" sz="1400" b="1" dirty="0" err="1">
                <a:solidFill>
                  <a:prstClr val="black"/>
                </a:solidFill>
                <a:latin typeface="Lucida Sans Typewriter" panose="020B0509030504030204" pitchFamily="49" charset="0"/>
                <a:ea typeface="Times New Roman"/>
                <a:cs typeface="Times New Roman"/>
              </a:rPr>
              <a:t>UserPrincipalName</a:t>
            </a:r>
            <a:r>
              <a:rPr lang="en-US" sz="1400" b="1" dirty="0">
                <a:solidFill>
                  <a:prstClr val="black"/>
                </a:solidFill>
                <a:latin typeface="Lucida Sans Typewriter" panose="020B0509030504030204" pitchFamily="49" charset="0"/>
                <a:ea typeface="Times New Roman"/>
                <a:cs typeface="Times New Roman"/>
              </a:rPr>
              <a:t> "Dan@Adatum.com" ‑</a:t>
            </a:r>
            <a:r>
              <a:rPr lang="en-US" sz="1400" b="1" dirty="0" err="1">
                <a:solidFill>
                  <a:prstClr val="black"/>
                </a:solidFill>
                <a:latin typeface="Lucida Sans Typewriter" panose="020B0509030504030204" pitchFamily="49" charset="0"/>
                <a:ea typeface="Times New Roman"/>
                <a:cs typeface="Times New Roman"/>
              </a:rPr>
              <a:t>ChangePasswordAtLogon</a:t>
            </a:r>
            <a:r>
              <a:rPr lang="en-US" sz="1400" b="1" dirty="0">
                <a:solidFill>
                  <a:prstClr val="black"/>
                </a:solidFill>
                <a:latin typeface="Lucida Sans Typewriter" panose="020B0509030504030204" pitchFamily="49" charset="0"/>
                <a:ea typeface="Times New Roman"/>
                <a:cs typeface="Times New Roman"/>
              </a:rPr>
              <a:t> $true ‑Instance $</a:t>
            </a:r>
            <a:r>
              <a:rPr lang="en-US" sz="1400" b="1" dirty="0" err="1">
                <a:solidFill>
                  <a:prstClr val="black"/>
                </a:solidFill>
                <a:latin typeface="Lucida Sans Typewriter" panose="020B0509030504030204" pitchFamily="49" charset="0"/>
                <a:ea typeface="Times New Roman"/>
                <a:cs typeface="Times New Roman"/>
              </a:rPr>
              <a:t>LondonSales</a:t>
            </a:r>
            <a:endParaRPr lang="en-CA" sz="1400" b="1" dirty="0">
              <a:solidFill>
                <a:prstClr val="black"/>
              </a:solidFill>
              <a:latin typeface="Lucida Sans Typewriter" panose="020B0509030504030204" pitchFamily="49" charset="0"/>
              <a:ea typeface="Times New Roman"/>
              <a:cs typeface="Times New Roman"/>
            </a:endParaRPr>
          </a:p>
          <a:p>
            <a:pPr marL="0" lvl="0" indent="0" fontAlgn="auto">
              <a:lnSpc>
                <a:spcPts val="1300"/>
              </a:lnSpc>
              <a:spcBef>
                <a:spcPts val="900"/>
              </a:spcBef>
              <a:spcAft>
                <a:spcPts val="300"/>
              </a:spcAft>
              <a:buClrTx/>
              <a:buSzTx/>
              <a:buNone/>
            </a:pPr>
            <a:r>
              <a:rPr lang="en-US" sz="1400" b="1" dirty="0">
                <a:solidFill>
                  <a:prstClr val="black"/>
                </a:solidFill>
                <a:latin typeface="Arial"/>
                <a:ea typeface="Times New Roman"/>
                <a:cs typeface="Segoe UI"/>
              </a:rPr>
              <a:t>Verify the User Properties</a:t>
            </a:r>
            <a:endParaRPr lang="en-CA" sz="1400" b="1" dirty="0">
              <a:solidFill>
                <a:prstClr val="black"/>
              </a:solidFill>
              <a:latin typeface="Arial"/>
              <a:ea typeface="Times New Roman"/>
              <a:cs typeface="Segoe UI"/>
            </a:endParaRPr>
          </a:p>
          <a:p>
            <a:pPr marL="342900" lvl="0" indent="-342900" fontAlgn="auto">
              <a:lnSpc>
                <a:spcPct val="115000"/>
              </a:lnSpc>
              <a:spcBef>
                <a:spcPts val="0"/>
              </a:spcBef>
              <a:spcAft>
                <a:spcPts val="995"/>
              </a:spcAft>
              <a:buClrTx/>
              <a:buSzTx/>
              <a:buFont typeface="+mj-lt"/>
              <a:buAutoNum type="arabicPeriod"/>
            </a:pPr>
            <a:r>
              <a:rPr lang="en-US" sz="1400" dirty="0">
                <a:solidFill>
                  <a:srgbClr val="000000"/>
                </a:solidFill>
                <a:latin typeface="Arial"/>
                <a:ea typeface="Times New Roman"/>
                <a:cs typeface="Times New Roman"/>
              </a:rPr>
              <a:t>In the Windows PowerShell window, type the following command, and then press Enter:</a:t>
            </a:r>
            <a:endParaRPr lang="en-CA" sz="1400" dirty="0">
              <a:solidFill>
                <a:prstClr val="black"/>
              </a:solidFill>
              <a:latin typeface="Arial"/>
              <a:ea typeface="Times New Roman"/>
              <a:cs typeface="Times New Roman"/>
            </a:endParaRPr>
          </a:p>
          <a:p>
            <a:pPr marL="342000" marR="73025" lvl="0" indent="0" fontAlgn="auto">
              <a:lnSpc>
                <a:spcPct val="115000"/>
              </a:lnSpc>
              <a:spcAft>
                <a:spcPts val="995"/>
              </a:spcAft>
              <a:buClrTx/>
              <a:buSzTx/>
              <a:buNone/>
            </a:pPr>
            <a:r>
              <a:rPr lang="en-US" sz="1400" b="1" dirty="0">
                <a:solidFill>
                  <a:prstClr val="black"/>
                </a:solidFill>
                <a:latin typeface="Lucida Sans Typewriter" panose="020B0509030504030204" pitchFamily="49" charset="0"/>
                <a:ea typeface="Times New Roman"/>
                <a:cs typeface="Times New Roman"/>
              </a:rPr>
              <a:t>Get-</a:t>
            </a:r>
            <a:r>
              <a:rPr lang="en-US" sz="1400" b="1" dirty="0" err="1">
                <a:solidFill>
                  <a:prstClr val="black"/>
                </a:solidFill>
                <a:latin typeface="Lucida Sans Typewriter" panose="020B0509030504030204" pitchFamily="49" charset="0"/>
                <a:ea typeface="Times New Roman"/>
                <a:cs typeface="Times New Roman"/>
              </a:rPr>
              <a:t>ADUser</a:t>
            </a:r>
            <a:r>
              <a:rPr lang="en-US" sz="1400" b="1" dirty="0">
                <a:solidFill>
                  <a:prstClr val="black"/>
                </a:solidFill>
                <a:latin typeface="Lucida Sans Typewriter" panose="020B0509030504030204" pitchFamily="49" charset="0"/>
                <a:ea typeface="Times New Roman"/>
                <a:cs typeface="Times New Roman"/>
              </a:rPr>
              <a:t> –Identity “Dan” –Properties *</a:t>
            </a:r>
            <a:endParaRPr lang="en-CA" sz="1400" b="1" dirty="0">
              <a:solidFill>
                <a:prstClr val="black"/>
              </a:solidFill>
              <a:latin typeface="Lucida Sans Typewriter" panose="020B0509030504030204" pitchFamily="49" charset="0"/>
              <a:ea typeface="Times New Roman"/>
              <a:cs typeface="Times New Roman"/>
            </a:endParaRPr>
          </a:p>
          <a:p>
            <a:pPr marL="342900" lvl="0" indent="-342900" fontAlgn="auto">
              <a:lnSpc>
                <a:spcPct val="115000"/>
              </a:lnSpc>
              <a:spcBef>
                <a:spcPts val="0"/>
              </a:spcBef>
              <a:spcAft>
                <a:spcPts val="995"/>
              </a:spcAft>
              <a:buClrTx/>
              <a:buSzTx/>
              <a:buFont typeface="+mj-lt"/>
              <a:buAutoNum type="arabicPeriod" startAt="2"/>
            </a:pPr>
            <a:r>
              <a:rPr lang="en-US" sz="1400" dirty="0">
                <a:solidFill>
                  <a:srgbClr val="000000"/>
                </a:solidFill>
                <a:latin typeface="Arial"/>
                <a:ea typeface="Times New Roman"/>
                <a:cs typeface="Times New Roman"/>
              </a:rPr>
              <a:t>Verify that the properties that you defined in the template were copied to the new user.</a:t>
            </a:r>
          </a:p>
          <a:p>
            <a:pPr marL="0" lvl="0" indent="0" fontAlgn="auto">
              <a:lnSpc>
                <a:spcPct val="115000"/>
              </a:lnSpc>
              <a:spcBef>
                <a:spcPts val="0"/>
              </a:spcBef>
              <a:spcAft>
                <a:spcPts val="995"/>
              </a:spcAft>
              <a:buClrTx/>
              <a:buSzTx/>
              <a:buNone/>
            </a:pPr>
            <a:endParaRPr lang="en-CA" sz="2400" dirty="0">
              <a:solidFill>
                <a:prstClr val="black"/>
              </a:solidFill>
              <a:latin typeface="Arial"/>
              <a:ea typeface="Times New Roman"/>
              <a:cs typeface="Times New Roman"/>
            </a:endParaRPr>
          </a:p>
        </p:txBody>
      </p:sp>
    </p:spTree>
    <p:extLst>
      <p:ext uri="{BB962C8B-B14F-4D97-AF65-F5344CB8AC3E}">
        <p14:creationId xmlns:p14="http://schemas.microsoft.com/office/powerpoint/2010/main" val="2665484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fa5b7849-0de3-411d-9c71-95449cc44b1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Managing Groups</a:t>
            </a:r>
            <a:endParaRPr lang="en-CA" dirty="0"/>
          </a:p>
        </p:txBody>
      </p:sp>
      <p:sp>
        <p:nvSpPr>
          <p:cNvPr id="3" name="Text Placeholder 2"/>
          <p:cNvSpPr>
            <a:spLocks noGrp="1"/>
          </p:cNvSpPr>
          <p:nvPr>
            <p:ph type="body" idx="1"/>
          </p:nvPr>
        </p:nvSpPr>
        <p:spPr/>
        <p:txBody>
          <a:bodyPr/>
          <a:lstStyle/>
          <a:p>
            <a:r>
              <a:rPr lang="en-CA" dirty="0" smtClean="0"/>
              <a:t>Group Types
Group Scopes
Implementing Group Management
Default Groups
Special Identities
Demonstration: Managing Groups</a:t>
            </a:r>
            <a:endParaRPr lang="en-CA" dirty="0"/>
          </a:p>
        </p:txBody>
      </p:sp>
    </p:spTree>
    <p:extLst>
      <p:ext uri="{BB962C8B-B14F-4D97-AF65-F5344CB8AC3E}">
        <p14:creationId xmlns:p14="http://schemas.microsoft.com/office/powerpoint/2010/main" val="2331209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0aa0134-8f2e-4e2a-9274-cd5e251db97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Types de Groupes</a:t>
            </a:r>
            <a:endParaRPr lang="fr-FR" dirty="0"/>
          </a:p>
        </p:txBody>
      </p:sp>
      <p:sp>
        <p:nvSpPr>
          <p:cNvPr id="4" name="Content Placeholder 2"/>
          <p:cNvSpPr>
            <a:spLocks noGrp="1"/>
          </p:cNvSpPr>
          <p:nvPr/>
        </p:nvSpPr>
        <p:spPr bwMode="auto">
          <a:xfrm>
            <a:off x="443480" y="1037374"/>
            <a:ext cx="5565351" cy="555997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dirty="0" smtClean="0"/>
              <a:t>Groupe de distribution</a:t>
            </a:r>
          </a:p>
          <a:p>
            <a:pPr lvl="1"/>
            <a:r>
              <a:rPr lang="fr-FR" dirty="0" smtClean="0"/>
              <a:t>Utilisé avec les applications mail.</a:t>
            </a:r>
          </a:p>
          <a:p>
            <a:pPr lvl="1"/>
            <a:r>
              <a:rPr lang="fr-FR" dirty="0" smtClean="0"/>
              <a:t>Non « sécure » (pas de SID). Attribuer des autorisations impossible.</a:t>
            </a:r>
            <a:endParaRPr lang="fr-FR" sz="1400" dirty="0" smtClean="0"/>
          </a:p>
          <a:p>
            <a:endParaRPr lang="fr-FR" sz="1600" dirty="0" smtClean="0"/>
          </a:p>
          <a:p>
            <a:r>
              <a:rPr lang="fr-FR" dirty="0" smtClean="0"/>
              <a:t>Groupe de sécurité</a:t>
            </a:r>
          </a:p>
          <a:p>
            <a:pPr lvl="1"/>
            <a:r>
              <a:rPr lang="fr-FR" dirty="0" smtClean="0"/>
              <a:t>« sécure » (avec  SID). Attribuer des autorisations possible.</a:t>
            </a:r>
          </a:p>
          <a:p>
            <a:pPr lvl="1"/>
            <a:r>
              <a:rPr lang="fr-FR" dirty="0" smtClean="0"/>
              <a:t>Peut également être utilisé avec les applications mail.</a:t>
            </a:r>
            <a:endParaRPr lang="fr-FR" sz="1400" dirty="0" smtClean="0"/>
          </a:p>
          <a:p>
            <a:pPr marL="0" lvl="1" indent="0">
              <a:buNone/>
            </a:pPr>
            <a:endParaRPr lang="fr-FR" sz="1400" dirty="0" smtClean="0"/>
          </a:p>
          <a:p>
            <a:pPr marL="0" lvl="1" indent="0">
              <a:buNone/>
            </a:pPr>
            <a:r>
              <a:rPr lang="fr-FR" dirty="0" smtClean="0"/>
              <a:t>Un groupe de distribution peut être converti en groupe de sécurité et vice-versa.</a:t>
            </a:r>
            <a:endParaRPr lang="fr-FR" dirty="0"/>
          </a:p>
        </p:txBody>
      </p:sp>
      <p:grpSp>
        <p:nvGrpSpPr>
          <p:cNvPr id="5" name="Group 4"/>
          <p:cNvGrpSpPr/>
          <p:nvPr/>
        </p:nvGrpSpPr>
        <p:grpSpPr>
          <a:xfrm>
            <a:off x="6364426" y="1426823"/>
            <a:ext cx="2168014" cy="1703053"/>
            <a:chOff x="6071631" y="1426823"/>
            <a:chExt cx="2168014" cy="1703053"/>
          </a:xfrm>
        </p:grpSpPr>
        <p:sp>
          <p:nvSpPr>
            <p:cNvPr id="6" name="Oval 5"/>
            <p:cNvSpPr>
              <a:spLocks noChangeArrowheads="1"/>
            </p:cNvSpPr>
            <p:nvPr/>
          </p:nvSpPr>
          <p:spPr bwMode="auto">
            <a:xfrm>
              <a:off x="6071631" y="2060848"/>
              <a:ext cx="2168014" cy="1069028"/>
            </a:xfrm>
            <a:prstGeom prst="ellipse">
              <a:avLst/>
            </a:prstGeom>
            <a:no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1464" y="1889320"/>
              <a:ext cx="914139" cy="778058"/>
            </a:xfrm>
            <a:prstGeom prst="rect">
              <a:avLst/>
            </a:prstGeom>
          </p:spPr>
        </p:pic>
        <p:pic>
          <p:nvPicPr>
            <p:cNvPr id="8" name="Picture 7"/>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76956" y="1426823"/>
              <a:ext cx="978682" cy="12984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p:cNvGrpSpPr/>
          <p:nvPr/>
        </p:nvGrpSpPr>
        <p:grpSpPr>
          <a:xfrm>
            <a:off x="6292418" y="3941637"/>
            <a:ext cx="2168014" cy="1898675"/>
            <a:chOff x="2974689" y="3659162"/>
            <a:chExt cx="2168014" cy="1898675"/>
          </a:xfrm>
        </p:grpSpPr>
        <p:sp>
          <p:nvSpPr>
            <p:cNvPr id="10" name="Oval 9"/>
            <p:cNvSpPr>
              <a:spLocks noChangeArrowheads="1"/>
            </p:cNvSpPr>
            <p:nvPr/>
          </p:nvSpPr>
          <p:spPr bwMode="auto">
            <a:xfrm>
              <a:off x="2974689" y="4276026"/>
              <a:ext cx="2168014" cy="1069028"/>
            </a:xfrm>
            <a:prstGeom prst="ellipse">
              <a:avLst/>
            </a:prstGeom>
            <a:no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pic>
          <p:nvPicPr>
            <p:cNvPr id="11" name="Picture 10"/>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83416" y="3685048"/>
              <a:ext cx="978682" cy="129848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58696" y="3659162"/>
              <a:ext cx="728412" cy="990518"/>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80481">
              <a:off x="4206017" y="4063243"/>
              <a:ext cx="656716" cy="1494594"/>
            </a:xfrm>
            <a:prstGeom prst="rect">
              <a:avLst/>
            </a:prstGeom>
          </p:spPr>
        </p:pic>
      </p:grpSp>
    </p:spTree>
    <p:extLst>
      <p:ext uri="{BB962C8B-B14F-4D97-AF65-F5344CB8AC3E}">
        <p14:creationId xmlns:p14="http://schemas.microsoft.com/office/powerpoint/2010/main" val="2985809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b407f2b4-e69e-46ed-9d54-df778fdbdd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Etendue des groups</a:t>
            </a:r>
            <a:endParaRPr lang="fr-FR" dirty="0"/>
          </a:p>
        </p:txBody>
      </p:sp>
      <p:sp>
        <p:nvSpPr>
          <p:cNvPr id="4" name="Content Placeholder 1"/>
          <p:cNvSpPr>
            <a:spLocks noGrp="1"/>
          </p:cNvSpPr>
          <p:nvPr/>
        </p:nvSpPr>
        <p:spPr bwMode="auto">
          <a:xfrm>
            <a:off x="584990" y="5248513"/>
            <a:ext cx="8079327" cy="987604"/>
          </a:xfrm>
          <a:prstGeom prst="rect">
            <a:avLst/>
          </a:prstGeom>
          <a:noFill/>
          <a:ln w="9525">
            <a:noFill/>
            <a:miter lim="800000"/>
            <a:headEnd/>
            <a:tailEnd/>
          </a:ln>
        </p:spPr>
        <p:txBody>
          <a:bodyPr vert="horz" wrap="square" lIns="0" tIns="0" rIns="0" bIns="0" numCol="2" anchor="ctr"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lnSpc>
                <a:spcPct val="100000"/>
              </a:lnSpc>
              <a:spcBef>
                <a:spcPts val="0"/>
              </a:spcBef>
              <a:spcAft>
                <a:spcPts val="1500"/>
              </a:spcAft>
              <a:buFontTx/>
              <a:buNone/>
            </a:pPr>
            <a:r>
              <a:rPr lang="en-US" b="1" dirty="0" smtClean="0">
                <a:latin typeface="Segoe UI" pitchFamily="34" charset="0"/>
                <a:ea typeface="Segoe UI" pitchFamily="34" charset="0"/>
                <a:cs typeface="Segoe UI" pitchFamily="34" charset="0"/>
              </a:rPr>
              <a:t>U</a:t>
            </a:r>
            <a:r>
              <a:rPr lang="en-US" dirty="0" smtClean="0">
                <a:latin typeface="Segoe UI" pitchFamily="34" charset="0"/>
                <a:ea typeface="Segoe UI" pitchFamily="34" charset="0"/>
                <a:cs typeface="Segoe UI" pitchFamily="34" charset="0"/>
              </a:rPr>
              <a:t> 	User</a:t>
            </a:r>
            <a:br>
              <a:rPr lang="en-US" dirty="0" smtClean="0">
                <a:latin typeface="Segoe UI" pitchFamily="34" charset="0"/>
                <a:ea typeface="Segoe UI" pitchFamily="34" charset="0"/>
                <a:cs typeface="Segoe UI" pitchFamily="34" charset="0"/>
              </a:rPr>
            </a:br>
            <a:r>
              <a:rPr lang="en-US" b="1" dirty="0" smtClean="0">
                <a:latin typeface="Segoe UI" pitchFamily="34" charset="0"/>
                <a:ea typeface="Segoe UI" pitchFamily="34" charset="0"/>
                <a:cs typeface="Segoe UI" pitchFamily="34" charset="0"/>
              </a:rPr>
              <a:t>C</a:t>
            </a:r>
            <a:r>
              <a:rPr lang="en-US" dirty="0" smtClean="0">
                <a:latin typeface="Segoe UI" pitchFamily="34" charset="0"/>
                <a:ea typeface="Segoe UI" pitchFamily="34" charset="0"/>
                <a:cs typeface="Segoe UI" pitchFamily="34" charset="0"/>
              </a:rPr>
              <a:t>	Computer</a:t>
            </a:r>
            <a:br>
              <a:rPr lang="en-US" dirty="0" smtClean="0">
                <a:latin typeface="Segoe UI" pitchFamily="34" charset="0"/>
                <a:ea typeface="Segoe UI" pitchFamily="34" charset="0"/>
                <a:cs typeface="Segoe UI" pitchFamily="34" charset="0"/>
              </a:rPr>
            </a:br>
            <a:r>
              <a:rPr lang="en-US" b="1" dirty="0" smtClean="0">
                <a:latin typeface="Segoe UI" pitchFamily="34" charset="0"/>
                <a:ea typeface="Segoe UI" pitchFamily="34" charset="0"/>
                <a:cs typeface="Segoe UI" pitchFamily="34" charset="0"/>
              </a:rPr>
              <a:t>GG</a:t>
            </a:r>
            <a:r>
              <a:rPr lang="en-US" dirty="0" smtClean="0">
                <a:latin typeface="Segoe UI" pitchFamily="34" charset="0"/>
                <a:ea typeface="Segoe UI" pitchFamily="34" charset="0"/>
                <a:cs typeface="Segoe UI" pitchFamily="34" charset="0"/>
              </a:rPr>
              <a:t>	Global group</a:t>
            </a:r>
            <a:br>
              <a:rPr lang="en-US" dirty="0" smtClean="0">
                <a:latin typeface="Segoe UI" pitchFamily="34" charset="0"/>
                <a:ea typeface="Segoe UI" pitchFamily="34" charset="0"/>
                <a:cs typeface="Segoe UI" pitchFamily="34" charset="0"/>
              </a:rPr>
            </a:br>
            <a:r>
              <a:rPr lang="en-US" b="1" dirty="0" smtClean="0">
                <a:latin typeface="Segoe UI" pitchFamily="34" charset="0"/>
                <a:ea typeface="Segoe UI" pitchFamily="34" charset="0"/>
                <a:cs typeface="Segoe UI" pitchFamily="34" charset="0"/>
              </a:rPr>
              <a:t>DLG</a:t>
            </a:r>
            <a:r>
              <a:rPr lang="en-US" dirty="0" smtClean="0">
                <a:latin typeface="Segoe UI" pitchFamily="34" charset="0"/>
                <a:ea typeface="Segoe UI" pitchFamily="34" charset="0"/>
                <a:cs typeface="Segoe UI" pitchFamily="34" charset="0"/>
              </a:rPr>
              <a:t>	Domain-local group</a:t>
            </a:r>
            <a:br>
              <a:rPr lang="en-US" dirty="0" smtClean="0">
                <a:latin typeface="Segoe UI" pitchFamily="34" charset="0"/>
                <a:ea typeface="Segoe UI" pitchFamily="34" charset="0"/>
                <a:cs typeface="Segoe UI" pitchFamily="34" charset="0"/>
              </a:rPr>
            </a:br>
            <a:r>
              <a:rPr lang="en-US" b="1" dirty="0" smtClean="0">
                <a:latin typeface="Segoe UI" pitchFamily="34" charset="0"/>
                <a:ea typeface="Segoe UI" pitchFamily="34" charset="0"/>
                <a:cs typeface="Segoe UI" pitchFamily="34" charset="0"/>
              </a:rPr>
              <a:t>UG</a:t>
            </a:r>
            <a:r>
              <a:rPr lang="en-US" dirty="0" smtClean="0">
                <a:latin typeface="Segoe UI" pitchFamily="34" charset="0"/>
                <a:ea typeface="Segoe UI" pitchFamily="34" charset="0"/>
                <a:cs typeface="Segoe UI" pitchFamily="34" charset="0"/>
              </a:rPr>
              <a:t>	Universal group</a:t>
            </a:r>
          </a:p>
        </p:txBody>
      </p:sp>
      <p:graphicFrame>
        <p:nvGraphicFramePr>
          <p:cNvPr id="5" name="Group 45"/>
          <p:cNvGraphicFramePr>
            <a:graphicFrameLocks noGrp="1"/>
          </p:cNvGraphicFramePr>
          <p:nvPr>
            <p:extLst>
              <p:ext uri="{D42A27DB-BD31-4B8C-83A1-F6EECF244321}">
                <p14:modId xmlns:p14="http://schemas.microsoft.com/office/powerpoint/2010/main" val="2300204453"/>
              </p:ext>
            </p:extLst>
          </p:nvPr>
        </p:nvGraphicFramePr>
        <p:xfrm>
          <a:off x="467544" y="819933"/>
          <a:ext cx="8298474" cy="4253849"/>
        </p:xfrm>
        <a:graphic>
          <a:graphicData uri="http://schemas.openxmlformats.org/drawingml/2006/table">
            <a:tbl>
              <a:tblPr>
                <a:tableStyleId>{5DA37D80-6434-44D0-A028-1B22A696006F}</a:tableStyleId>
              </a:tblPr>
              <a:tblGrid>
                <a:gridCol w="1143142"/>
                <a:gridCol w="1728132"/>
                <a:gridCol w="1518408"/>
                <a:gridCol w="1803633"/>
                <a:gridCol w="2105159"/>
              </a:tblGrid>
              <a:tr h="10429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Group scope</a:t>
                      </a:r>
                      <a:endParaRPr kumimoji="0" lang="en-US" sz="1700" b="1" i="0" u="none" strike="noStrike" cap="none" normalizeH="0" baseline="0" dirty="0" smtClean="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Members from same domain</a:t>
                      </a:r>
                      <a:endParaRPr kumimoji="0" lang="en-US" sz="1700" b="1" i="0" u="none" strike="noStrike" cap="none" normalizeH="0" baseline="0" dirty="0" smtClean="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Members from domain in same forest</a:t>
                      </a:r>
                      <a:endParaRPr kumimoji="0" lang="en-US" sz="1700" b="1" i="0" u="none" strike="noStrike" cap="none" normalizeH="0" baseline="0" dirty="0" smtClean="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Members from trusted external domain</a:t>
                      </a:r>
                      <a:endParaRPr kumimoji="0" lang="en-US" sz="1700" b="1" i="0" u="none" strike="noStrike" cap="none" normalizeH="0" baseline="0" dirty="0" smtClean="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Can be</a:t>
                      </a:r>
                      <a:br>
                        <a:rPr kumimoji="0" lang="en-US" sz="1700" b="1" u="none" strike="noStrike" cap="none" normalizeH="0" baseline="0" dirty="0" smtClean="0">
                          <a:ln>
                            <a:noFill/>
                          </a:ln>
                          <a:effectLst/>
                          <a:latin typeface="Segoe UI" pitchFamily="34" charset="0"/>
                          <a:ea typeface="Segoe UI" pitchFamily="34" charset="0"/>
                          <a:cs typeface="Segoe UI" pitchFamily="34" charset="0"/>
                        </a:rPr>
                      </a:br>
                      <a:r>
                        <a:rPr kumimoji="0" lang="en-US" sz="1700" b="1" u="none" strike="noStrike" cap="none" normalizeH="0" baseline="0" dirty="0" smtClean="0">
                          <a:ln>
                            <a:noFill/>
                          </a:ln>
                          <a:effectLst/>
                          <a:latin typeface="Segoe UI" pitchFamily="34" charset="0"/>
                          <a:ea typeface="Segoe UI" pitchFamily="34" charset="0"/>
                          <a:cs typeface="Segoe UI" pitchFamily="34" charset="0"/>
                        </a:rPr>
                        <a:t>assigned</a:t>
                      </a:r>
                      <a:br>
                        <a:rPr kumimoji="0" lang="en-US" sz="1700" b="1" u="none" strike="noStrike" cap="none" normalizeH="0" baseline="0" dirty="0" smtClean="0">
                          <a:ln>
                            <a:noFill/>
                          </a:ln>
                          <a:effectLst/>
                          <a:latin typeface="Segoe UI" pitchFamily="34" charset="0"/>
                          <a:ea typeface="Segoe UI" pitchFamily="34" charset="0"/>
                          <a:cs typeface="Segoe UI" pitchFamily="34" charset="0"/>
                        </a:rPr>
                      </a:br>
                      <a:r>
                        <a:rPr kumimoji="0" lang="en-US" sz="1700" b="1" u="none" strike="noStrike" cap="none" normalizeH="0" baseline="0" dirty="0" smtClean="0">
                          <a:ln>
                            <a:noFill/>
                          </a:ln>
                          <a:effectLst/>
                          <a:latin typeface="Segoe UI" pitchFamily="34" charset="0"/>
                          <a:ea typeface="Segoe UI" pitchFamily="34" charset="0"/>
                          <a:cs typeface="Segoe UI" pitchFamily="34" charset="0"/>
                        </a:rPr>
                        <a:t>permissions to resources</a:t>
                      </a:r>
                      <a:endParaRPr kumimoji="0" lang="en-US" sz="1700" b="1" i="0" u="none" strike="noStrike" cap="none" normalizeH="0" baseline="0" dirty="0" smtClean="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r>
              <a:tr h="890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Local</a:t>
                      </a:r>
                      <a:endParaRPr kumimoji="0" lang="en-US" sz="17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 DLG, UG</a:t>
                      </a:r>
                      <a:br>
                        <a:rPr kumimoji="0" lang="en-US" sz="1800" u="none" strike="noStrike" cap="none" normalizeH="0" baseline="0" dirty="0" smtClean="0">
                          <a:ln>
                            <a:noFill/>
                          </a:ln>
                          <a:effectLst/>
                          <a:latin typeface="Segoe UI" pitchFamily="34" charset="0"/>
                          <a:ea typeface="Segoe UI" pitchFamily="34" charset="0"/>
                          <a:cs typeface="Segoe UI" pitchFamily="34" charset="0"/>
                        </a:rPr>
                      </a:br>
                      <a:r>
                        <a:rPr kumimoji="0" lang="en-US" sz="1800" u="none" strike="noStrike" cap="none" normalizeH="0" baseline="0" dirty="0" smtClean="0">
                          <a:ln>
                            <a:noFill/>
                          </a:ln>
                          <a:effectLst/>
                          <a:latin typeface="Segoe UI" pitchFamily="34" charset="0"/>
                          <a:ea typeface="Segoe UI" pitchFamily="34" charset="0"/>
                          <a:cs typeface="Segoe UI" pitchFamily="34" charset="0"/>
                        </a:rPr>
                        <a:t>and local users</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On the local computer only</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r>
              <a:tr h="657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Domain-local</a:t>
                      </a:r>
                      <a:endParaRPr kumimoji="0" lang="en-US" sz="17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 DLG, UG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Anywhere in the domain</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Universal</a:t>
                      </a:r>
                      <a:endParaRPr kumimoji="0" lang="en-US" sz="17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N/A</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Anywhere in the forest</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r>
              <a:tr h="862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smtClean="0">
                          <a:ln>
                            <a:noFill/>
                          </a:ln>
                          <a:effectLst/>
                          <a:latin typeface="Segoe UI" pitchFamily="34" charset="0"/>
                          <a:ea typeface="Segoe UI" pitchFamily="34" charset="0"/>
                          <a:cs typeface="Segoe UI" pitchFamily="34" charset="0"/>
                        </a:rPr>
                        <a:t>Global </a:t>
                      </a:r>
                      <a:endParaRPr kumimoji="0" lang="en-US" sz="17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GG</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N/A</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N/A</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smtClean="0">
                          <a:ln>
                            <a:noFill/>
                          </a:ln>
                          <a:effectLst/>
                          <a:latin typeface="Segoe UI" pitchFamily="34" charset="0"/>
                          <a:ea typeface="Segoe UI" pitchFamily="34" charset="0"/>
                          <a:cs typeface="Segoe UI" pitchFamily="34" charset="0"/>
                        </a:rPr>
                        <a:t>Anywhere in the domain or a trusted domain</a:t>
                      </a:r>
                      <a:endParaRPr kumimoji="0" lang="en-US" sz="18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r>
            </a:tbl>
          </a:graphicData>
        </a:graphic>
      </p:graphicFrame>
    </p:spTree>
    <p:extLst>
      <p:ext uri="{BB962C8B-B14F-4D97-AF65-F5344CB8AC3E}">
        <p14:creationId xmlns:p14="http://schemas.microsoft.com/office/powerpoint/2010/main" val="966662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f906f611-1e3d-4576-8ed8-e088cd7399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Stratégie IGDLA</a:t>
            </a:r>
            <a:endParaRPr lang="fr-FR" dirty="0"/>
          </a:p>
        </p:txBody>
      </p:sp>
      <p:sp>
        <p:nvSpPr>
          <p:cNvPr id="4" name="big grey oval"/>
          <p:cNvSpPr/>
          <p:nvPr/>
        </p:nvSpPr>
        <p:spPr bwMode="auto">
          <a:xfrm>
            <a:off x="3845225" y="1238326"/>
            <a:ext cx="5027240" cy="2740877"/>
          </a:xfrm>
          <a:prstGeom prst="ellipse">
            <a:avLst/>
          </a:prstGeom>
          <a:solidFill>
            <a:schemeClr val="bg2">
              <a:lumMod val="40000"/>
              <a:lumOff val="60000"/>
            </a:schemeClr>
          </a:solidFill>
          <a:ln w="41275">
            <a:solidFill>
              <a:schemeClr val="bg2">
                <a:lumMod val="40000"/>
                <a:lumOff val="60000"/>
              </a:schemeClr>
            </a:solidFill>
            <a:headEnd type="none" w="med" len="med"/>
            <a:tailEnd type="none" w="med" len="med"/>
          </a:ln>
          <a:effectLst/>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5" name="&quot;ACL Sales Read&quot;"/>
          <p:cNvSpPr txBox="1"/>
          <p:nvPr/>
        </p:nvSpPr>
        <p:spPr>
          <a:xfrm>
            <a:off x="4764398" y="3363650"/>
            <a:ext cx="3175385" cy="650563"/>
          </a:xfrm>
          <a:prstGeom prst="rect">
            <a:avLst/>
          </a:prstGeom>
          <a:noFill/>
        </p:spPr>
        <p:txBody>
          <a:bodyPr wrap="square" t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sz="2000" b="0" dirty="0" smtClean="0">
                <a:latin typeface="Segoe UI" pitchFamily="34" charset="0"/>
                <a:ea typeface="Segoe UI" pitchFamily="34" charset="0"/>
                <a:cs typeface="Segoe UI" pitchFamily="34" charset="0"/>
              </a:rPr>
              <a:t>ACL_Sales_Read</a:t>
            </a:r>
            <a:br>
              <a:rPr lang="en-US" sz="2000" b="0" dirty="0" smtClean="0">
                <a:latin typeface="Segoe UI" pitchFamily="34" charset="0"/>
                <a:ea typeface="Segoe UI" pitchFamily="34" charset="0"/>
                <a:cs typeface="Segoe UI" pitchFamily="34" charset="0"/>
              </a:rPr>
            </a:br>
            <a:r>
              <a:rPr lang="en-US" sz="2000" b="0" dirty="0" smtClean="0">
                <a:latin typeface="Segoe UI" pitchFamily="34" charset="0"/>
                <a:ea typeface="Segoe UI" pitchFamily="34" charset="0"/>
                <a:cs typeface="Segoe UI" pitchFamily="34" charset="0"/>
              </a:rPr>
              <a:t>(Domain-local group)</a:t>
            </a:r>
            <a:endParaRPr lang="en-US" sz="2000" b="0" dirty="0">
              <a:latin typeface="Segoe UI" pitchFamily="34" charset="0"/>
              <a:ea typeface="Segoe UI" pitchFamily="34" charset="0"/>
              <a:cs typeface="Segoe UI" pitchFamily="34" charset="0"/>
            </a:endParaRPr>
          </a:p>
        </p:txBody>
      </p:sp>
      <p:sp>
        <p:nvSpPr>
          <p:cNvPr id="6" name="small blue oval"/>
          <p:cNvSpPr>
            <a:spLocks noChangeArrowheads="1"/>
          </p:cNvSpPr>
          <p:nvPr/>
        </p:nvSpPr>
        <p:spPr bwMode="auto">
          <a:xfrm>
            <a:off x="3752312" y="1227921"/>
            <a:ext cx="2396264" cy="1662809"/>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pic>
        <p:nvPicPr>
          <p:cNvPr id="7"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271" y="1162758"/>
            <a:ext cx="607329" cy="607329"/>
          </a:xfrm>
          <a:prstGeom prst="rect">
            <a:avLst/>
          </a:prstGeom>
        </p:spPr>
      </p:pic>
      <p:pic>
        <p:nvPicPr>
          <p:cNvPr id="8"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4412" y="95519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9"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25854" y="1227921"/>
            <a:ext cx="626505" cy="707281"/>
          </a:xfrm>
          <a:prstGeom prst="rect">
            <a:avLst/>
          </a:prstGeom>
        </p:spPr>
      </p:pic>
      <p:sp>
        <p:nvSpPr>
          <p:cNvPr id="10" name="&quot;sales&quot;"/>
          <p:cNvSpPr txBox="1"/>
          <p:nvPr/>
        </p:nvSpPr>
        <p:spPr>
          <a:xfrm>
            <a:off x="4077744" y="2057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smtClean="0">
                <a:latin typeface="Segoe UI" pitchFamily="34" charset="0"/>
                <a:ea typeface="Segoe UI" pitchFamily="34" charset="0"/>
                <a:cs typeface="Segoe UI" pitchFamily="34" charset="0"/>
              </a:rPr>
              <a:t>Sales</a:t>
            </a:r>
          </a:p>
          <a:p>
            <a:pPr algn="ctr">
              <a:lnSpc>
                <a:spcPct val="110000"/>
              </a:lnSpc>
            </a:pPr>
            <a:r>
              <a:rPr lang="en-US" b="0" dirty="0" smtClean="0">
                <a:latin typeface="Segoe UI" pitchFamily="34" charset="0"/>
                <a:ea typeface="Segoe UI" pitchFamily="34" charset="0"/>
                <a:cs typeface="Segoe UI" pitchFamily="34" charset="0"/>
              </a:rPr>
              <a:t>(Global group)</a:t>
            </a:r>
            <a:endParaRPr lang="en-US" b="0" dirty="0">
              <a:latin typeface="Segoe UI" pitchFamily="34" charset="0"/>
              <a:ea typeface="Segoe UI" pitchFamily="34" charset="0"/>
              <a:cs typeface="Segoe UI" pitchFamily="34" charset="0"/>
            </a:endParaRPr>
          </a:p>
        </p:txBody>
      </p:sp>
      <p:sp>
        <p:nvSpPr>
          <p:cNvPr id="11" name="small blue oval"/>
          <p:cNvSpPr>
            <a:spLocks noChangeArrowheads="1"/>
          </p:cNvSpPr>
          <p:nvPr/>
        </p:nvSpPr>
        <p:spPr bwMode="auto">
          <a:xfrm>
            <a:off x="6352091" y="1624307"/>
            <a:ext cx="2396264" cy="1616582"/>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pic>
        <p:nvPicPr>
          <p:cNvPr id="12"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9594" y="1579167"/>
            <a:ext cx="607329" cy="607329"/>
          </a:xfrm>
          <a:prstGeom prst="rect">
            <a:avLst/>
          </a:prstGeom>
        </p:spPr>
      </p:pic>
      <p:pic>
        <p:nvPicPr>
          <p:cNvPr id="13"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87735" y="1371600"/>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4"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68548" y="1762400"/>
            <a:ext cx="499580" cy="563991"/>
          </a:xfrm>
          <a:prstGeom prst="rect">
            <a:avLst/>
          </a:prstGeom>
        </p:spPr>
      </p:pic>
      <p:sp>
        <p:nvSpPr>
          <p:cNvPr id="15" name="&quot;Auditors&quot;"/>
          <p:cNvSpPr txBox="1"/>
          <p:nvPr/>
        </p:nvSpPr>
        <p:spPr>
          <a:xfrm>
            <a:off x="6703434" y="2438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smtClean="0">
                <a:latin typeface="Segoe UI" pitchFamily="34" charset="0"/>
                <a:ea typeface="Segoe UI" pitchFamily="34" charset="0"/>
                <a:cs typeface="Segoe UI" pitchFamily="34" charset="0"/>
              </a:rPr>
              <a:t>Auditors</a:t>
            </a:r>
          </a:p>
          <a:p>
            <a:pPr algn="ctr">
              <a:lnSpc>
                <a:spcPct val="110000"/>
              </a:lnSpc>
            </a:pPr>
            <a:r>
              <a:rPr lang="en-US" b="0" dirty="0" smtClean="0">
                <a:latin typeface="Segoe UI" pitchFamily="34" charset="0"/>
                <a:ea typeface="Segoe UI" pitchFamily="34" charset="0"/>
                <a:cs typeface="Segoe UI" pitchFamily="34" charset="0"/>
              </a:rPr>
              <a:t>(Global group)</a:t>
            </a:r>
            <a:endParaRPr lang="en-US" b="0" dirty="0">
              <a:latin typeface="Segoe UI" pitchFamily="34" charset="0"/>
              <a:ea typeface="Segoe UI" pitchFamily="34" charset="0"/>
              <a:cs typeface="Segoe UI" pitchFamily="34" charset="0"/>
            </a:endParaRPr>
          </a:p>
        </p:txBody>
      </p:sp>
      <p:grpSp>
        <p:nvGrpSpPr>
          <p:cNvPr id="16" name="server, folder, lock"/>
          <p:cNvGrpSpPr/>
          <p:nvPr/>
        </p:nvGrpSpPr>
        <p:grpSpPr>
          <a:xfrm>
            <a:off x="5740152" y="4275739"/>
            <a:ext cx="1437896" cy="2099420"/>
            <a:chOff x="5740152" y="4275739"/>
            <a:chExt cx="1437896" cy="2099420"/>
          </a:xfrm>
        </p:grpSpPr>
        <p:sp>
          <p:nvSpPr>
            <p:cNvPr id="17" name="Down Arrow 16" descr="&#10;"/>
            <p:cNvSpPr/>
            <p:nvPr/>
          </p:nvSpPr>
          <p:spPr bwMode="auto">
            <a:xfrm>
              <a:off x="6034711" y="4275739"/>
              <a:ext cx="821680" cy="544994"/>
            </a:xfrm>
            <a:prstGeom prst="downArrow">
              <a:avLst/>
            </a:prstGeom>
            <a:solidFill>
              <a:schemeClr val="accent2">
                <a:lumMod val="60000"/>
                <a:lumOff val="40000"/>
              </a:schemeClr>
            </a:solidFill>
            <a:ln>
              <a:solidFill>
                <a:schemeClr val="accent6">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40152" y="5058033"/>
              <a:ext cx="618693" cy="1097189"/>
            </a:xfrm>
            <a:prstGeom prst="rect">
              <a:avLst/>
            </a:prstGeom>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96511" y="4906490"/>
              <a:ext cx="681537" cy="915579"/>
            </a:xfrm>
            <a:prstGeom prst="rect">
              <a:avLst/>
            </a:prstGeom>
          </p:spPr>
        </p:pic>
        <p:pic>
          <p:nvPicPr>
            <p:cNvPr id="20" name="Picture 1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39133" y="5499287"/>
              <a:ext cx="650187" cy="875872"/>
            </a:xfrm>
            <a:prstGeom prst="rect">
              <a:avLst/>
            </a:prstGeom>
          </p:spPr>
        </p:pic>
      </p:grpSp>
      <p:grpSp>
        <p:nvGrpSpPr>
          <p:cNvPr id="21" name="Group 20"/>
          <p:cNvGrpSpPr/>
          <p:nvPr/>
        </p:nvGrpSpPr>
        <p:grpSpPr>
          <a:xfrm>
            <a:off x="145132" y="3692605"/>
            <a:ext cx="4076834" cy="1354217"/>
            <a:chOff x="228600" y="3917422"/>
            <a:chExt cx="4076834" cy="1551324"/>
          </a:xfrm>
        </p:grpSpPr>
        <p:sp>
          <p:nvSpPr>
            <p:cNvPr id="22" name="TextBox 21"/>
            <p:cNvSpPr txBox="1"/>
            <p:nvPr/>
          </p:nvSpPr>
          <p:spPr>
            <a:xfrm>
              <a:off x="589801" y="3917422"/>
              <a:ext cx="3715633" cy="155132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smtClean="0">
                  <a:latin typeface="Segoe UI" pitchFamily="34" charset="0"/>
                  <a:ea typeface="Segoe UI" pitchFamily="34" charset="0"/>
                  <a:cs typeface="Segoe UI" pitchFamily="34" charset="0"/>
                </a:rPr>
                <a:t>Domain-local groups</a:t>
              </a:r>
            </a:p>
            <a:p>
              <a:r>
                <a:rPr lang="en-US" sz="2200" b="0" dirty="0" smtClean="0">
                  <a:latin typeface="Segoe UI" pitchFamily="34" charset="0"/>
                  <a:ea typeface="Segoe UI" pitchFamily="34" charset="0"/>
                  <a:cs typeface="Segoe UI" pitchFamily="34" charset="0"/>
                </a:rPr>
                <a:t>Which provide management </a:t>
              </a:r>
            </a:p>
            <a:p>
              <a:r>
                <a:rPr lang="en-US" sz="2200" b="0" dirty="0" smtClean="0">
                  <a:latin typeface="Segoe UI" pitchFamily="34" charset="0"/>
                  <a:ea typeface="Segoe UI" pitchFamily="34" charset="0"/>
                  <a:cs typeface="Segoe UI" pitchFamily="34" charset="0"/>
                </a:rPr>
                <a:t>such as resource access,</a:t>
              </a:r>
            </a:p>
            <a:p>
              <a:r>
                <a:rPr lang="en-US" sz="2200" b="0" dirty="0">
                  <a:latin typeface="Segoe UI" pitchFamily="34" charset="0"/>
                  <a:ea typeface="Segoe UI" pitchFamily="34" charset="0"/>
                  <a:cs typeface="Segoe UI" pitchFamily="34" charset="0"/>
                </a:rPr>
                <a:t>which are </a:t>
              </a:r>
              <a:endParaRPr lang="en-US" sz="2200" b="0" dirty="0" smtClean="0">
                <a:latin typeface="Segoe UI" pitchFamily="34" charset="0"/>
                <a:ea typeface="Segoe UI" pitchFamily="34" charset="0"/>
                <a:cs typeface="Segoe UI" pitchFamily="34" charset="0"/>
              </a:endParaRPr>
            </a:p>
          </p:txBody>
        </p:sp>
        <p:sp>
          <p:nvSpPr>
            <p:cNvPr id="23" name="TextBox 22"/>
            <p:cNvSpPr txBox="1"/>
            <p:nvPr/>
          </p:nvSpPr>
          <p:spPr>
            <a:xfrm>
              <a:off x="228600" y="3917422"/>
              <a:ext cx="609600" cy="38783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smtClean="0">
                  <a:latin typeface="Segoe UI" pitchFamily="34" charset="0"/>
                  <a:ea typeface="Segoe UI" pitchFamily="34" charset="0"/>
                  <a:cs typeface="Segoe UI" pitchFamily="34" charset="0"/>
                </a:rPr>
                <a:t>DL</a:t>
              </a:r>
            </a:p>
          </p:txBody>
        </p:sp>
      </p:grpSp>
      <p:grpSp>
        <p:nvGrpSpPr>
          <p:cNvPr id="24" name="Group 23"/>
          <p:cNvGrpSpPr/>
          <p:nvPr/>
        </p:nvGrpSpPr>
        <p:grpSpPr>
          <a:xfrm>
            <a:off x="228257" y="2113911"/>
            <a:ext cx="3730484" cy="1390568"/>
            <a:chOff x="228600" y="2964592"/>
            <a:chExt cx="3730484" cy="1390568"/>
          </a:xfrm>
        </p:grpSpPr>
        <p:sp>
          <p:nvSpPr>
            <p:cNvPr id="25" name="TextBox 24"/>
            <p:cNvSpPr txBox="1"/>
            <p:nvPr/>
          </p:nvSpPr>
          <p:spPr>
            <a:xfrm>
              <a:off x="526223" y="2964592"/>
              <a:ext cx="3432861" cy="139056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smtClean="0">
                  <a:latin typeface="Segoe UI" pitchFamily="34" charset="0"/>
                  <a:ea typeface="Segoe UI" pitchFamily="34" charset="0"/>
                  <a:cs typeface="Segoe UI" pitchFamily="34" charset="0"/>
                </a:rPr>
                <a:t>Global groups</a:t>
              </a:r>
            </a:p>
            <a:p>
              <a:r>
                <a:rPr lang="en-US" sz="2200" b="0" dirty="0" smtClean="0">
                  <a:latin typeface="Segoe UI" pitchFamily="34" charset="0"/>
                  <a:ea typeface="Segoe UI" pitchFamily="34" charset="0"/>
                  <a:cs typeface="Segoe UI" pitchFamily="34" charset="0"/>
                </a:rPr>
                <a:t>Which collect members based on members’ roles,</a:t>
              </a:r>
            </a:p>
            <a:p>
              <a:r>
                <a:rPr lang="en-US" sz="2200" b="0" dirty="0">
                  <a:latin typeface="Segoe UI" pitchFamily="34" charset="0"/>
                  <a:ea typeface="Segoe UI" pitchFamily="34" charset="0"/>
                  <a:cs typeface="Segoe UI" pitchFamily="34" charset="0"/>
                </a:rPr>
                <a:t>which are members of</a:t>
              </a:r>
              <a:endParaRPr lang="en-US" sz="2200" b="0" dirty="0" smtClean="0">
                <a:latin typeface="Segoe UI" pitchFamily="34" charset="0"/>
                <a:ea typeface="Segoe UI" pitchFamily="34" charset="0"/>
                <a:cs typeface="Segoe UI" pitchFamily="34" charset="0"/>
              </a:endParaRPr>
            </a:p>
          </p:txBody>
        </p:sp>
        <p:sp>
          <p:nvSpPr>
            <p:cNvPr id="26" name="TextBox 25"/>
            <p:cNvSpPr txBox="1"/>
            <p:nvPr/>
          </p:nvSpPr>
          <p:spPr>
            <a:xfrm>
              <a:off x="228600" y="2983728"/>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a:t>
              </a:r>
              <a:endParaRPr lang="en-US" sz="2200" b="0" dirty="0" smtClean="0">
                <a:latin typeface="Segoe UI" pitchFamily="34" charset="0"/>
                <a:ea typeface="Segoe UI" pitchFamily="34" charset="0"/>
                <a:cs typeface="Segoe UI" pitchFamily="34" charset="0"/>
              </a:endParaRPr>
            </a:p>
          </p:txBody>
        </p:sp>
      </p:grpSp>
      <p:grpSp>
        <p:nvGrpSpPr>
          <p:cNvPr id="27" name="Group 26"/>
          <p:cNvGrpSpPr/>
          <p:nvPr/>
        </p:nvGrpSpPr>
        <p:grpSpPr>
          <a:xfrm>
            <a:off x="294757" y="950111"/>
            <a:ext cx="3269644" cy="1031444"/>
            <a:chOff x="228257" y="1277209"/>
            <a:chExt cx="2686877" cy="985187"/>
          </a:xfrm>
        </p:grpSpPr>
        <p:sp>
          <p:nvSpPr>
            <p:cNvPr id="28" name="TextBox 27"/>
            <p:cNvSpPr txBox="1"/>
            <p:nvPr/>
          </p:nvSpPr>
          <p:spPr>
            <a:xfrm>
              <a:off x="410427"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smtClean="0">
                  <a:latin typeface="Segoe UI" pitchFamily="34" charset="0"/>
                  <a:ea typeface="Segoe UI" pitchFamily="34" charset="0"/>
                  <a:cs typeface="Segoe UI" pitchFamily="34" charset="0"/>
                </a:rPr>
                <a:t>Identities</a:t>
              </a:r>
            </a:p>
            <a:p>
              <a:r>
                <a:rPr lang="en-US" sz="2200" b="0" dirty="0" smtClean="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a:t>
              </a:r>
              <a:r>
                <a:rPr lang="en-US" sz="2200" b="0" dirty="0" smtClean="0">
                  <a:latin typeface="Segoe UI" pitchFamily="34" charset="0"/>
                  <a:ea typeface="Segoe UI" pitchFamily="34" charset="0"/>
                  <a:cs typeface="Segoe UI" pitchFamily="34" charset="0"/>
                </a:rPr>
                <a:t>of</a:t>
              </a:r>
              <a:endParaRPr lang="en-US" sz="2200" b="0" dirty="0">
                <a:latin typeface="Segoe UI" pitchFamily="34" charset="0"/>
                <a:ea typeface="Segoe UI" pitchFamily="34" charset="0"/>
                <a:cs typeface="Segoe UI" pitchFamily="34" charset="0"/>
              </a:endParaRPr>
            </a:p>
          </p:txBody>
        </p:sp>
        <p:sp>
          <p:nvSpPr>
            <p:cNvPr id="29" name="TextBox 28"/>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endParaRPr lang="en-US" sz="2200" b="0" dirty="0" smtClean="0">
                <a:latin typeface="Segoe UI" pitchFamily="34" charset="0"/>
                <a:ea typeface="Segoe UI" pitchFamily="34" charset="0"/>
                <a:cs typeface="Segoe UI" pitchFamily="34" charset="0"/>
              </a:endParaRPr>
            </a:p>
          </p:txBody>
        </p:sp>
      </p:grpSp>
      <p:grpSp>
        <p:nvGrpSpPr>
          <p:cNvPr id="30" name="Assigned access to a resource"/>
          <p:cNvGrpSpPr/>
          <p:nvPr/>
        </p:nvGrpSpPr>
        <p:grpSpPr>
          <a:xfrm>
            <a:off x="221994" y="5127697"/>
            <a:ext cx="4329765" cy="338554"/>
            <a:chOff x="222337" y="5889697"/>
            <a:chExt cx="4329765" cy="338554"/>
          </a:xfrm>
        </p:grpSpPr>
        <p:sp>
          <p:nvSpPr>
            <p:cNvPr id="31" name="TextBox 30"/>
            <p:cNvSpPr txBox="1"/>
            <p:nvPr/>
          </p:nvSpPr>
          <p:spPr>
            <a:xfrm>
              <a:off x="497227" y="5889697"/>
              <a:ext cx="4054875"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smtClean="0">
                  <a:latin typeface="Segoe UI" pitchFamily="34" charset="0"/>
                  <a:ea typeface="Segoe UI" pitchFamily="34" charset="0"/>
                  <a:cs typeface="Segoe UI" pitchFamily="34" charset="0"/>
                </a:rPr>
                <a:t>Assigned access to a resource</a:t>
              </a:r>
            </a:p>
          </p:txBody>
        </p:sp>
        <p:sp>
          <p:nvSpPr>
            <p:cNvPr id="32" name="TextBox 31"/>
            <p:cNvSpPr txBox="1"/>
            <p:nvPr/>
          </p:nvSpPr>
          <p:spPr>
            <a:xfrm>
              <a:off x="222337" y="5889697"/>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smtClean="0">
                  <a:latin typeface="Segoe UI" pitchFamily="34" charset="0"/>
                  <a:ea typeface="Segoe UI" pitchFamily="34" charset="0"/>
                  <a:cs typeface="Segoe UI" pitchFamily="34" charset="0"/>
                </a:rPr>
                <a:t>A</a:t>
              </a:r>
            </a:p>
          </p:txBody>
        </p:sp>
      </p:grpSp>
      <p:pic>
        <p:nvPicPr>
          <p:cNvPr id="33" name="alt text here, play symbol" descr="An illustration of two global security groups, Sales and Auditors, both of which belong to the ACL_Sales_Read domain local group. This group has permissions on a server-based shared resourc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57868" y="612763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Box 32"/>
          <p:cNvSpPr txBox="1"/>
          <p:nvPr/>
        </p:nvSpPr>
        <p:spPr>
          <a:xfrm>
            <a:off x="526794" y="5536289"/>
            <a:ext cx="4125565" cy="811367"/>
          </a:xfrm>
          <a:prstGeom prst="rect">
            <a:avLst/>
          </a:prstGeom>
          <a:noFill/>
          <a:ln>
            <a:solidFill>
              <a:schemeClr val="tx2">
                <a:lumMod val="65000"/>
                <a:lumOff val="35000"/>
              </a:schemeClr>
            </a:solidFill>
          </a:ln>
          <a:effectLst/>
        </p:spPr>
        <p:txBody>
          <a:bodyPr wrap="square" lIns="72000" tIns="36000" rIns="72000" bIns="3600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This best practice for nesting groups is known as IGDLA.</a:t>
            </a:r>
            <a:endParaRPr lang="en-US" sz="24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316902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b39a4aff-b4f8-471e-b453-9eca4ac63298">
    <p:spTree>
      <p:nvGrpSpPr>
        <p:cNvPr id="1" name=""/>
        <p:cNvGrpSpPr/>
        <p:nvPr/>
      </p:nvGrpSpPr>
      <p:grpSpPr>
        <a:xfrm>
          <a:off x="0" y="0"/>
          <a:ext cx="0" cy="0"/>
          <a:chOff x="0" y="0"/>
          <a:chExt cx="0" cy="0"/>
        </a:xfrm>
      </p:grpSpPr>
      <p:sp>
        <p:nvSpPr>
          <p:cNvPr id="2" name="Title 1"/>
          <p:cNvSpPr>
            <a:spLocks noGrp="1"/>
          </p:cNvSpPr>
          <p:nvPr>
            <p:ph type="title"/>
          </p:nvPr>
        </p:nvSpPr>
        <p:spPr>
          <a:xfrm>
            <a:off x="460375" y="1882"/>
            <a:ext cx="7773988" cy="738780"/>
          </a:xfrm>
        </p:spPr>
        <p:txBody>
          <a:bodyPr/>
          <a:lstStyle/>
          <a:p>
            <a:r>
              <a:rPr lang="fr-FR" dirty="0" smtClean="0"/>
              <a:t>Groupes par défaut</a:t>
            </a:r>
            <a:endParaRPr lang="fr-FR" dirty="0"/>
          </a:p>
        </p:txBody>
      </p:sp>
      <p:sp>
        <p:nvSpPr>
          <p:cNvPr id="4" name="Rounded Rectangle 3"/>
          <p:cNvSpPr>
            <a:spLocks noChangeArrowheads="1"/>
          </p:cNvSpPr>
          <p:nvPr/>
        </p:nvSpPr>
        <p:spPr bwMode="auto">
          <a:xfrm>
            <a:off x="185737" y="1124744"/>
            <a:ext cx="8721725" cy="5213798"/>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0" hangingPunct="0"/>
            <a:endParaRPr lang="en-US" sz="2400" dirty="0">
              <a:latin typeface="Segoe UI" pitchFamily="34" charset="0"/>
              <a:ea typeface="Segoe UI" pitchFamily="34" charset="0"/>
              <a:cs typeface="Segoe UI" pitchFamily="34" charset="0"/>
            </a:endParaRPr>
          </a:p>
          <a:p>
            <a:pPr eaLnBrk="0" hangingPunct="0"/>
            <a:endParaRPr lang="en-US" sz="2400" b="0" dirty="0">
              <a:latin typeface="Segoe UI" pitchFamily="34" charset="0"/>
              <a:ea typeface="Segoe UI" pitchFamily="34" charset="0"/>
              <a:cs typeface="Segoe UI"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000912996"/>
              </p:ext>
            </p:extLst>
          </p:nvPr>
        </p:nvGraphicFramePr>
        <p:xfrm>
          <a:off x="323528" y="1124744"/>
          <a:ext cx="8583934" cy="5248080"/>
        </p:xfrm>
        <a:graphic>
          <a:graphicData uri="http://schemas.openxmlformats.org/drawingml/2006/table">
            <a:tbl>
              <a:tblPr firstRow="1" bandRow="1">
                <a:tableStyleId>{9DCAF9ED-07DC-4A11-8D7F-57B35C25682E}</a:tableStyleId>
              </a:tblPr>
              <a:tblGrid>
                <a:gridCol w="2923889"/>
                <a:gridCol w="5660045"/>
              </a:tblGrid>
              <a:tr h="348615">
                <a:tc>
                  <a:txBody>
                    <a:bodyPr/>
                    <a:lstStyle/>
                    <a:p>
                      <a:r>
                        <a:rPr lang="en-US" sz="2400" dirty="0" smtClean="0">
                          <a:latin typeface="Segoe UI" panose="020B0502040204020203" pitchFamily="34" charset="0"/>
                          <a:ea typeface="Segoe UI" panose="020B0502040204020203" pitchFamily="34" charset="0"/>
                          <a:cs typeface="Segoe UI" panose="020B0502040204020203" pitchFamily="34" charset="0"/>
                        </a:rPr>
                        <a:t>Group</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marL="90000" marR="90000" marT="18000" marB="18000"/>
                </a:tc>
                <a:tc>
                  <a:txBody>
                    <a:bodyPr/>
                    <a:lstStyle/>
                    <a:p>
                      <a:r>
                        <a:rPr lang="en-US" sz="2400" dirty="0" smtClean="0">
                          <a:latin typeface="Segoe UI" panose="020B0502040204020203" pitchFamily="34" charset="0"/>
                          <a:ea typeface="Segoe UI" panose="020B0502040204020203" pitchFamily="34" charset="0"/>
                          <a:cs typeface="Segoe UI" panose="020B0502040204020203" pitchFamily="34" charset="0"/>
                        </a:rPr>
                        <a:t>Location</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marL="90000" marR="90000" marT="18000" marB="18000"/>
                </a:tc>
              </a:tr>
              <a:tr h="389927">
                <a:tc>
                  <a:txBody>
                    <a:bodyPr/>
                    <a:lstStyle/>
                    <a:p>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Enterprise Admins</a:t>
                      </a:r>
                      <a:endPar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Users container of the forest root domain</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a:tc>
              </a:tr>
              <a:tr h="374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Schema Admins</a:t>
                      </a:r>
                      <a:endPar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Users container of the forest root domain</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Administrators </a:t>
                      </a:r>
                      <a:endPar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sz="2400"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Domain Admins </a:t>
                      </a:r>
                      <a:endPar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Users container of each domain </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Server Operators </a:t>
                      </a:r>
                      <a:endPar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Account Operators</a:t>
                      </a:r>
                      <a:endPar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Backup Operators</a:t>
                      </a:r>
                      <a:endParaRPr lang="en-US" sz="2400" b="1" dirty="0">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Built-in container of</a:t>
                      </a:r>
                      <a:r>
                        <a:rPr lang="en-US" sz="2400" kern="1200" baseline="0" dirty="0" smtClean="0">
                          <a:effectLst/>
                          <a:latin typeface="Segoe UI" panose="020B0502040204020203" pitchFamily="34" charset="0"/>
                          <a:ea typeface="Segoe UI" panose="020B0502040204020203" pitchFamily="34" charset="0"/>
                          <a:cs typeface="Segoe UI" panose="020B0502040204020203" pitchFamily="34" charset="0"/>
                        </a:rPr>
                        <a:t> </a:t>
                      </a:r>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each domain </a:t>
                      </a:r>
                      <a:endParaRPr lang="en-US" sz="2400" dirty="0">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dirty="0" smtClean="0">
                          <a:effectLst/>
                          <a:latin typeface="Segoe UI" panose="020B0502040204020203" pitchFamily="34" charset="0"/>
                          <a:ea typeface="Segoe UI" panose="020B0502040204020203" pitchFamily="34" charset="0"/>
                          <a:cs typeface="Segoe UI" panose="020B0502040204020203" pitchFamily="34" charset="0"/>
                        </a:rPr>
                        <a:t>Print Operators</a:t>
                      </a:r>
                      <a:endParaRPr lang="en-US" sz="2400" b="1" dirty="0" smtClean="0">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smtClean="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sz="2400" dirty="0" smtClean="0">
                        <a:latin typeface="Segoe UI" panose="020B0502040204020203" pitchFamily="34" charset="0"/>
                        <a:ea typeface="Segoe UI" panose="020B0502040204020203" pitchFamily="34" charset="0"/>
                        <a:cs typeface="Segoe UI" panose="020B0502040204020203" pitchFamily="34" charset="0"/>
                      </a:endParaRPr>
                    </a:p>
                  </a:txBody>
                  <a:tcPr/>
                </a:tc>
              </a:tr>
              <a:tr h="3648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rPr>
                        <a:t>Cert Publishers </a:t>
                      </a:r>
                      <a:endParaRPr lang="en-US" sz="2400" b="1" dirty="0" smtClean="0">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smtClean="0">
                          <a:solidFill>
                            <a:schemeClr val="dk1"/>
                          </a:solidFill>
                          <a:effectLst/>
                          <a:latin typeface="Segoe UI" panose="020B0502040204020203" pitchFamily="34" charset="0"/>
                          <a:ea typeface="Segoe UI" panose="020B0502040204020203" pitchFamily="34" charset="0"/>
                          <a:cs typeface="Segoe UI" panose="020B0502040204020203" pitchFamily="34" charset="0"/>
                        </a:rPr>
                        <a:t>Users container of each domain</a:t>
                      </a:r>
                      <a:endParaRPr lang="en-US" sz="2400" dirty="0" smtClean="0">
                        <a:latin typeface="Segoe UI" panose="020B0502040204020203" pitchFamily="34" charset="0"/>
                        <a:ea typeface="Segoe UI" panose="020B0502040204020203" pitchFamily="34" charset="0"/>
                        <a:cs typeface="Segoe UI" panose="020B0502040204020203" pitchFamily="34" charset="0"/>
                      </a:endParaRPr>
                    </a:p>
                  </a:txBody>
                  <a:tcPr/>
                </a:tc>
              </a:tr>
            </a:tbl>
          </a:graphicData>
        </a:graphic>
      </p:graphicFrame>
    </p:spTree>
    <p:extLst>
      <p:ext uri="{BB962C8B-B14F-4D97-AF65-F5344CB8AC3E}">
        <p14:creationId xmlns:p14="http://schemas.microsoft.com/office/powerpoint/2010/main" val="3336183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a26148a0-3ad2-44dc-b9bb-5f3747fa9d6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Identités spéciales</a:t>
            </a:r>
            <a:endParaRPr lang="fr-FR" dirty="0"/>
          </a:p>
        </p:txBody>
      </p:sp>
      <p:sp>
        <p:nvSpPr>
          <p:cNvPr id="4" name="Content Placeholder 4"/>
          <p:cNvSpPr>
            <a:spLocks noGrp="1" noChangeArrowheads="1"/>
          </p:cNvSpPr>
          <p:nvPr/>
        </p:nvSpPr>
        <p:spPr bwMode="auto">
          <a:xfrm>
            <a:off x="426704" y="1021214"/>
            <a:ext cx="8119156" cy="56716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dirty="0" smtClean="0"/>
              <a:t>Groupes dont l’adhésion est gérée par le système d’exploitation.</a:t>
            </a:r>
          </a:p>
          <a:p>
            <a:r>
              <a:rPr lang="fr-BE" dirty="0" smtClean="0"/>
              <a:t>Utilisé </a:t>
            </a:r>
            <a:r>
              <a:rPr lang="fr-BE" dirty="0"/>
              <a:t>par le système d'exploitation Windows Server pour donner accès aux ressources</a:t>
            </a:r>
            <a:r>
              <a:rPr lang="fr-FR" dirty="0" smtClean="0"/>
              <a:t> :</a:t>
            </a:r>
          </a:p>
          <a:p>
            <a:pPr lvl="1"/>
            <a:r>
              <a:rPr lang="fr-FR" dirty="0" smtClean="0"/>
              <a:t>Basé sur le type d’authentification ou connexion.</a:t>
            </a:r>
          </a:p>
          <a:p>
            <a:pPr lvl="1"/>
            <a:r>
              <a:rPr lang="fr-FR" dirty="0" smtClean="0"/>
              <a:t>Et non sur un compte utilisateur.</a:t>
            </a:r>
            <a:endParaRPr lang="fr-FR" dirty="0"/>
          </a:p>
          <a:p>
            <a:pPr lvl="1"/>
            <a:endParaRPr lang="fr-FR" sz="1100" dirty="0" smtClean="0"/>
          </a:p>
          <a:p>
            <a:pPr lvl="1"/>
            <a:endParaRPr lang="fr-FR" sz="1100" dirty="0" smtClean="0"/>
          </a:p>
          <a:p>
            <a:r>
              <a:rPr lang="fr-FR" sz="2600" dirty="0" smtClean="0"/>
              <a:t>Exemple d’identités spéciales :</a:t>
            </a:r>
          </a:p>
        </p:txBody>
      </p:sp>
      <p:graphicFrame>
        <p:nvGraphicFramePr>
          <p:cNvPr id="5" name="Table 4"/>
          <p:cNvGraphicFramePr>
            <a:graphicFrameLocks noGrp="1"/>
          </p:cNvGraphicFramePr>
          <p:nvPr>
            <p:extLst>
              <p:ext uri="{D42A27DB-BD31-4B8C-83A1-F6EECF244321}">
                <p14:modId xmlns:p14="http://schemas.microsoft.com/office/powerpoint/2010/main" val="108748615"/>
              </p:ext>
            </p:extLst>
          </p:nvPr>
        </p:nvGraphicFramePr>
        <p:xfrm>
          <a:off x="625784" y="4725144"/>
          <a:ext cx="8338704" cy="1706880"/>
        </p:xfrm>
        <a:graphic>
          <a:graphicData uri="http://schemas.openxmlformats.org/drawingml/2006/table">
            <a:tbl>
              <a:tblPr firstRow="1" bandRow="1">
                <a:tableStyleId>{5C22544A-7EE6-4342-B048-85BDC9FD1C3A}</a:tableStyleId>
              </a:tblPr>
              <a:tblGrid>
                <a:gridCol w="3788680"/>
                <a:gridCol w="4550024"/>
              </a:tblGrid>
              <a:tr h="370840">
                <a:tc>
                  <a:txBody>
                    <a:bodyPr/>
                    <a:lstStyle/>
                    <a:p>
                      <a:pPr marL="0" lvl="1" indent="-169863" algn="l" rtl="0" eaLnBrk="1" fontAlgn="base" hangingPunct="1">
                        <a:lnSpc>
                          <a:spcPct val="100000"/>
                        </a:lnSpc>
                        <a:spcBef>
                          <a:spcPts val="600"/>
                        </a:spcBef>
                        <a:spcAft>
                          <a:spcPct val="0"/>
                        </a:spcAft>
                        <a:buClr>
                          <a:srgbClr val="0070C0"/>
                        </a:buClr>
                        <a:buSzPct val="80000"/>
                        <a:buFont typeface="Arial" pitchFamily="34" charset="0"/>
                        <a:buChar char="•"/>
                      </a:pPr>
                      <a:r>
                        <a:rPr lang="fr-FR" sz="2400" b="0" noProof="0" dirty="0" smtClean="0">
                          <a:solidFill>
                            <a:schemeClr val="tx1"/>
                          </a:solidFill>
                          <a:latin typeface="Segoe UI" pitchFamily="34" charset="0"/>
                          <a:ea typeface="Segoe UI" pitchFamily="34" charset="0"/>
                          <a:cs typeface="Segoe UI" pitchFamily="34" charset="0"/>
                        </a:rPr>
                        <a:t>Anonymous Logon</a:t>
                      </a:r>
                    </a:p>
                    <a:p>
                      <a:pPr marL="0" lvl="1" indent="-169863" algn="l" rtl="0" eaLnBrk="1" fontAlgn="base" hangingPunct="1">
                        <a:lnSpc>
                          <a:spcPct val="100000"/>
                        </a:lnSpc>
                        <a:spcBef>
                          <a:spcPts val="600"/>
                        </a:spcBef>
                        <a:spcAft>
                          <a:spcPct val="0"/>
                        </a:spcAft>
                        <a:buClr>
                          <a:srgbClr val="0070C0"/>
                        </a:buClr>
                        <a:buSzPct val="80000"/>
                        <a:buFont typeface="Arial" pitchFamily="34" charset="0"/>
                        <a:buChar char="•"/>
                      </a:pPr>
                      <a:r>
                        <a:rPr lang="fr-FR" sz="2400" b="0" noProof="0" dirty="0" err="1" smtClean="0">
                          <a:solidFill>
                            <a:schemeClr val="tx1"/>
                          </a:solidFill>
                          <a:latin typeface="Segoe UI" pitchFamily="34" charset="0"/>
                          <a:ea typeface="Segoe UI" pitchFamily="34" charset="0"/>
                          <a:cs typeface="Segoe UI" pitchFamily="34" charset="0"/>
                        </a:rPr>
                        <a:t>Authenticated</a:t>
                      </a:r>
                      <a:r>
                        <a:rPr lang="fr-FR" sz="2400" b="0" noProof="0" dirty="0" smtClean="0">
                          <a:solidFill>
                            <a:schemeClr val="tx1"/>
                          </a:solidFill>
                          <a:latin typeface="Segoe UI" pitchFamily="34" charset="0"/>
                          <a:ea typeface="Segoe UI" pitchFamily="34" charset="0"/>
                          <a:cs typeface="Segoe UI" pitchFamily="34" charset="0"/>
                        </a:rPr>
                        <a:t> </a:t>
                      </a:r>
                      <a:r>
                        <a:rPr lang="fr-FR" sz="2400" b="0" noProof="0" dirty="0" err="1" smtClean="0">
                          <a:solidFill>
                            <a:schemeClr val="tx1"/>
                          </a:solidFill>
                          <a:latin typeface="Segoe UI" pitchFamily="34" charset="0"/>
                          <a:ea typeface="Segoe UI" pitchFamily="34" charset="0"/>
                          <a:cs typeface="Segoe UI" pitchFamily="34" charset="0"/>
                        </a:rPr>
                        <a:t>Users</a:t>
                      </a:r>
                      <a:endParaRPr lang="fr-FR" sz="2400" b="0" noProof="0" dirty="0" smtClean="0">
                        <a:solidFill>
                          <a:schemeClr val="tx1"/>
                        </a:solidFill>
                        <a:latin typeface="Segoe UI" pitchFamily="34" charset="0"/>
                        <a:ea typeface="Segoe UI" pitchFamily="34" charset="0"/>
                        <a:cs typeface="Segoe UI" pitchFamily="34" charset="0"/>
                      </a:endParaRPr>
                    </a:p>
                    <a:p>
                      <a:pPr marL="0" lvl="1" indent="-169863" algn="l" rtl="0" eaLnBrk="1" fontAlgn="base" hangingPunct="1">
                        <a:lnSpc>
                          <a:spcPct val="100000"/>
                        </a:lnSpc>
                        <a:spcBef>
                          <a:spcPts val="600"/>
                        </a:spcBef>
                        <a:spcAft>
                          <a:spcPct val="0"/>
                        </a:spcAft>
                        <a:buClr>
                          <a:srgbClr val="0070C0"/>
                        </a:buClr>
                        <a:buSzPct val="80000"/>
                        <a:buFont typeface="Arial" pitchFamily="34" charset="0"/>
                        <a:buChar char="•"/>
                      </a:pPr>
                      <a:r>
                        <a:rPr lang="fr-FR" sz="2400" b="0" noProof="0" dirty="0" err="1" smtClean="0">
                          <a:solidFill>
                            <a:schemeClr val="tx1"/>
                          </a:solidFill>
                          <a:latin typeface="Segoe UI" pitchFamily="34" charset="0"/>
                          <a:ea typeface="Segoe UI" pitchFamily="34" charset="0"/>
                          <a:cs typeface="Segoe UI" pitchFamily="34" charset="0"/>
                        </a:rPr>
                        <a:t>Everyone</a:t>
                      </a:r>
                      <a:endParaRPr lang="fr-FR" sz="2400" b="0" noProof="0" dirty="0">
                        <a:solidFill>
                          <a:schemeClr val="tx1"/>
                        </a:solidFill>
                        <a:latin typeface="Segoe UI" pitchFamily="34" charset="0"/>
                        <a:ea typeface="Segoe UI" pitchFamily="34" charset="0"/>
                        <a:cs typeface="Segoe UI" pitchFamily="34" charset="0"/>
                      </a:endParaRPr>
                    </a:p>
                  </a:txBody>
                  <a:tcPr>
                    <a:solidFill>
                      <a:schemeClr val="bg1"/>
                    </a:solidFill>
                  </a:tcPr>
                </a:tc>
                <a:tc>
                  <a:txBody>
                    <a:bodyPr/>
                    <a:lstStyle/>
                    <a:p>
                      <a:pPr marL="0" lvl="1" indent="-169863" algn="l" defTabSz="914400" rtl="0" eaLnBrk="1" fontAlgn="base" latinLnBrk="0" hangingPunct="1">
                        <a:lnSpc>
                          <a:spcPct val="100000"/>
                        </a:lnSpc>
                        <a:spcBef>
                          <a:spcPts val="600"/>
                        </a:spcBef>
                        <a:spcAft>
                          <a:spcPct val="0"/>
                        </a:spcAft>
                        <a:buClr>
                          <a:srgbClr val="0070C0"/>
                        </a:buClr>
                        <a:buSzPct val="80000"/>
                        <a:buFont typeface="Arial" pitchFamily="34" charset="0"/>
                        <a:buChar char="•"/>
                      </a:pPr>
                      <a:r>
                        <a:rPr lang="fr-FR" sz="2400" b="0" noProof="0" dirty="0" smtClean="0">
                          <a:solidFill>
                            <a:schemeClr val="tx1"/>
                          </a:solidFill>
                          <a:latin typeface="Segoe UI" pitchFamily="34" charset="0"/>
                          <a:ea typeface="Segoe UI" pitchFamily="34" charset="0"/>
                          <a:cs typeface="Segoe UI" pitchFamily="34" charset="0"/>
                        </a:rPr>
                        <a:t>Interactive (connexion locale)</a:t>
                      </a:r>
                    </a:p>
                    <a:p>
                      <a:pPr marL="0" lvl="1" indent="-169863" algn="l" defTabSz="914400" rtl="0" eaLnBrk="1" fontAlgn="base" latinLnBrk="0" hangingPunct="1">
                        <a:lnSpc>
                          <a:spcPct val="100000"/>
                        </a:lnSpc>
                        <a:spcBef>
                          <a:spcPts val="600"/>
                        </a:spcBef>
                        <a:spcAft>
                          <a:spcPct val="0"/>
                        </a:spcAft>
                        <a:buClr>
                          <a:srgbClr val="0070C0"/>
                        </a:buClr>
                        <a:buSzPct val="80000"/>
                        <a:buFont typeface="Arial" pitchFamily="34" charset="0"/>
                        <a:buChar char="•"/>
                      </a:pPr>
                      <a:r>
                        <a:rPr lang="fr-FR" sz="2400" b="0" noProof="0" dirty="0" smtClean="0">
                          <a:solidFill>
                            <a:schemeClr val="tx1"/>
                          </a:solidFill>
                          <a:latin typeface="Segoe UI" pitchFamily="34" charset="0"/>
                          <a:ea typeface="Segoe UI" pitchFamily="34" charset="0"/>
                          <a:cs typeface="Segoe UI" pitchFamily="34" charset="0"/>
                        </a:rPr>
                        <a:t>Network</a:t>
                      </a:r>
                    </a:p>
                    <a:p>
                      <a:pPr marL="0" lvl="1" indent="-169863" algn="l" defTabSz="914400" rtl="0" eaLnBrk="1" fontAlgn="base" latinLnBrk="0" hangingPunct="1">
                        <a:lnSpc>
                          <a:spcPct val="100000"/>
                        </a:lnSpc>
                        <a:spcBef>
                          <a:spcPts val="600"/>
                        </a:spcBef>
                        <a:spcAft>
                          <a:spcPct val="0"/>
                        </a:spcAft>
                        <a:buClr>
                          <a:srgbClr val="0070C0"/>
                        </a:buClr>
                        <a:buSzPct val="80000"/>
                        <a:buFont typeface="Arial" pitchFamily="34" charset="0"/>
                        <a:buChar char="•"/>
                      </a:pPr>
                      <a:r>
                        <a:rPr lang="fr-FR" sz="2400" b="0" noProof="0" dirty="0" smtClean="0">
                          <a:solidFill>
                            <a:schemeClr val="tx1"/>
                          </a:solidFill>
                          <a:latin typeface="Segoe UI" pitchFamily="34" charset="0"/>
                          <a:ea typeface="Segoe UI" pitchFamily="34" charset="0"/>
                          <a:cs typeface="Segoe UI" pitchFamily="34" charset="0"/>
                        </a:rPr>
                        <a:t>Creator </a:t>
                      </a:r>
                      <a:r>
                        <a:rPr lang="fr-FR" sz="2400" b="0" noProof="0" dirty="0" err="1" smtClean="0">
                          <a:solidFill>
                            <a:schemeClr val="tx1"/>
                          </a:solidFill>
                          <a:latin typeface="Segoe UI" pitchFamily="34" charset="0"/>
                          <a:ea typeface="Segoe UI" pitchFamily="34" charset="0"/>
                          <a:cs typeface="Segoe UI" pitchFamily="34" charset="0"/>
                        </a:rPr>
                        <a:t>Owner</a:t>
                      </a:r>
                      <a:r>
                        <a:rPr lang="fr-FR" sz="2400" b="0" noProof="0" dirty="0" smtClean="0">
                          <a:solidFill>
                            <a:schemeClr val="tx1"/>
                          </a:solidFill>
                          <a:latin typeface="Segoe UI" pitchFamily="34" charset="0"/>
                          <a:ea typeface="Segoe UI" pitchFamily="34" charset="0"/>
                          <a:cs typeface="Segoe UI" pitchFamily="34" charset="0"/>
                        </a:rPr>
                        <a:t> (sécurité à la création d’un objet)</a:t>
                      </a:r>
                      <a:endParaRPr lang="fr-FR" sz="2400" b="0" noProof="0" dirty="0">
                        <a:solidFill>
                          <a:schemeClr val="tx1"/>
                        </a:solidFill>
                        <a:latin typeface="Segoe UI" pitchFamily="34" charset="0"/>
                        <a:ea typeface="Segoe UI" pitchFamily="34" charset="0"/>
                        <a:cs typeface="Segoe UI" pitchFamily="34" charset="0"/>
                      </a:endParaRPr>
                    </a:p>
                  </a:txBody>
                  <a:tcPr>
                    <a:solidFill>
                      <a:schemeClr val="bg1"/>
                    </a:solidFill>
                  </a:tcPr>
                </a:tc>
              </a:tr>
            </a:tbl>
          </a:graphicData>
        </a:graphic>
      </p:graphicFrame>
    </p:spTree>
    <p:extLst>
      <p:ext uri="{BB962C8B-B14F-4D97-AF65-F5344CB8AC3E}">
        <p14:creationId xmlns:p14="http://schemas.microsoft.com/office/powerpoint/2010/main" val="3863785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1e57cd17-c18e-4ff6-92bf-8fe5bcefbc1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Managing Groups</a:t>
            </a:r>
            <a:endParaRPr lang="en-CA" dirty="0"/>
          </a:p>
        </p:txBody>
      </p:sp>
      <p:sp>
        <p:nvSpPr>
          <p:cNvPr id="4" name="TextBox 3"/>
          <p:cNvSpPr txBox="1">
            <a:spLocks noGrp="1" noChangeArrowheads="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smtClean="0"/>
              <a:t>In this demonstration, you will see how to</a:t>
            </a:r>
            <a:r>
              <a:rPr lang="en-GB" dirty="0" smtClean="0"/>
              <a:t>:</a:t>
            </a:r>
          </a:p>
          <a:p>
            <a:r>
              <a:rPr lang="en-GB" sz="2600" dirty="0" smtClean="0"/>
              <a:t>Create a new group</a:t>
            </a:r>
          </a:p>
          <a:p>
            <a:r>
              <a:rPr lang="en-GB" sz="2600" dirty="0" smtClean="0"/>
              <a:t>Add members to the group</a:t>
            </a:r>
          </a:p>
          <a:p>
            <a:r>
              <a:rPr lang="en-GB" sz="2600" dirty="0" smtClean="0"/>
              <a:t>Add a user to the group</a:t>
            </a:r>
          </a:p>
          <a:p>
            <a:r>
              <a:rPr lang="en-GB" sz="2600" dirty="0" smtClean="0"/>
              <a:t>Change the group type and scope</a:t>
            </a:r>
          </a:p>
          <a:p>
            <a:r>
              <a:rPr lang="en-US" sz="2600" dirty="0"/>
              <a:t>Modifying the </a:t>
            </a:r>
            <a:r>
              <a:rPr lang="en-US" sz="2600" dirty="0" smtClean="0"/>
              <a:t>group’s </a:t>
            </a:r>
            <a:r>
              <a:rPr lang="en-US" sz="2600" dirty="0"/>
              <a:t>Managed By property</a:t>
            </a:r>
            <a:endParaRPr lang="en-GB" sz="2600" dirty="0" smtClean="0"/>
          </a:p>
          <a:p>
            <a:endParaRPr lang="en-US" dirty="0"/>
          </a:p>
        </p:txBody>
      </p:sp>
    </p:spTree>
    <p:extLst>
      <p:ext uri="{BB962C8B-B14F-4D97-AF65-F5344CB8AC3E}">
        <p14:creationId xmlns:p14="http://schemas.microsoft.com/office/powerpoint/2010/main" val="3322524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961256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6640c7d0-7607-45b6-a10a-5033d29618b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3: Managing Computer Accounts</a:t>
            </a:r>
            <a:endParaRPr lang="en-CA" dirty="0"/>
          </a:p>
        </p:txBody>
      </p:sp>
      <p:sp>
        <p:nvSpPr>
          <p:cNvPr id="3" name="Text Placeholder 2"/>
          <p:cNvSpPr>
            <a:spLocks noGrp="1"/>
          </p:cNvSpPr>
          <p:nvPr>
            <p:ph type="body" idx="1"/>
          </p:nvPr>
        </p:nvSpPr>
        <p:spPr/>
        <p:txBody>
          <a:bodyPr/>
          <a:lstStyle/>
          <a:p>
            <a:r>
              <a:rPr lang="en-CA" dirty="0" smtClean="0"/>
              <a:t>What Is the Computers Container?
Specifying the Location of Computer Accounts
Controlling Permissions to Create Computer Accounts
Performing an Offline Domain Join
Computer Accounts and Secure Channels
Resetting the Secure Channel
Bring Your Own Device</a:t>
            </a:r>
            <a:endParaRPr lang="en-CA" dirty="0"/>
          </a:p>
        </p:txBody>
      </p:sp>
    </p:spTree>
    <p:extLst>
      <p:ext uri="{BB962C8B-B14F-4D97-AF65-F5344CB8AC3E}">
        <p14:creationId xmlns:p14="http://schemas.microsoft.com/office/powerpoint/2010/main" val="3469232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70b1d224-6ba4-4d45-a80c-06e951bb3ad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Computers Container</a:t>
            </a:r>
            <a:endParaRPr lang="en-CA" dirty="0"/>
          </a:p>
        </p:txBody>
      </p:sp>
      <p:pic>
        <p:nvPicPr>
          <p:cNvPr id="6" name="Image 5"/>
          <p:cNvPicPr>
            <a:picLocks noChangeAspect="1"/>
          </p:cNvPicPr>
          <p:nvPr/>
        </p:nvPicPr>
        <p:blipFill>
          <a:blip r:embed="rId3"/>
          <a:stretch>
            <a:fillRect/>
          </a:stretch>
        </p:blipFill>
        <p:spPr>
          <a:xfrm>
            <a:off x="681037" y="980728"/>
            <a:ext cx="7781925" cy="5688632"/>
          </a:xfrm>
          <a:prstGeom prst="rect">
            <a:avLst/>
          </a:prstGeom>
        </p:spPr>
      </p:pic>
    </p:spTree>
    <p:extLst>
      <p:ext uri="{BB962C8B-B14F-4D97-AF65-F5344CB8AC3E}">
        <p14:creationId xmlns:p14="http://schemas.microsoft.com/office/powerpoint/2010/main" val="1750618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28a229f8-b19e-4b38-abf5-61d831b5eab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Specifying the Location of Computer Accounts</a:t>
            </a:r>
            <a:endParaRPr lang="en-CA" dirty="0"/>
          </a:p>
        </p:txBody>
      </p:sp>
      <p:pic>
        <p:nvPicPr>
          <p:cNvPr id="4" name="alt text here, folder layout" descr="A Client OU divided by region (Boston, Chicago, Cape Town) and then subdivided by function (Desktops, Laptops)."/>
          <p:cNvPicPr/>
          <p:nvPr/>
        </p:nvPicPr>
        <p:blipFill>
          <a:blip r:embed="rId3" cstate="print"/>
          <a:srcRect/>
          <a:stretch>
            <a:fillRect/>
          </a:stretch>
        </p:blipFill>
        <p:spPr bwMode="auto">
          <a:xfrm>
            <a:off x="5421946" y="1118234"/>
            <a:ext cx="3142933" cy="3987166"/>
          </a:xfrm>
          <a:prstGeom prst="rect">
            <a:avLst/>
          </a:prstGeom>
          <a:noFill/>
          <a:ln w="9525">
            <a:noFill/>
            <a:miter lim="800000"/>
            <a:headEnd/>
            <a:tailEnd/>
          </a:ln>
        </p:spPr>
      </p:pic>
      <p:sp>
        <p:nvSpPr>
          <p:cNvPr id="5" name="text box"/>
          <p:cNvSpPr>
            <a:spLocks noGrp="1"/>
          </p:cNvSpPr>
          <p:nvPr/>
        </p:nvSpPr>
        <p:spPr bwMode="auto">
          <a:xfrm>
            <a:off x="458788" y="992187"/>
            <a:ext cx="5256212" cy="50699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sz="2400" dirty="0" smtClean="0"/>
              <a:t>Bonne pratique :</a:t>
            </a:r>
          </a:p>
          <a:p>
            <a:pPr lvl="1" eaLnBrk="1" hangingPunct="1"/>
            <a:r>
              <a:rPr lang="fr-FR" sz="2200" dirty="0" smtClean="0"/>
              <a:t>Servers</a:t>
            </a:r>
          </a:p>
          <a:p>
            <a:pPr lvl="2" eaLnBrk="1" hangingPunct="1"/>
            <a:r>
              <a:rPr lang="fr-FR" sz="2200" dirty="0" smtClean="0"/>
              <a:t>Diviser par rôle</a:t>
            </a:r>
          </a:p>
          <a:p>
            <a:pPr lvl="1" eaLnBrk="1" hangingPunct="1"/>
            <a:r>
              <a:rPr lang="fr-FR" sz="2200" dirty="0" smtClean="0"/>
              <a:t>Client computers</a:t>
            </a:r>
          </a:p>
          <a:p>
            <a:pPr lvl="2" eaLnBrk="1" hangingPunct="1"/>
            <a:r>
              <a:rPr lang="fr-FR" sz="2200" dirty="0" smtClean="0"/>
              <a:t>Diviser par région</a:t>
            </a:r>
          </a:p>
          <a:p>
            <a:pPr marL="681037" lvl="2" indent="0" eaLnBrk="1" hangingPunct="1">
              <a:buNone/>
            </a:pPr>
            <a:endParaRPr lang="fr-FR" sz="2200" dirty="0" smtClean="0"/>
          </a:p>
          <a:p>
            <a:pPr eaLnBrk="1" hangingPunct="1"/>
            <a:r>
              <a:rPr lang="fr-FR" sz="2400" dirty="0" smtClean="0"/>
              <a:t>Division des OU:</a:t>
            </a:r>
          </a:p>
          <a:p>
            <a:pPr lvl="1"/>
            <a:r>
              <a:rPr lang="fr-FR" sz="2200" dirty="0" smtClean="0"/>
              <a:t>Selon les droits d’administration</a:t>
            </a:r>
          </a:p>
          <a:p>
            <a:pPr lvl="1"/>
            <a:r>
              <a:rPr lang="fr-FR" sz="2200" dirty="0" smtClean="0"/>
              <a:t>Pour faciliter l’utilisation des GPO</a:t>
            </a:r>
          </a:p>
        </p:txBody>
      </p:sp>
    </p:spTree>
    <p:extLst>
      <p:ext uri="{BB962C8B-B14F-4D97-AF65-F5344CB8AC3E}">
        <p14:creationId xmlns:p14="http://schemas.microsoft.com/office/powerpoint/2010/main" val="473244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683626" cy="740664"/>
          </a:xfrm>
        </p:spPr>
        <p:txBody>
          <a:bodyPr/>
          <a:lstStyle/>
          <a:p>
            <a:r>
              <a:rPr lang="fr-FR" dirty="0" smtClean="0"/>
              <a:t>Lever la limite de comptes ordinateurs (10 par défaut)</a:t>
            </a:r>
            <a:endParaRPr lang="fr-FR" dirty="0"/>
          </a:p>
        </p:txBody>
      </p:sp>
      <p:pic>
        <p:nvPicPr>
          <p:cNvPr id="3" name="Image 2"/>
          <p:cNvPicPr>
            <a:picLocks noChangeAspect="1"/>
          </p:cNvPicPr>
          <p:nvPr/>
        </p:nvPicPr>
        <p:blipFill>
          <a:blip r:embed="rId3"/>
          <a:stretch>
            <a:fillRect/>
          </a:stretch>
        </p:blipFill>
        <p:spPr>
          <a:xfrm>
            <a:off x="414670" y="908720"/>
            <a:ext cx="8333794" cy="5747226"/>
          </a:xfrm>
          <a:prstGeom prst="rect">
            <a:avLst/>
          </a:prstGeom>
        </p:spPr>
      </p:pic>
    </p:spTree>
    <p:extLst>
      <p:ext uri="{BB962C8B-B14F-4D97-AF65-F5344CB8AC3E}">
        <p14:creationId xmlns:p14="http://schemas.microsoft.com/office/powerpoint/2010/main" val="4034523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2462f8fc-4438-4a70-adaf-98d75cfc94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Performing an Offline Domain Join</a:t>
            </a:r>
            <a:endParaRPr lang="en-CA" dirty="0"/>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smtClean="0"/>
              <a:t>Create a domain join file using:</a:t>
            </a:r>
          </a:p>
          <a:p>
            <a:endParaRPr lang="en-US" sz="1000" dirty="0" smtClean="0"/>
          </a:p>
          <a:p>
            <a:pPr marL="288925" lvl="1" indent="0">
              <a:buNone/>
            </a:pPr>
            <a:endParaRPr lang="fr-FR" sz="1000" b="1" dirty="0" smtClean="0">
              <a:latin typeface="Lucida Sans Typewriter" panose="020B0509030504030204" pitchFamily="49" charset="0"/>
            </a:endParaRPr>
          </a:p>
          <a:p>
            <a:pPr marL="288925" lvl="1" indent="0">
              <a:buNone/>
            </a:pPr>
            <a:endParaRPr lang="fr-FR" sz="1000" b="1" dirty="0">
              <a:latin typeface="Lucida Sans Typewriter" panose="020B0509030504030204" pitchFamily="49" charset="0"/>
            </a:endParaRPr>
          </a:p>
          <a:p>
            <a:pPr marL="288925" lvl="1" indent="0">
              <a:buNone/>
            </a:pPr>
            <a:endParaRPr lang="fr-FR" sz="1000" b="1" dirty="0" smtClean="0">
              <a:latin typeface="Lucida Sans Typewriter" panose="020B0509030504030204" pitchFamily="49" charset="0"/>
            </a:endParaRPr>
          </a:p>
          <a:p>
            <a:pPr marL="288925" lvl="1" indent="0">
              <a:buNone/>
            </a:pPr>
            <a:endParaRPr lang="fr-FR" sz="1000" b="1" dirty="0" smtClean="0">
              <a:latin typeface="Lucida Sans Typewriter" panose="020B0509030504030204" pitchFamily="49" charset="0"/>
            </a:endParaRPr>
          </a:p>
          <a:p>
            <a:pPr marL="288925" lvl="1" indent="0">
              <a:buNone/>
            </a:pPr>
            <a:endParaRPr lang="fr-FR" sz="1000" b="1" dirty="0">
              <a:latin typeface="Lucida Sans Typewriter" panose="020B0509030504030204" pitchFamily="49" charset="0"/>
            </a:endParaRPr>
          </a:p>
          <a:p>
            <a:pPr marL="288925" lvl="1" indent="0">
              <a:buNone/>
            </a:pPr>
            <a:endParaRPr lang="fr-FR" sz="1000" dirty="0" smtClean="0"/>
          </a:p>
          <a:p>
            <a:pPr marL="288925" lvl="1" indent="0">
              <a:buNone/>
            </a:pPr>
            <a:endParaRPr lang="fr-FR" sz="1000" dirty="0"/>
          </a:p>
          <a:p>
            <a:pPr marL="288925" lvl="1" indent="0">
              <a:buNone/>
            </a:pPr>
            <a:endParaRPr lang="fr-FR" sz="1000" dirty="0" smtClean="0"/>
          </a:p>
          <a:p>
            <a:pPr marL="288925" lvl="1" indent="0">
              <a:buNone/>
            </a:pPr>
            <a:endParaRPr lang="fr-FR" sz="1000" dirty="0" smtClean="0"/>
          </a:p>
          <a:p>
            <a:r>
              <a:rPr lang="fr-FR" dirty="0"/>
              <a:t>Import</a:t>
            </a:r>
            <a:r>
              <a:rPr lang="fr-FR" dirty="0" smtClean="0"/>
              <a:t> the domain join file using:</a:t>
            </a:r>
          </a:p>
          <a:p>
            <a:pPr marL="284163" lvl="1" indent="0">
              <a:buNone/>
            </a:pPr>
            <a:endParaRPr lang="en-US" dirty="0" smtClean="0"/>
          </a:p>
          <a:p>
            <a:pPr marL="284163" lvl="1" indent="0">
              <a:buNone/>
            </a:pPr>
            <a:r>
              <a:rPr lang="en-US" sz="2000" dirty="0"/>
              <a:t>	</a:t>
            </a:r>
          </a:p>
        </p:txBody>
      </p:sp>
      <p:sp>
        <p:nvSpPr>
          <p:cNvPr id="5" name="TextBox 3"/>
          <p:cNvSpPr txBox="1"/>
          <p:nvPr/>
        </p:nvSpPr>
        <p:spPr>
          <a:xfrm>
            <a:off x="678425" y="1693257"/>
            <a:ext cx="7388943" cy="1015663"/>
          </a:xfrm>
          <a:prstGeom prst="rect">
            <a:avLst/>
          </a:prstGeom>
          <a:solidFill>
            <a:schemeClr val="bg1">
              <a:lumMod val="85000"/>
            </a:schemeClr>
          </a:solidFill>
        </p:spPr>
        <p:txBody>
          <a:bodyPr wrap="square" rtlCol="0" anchor="ctr" anchorCtr="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150000"/>
              </a:lnSpc>
              <a:spcBef>
                <a:spcPts val="600"/>
              </a:spcBef>
            </a:pPr>
            <a:r>
              <a:rPr lang="fr-FR" sz="2000" dirty="0">
                <a:latin typeface="Lucida Sans Typewriter" panose="020B0509030504030204" pitchFamily="49" charset="0"/>
              </a:rPr>
              <a:t>djoin.exe /Provision /Domain &lt;DomainName&gt; /Machine &lt;MachineName&gt; /SaveFile </a:t>
            </a:r>
            <a:r>
              <a:rPr lang="fr-FR" sz="2000" dirty="0" smtClean="0">
                <a:latin typeface="Lucida Sans Typewriter" panose="020B0509030504030204" pitchFamily="49" charset="0"/>
              </a:rPr>
              <a:t>&lt;filepath</a:t>
            </a:r>
            <a:r>
              <a:rPr lang="en-US" sz="2000" dirty="0" smtClean="0">
                <a:latin typeface="Lucida Sans Typewriter" panose="020B0509030504030204" pitchFamily="49" charset="0"/>
              </a:rPr>
              <a:t>&gt;</a:t>
            </a:r>
            <a:endParaRPr lang="en-US" sz="2000" dirty="0">
              <a:latin typeface="Lucida Sans Typewriter" pitchFamily="49" charset="0"/>
              <a:ea typeface="Verdana" pitchFamily="34" charset="0"/>
              <a:cs typeface="Verdana" pitchFamily="34" charset="0"/>
            </a:endParaRPr>
          </a:p>
        </p:txBody>
      </p:sp>
      <p:sp>
        <p:nvSpPr>
          <p:cNvPr id="6" name="TextBox 4"/>
          <p:cNvSpPr txBox="1"/>
          <p:nvPr/>
        </p:nvSpPr>
        <p:spPr>
          <a:xfrm>
            <a:off x="683568" y="4459640"/>
            <a:ext cx="7388943" cy="1477328"/>
          </a:xfrm>
          <a:prstGeom prst="rect">
            <a:avLst/>
          </a:prstGeom>
          <a:solidFill>
            <a:schemeClr val="bg1">
              <a:lumMod val="85000"/>
            </a:schemeClr>
          </a:solidFill>
        </p:spPr>
        <p:txBody>
          <a:bodyPr wrap="square" rtlCol="0" anchor="ctr" anchorCtr="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150000"/>
              </a:lnSpc>
            </a:pPr>
            <a:r>
              <a:rPr lang="en-US" sz="2000" dirty="0">
                <a:latin typeface="Lucida Sans Typewriter" panose="020B0509030504030204" pitchFamily="49" charset="0"/>
              </a:rPr>
              <a:t>djoin.exe /requestODJ /LoadFile &lt;filepath&gt; /WindowsPath &lt;path to the Windows directory of the offline image</a:t>
            </a:r>
            <a:r>
              <a:rPr lang="en-US" sz="2000" dirty="0" smtClean="0">
                <a:latin typeface="Lucida Sans Typewriter" panose="020B0509030504030204" pitchFamily="49" charset="0"/>
              </a:rPr>
              <a:t>&gt; /</a:t>
            </a:r>
            <a:r>
              <a:rPr lang="en-US" sz="2000" dirty="0" err="1" smtClean="0">
                <a:latin typeface="Lucida Sans Typewriter" panose="020B0509030504030204" pitchFamily="49" charset="0"/>
              </a:rPr>
              <a:t>localos</a:t>
            </a:r>
            <a:endParaRPr lang="en-US" sz="2000" dirty="0">
              <a:latin typeface="Lucida Sans Typewriter" pitchFamily="49" charset="0"/>
              <a:ea typeface="Verdana" pitchFamily="34" charset="0"/>
              <a:cs typeface="Verdana" pitchFamily="34" charset="0"/>
            </a:endParaRPr>
          </a:p>
        </p:txBody>
      </p:sp>
    </p:spTree>
    <p:extLst>
      <p:ext uri="{BB962C8B-B14F-4D97-AF65-F5344CB8AC3E}">
        <p14:creationId xmlns:p14="http://schemas.microsoft.com/office/powerpoint/2010/main" val="1510574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c89ef95d-fde0-4714-b7cd-a89bab7dd30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smtClean="0"/>
              <a:t>Compte ordinateur et canal sécurisé</a:t>
            </a:r>
            <a:endParaRPr lang="fr-BE" dirty="0"/>
          </a:p>
        </p:txBody>
      </p:sp>
      <p:sp>
        <p:nvSpPr>
          <p:cNvPr id="4" name="Content Placeholder 4"/>
          <p:cNvSpPr>
            <a:spLocks noGrp="1"/>
          </p:cNvSpPr>
          <p:nvPr/>
        </p:nvSpPr>
        <p:spPr bwMode="auto">
          <a:xfrm>
            <a:off x="410662" y="1021214"/>
            <a:ext cx="8119156" cy="569393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1" hangingPunct="1"/>
            <a:r>
              <a:rPr lang="fr-BE" sz="2600" dirty="0" smtClean="0"/>
              <a:t>Compte ordinateur</a:t>
            </a:r>
          </a:p>
          <a:p>
            <a:pPr lvl="1" eaLnBrk="1" hangingPunct="1"/>
            <a:r>
              <a:rPr lang="fr-BE" dirty="0" smtClean="0"/>
              <a:t>Couple login (</a:t>
            </a:r>
            <a:r>
              <a:rPr lang="fr-BE" i="1" dirty="0" err="1" smtClean="0"/>
              <a:t>sAMAccountName</a:t>
            </a:r>
            <a:r>
              <a:rPr lang="fr-BE" dirty="0" smtClean="0"/>
              <a:t>) et mot de passe</a:t>
            </a:r>
          </a:p>
          <a:p>
            <a:pPr lvl="1" eaLnBrk="1" hangingPunct="1"/>
            <a:r>
              <a:rPr lang="fr-BE" dirty="0" smtClean="0"/>
              <a:t>Utilisé afin de créer un canal sécurisé entre l’ordinateur et le contrôleur de domaine</a:t>
            </a:r>
          </a:p>
          <a:p>
            <a:pPr eaLnBrk="1" hangingPunct="1"/>
            <a:r>
              <a:rPr lang="fr-BE" sz="2600" dirty="0" smtClean="0"/>
              <a:t>Scenarios où ce canal sécurisé peut être brisé</a:t>
            </a:r>
          </a:p>
          <a:p>
            <a:pPr lvl="1" eaLnBrk="1" hangingPunct="1"/>
            <a:r>
              <a:rPr lang="fr-BE" dirty="0" smtClean="0"/>
              <a:t>Réinstallation d’un ordinateur (génération d’un nouveau SID)</a:t>
            </a:r>
          </a:p>
          <a:p>
            <a:pPr lvl="1"/>
            <a:r>
              <a:rPr lang="fr-BE" dirty="0" smtClean="0"/>
              <a:t>Restauration d’un ordinateur à partir d’un point de sauvegarde ou d’un </a:t>
            </a:r>
            <a:r>
              <a:rPr lang="fr-BE" dirty="0" err="1" smtClean="0"/>
              <a:t>snapshot</a:t>
            </a:r>
            <a:endParaRPr lang="fr-BE" dirty="0" smtClean="0"/>
          </a:p>
          <a:p>
            <a:pPr lvl="1" eaLnBrk="1" hangingPunct="1"/>
            <a:r>
              <a:rPr lang="fr-BE" dirty="0" smtClean="0"/>
              <a:t>Désaccord entre l’ordinateur et le domaine à propos du mot de passe</a:t>
            </a:r>
          </a:p>
          <a:p>
            <a:pPr lvl="1" eaLnBrk="1" hangingPunct="1"/>
            <a:r>
              <a:rPr lang="fr-BE" dirty="0" smtClean="0"/>
              <a:t>Non utilisation de l’ordinateur durant une longue période : </a:t>
            </a:r>
            <a:r>
              <a:rPr lang="fr-BE" i="1" dirty="0" smtClean="0"/>
              <a:t>reset</a:t>
            </a:r>
            <a:r>
              <a:rPr lang="fr-BE" dirty="0" smtClean="0"/>
              <a:t> ou effacement du compte</a:t>
            </a:r>
          </a:p>
        </p:txBody>
      </p:sp>
    </p:spTree>
    <p:extLst>
      <p:ext uri="{BB962C8B-B14F-4D97-AF65-F5344CB8AC3E}">
        <p14:creationId xmlns:p14="http://schemas.microsoft.com/office/powerpoint/2010/main" val="240721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0aa94826-0000-4fb3-ac27-6de0fd8c58e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smtClean="0"/>
              <a:t>Reset d’un canal sécurisé</a:t>
            </a:r>
            <a:endParaRPr lang="fr-BE" dirty="0"/>
          </a:p>
        </p:txBody>
      </p:sp>
      <p:sp>
        <p:nvSpPr>
          <p:cNvPr id="4" name="Content Placeholder 4"/>
          <p:cNvSpPr>
            <a:spLocks noGrp="1"/>
          </p:cNvSpPr>
          <p:nvPr/>
        </p:nvSpPr>
        <p:spPr bwMode="auto">
          <a:xfrm>
            <a:off x="408913"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1" hangingPunct="1"/>
            <a:r>
              <a:rPr lang="fr-BE" dirty="0" smtClean="0"/>
              <a:t>Ne pas effacer le compte ordinateur et l’ajouter à nouveau au domaine !!!</a:t>
            </a:r>
          </a:p>
          <a:p>
            <a:pPr lvl="1" eaLnBrk="1" hangingPunct="1"/>
            <a:r>
              <a:rPr lang="fr-BE" dirty="0" smtClean="0"/>
              <a:t>Création d’un nouveau compte &gt; Nouveau SID &gt; Perte de toutes les associations de groupes</a:t>
            </a:r>
          </a:p>
          <a:p>
            <a:pPr eaLnBrk="1" hangingPunct="1"/>
            <a:r>
              <a:rPr lang="fr-BE" dirty="0" smtClean="0"/>
              <a:t>Options pour </a:t>
            </a:r>
            <a:r>
              <a:rPr lang="fr-BE" i="1" dirty="0" err="1" smtClean="0"/>
              <a:t>resetter</a:t>
            </a:r>
            <a:r>
              <a:rPr lang="fr-BE" dirty="0" smtClean="0"/>
              <a:t> un canal sécurisé </a:t>
            </a:r>
          </a:p>
          <a:p>
            <a:pPr lvl="1" eaLnBrk="1" hangingPunct="1"/>
            <a:r>
              <a:rPr lang="fr-BE" dirty="0" smtClean="0"/>
              <a:t>Active Directory </a:t>
            </a:r>
            <a:r>
              <a:rPr lang="fr-BE" dirty="0" err="1" smtClean="0"/>
              <a:t>Users</a:t>
            </a:r>
            <a:r>
              <a:rPr lang="fr-BE" dirty="0" smtClean="0"/>
              <a:t> and Computers</a:t>
            </a:r>
          </a:p>
          <a:p>
            <a:pPr lvl="1"/>
            <a:r>
              <a:rPr lang="fr-BE" dirty="0" smtClean="0"/>
              <a:t>Active Directory Administrative Center</a:t>
            </a:r>
          </a:p>
          <a:p>
            <a:pPr lvl="1" eaLnBrk="1" hangingPunct="1"/>
            <a:r>
              <a:rPr lang="fr-BE" b="1" dirty="0" err="1" smtClean="0"/>
              <a:t>dsmod</a:t>
            </a:r>
            <a:endParaRPr lang="fr-BE" b="1" dirty="0" smtClean="0"/>
          </a:p>
          <a:p>
            <a:pPr lvl="1"/>
            <a:r>
              <a:rPr lang="fr-BE" b="1" dirty="0" err="1" smtClean="0"/>
              <a:t>netdom</a:t>
            </a:r>
            <a:endParaRPr lang="fr-BE" b="1" dirty="0" smtClean="0"/>
          </a:p>
          <a:p>
            <a:pPr lvl="1"/>
            <a:r>
              <a:rPr lang="fr-BE" b="1" dirty="0" err="1" smtClean="0"/>
              <a:t>nltest</a:t>
            </a:r>
            <a:endParaRPr lang="fr-BE" b="1" dirty="0" smtClean="0"/>
          </a:p>
          <a:p>
            <a:pPr lvl="1" eaLnBrk="1" hangingPunct="1"/>
            <a:r>
              <a:rPr lang="fr-BE" dirty="0" smtClean="0"/>
              <a:t>Windows </a:t>
            </a:r>
            <a:r>
              <a:rPr lang="fr-BE" dirty="0" err="1" smtClean="0"/>
              <a:t>PowerShell</a:t>
            </a:r>
            <a:endParaRPr lang="fr-BE" dirty="0" smtClean="0"/>
          </a:p>
        </p:txBody>
      </p:sp>
    </p:spTree>
    <p:extLst>
      <p:ext uri="{BB962C8B-B14F-4D97-AF65-F5344CB8AC3E}">
        <p14:creationId xmlns:p14="http://schemas.microsoft.com/office/powerpoint/2010/main" val="3466278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86d89e37-c59a-4707-b655-7c9c6342615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4: Delegating Administration</a:t>
            </a:r>
            <a:endParaRPr lang="en-CA" dirty="0"/>
          </a:p>
        </p:txBody>
      </p:sp>
      <p:sp>
        <p:nvSpPr>
          <p:cNvPr id="3" name="Text Placeholder 2"/>
          <p:cNvSpPr>
            <a:spLocks noGrp="1"/>
          </p:cNvSpPr>
          <p:nvPr>
            <p:ph type="body" idx="1"/>
          </p:nvPr>
        </p:nvSpPr>
        <p:spPr/>
        <p:txBody>
          <a:bodyPr/>
          <a:lstStyle/>
          <a:p>
            <a:r>
              <a:rPr lang="en-CA" dirty="0" smtClean="0"/>
              <a:t>Considerations for Using Organizational Units
AD DS Permissions
Effective AD DS Permissions
Demonstration: Delegating Administrative Permissions</a:t>
            </a:r>
            <a:endParaRPr lang="en-CA" dirty="0"/>
          </a:p>
        </p:txBody>
      </p:sp>
    </p:spTree>
    <p:extLst>
      <p:ext uri="{BB962C8B-B14F-4D97-AF65-F5344CB8AC3E}">
        <p14:creationId xmlns:p14="http://schemas.microsoft.com/office/powerpoint/2010/main" val="3585496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36f5cea4-59e0-432e-84e0-5ac2ba2072f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Utilisation des Unités d’organisation</a:t>
            </a:r>
            <a:endParaRPr lang="fr-FR" dirty="0"/>
          </a:p>
        </p:txBody>
      </p:sp>
      <p:grpSp>
        <p:nvGrpSpPr>
          <p:cNvPr id="4" name="alt text here  Adatum.com list" descr="Screen shot of OUs and containers in the Adatum.com AD DS."/>
          <p:cNvGrpSpPr/>
          <p:nvPr/>
        </p:nvGrpSpPr>
        <p:grpSpPr>
          <a:xfrm>
            <a:off x="5508104" y="1484784"/>
            <a:ext cx="3456384" cy="4320480"/>
            <a:chOff x="4761352" y="951918"/>
            <a:chExt cx="3605407" cy="4610682"/>
          </a:xfrm>
        </p:grpSpPr>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3754" t="30936" r="13300" b="64413"/>
            <a:stretch/>
          </p:blipFill>
          <p:spPr bwMode="auto">
            <a:xfrm>
              <a:off x="5160663" y="2917733"/>
              <a:ext cx="3206096" cy="349814"/>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2095" t="2" r="43047" b="94038"/>
            <a:stretch/>
          </p:blipFill>
          <p:spPr bwMode="auto">
            <a:xfrm>
              <a:off x="4761352" y="951918"/>
              <a:ext cx="2411134" cy="448257"/>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13755" t="70985" r="13300" b="3701"/>
            <a:stretch/>
          </p:blipFill>
          <p:spPr bwMode="auto">
            <a:xfrm>
              <a:off x="5160663" y="3658770"/>
              <a:ext cx="3206096" cy="1903830"/>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8"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13754" t="51062" r="13300" b="43864"/>
            <a:stretch/>
          </p:blipFill>
          <p:spPr bwMode="auto">
            <a:xfrm>
              <a:off x="5160663" y="3277154"/>
              <a:ext cx="3206093" cy="381616"/>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9"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9443" t="5703" r="29876" b="74026"/>
            <a:stretch/>
          </p:blipFill>
          <p:spPr bwMode="auto">
            <a:xfrm>
              <a:off x="4972049" y="1400175"/>
              <a:ext cx="2667001" cy="1524554"/>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grpSp>
      <p:sp>
        <p:nvSpPr>
          <p:cNvPr id="10" name="TextBox 1"/>
          <p:cNvSpPr txBox="1"/>
          <p:nvPr/>
        </p:nvSpPr>
        <p:spPr>
          <a:xfrm>
            <a:off x="332399" y="1268760"/>
            <a:ext cx="5103697" cy="479515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216000" indent="-216000">
              <a:spcBef>
                <a:spcPct val="20000"/>
              </a:spcBef>
              <a:buClr>
                <a:srgbClr val="0070C0"/>
              </a:buClr>
              <a:buFont typeface="Arial" pitchFamily="34" charset="0"/>
              <a:buChar char="•"/>
            </a:pPr>
            <a:r>
              <a:rPr lang="fr-FR" sz="2400" b="0" dirty="0" smtClean="0">
                <a:solidFill>
                  <a:schemeClr val="tx1"/>
                </a:solidFill>
                <a:latin typeface="Segoe UI" pitchFamily="34" charset="0"/>
                <a:ea typeface="Segoe UI" pitchFamily="34" charset="0"/>
                <a:cs typeface="Segoe UI" pitchFamily="34" charset="0"/>
              </a:rPr>
              <a:t>Les </a:t>
            </a:r>
            <a:r>
              <a:rPr lang="fr-FR" sz="2400" b="0" dirty="0" err="1" smtClean="0">
                <a:solidFill>
                  <a:schemeClr val="tx1"/>
                </a:solidFill>
                <a:latin typeface="Segoe UI" pitchFamily="34" charset="0"/>
                <a:ea typeface="Segoe UI" pitchFamily="34" charset="0"/>
                <a:cs typeface="Segoe UI" pitchFamily="34" charset="0"/>
              </a:rPr>
              <a:t>OUs</a:t>
            </a:r>
            <a:r>
              <a:rPr lang="fr-FR" sz="2400" b="0" dirty="0" smtClean="0">
                <a:solidFill>
                  <a:schemeClr val="tx1"/>
                </a:solidFill>
                <a:latin typeface="Segoe UI" pitchFamily="34" charset="0"/>
                <a:ea typeface="Segoe UI" pitchFamily="34" charset="0"/>
                <a:cs typeface="Segoe UI" pitchFamily="34" charset="0"/>
              </a:rPr>
              <a:t> permettent de subdiviser le domaine afin de mieux le gérer</a:t>
            </a:r>
          </a:p>
          <a:p>
            <a:pPr marL="216000" indent="-216000">
              <a:spcBef>
                <a:spcPct val="20000"/>
              </a:spcBef>
              <a:buClr>
                <a:srgbClr val="0070C0"/>
              </a:buClr>
              <a:buFont typeface="Arial" pitchFamily="34" charset="0"/>
              <a:buChar char="•"/>
            </a:pPr>
            <a:r>
              <a:rPr lang="fr-FR" sz="2400" b="0" dirty="0" smtClean="0">
                <a:solidFill>
                  <a:schemeClr val="tx1"/>
                </a:solidFill>
                <a:latin typeface="Segoe UI" pitchFamily="34" charset="0"/>
                <a:ea typeface="Segoe UI" pitchFamily="34" charset="0"/>
                <a:cs typeface="Segoe UI" pitchFamily="34" charset="0"/>
              </a:rPr>
              <a:t>Les </a:t>
            </a:r>
            <a:r>
              <a:rPr lang="fr-FR" sz="2400" b="0" dirty="0" err="1" smtClean="0">
                <a:solidFill>
                  <a:schemeClr val="tx1"/>
                </a:solidFill>
                <a:latin typeface="Segoe UI" pitchFamily="34" charset="0"/>
                <a:ea typeface="Segoe UI" pitchFamily="34" charset="0"/>
                <a:cs typeface="Segoe UI" pitchFamily="34" charset="0"/>
              </a:rPr>
              <a:t>OUs</a:t>
            </a:r>
            <a:r>
              <a:rPr lang="fr-FR" sz="2400" b="0" dirty="0" smtClean="0">
                <a:solidFill>
                  <a:schemeClr val="tx1"/>
                </a:solidFill>
                <a:latin typeface="Segoe UI" pitchFamily="34" charset="0"/>
                <a:ea typeface="Segoe UI" pitchFamily="34" charset="0"/>
                <a:cs typeface="Segoe UI" pitchFamily="34" charset="0"/>
              </a:rPr>
              <a:t> sont utilisées pour :</a:t>
            </a:r>
          </a:p>
          <a:p>
            <a:pPr marL="468000" lvl="1" indent="-180000">
              <a:spcBef>
                <a:spcPct val="20000"/>
              </a:spcBef>
              <a:buClr>
                <a:srgbClr val="0070C0"/>
              </a:buClr>
              <a:buFont typeface="Arial" pitchFamily="34" charset="0"/>
              <a:buChar char="•"/>
            </a:pPr>
            <a:r>
              <a:rPr lang="fr-FR" sz="2200" b="0" dirty="0" smtClean="0">
                <a:solidFill>
                  <a:schemeClr val="tx1"/>
                </a:solidFill>
                <a:latin typeface="Segoe UI" pitchFamily="34" charset="0"/>
                <a:ea typeface="Segoe UI" pitchFamily="34" charset="0"/>
                <a:cs typeface="Segoe UI" pitchFamily="34" charset="0"/>
              </a:rPr>
              <a:t>Faire de la délégation</a:t>
            </a:r>
          </a:p>
          <a:p>
            <a:pPr marL="468000" lvl="1" indent="-180000">
              <a:spcBef>
                <a:spcPct val="20000"/>
              </a:spcBef>
              <a:buClr>
                <a:srgbClr val="0070C0"/>
              </a:buClr>
              <a:buFont typeface="Arial" pitchFamily="34" charset="0"/>
              <a:buChar char="•"/>
            </a:pPr>
            <a:r>
              <a:rPr lang="fr-FR" sz="2200" b="0" dirty="0" smtClean="0">
                <a:solidFill>
                  <a:schemeClr val="tx1"/>
                </a:solidFill>
                <a:latin typeface="Segoe UI" pitchFamily="34" charset="0"/>
                <a:ea typeface="Segoe UI" pitchFamily="34" charset="0"/>
                <a:cs typeface="Segoe UI" pitchFamily="34" charset="0"/>
              </a:rPr>
              <a:t>Appliquer des </a:t>
            </a:r>
            <a:r>
              <a:rPr lang="fr-FR" sz="2200" b="0" dirty="0" err="1" smtClean="0">
                <a:solidFill>
                  <a:schemeClr val="tx1"/>
                </a:solidFill>
                <a:latin typeface="Segoe UI" pitchFamily="34" charset="0"/>
                <a:ea typeface="Segoe UI" pitchFamily="34" charset="0"/>
                <a:cs typeface="Segoe UI" pitchFamily="34" charset="0"/>
              </a:rPr>
              <a:t>GPOs</a:t>
            </a:r>
            <a:endParaRPr lang="fr-FR" sz="2200" b="0" dirty="0" smtClean="0">
              <a:solidFill>
                <a:schemeClr val="tx1"/>
              </a:solidFill>
              <a:latin typeface="Segoe UI" pitchFamily="34" charset="0"/>
              <a:ea typeface="Segoe UI" pitchFamily="34" charset="0"/>
              <a:cs typeface="Segoe UI" pitchFamily="34" charset="0"/>
            </a:endParaRPr>
          </a:p>
          <a:p>
            <a:pPr marL="216000" indent="-216000">
              <a:spcBef>
                <a:spcPct val="20000"/>
              </a:spcBef>
              <a:buClr>
                <a:srgbClr val="0070C0"/>
              </a:buClr>
              <a:buFont typeface="Arial" pitchFamily="34" charset="0"/>
              <a:buChar char="•"/>
            </a:pPr>
            <a:r>
              <a:rPr lang="fr-FR" sz="2400" b="0" dirty="0" smtClean="0">
                <a:solidFill>
                  <a:schemeClr val="tx1"/>
                </a:solidFill>
                <a:latin typeface="Segoe UI" pitchFamily="34" charset="0"/>
                <a:ea typeface="Segoe UI" pitchFamily="34" charset="0"/>
                <a:cs typeface="Segoe UI" pitchFamily="34" charset="0"/>
              </a:rPr>
              <a:t>Les </a:t>
            </a:r>
            <a:r>
              <a:rPr lang="fr-FR" sz="2400" b="0" dirty="0" err="1" smtClean="0">
                <a:solidFill>
                  <a:schemeClr val="tx1"/>
                </a:solidFill>
                <a:latin typeface="Segoe UI" pitchFamily="34" charset="0"/>
                <a:ea typeface="Segoe UI" pitchFamily="34" charset="0"/>
                <a:cs typeface="Segoe UI" pitchFamily="34" charset="0"/>
              </a:rPr>
              <a:t>OUs</a:t>
            </a:r>
            <a:r>
              <a:rPr lang="fr-FR" sz="2400" b="0" dirty="0" smtClean="0">
                <a:solidFill>
                  <a:schemeClr val="tx1"/>
                </a:solidFill>
                <a:latin typeface="Segoe UI" pitchFamily="34" charset="0"/>
                <a:ea typeface="Segoe UI" pitchFamily="34" charset="0"/>
                <a:cs typeface="Segoe UI" pitchFamily="34" charset="0"/>
              </a:rPr>
              <a:t> peuvent avoir une structure :</a:t>
            </a:r>
          </a:p>
          <a:p>
            <a:pPr marL="468000" lvl="1" indent="-180000">
              <a:spcBef>
                <a:spcPct val="20000"/>
              </a:spcBef>
              <a:buClr>
                <a:srgbClr val="0070C0"/>
              </a:buClr>
              <a:buFont typeface="Arial" pitchFamily="34" charset="0"/>
              <a:buChar char="•"/>
            </a:pPr>
            <a:r>
              <a:rPr lang="fr-FR" sz="2200" b="0" dirty="0" smtClean="0">
                <a:solidFill>
                  <a:schemeClr val="tx1"/>
                </a:solidFill>
                <a:latin typeface="Segoe UI" pitchFamily="34" charset="0"/>
                <a:ea typeface="Segoe UI" pitchFamily="34" charset="0"/>
                <a:cs typeface="Segoe UI" pitchFamily="34" charset="0"/>
              </a:rPr>
              <a:t>Plate (un à deux niveaux de profondeur) </a:t>
            </a:r>
          </a:p>
          <a:p>
            <a:pPr marL="468000" lvl="1" indent="-180000">
              <a:spcBef>
                <a:spcPct val="20000"/>
              </a:spcBef>
              <a:buClr>
                <a:srgbClr val="0070C0"/>
              </a:buClr>
              <a:buFont typeface="Arial" pitchFamily="34" charset="0"/>
              <a:buChar char="•"/>
            </a:pPr>
            <a:r>
              <a:rPr lang="fr-FR" sz="2200" b="0" dirty="0" smtClean="0">
                <a:solidFill>
                  <a:schemeClr val="tx1"/>
                </a:solidFill>
                <a:latin typeface="Segoe UI" pitchFamily="34" charset="0"/>
                <a:ea typeface="Segoe UI" pitchFamily="34" charset="0"/>
                <a:cs typeface="Segoe UI" pitchFamily="34" charset="0"/>
              </a:rPr>
              <a:t>Profonde (plus de 5 niveaux de profondeur)</a:t>
            </a:r>
          </a:p>
          <a:p>
            <a:pPr marL="468000" lvl="1" indent="-180000">
              <a:spcBef>
                <a:spcPct val="20000"/>
              </a:spcBef>
              <a:buClr>
                <a:srgbClr val="0070C0"/>
              </a:buClr>
              <a:buFont typeface="Arial" pitchFamily="34" charset="0"/>
              <a:buChar char="•"/>
            </a:pPr>
            <a:r>
              <a:rPr lang="fr-FR" sz="2200" b="0" dirty="0" smtClean="0">
                <a:solidFill>
                  <a:schemeClr val="tx1"/>
                </a:solidFill>
                <a:latin typeface="Segoe UI" pitchFamily="34" charset="0"/>
                <a:ea typeface="Segoe UI" pitchFamily="34" charset="0"/>
                <a:cs typeface="Segoe UI" pitchFamily="34" charset="0"/>
              </a:rPr>
              <a:t>Ou n’importe quoi entre les deux</a:t>
            </a:r>
          </a:p>
        </p:txBody>
      </p:sp>
      <p:sp>
        <p:nvSpPr>
          <p:cNvPr id="3" name="ZoneTexte 2"/>
          <p:cNvSpPr txBox="1"/>
          <p:nvPr/>
        </p:nvSpPr>
        <p:spPr>
          <a:xfrm>
            <a:off x="334699" y="5971927"/>
            <a:ext cx="8629789" cy="769441"/>
          </a:xfrm>
          <a:prstGeom prst="rect">
            <a:avLst/>
          </a:prstGeom>
          <a:noFill/>
        </p:spPr>
        <p:txBody>
          <a:bodyPr wrap="square" rtlCol="0">
            <a:spAutoFit/>
          </a:bodyPr>
          <a:lstStyle/>
          <a:p>
            <a:pPr marL="266700" lvl="0" indent="-266700">
              <a:spcBef>
                <a:spcPct val="20000"/>
              </a:spcBef>
              <a:buClr>
                <a:srgbClr val="0070C0"/>
              </a:buClr>
              <a:buFont typeface="Arial" pitchFamily="34" charset="0"/>
              <a:buChar char="•"/>
              <a:tabLst>
                <a:tab pos="8253413" algn="l"/>
              </a:tabLst>
            </a:pPr>
            <a:r>
              <a:rPr lang="fr-FR" sz="2200" dirty="0">
                <a:solidFill>
                  <a:srgbClr val="000000"/>
                </a:solidFill>
                <a:latin typeface="Segoe UI" pitchFamily="34" charset="0"/>
                <a:ea typeface="Segoe UI" pitchFamily="34" charset="0"/>
                <a:cs typeface="Segoe UI" pitchFamily="34" charset="0"/>
              </a:rPr>
              <a:t>Les </a:t>
            </a:r>
            <a:r>
              <a:rPr lang="fr-FR" sz="2200" dirty="0" err="1">
                <a:solidFill>
                  <a:srgbClr val="000000"/>
                </a:solidFill>
                <a:latin typeface="Segoe UI" pitchFamily="34" charset="0"/>
                <a:ea typeface="Segoe UI" pitchFamily="34" charset="0"/>
                <a:cs typeface="Segoe UI" pitchFamily="34" charset="0"/>
              </a:rPr>
              <a:t>OUs</a:t>
            </a:r>
            <a:r>
              <a:rPr lang="fr-FR" sz="2200" dirty="0">
                <a:solidFill>
                  <a:srgbClr val="000000"/>
                </a:solidFill>
                <a:latin typeface="Segoe UI" pitchFamily="34" charset="0"/>
                <a:ea typeface="Segoe UI" pitchFamily="34" charset="0"/>
                <a:cs typeface="Segoe UI" pitchFamily="34" charset="0"/>
              </a:rPr>
              <a:t> se définissent en fonction de </a:t>
            </a:r>
            <a:r>
              <a:rPr lang="fr-FR" sz="2200" dirty="0" smtClean="0">
                <a:solidFill>
                  <a:srgbClr val="000000"/>
                </a:solidFill>
                <a:latin typeface="Segoe UI" pitchFamily="34" charset="0"/>
                <a:ea typeface="Segoe UI" pitchFamily="34" charset="0"/>
                <a:cs typeface="Segoe UI" pitchFamily="34" charset="0"/>
              </a:rPr>
              <a:t>la situation géographique, des départements existants ou bien du type de ressources…</a:t>
            </a:r>
            <a:endParaRPr lang="fr-FR" sz="22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783538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bbc1b8cd-7462-48c3-9f3f-3997f0c755b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AD DS Permissions</a:t>
            </a:r>
            <a:endParaRPr lang="en-CA" dirty="0"/>
          </a:p>
        </p:txBody>
      </p:sp>
      <p:pic>
        <p:nvPicPr>
          <p:cNvPr id="4" name="alt text here, screen shot" descr="A screen shot of the Advanced Security Settings dialog box. The administrator is viewing the effective permissions of an OU named IT."/>
          <p:cNvPicPr>
            <a:picLocks noChangeAspect="1" noChangeArrowheads="1"/>
          </p:cNvPicPr>
          <p:nvPr/>
        </p:nvPicPr>
        <p:blipFill rotWithShape="1">
          <a:blip r:embed="rId3">
            <a:extLst>
              <a:ext uri="{28A0092B-C50C-407E-A947-70E740481C1C}">
                <a14:useLocalDpi xmlns:a14="http://schemas.microsoft.com/office/drawing/2010/main" val="0"/>
              </a:ext>
            </a:extLst>
          </a:blip>
          <a:srcRect l="99" t="3788" r="1011" b="249"/>
          <a:stretch/>
        </p:blipFill>
        <p:spPr bwMode="auto">
          <a:xfrm>
            <a:off x="323851" y="1466850"/>
            <a:ext cx="8436692" cy="4863724"/>
          </a:xfrm>
          <a:prstGeom prst="rect">
            <a:avLst/>
          </a:prstGeom>
          <a:noFill/>
          <a:ln w="38100">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p:cNvSpPr/>
          <p:nvPr/>
        </p:nvSpPr>
        <p:spPr>
          <a:xfrm>
            <a:off x="2246373" y="845900"/>
            <a:ext cx="4661084" cy="461665"/>
          </a:xfrm>
          <a:prstGeom prst="rect">
            <a:avLst/>
          </a:prstGeom>
        </p:spPr>
        <p:txBody>
          <a:bodyPr wrap="non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a:latin typeface="Segoe UI" panose="020B0502040204020203" pitchFamily="34" charset="0"/>
                <a:ea typeface="Segoe UI" panose="020B0502040204020203" pitchFamily="34" charset="0"/>
                <a:cs typeface="Segoe UI" panose="020B0502040204020203" pitchFamily="34" charset="0"/>
              </a:rPr>
              <a:t>Advanced Security Settings for IT</a:t>
            </a:r>
            <a:endParaRPr lang="en-CA" sz="2400" b="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86564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e7b15d5b-167d-4450-850d-12b8b2d67a5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Effective AD DS Permissions</a:t>
            </a:r>
            <a:endParaRPr lang="en-CA" dirty="0"/>
          </a:p>
        </p:txBody>
      </p:sp>
      <p:sp>
        <p:nvSpPr>
          <p:cNvPr id="4" name="Rounded Rectangle 3"/>
          <p:cNvSpPr>
            <a:spLocks noChangeArrowheads="1"/>
          </p:cNvSpPr>
          <p:nvPr/>
        </p:nvSpPr>
        <p:spPr bwMode="auto">
          <a:xfrm>
            <a:off x="357767" y="951671"/>
            <a:ext cx="8294914" cy="535935"/>
          </a:xfrm>
          <a:prstGeom prst="roundRect">
            <a:avLst>
              <a:gd name="adj" fmla="val 4167"/>
            </a:avLst>
          </a:prstGeom>
          <a:noFill/>
          <a:ln w="9525" algn="ctr">
            <a:noFill/>
            <a:round/>
            <a:headEnd/>
            <a:tailEnd/>
          </a:ln>
          <a:effectLst/>
        </p:spPr>
        <p:txBody>
          <a:bodyPr anchor="ctr" anchorCtr="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3500"/>
              </a:spcBef>
              <a:buClr>
                <a:srgbClr val="006699"/>
              </a:buClr>
            </a:pPr>
            <a:r>
              <a:rPr lang="fr-FR" altLang="ja-JP" sz="2400" b="0" dirty="0" smtClean="0">
                <a:latin typeface="Segoe UI" pitchFamily="34" charset="0"/>
                <a:ea typeface="Segoe UI" pitchFamily="34" charset="0"/>
                <a:cs typeface="Segoe UI" pitchFamily="34" charset="0"/>
              </a:rPr>
              <a:t>Vue d’ensemble des permissions attribuées aux utilisateurs ou </a:t>
            </a:r>
            <a:r>
              <a:rPr lang="fr-FR" altLang="ja-JP" sz="2400" b="0" dirty="0" smtClean="0">
                <a:latin typeface="Segoe UI" pitchFamily="34" charset="0"/>
                <a:ea typeface="Segoe UI" pitchFamily="34" charset="0"/>
                <a:cs typeface="Segoe UI" pitchFamily="34" charset="0"/>
              </a:rPr>
              <a:t>aux groupes </a:t>
            </a:r>
            <a:endParaRPr lang="fr-FR" altLang="ja-JP" sz="2400" b="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357767" y="1627209"/>
            <a:ext cx="8294914" cy="752762"/>
          </a:xfrm>
          <a:prstGeom prst="roundRect">
            <a:avLst>
              <a:gd name="adj" fmla="val 4167"/>
            </a:avLst>
          </a:prstGeom>
          <a:noFill/>
          <a:ln w="9525" algn="ctr">
            <a:noFill/>
            <a:round/>
            <a:headEnd/>
            <a:tailEnd/>
          </a:ln>
          <a:effectLst/>
        </p:spPr>
        <p:txBody>
          <a:bodyPr anchor="ctr" anchorCtr="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3500"/>
              </a:spcBef>
              <a:buClr>
                <a:srgbClr val="006699"/>
              </a:buClr>
            </a:pPr>
            <a:r>
              <a:rPr lang="fr-FR" altLang="ja-JP" sz="2400" b="0" dirty="0" smtClean="0">
                <a:latin typeface="Segoe UI" pitchFamily="34" charset="0"/>
                <a:ea typeface="Segoe UI" pitchFamily="34" charset="0"/>
                <a:cs typeface="Segoe UI" pitchFamily="34" charset="0"/>
              </a:rPr>
              <a:t>Une bonne pratique est d’attribuer une permission à un groupe et non directement aux utilisateurs</a:t>
            </a:r>
            <a:endParaRPr lang="fr-FR" altLang="ja-JP" sz="2400" b="0" dirty="0">
              <a:latin typeface="Segoe UI" pitchFamily="34" charset="0"/>
              <a:ea typeface="Segoe UI" pitchFamily="34" charset="0"/>
              <a:cs typeface="Segoe UI" pitchFamily="34" charset="0"/>
            </a:endParaRPr>
          </a:p>
        </p:txBody>
      </p:sp>
      <p:sp>
        <p:nvSpPr>
          <p:cNvPr id="6" name="Rounded Rectangle 5"/>
          <p:cNvSpPr>
            <a:spLocks noChangeArrowheads="1"/>
          </p:cNvSpPr>
          <p:nvPr/>
        </p:nvSpPr>
        <p:spPr bwMode="auto">
          <a:xfrm>
            <a:off x="357767" y="2519574"/>
            <a:ext cx="8294914" cy="1994710"/>
          </a:xfrm>
          <a:prstGeom prst="roundRect">
            <a:avLst>
              <a:gd name="adj" fmla="val 4167"/>
            </a:avLst>
          </a:prstGeom>
          <a:noFill/>
          <a:ln w="9525" algn="ctr">
            <a:noFill/>
            <a:round/>
            <a:headEnd/>
            <a:tailEnd/>
          </a:ln>
          <a:effectLst/>
        </p:spPr>
        <p:txBody>
          <a:bodyPr anchor="t" anchorCtr="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3500"/>
              </a:spcBef>
              <a:buClr>
                <a:srgbClr val="006699"/>
              </a:buClr>
            </a:pPr>
            <a:r>
              <a:rPr lang="fr-FR" altLang="ja-JP" sz="2400" b="0" dirty="0" smtClean="0">
                <a:latin typeface="Segoe UI" pitchFamily="34" charset="0"/>
                <a:ea typeface="Segoe UI" pitchFamily="34" charset="0"/>
                <a:cs typeface="Segoe UI" pitchFamily="34" charset="0"/>
              </a:rPr>
              <a:t>En cas de conflit :</a:t>
            </a:r>
            <a:endParaRPr lang="fr-FR" altLang="ja-JP" sz="2400" b="0" dirty="0">
              <a:latin typeface="Segoe UI" pitchFamily="34" charset="0"/>
              <a:ea typeface="Segoe UI" pitchFamily="34" charset="0"/>
              <a:cs typeface="Segoe UI" pitchFamily="34" charset="0"/>
            </a:endParaRPr>
          </a:p>
        </p:txBody>
      </p:sp>
      <p:sp>
        <p:nvSpPr>
          <p:cNvPr id="7" name="Rounded Rectangle 6"/>
          <p:cNvSpPr>
            <a:spLocks noChangeArrowheads="1"/>
          </p:cNvSpPr>
          <p:nvPr/>
        </p:nvSpPr>
        <p:spPr bwMode="auto">
          <a:xfrm>
            <a:off x="357767" y="4653888"/>
            <a:ext cx="8294914" cy="1555844"/>
          </a:xfrm>
          <a:prstGeom prst="roundRect">
            <a:avLst>
              <a:gd name="adj" fmla="val 4167"/>
            </a:avLst>
          </a:prstGeom>
          <a:noFill/>
          <a:ln w="9525" algn="ctr">
            <a:noFill/>
            <a:round/>
            <a:headEnd/>
            <a:tailEnd/>
          </a:ln>
          <a:effectLst/>
        </p:spPr>
        <p:txBody>
          <a:bodyPr anchor="t" anchorCtr="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3500"/>
              </a:spcBef>
              <a:buClr>
                <a:srgbClr val="006699"/>
              </a:buClr>
            </a:pPr>
            <a:r>
              <a:rPr lang="fr-FR" altLang="ja-JP" sz="2400" b="0" dirty="0" smtClean="0">
                <a:latin typeface="Segoe UI" pitchFamily="34" charset="0"/>
                <a:ea typeface="Segoe UI" pitchFamily="34" charset="0"/>
                <a:cs typeface="Segoe UI" pitchFamily="34" charset="0"/>
              </a:rPr>
              <a:t>Pour visualiser les permissions effectives :</a:t>
            </a:r>
            <a:endParaRPr lang="fr-FR" altLang="ja-JP" sz="2400" b="0" dirty="0">
              <a:latin typeface="Segoe UI" pitchFamily="34" charset="0"/>
              <a:ea typeface="Segoe UI" pitchFamily="34" charset="0"/>
              <a:cs typeface="Segoe UI" pitchFamily="34" charset="0"/>
            </a:endParaRPr>
          </a:p>
        </p:txBody>
      </p:sp>
      <p:sp>
        <p:nvSpPr>
          <p:cNvPr id="8" name="AutoShape 4"/>
          <p:cNvSpPr>
            <a:spLocks noChangeArrowheads="1"/>
          </p:cNvSpPr>
          <p:nvPr/>
        </p:nvSpPr>
        <p:spPr bwMode="auto">
          <a:xfrm>
            <a:off x="736978" y="2961561"/>
            <a:ext cx="8299518" cy="1351128"/>
          </a:xfrm>
          <a:prstGeom prst="roundRect">
            <a:avLst>
              <a:gd name="adj" fmla="val 4167"/>
            </a:avLst>
          </a:prstGeom>
          <a:no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nSpc>
                <a:spcPct val="90000"/>
              </a:lnSpc>
              <a:spcBef>
                <a:spcPct val="40000"/>
              </a:spcBef>
              <a:buClr>
                <a:srgbClr val="006699"/>
              </a:buClr>
              <a:buFontTx/>
              <a:buChar char="•"/>
            </a:pPr>
            <a:r>
              <a:rPr lang="fr-FR" altLang="ja-JP" sz="2400" b="0" dirty="0" smtClean="0">
                <a:latin typeface="Segoe UI" pitchFamily="34" charset="0"/>
                <a:ea typeface="Segoe UI" pitchFamily="34" charset="0"/>
                <a:cs typeface="Segoe UI" pitchFamily="34" charset="0"/>
              </a:rPr>
              <a:t>Un « </a:t>
            </a:r>
            <a:r>
              <a:rPr lang="fr-FR" altLang="ja-JP" sz="2400" b="0" dirty="0" err="1" smtClean="0">
                <a:latin typeface="Segoe UI" pitchFamily="34" charset="0"/>
                <a:ea typeface="Segoe UI" pitchFamily="34" charset="0"/>
                <a:cs typeface="Segoe UI" pitchFamily="34" charset="0"/>
              </a:rPr>
              <a:t>Deny</a:t>
            </a:r>
            <a:r>
              <a:rPr lang="fr-FR" altLang="ja-JP" sz="2400" b="0" dirty="0" smtClean="0">
                <a:latin typeface="Segoe UI" pitchFamily="34" charset="0"/>
                <a:ea typeface="Segoe UI" pitchFamily="34" charset="0"/>
                <a:cs typeface="Segoe UI" pitchFamily="34" charset="0"/>
              </a:rPr>
              <a:t> » écrase un « </a:t>
            </a:r>
            <a:r>
              <a:rPr lang="fr-FR" altLang="ja-JP" sz="2400" b="0" dirty="0" err="1" smtClean="0">
                <a:latin typeface="Segoe UI" pitchFamily="34" charset="0"/>
                <a:ea typeface="Segoe UI" pitchFamily="34" charset="0"/>
                <a:cs typeface="Segoe UI" pitchFamily="34" charset="0"/>
              </a:rPr>
              <a:t>Allow</a:t>
            </a:r>
            <a:r>
              <a:rPr lang="fr-FR" altLang="ja-JP" sz="2400" b="0" dirty="0" smtClean="0">
                <a:latin typeface="Segoe UI" pitchFamily="34" charset="0"/>
                <a:ea typeface="Segoe UI" pitchFamily="34" charset="0"/>
                <a:cs typeface="Segoe UI" pitchFamily="34" charset="0"/>
              </a:rPr>
              <a:t> »</a:t>
            </a:r>
          </a:p>
          <a:p>
            <a:pPr marL="228600" indent="-228600">
              <a:lnSpc>
                <a:spcPct val="90000"/>
              </a:lnSpc>
              <a:spcBef>
                <a:spcPct val="40000"/>
              </a:spcBef>
              <a:buClr>
                <a:srgbClr val="006699"/>
              </a:buClr>
              <a:buFontTx/>
              <a:buChar char="•"/>
            </a:pPr>
            <a:r>
              <a:rPr lang="fr-FR" altLang="ja-JP" sz="2400" b="0" dirty="0" smtClean="0">
                <a:latin typeface="Segoe UI" pitchFamily="34" charset="0"/>
                <a:ea typeface="Segoe UI" pitchFamily="34" charset="0"/>
                <a:cs typeface="Segoe UI" pitchFamily="34" charset="0"/>
              </a:rPr>
              <a:t>Une permission explicite écrase une permission héritée</a:t>
            </a:r>
          </a:p>
          <a:p>
            <a:pPr marL="685800" lvl="1" indent="-228600">
              <a:lnSpc>
                <a:spcPct val="90000"/>
              </a:lnSpc>
              <a:spcBef>
                <a:spcPct val="40000"/>
              </a:spcBef>
              <a:buClr>
                <a:srgbClr val="006699"/>
              </a:buClr>
              <a:buFontTx/>
              <a:buChar char="•"/>
            </a:pPr>
            <a:r>
              <a:rPr lang="fr-FR" altLang="ja-JP" sz="2400" b="0" dirty="0" smtClean="0">
                <a:latin typeface="Segoe UI" pitchFamily="34" charset="0"/>
                <a:ea typeface="Segoe UI" pitchFamily="34" charset="0"/>
                <a:cs typeface="Segoe UI" pitchFamily="34" charset="0"/>
              </a:rPr>
              <a:t>Un « </a:t>
            </a:r>
            <a:r>
              <a:rPr lang="fr-FR" altLang="ja-JP" sz="2400" b="0" dirty="0" err="1" smtClean="0">
                <a:latin typeface="Segoe UI" pitchFamily="34" charset="0"/>
                <a:ea typeface="Segoe UI" pitchFamily="34" charset="0"/>
                <a:cs typeface="Segoe UI" pitchFamily="34" charset="0"/>
              </a:rPr>
              <a:t>Allow</a:t>
            </a:r>
            <a:r>
              <a:rPr lang="fr-FR" altLang="ja-JP" sz="2400" b="0" dirty="0" smtClean="0">
                <a:latin typeface="Segoe UI" pitchFamily="34" charset="0"/>
                <a:ea typeface="Segoe UI" pitchFamily="34" charset="0"/>
                <a:cs typeface="Segoe UI" pitchFamily="34" charset="0"/>
              </a:rPr>
              <a:t> » explicite écrase un « </a:t>
            </a:r>
            <a:r>
              <a:rPr lang="fr-FR" altLang="ja-JP" sz="2400" b="0" dirty="0" err="1" smtClean="0">
                <a:latin typeface="Segoe UI" pitchFamily="34" charset="0"/>
                <a:ea typeface="Segoe UI" pitchFamily="34" charset="0"/>
                <a:cs typeface="Segoe UI" pitchFamily="34" charset="0"/>
              </a:rPr>
              <a:t>Deny</a:t>
            </a:r>
            <a:r>
              <a:rPr lang="fr-FR" altLang="ja-JP" sz="2400" b="0" dirty="0" smtClean="0">
                <a:latin typeface="Segoe UI" pitchFamily="34" charset="0"/>
                <a:ea typeface="Segoe UI" pitchFamily="34" charset="0"/>
                <a:cs typeface="Segoe UI" pitchFamily="34" charset="0"/>
              </a:rPr>
              <a:t> » hérité</a:t>
            </a:r>
            <a:endParaRPr lang="fr-FR" altLang="ja-JP" sz="2400" b="0" dirty="0">
              <a:latin typeface="Segoe UI" pitchFamily="34" charset="0"/>
              <a:ea typeface="Segoe UI" pitchFamily="34" charset="0"/>
              <a:cs typeface="Segoe UI" pitchFamily="34" charset="0"/>
            </a:endParaRPr>
          </a:p>
        </p:txBody>
      </p:sp>
      <p:sp>
        <p:nvSpPr>
          <p:cNvPr id="9" name="AutoShape 4"/>
          <p:cNvSpPr>
            <a:spLocks noChangeArrowheads="1"/>
          </p:cNvSpPr>
          <p:nvPr/>
        </p:nvSpPr>
        <p:spPr bwMode="auto">
          <a:xfrm>
            <a:off x="736978" y="5104261"/>
            <a:ext cx="7615451" cy="846162"/>
          </a:xfrm>
          <a:prstGeom prst="roundRect">
            <a:avLst>
              <a:gd name="adj" fmla="val 4167"/>
            </a:avLst>
          </a:prstGeom>
          <a:no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nSpc>
                <a:spcPct val="90000"/>
              </a:lnSpc>
              <a:spcBef>
                <a:spcPct val="40000"/>
              </a:spcBef>
              <a:buClr>
                <a:srgbClr val="006699"/>
              </a:buClr>
              <a:buFontTx/>
              <a:buChar char="•"/>
            </a:pPr>
            <a:r>
              <a:rPr lang="fr-FR" altLang="ja-JP" sz="2400" b="0" dirty="0" smtClean="0">
                <a:latin typeface="Segoe UI" panose="020B0502040204020203" pitchFamily="34" charset="0"/>
                <a:ea typeface="Segoe UI" pitchFamily="34" charset="0"/>
                <a:cs typeface="Segoe UI" panose="020B0502040204020203" pitchFamily="34" charset="0"/>
              </a:rPr>
              <a:t>L’onglet « Effective Access »</a:t>
            </a:r>
          </a:p>
          <a:p>
            <a:pPr marL="228600" indent="-228600">
              <a:lnSpc>
                <a:spcPct val="90000"/>
              </a:lnSpc>
              <a:spcBef>
                <a:spcPct val="40000"/>
              </a:spcBef>
              <a:buClr>
                <a:srgbClr val="006699"/>
              </a:buClr>
              <a:buFontTx/>
              <a:buChar char="•"/>
            </a:pPr>
            <a:r>
              <a:rPr lang="fr-FR" altLang="ja-JP" sz="2400" b="0" dirty="0" smtClean="0">
                <a:latin typeface="Segoe UI" panose="020B0502040204020203" pitchFamily="34" charset="0"/>
                <a:ea typeface="Segoe UI" pitchFamily="34" charset="0"/>
                <a:cs typeface="Segoe UI" panose="020B0502040204020203" pitchFamily="34" charset="0"/>
              </a:rPr>
              <a:t>Commande  </a:t>
            </a:r>
            <a:r>
              <a:rPr lang="fr-FR" sz="2400" dirty="0" err="1">
                <a:latin typeface="Segoe UI" panose="020B0502040204020203" pitchFamily="34" charset="0"/>
                <a:cs typeface="Segoe UI" panose="020B0502040204020203" pitchFamily="34" charset="0"/>
              </a:rPr>
              <a:t>dsacls</a:t>
            </a:r>
            <a:endParaRPr lang="fr-FR" altLang="ja-JP" sz="2400" b="0" dirty="0">
              <a:latin typeface="Segoe UI" panose="020B0502040204020203" pitchFamily="34" charset="0"/>
              <a:ea typeface="Segoe UI" pitchFamily="34" charset="0"/>
              <a:cs typeface="Segoe UI" panose="020B0502040204020203" pitchFamily="34" charset="0"/>
            </a:endParaRPr>
          </a:p>
        </p:txBody>
      </p:sp>
    </p:spTree>
    <p:extLst>
      <p:ext uri="{BB962C8B-B14F-4D97-AF65-F5344CB8AC3E}">
        <p14:creationId xmlns:p14="http://schemas.microsoft.com/office/powerpoint/2010/main" val="5421969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ca5ea832-a2bd-4da1-a8ac-4c2a70ee856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Delegating Administrative Permissions</a:t>
            </a:r>
            <a:endParaRPr lang="en-CA" dirty="0"/>
          </a:p>
        </p:txBody>
      </p:sp>
      <p:sp>
        <p:nvSpPr>
          <p:cNvPr id="4" name="TextBox 3"/>
          <p:cNvSpPr txBox="1">
            <a:spLocks noGrp="1" noChangeArrowheads="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0" hangingPunct="0">
              <a:lnSpc>
                <a:spcPct val="90000"/>
              </a:lnSpc>
              <a:spcBef>
                <a:spcPct val="70000"/>
              </a:spcBef>
              <a:buClr>
                <a:schemeClr val="hlink"/>
              </a:buClr>
              <a:buSzPct val="90000"/>
              <a:buFont typeface="Wingdings" pitchFamily="2" charset="2"/>
              <a:buNone/>
              <a:defRPr/>
            </a:pPr>
            <a:r>
              <a:rPr lang="en-US" b="0" kern="0" dirty="0"/>
              <a:t>In this demonstration, you will see how </a:t>
            </a:r>
            <a:r>
              <a:rPr lang="en-US" b="0" kern="0" dirty="0" smtClean="0"/>
              <a:t>to</a:t>
            </a:r>
            <a:r>
              <a:rPr lang="en-GB" b="0" kern="0" dirty="0" smtClean="0"/>
              <a:t>:</a:t>
            </a:r>
            <a:endParaRPr lang="en-GB" b="0" kern="0" dirty="0"/>
          </a:p>
          <a:p>
            <a:pPr marL="174625" lvl="1" indent="-174625">
              <a:buSzPct val="90000"/>
              <a:defRPr/>
            </a:pPr>
            <a:r>
              <a:rPr lang="en-GB" sz="2600" dirty="0"/>
              <a:t>Create an OU</a:t>
            </a:r>
          </a:p>
          <a:p>
            <a:pPr marL="174625" lvl="1" indent="-174625">
              <a:buSzPct val="90000"/>
              <a:defRPr/>
            </a:pPr>
            <a:r>
              <a:rPr lang="en-GB" sz="2600" dirty="0"/>
              <a:t>Move objects into an OU</a:t>
            </a:r>
          </a:p>
          <a:p>
            <a:pPr marL="174625" lvl="1" indent="-174625">
              <a:buSzPct val="90000"/>
              <a:defRPr/>
            </a:pPr>
            <a:r>
              <a:rPr lang="en-GB" sz="2600" dirty="0"/>
              <a:t>Delegate a standard task</a:t>
            </a:r>
          </a:p>
          <a:p>
            <a:pPr marL="174625" lvl="1" indent="-174625">
              <a:buSzPct val="90000"/>
              <a:defRPr/>
            </a:pPr>
            <a:r>
              <a:rPr lang="en-GB" sz="2600" dirty="0"/>
              <a:t>Delegate a custom </a:t>
            </a:r>
            <a:r>
              <a:rPr lang="en-GB" sz="2600" dirty="0" smtClean="0"/>
              <a:t>task</a:t>
            </a:r>
          </a:p>
          <a:p>
            <a:pPr marL="174625" lvl="1" indent="-174625">
              <a:buSzPct val="90000"/>
              <a:defRPr/>
            </a:pPr>
            <a:r>
              <a:rPr lang="en-GB" sz="2600" b="0" kern="0" dirty="0" smtClean="0"/>
              <a:t>View AD DS permissions resulting from these delegations</a:t>
            </a:r>
            <a:endParaRPr lang="en-GB" sz="2600" b="0" kern="0" dirty="0"/>
          </a:p>
          <a:p>
            <a:pPr marL="457200" indent="-457200" eaLnBrk="0" hangingPunct="0">
              <a:lnSpc>
                <a:spcPct val="90000"/>
              </a:lnSpc>
              <a:spcBef>
                <a:spcPct val="70000"/>
              </a:spcBef>
              <a:buClr>
                <a:schemeClr val="hlink"/>
              </a:buClr>
              <a:buSzPct val="90000"/>
              <a:buFont typeface="Wingdings" pitchFamily="2" charset="2"/>
              <a:buNone/>
              <a:defRPr/>
            </a:pPr>
            <a:endParaRPr lang="en-US" sz="2500" b="0" kern="0" dirty="0"/>
          </a:p>
        </p:txBody>
      </p:sp>
    </p:spTree>
    <p:extLst>
      <p:ext uri="{BB962C8B-B14F-4D97-AF65-F5344CB8AC3E}">
        <p14:creationId xmlns:p14="http://schemas.microsoft.com/office/powerpoint/2010/main" val="142857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40161074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284308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64464d22-2b72-4053-8e9b-b15b8403469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Managing Active Directory Domain Services Objects</a:t>
            </a:r>
            <a:endParaRPr lang="en-CA" dirty="0"/>
          </a:p>
        </p:txBody>
      </p:sp>
      <p:sp>
        <p:nvSpPr>
          <p:cNvPr id="3" name="Text Placeholder 2"/>
          <p:cNvSpPr>
            <a:spLocks noGrp="1"/>
          </p:cNvSpPr>
          <p:nvPr>
            <p:ph type="body" idx="1"/>
          </p:nvPr>
        </p:nvSpPr>
        <p:spPr>
          <a:xfrm>
            <a:off x="458788" y="1021215"/>
            <a:ext cx="8119156" cy="2335777"/>
          </a:xfrm>
        </p:spPr>
        <p:txBody>
          <a:bodyPr/>
          <a:lstStyle/>
          <a:p>
            <a:r>
              <a:rPr lang="en-CA" dirty="0" smtClean="0"/>
              <a:t>Exercise 1: Delegating Administration for a Branch Office
Exercise 2: Creating and Configuring User Accounts in AD DS
Exercise 3: Managing Computer Objects in AD DS</a:t>
            </a:r>
            <a:endParaRPr lang="en-CA" dirty="0"/>
          </a:p>
        </p:txBody>
      </p:sp>
      <p:sp>
        <p:nvSpPr>
          <p:cNvPr id="4" name="TextBox 3"/>
          <p:cNvSpPr txBox="1"/>
          <p:nvPr/>
        </p:nvSpPr>
        <p:spPr>
          <a:xfrm>
            <a:off x="458788" y="4119463"/>
            <a:ext cx="2920287" cy="461665"/>
          </a:xfrm>
          <a:prstGeom prst="rect">
            <a:avLst/>
          </a:prstGeom>
          <a:noFill/>
        </p:spPr>
        <p:txBody>
          <a:bodyPr vert="horz" wrap="none" rtlCol="0">
            <a:spAutoFit/>
          </a:bodyPr>
          <a:lstStyle/>
          <a:p>
            <a:r>
              <a:rPr lang="en-CA" sz="2400" b="1" dirty="0" smtClean="0">
                <a:latin typeface="Segoe UI"/>
              </a:rPr>
              <a:t>Logon Information</a:t>
            </a:r>
            <a:endParaRPr lang="en-CA" sz="2400" b="1" dirty="0">
              <a:latin typeface="Segoe UI"/>
            </a:endParaRPr>
          </a:p>
        </p:txBody>
      </p:sp>
      <p:sp>
        <p:nvSpPr>
          <p:cNvPr id="5" name="TextBox 4"/>
          <p:cNvSpPr txBox="1"/>
          <p:nvPr/>
        </p:nvSpPr>
        <p:spPr>
          <a:xfrm>
            <a:off x="458788" y="4646746"/>
            <a:ext cx="5697388" cy="1323439"/>
          </a:xfrm>
          <a:prstGeom prst="rect">
            <a:avLst/>
          </a:prstGeom>
          <a:noFill/>
        </p:spPr>
        <p:txBody>
          <a:bodyPr vert="horz" wrap="square" rtlCol="0">
            <a:spAutoFit/>
          </a:bodyPr>
          <a:lstStyle/>
          <a:p>
            <a:pPr defTabSz="648000">
              <a:tabLst>
                <a:tab pos="2516188" algn="l"/>
              </a:tabLst>
            </a:pPr>
            <a:r>
              <a:rPr lang="en-US" sz="2000" b="0" i="0" u="none" strike="noStrike" baseline="0" dirty="0" smtClean="0">
                <a:latin typeface="Segoe UI"/>
              </a:rPr>
              <a:t>Virtual machines		</a:t>
            </a:r>
            <a:r>
              <a:rPr lang="en-US" sz="2000" b="1" i="0" u="none" strike="noStrike" baseline="0" dirty="0" smtClean="0">
                <a:latin typeface="Segoe UI"/>
              </a:rPr>
              <a:t>20410D‑LON‑DC1</a:t>
            </a:r>
          </a:p>
          <a:p>
            <a:pPr defTabSz="648000"/>
            <a:r>
              <a:rPr lang="en-US" sz="2000" b="0" i="0" u="none" strike="noStrike" baseline="0" dirty="0" smtClean="0">
                <a:latin typeface="Segoe UI"/>
              </a:rPr>
              <a:t>				</a:t>
            </a:r>
            <a:r>
              <a:rPr lang="en-US" sz="2000" b="1" i="0" u="none" strike="noStrike" baseline="0" dirty="0" smtClean="0">
                <a:latin typeface="Segoe UI"/>
              </a:rPr>
              <a:t>20410D‑LON‑CL1</a:t>
            </a:r>
            <a:r>
              <a:rPr lang="en-US" sz="2000" b="0" i="0" u="none" strike="noStrike" baseline="0" dirty="0" smtClean="0">
                <a:latin typeface="Segoe UI"/>
              </a:rPr>
              <a:t>	</a:t>
            </a:r>
          </a:p>
          <a:p>
            <a:pPr defTabSz="648000"/>
            <a:r>
              <a:rPr lang="en-US" sz="2000" b="0" i="0" u="none" strike="noStrike" baseline="0" dirty="0" smtClean="0">
                <a:latin typeface="Segoe UI"/>
              </a:rPr>
              <a:t>User name			</a:t>
            </a:r>
            <a:r>
              <a:rPr lang="en-US" sz="2000" b="1" i="0" u="none" strike="noStrike" baseline="0" dirty="0" err="1" smtClean="0">
                <a:latin typeface="Segoe UI"/>
              </a:rPr>
              <a:t>Adatum</a:t>
            </a:r>
            <a:r>
              <a:rPr lang="en-US" sz="2000" b="1" i="0" u="none" strike="noStrike" baseline="0" dirty="0" smtClean="0">
                <a:latin typeface="Segoe UI"/>
              </a:rPr>
              <a:t>\Administrator</a:t>
            </a:r>
            <a:endParaRPr lang="en-US" sz="2000" b="0" i="0" u="none" strike="noStrike" baseline="0" dirty="0" smtClean="0">
              <a:latin typeface="Segoe UI"/>
            </a:endParaRPr>
          </a:p>
          <a:p>
            <a:pPr defTabSz="648000"/>
            <a:r>
              <a:rPr lang="en-US" sz="2000" b="0" i="0" u="none" strike="noStrike" baseline="0" dirty="0" smtClean="0">
                <a:latin typeface="Segoe UI"/>
              </a:rPr>
              <a:t>Password			</a:t>
            </a:r>
            <a:r>
              <a:rPr lang="en-US" sz="2000" b="1" i="0" u="none" strike="noStrike" baseline="0" dirty="0" smtClean="0">
                <a:latin typeface="Segoe UI"/>
              </a:rPr>
              <a:t>Pa$$w0rd</a:t>
            </a:r>
            <a:r>
              <a:rPr lang="en-US" sz="2000" b="0" i="0" u="none" strike="noStrike" baseline="0" dirty="0" smtClean="0">
                <a:latin typeface="Segoe UI"/>
              </a:rPr>
              <a:t>	</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a:rPr>
              <a:t>Estimated Time: 70 minutes</a:t>
            </a:r>
            <a:endParaRPr lang="en-CA" sz="2000" b="1" dirty="0">
              <a:latin typeface="Segoe UI"/>
            </a:endParaRPr>
          </a:p>
        </p:txBody>
      </p:sp>
    </p:spTree>
    <p:extLst>
      <p:ext uri="{BB962C8B-B14F-4D97-AF65-F5344CB8AC3E}">
        <p14:creationId xmlns:p14="http://schemas.microsoft.com/office/powerpoint/2010/main" val="3966087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994464"/>
            <a:ext cx="8119156" cy="5098832"/>
          </a:xfrm>
          <a:prstGeom prst="rect">
            <a:avLst/>
          </a:prstGeom>
          <a:noFill/>
        </p:spPr>
        <p:txBody>
          <a:bodyPr vert="horz" wrap="square" rtlCol="0">
            <a:spAutoFit/>
          </a:bodyPr>
          <a:lstStyle/>
          <a:p>
            <a:pPr>
              <a:spcBef>
                <a:spcPts val="600"/>
              </a:spcBef>
              <a:spcAft>
                <a:spcPts val="1000"/>
              </a:spcAft>
            </a:pPr>
            <a:r>
              <a:rPr lang="en-US" sz="2400" dirty="0" smtClean="0">
                <a:effectLst/>
                <a:latin typeface="Segoe UI"/>
                <a:ea typeface="Times New Roman"/>
                <a:cs typeface="Segoe UI"/>
              </a:rPr>
              <a:t>You have been working for A. Datum </a:t>
            </a:r>
            <a:r>
              <a:rPr lang="en-US" sz="2400" dirty="0" smtClean="0">
                <a:effectLst/>
                <a:latin typeface="Segoe UI"/>
                <a:ea typeface="Times New Roman"/>
                <a:cs typeface="Arial"/>
              </a:rPr>
              <a:t>Corporation</a:t>
            </a:r>
            <a:r>
              <a:rPr lang="en-US" sz="2400" dirty="0" smtClean="0">
                <a:effectLst/>
                <a:latin typeface="Segoe UI"/>
                <a:ea typeface="Times New Roman"/>
                <a:cs typeface="Segoe UI"/>
              </a:rPr>
              <a:t> as a desktop support specialist and have visited desktop computers to troubleshoot app and network problems. You have recently accepted a promotion to the server support team. One of your first assignments is to configure the infrastructure service for a new branch office.</a:t>
            </a:r>
            <a:endParaRPr lang="en-CA" sz="2400" dirty="0" smtClean="0">
              <a:effectLst/>
              <a:latin typeface="Segoe UI"/>
              <a:ea typeface="Times New Roman"/>
              <a:cs typeface="Arial"/>
            </a:endParaRPr>
          </a:p>
          <a:p>
            <a:pPr>
              <a:spcBef>
                <a:spcPts val="600"/>
              </a:spcBef>
              <a:spcAft>
                <a:spcPts val="1000"/>
              </a:spcAft>
            </a:pPr>
            <a:r>
              <a:rPr lang="en-US" sz="2400" dirty="0" smtClean="0">
                <a:effectLst/>
                <a:latin typeface="Segoe UI"/>
                <a:ea typeface="Times New Roman"/>
                <a:cs typeface="Segoe UI"/>
              </a:rPr>
              <a:t>To begin deployment of the new branch office, you are preparing AD DS objects. As part of this preparation, you need to create an OU for the branch office and delegate permission to manage it. Then you need to create users and groups for </a:t>
            </a:r>
            <a:r>
              <a:rPr lang="en-US" sz="2400" dirty="0">
                <a:solidFill>
                  <a:srgbClr val="000000"/>
                </a:solidFill>
                <a:latin typeface="Segoe UI"/>
                <a:ea typeface="Times New Roman"/>
                <a:cs typeface="Segoe UI"/>
              </a:rPr>
              <a:t>the new branch office. Finally, you need to reset the secure channel for a computer account that has lost connectivity to the domain in the branch </a:t>
            </a:r>
            <a:r>
              <a:rPr lang="en-US" sz="2400" dirty="0" smtClean="0">
                <a:solidFill>
                  <a:srgbClr val="000000"/>
                </a:solidFill>
                <a:latin typeface="Segoe UI"/>
                <a:ea typeface="Times New Roman"/>
                <a:cs typeface="Segoe UI"/>
              </a:rPr>
              <a:t>office.</a:t>
            </a:r>
            <a:endParaRPr lang="en-CA" sz="2400" dirty="0">
              <a:effectLst/>
              <a:latin typeface="Segoe UI"/>
              <a:ea typeface="Times New Roman"/>
              <a:cs typeface="Arial"/>
            </a:endParaRPr>
          </a:p>
        </p:txBody>
      </p:sp>
    </p:spTree>
    <p:extLst>
      <p:ext uri="{BB962C8B-B14F-4D97-AF65-F5344CB8AC3E}">
        <p14:creationId xmlns:p14="http://schemas.microsoft.com/office/powerpoint/2010/main" val="4262320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4ff437e0-f287-4b1f-9df6-46e0dcc02e3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What are the options for modifying the attributes of new and existing users?
What types of objects can be members of global groups?
What types of objects can be members of domain-local groups?
Which two credentials are necessary for any computer to join a domain?</a:t>
            </a:r>
            <a:endParaRPr lang="en-CA" dirty="0"/>
          </a:p>
        </p:txBody>
      </p:sp>
    </p:spTree>
    <p:extLst>
      <p:ext uri="{BB962C8B-B14F-4D97-AF65-F5344CB8AC3E}">
        <p14:creationId xmlns:p14="http://schemas.microsoft.com/office/powerpoint/2010/main" val="2733853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a:t>
            </a:r>
            <a:r>
              <a:rPr lang="en-CA" dirty="0"/>
              <a:t>Best </a:t>
            </a:r>
            <a:r>
              <a:rPr lang="en-CA" dirty="0" smtClean="0"/>
              <a:t>Practices</a:t>
            </a:r>
            <a:endParaRPr lang="en-CA" dirty="0"/>
          </a:p>
          <a:p>
            <a:r>
              <a:rPr lang="en-CA" dirty="0" smtClean="0"/>
              <a:t>Tools</a:t>
            </a:r>
            <a:endParaRPr lang="en-CA" dirty="0"/>
          </a:p>
        </p:txBody>
      </p:sp>
    </p:spTree>
    <p:extLst>
      <p:ext uri="{BB962C8B-B14F-4D97-AF65-F5344CB8AC3E}">
        <p14:creationId xmlns:p14="http://schemas.microsoft.com/office/powerpoint/2010/main" val="15414546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749027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6636178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368201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013348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1711</TotalTime>
  <Words>5031</Words>
  <Application>Microsoft Office PowerPoint</Application>
  <PresentationFormat>Affichage à l'écran (4:3)</PresentationFormat>
  <Paragraphs>740</Paragraphs>
  <Slides>46</Slides>
  <Notes>46</Notes>
  <HiddenSlides>10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46</vt:i4>
      </vt:variant>
    </vt:vector>
  </HeadingPairs>
  <TitlesOfParts>
    <vt:vector size="59" baseType="lpstr">
      <vt:lpstr>Courier New</vt:lpstr>
      <vt:lpstr>Segoe</vt:lpstr>
      <vt:lpstr>Lucida Sans Typewriter</vt:lpstr>
      <vt:lpstr>Symbol</vt:lpstr>
      <vt:lpstr>Segoe UI Light</vt:lpstr>
      <vt:lpstr>Segoe UI</vt:lpstr>
      <vt:lpstr>Arial</vt:lpstr>
      <vt:lpstr>Verdana</vt:lpstr>
      <vt:lpstr>Segoe Light</vt:lpstr>
      <vt:lpstr>Calibri</vt:lpstr>
      <vt:lpstr>Times New Roman</vt:lpstr>
      <vt:lpstr>Wingdings</vt:lpstr>
      <vt:lpstr>Presentation1</vt:lpstr>
      <vt:lpstr>Module 3</vt:lpstr>
      <vt:lpstr>Module Overview</vt:lpstr>
      <vt:lpstr>Lesson 1: Managing User Accounts</vt:lpstr>
      <vt:lpstr>Outils d’administration AD DS </vt:lpstr>
      <vt:lpstr>Création d’un compte utilisateur</vt:lpstr>
      <vt:lpstr>Création d’un compte utilisateur</vt:lpstr>
      <vt:lpstr>Création d’un compte utilisateur</vt:lpstr>
      <vt:lpstr>Création d’un compte utilisateur</vt:lpstr>
      <vt:lpstr>Création d’un profil utilisateur</vt:lpstr>
      <vt:lpstr>Gestion de Comptes Utilisateur (PowerShell)</vt:lpstr>
      <vt:lpstr>Gestion de Comptes Utilisateur</vt:lpstr>
      <vt:lpstr>Gestion de Comptes Utilisateur</vt:lpstr>
      <vt:lpstr>Gestion de Comptes Utilisateur</vt:lpstr>
      <vt:lpstr>Démonstration: Les “templates”</vt:lpstr>
      <vt:lpstr>Démonstration: Les “templates”</vt:lpstr>
      <vt:lpstr>Démonstration: Les “templates”</vt:lpstr>
      <vt:lpstr>Lesson 2: Managing Groups</vt:lpstr>
      <vt:lpstr>Les Types de Groupes</vt:lpstr>
      <vt:lpstr>Etendue des groups</vt:lpstr>
      <vt:lpstr>Stratégie IGDLA</vt:lpstr>
      <vt:lpstr>Groupes par défaut</vt:lpstr>
      <vt:lpstr>Identités spéciales</vt:lpstr>
      <vt:lpstr>Demonstration: Managing Groups</vt:lpstr>
      <vt:lpstr>Présentation PowerPoint</vt:lpstr>
      <vt:lpstr>Lesson 3: Managing Computer Accounts</vt:lpstr>
      <vt:lpstr>Computers Container</vt:lpstr>
      <vt:lpstr>Specifying the Location of Computer Accounts</vt:lpstr>
      <vt:lpstr>Lever la limite de comptes ordinateurs (10 par défaut)</vt:lpstr>
      <vt:lpstr>Performing an Offline Domain Join</vt:lpstr>
      <vt:lpstr>Compte ordinateur et canal sécurisé</vt:lpstr>
      <vt:lpstr>Reset d’un canal sécurisé</vt:lpstr>
      <vt:lpstr>Lesson 4: Delegating Administration</vt:lpstr>
      <vt:lpstr>Utilisation des Unités d’organisation</vt:lpstr>
      <vt:lpstr>AD DS Permissions</vt:lpstr>
      <vt:lpstr>Effective AD DS Permissions</vt:lpstr>
      <vt:lpstr>Demonstration: Delegating Administrative Permissions</vt:lpstr>
      <vt:lpstr>Présentation PowerPoint</vt:lpstr>
      <vt:lpstr>Présentation PowerPoint</vt:lpstr>
      <vt:lpstr>Lab: Managing Active Directory Domain Services Objects</vt:lpstr>
      <vt:lpstr>Lab Scenario</vt:lpstr>
      <vt:lpstr>Lab Review</vt:lpstr>
      <vt:lpstr>Module Review and Takeaways</vt:lpstr>
      <vt:lpstr>Présentation PowerPoint</vt:lpstr>
      <vt:lpstr>Présentation PowerPoint</vt:lpstr>
      <vt:lpstr>Présentation PowerPoint</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dc:title>
  <dc:creator>Colleen Walsh</dc:creator>
  <cp:lastModifiedBy>Sergio Rodrigues</cp:lastModifiedBy>
  <cp:revision>101</cp:revision>
  <dcterms:created xsi:type="dcterms:W3CDTF">2014-03-05T23:33:18Z</dcterms:created>
  <dcterms:modified xsi:type="dcterms:W3CDTF">2017-05-24T01:33:32Z</dcterms:modified>
</cp:coreProperties>
</file>