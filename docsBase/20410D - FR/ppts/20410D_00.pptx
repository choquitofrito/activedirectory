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9" r:id="rId2"/>
    <p:sldId id="271" r:id="rId3"/>
    <p:sldId id="272" r:id="rId4"/>
    <p:sldId id="290" r:id="rId5"/>
    <p:sldId id="274" r:id="rId6"/>
    <p:sldId id="291" r:id="rId7"/>
    <p:sldId id="292" r:id="rId8"/>
    <p:sldId id="293" r:id="rId9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lia Stasio" initials="JS" lastIdx="2" clrIdx="0"/>
  <p:cmAuthor id="1" name="Matthys" initials="M" lastIdx="14" clrIdx="1"/>
  <p:cmAuthor id="2" name="Colleen Walsh" initials="CW" lastIdx="53" clrIdx="2"/>
  <p:cmAuthor id="3" name="Eamonn Kelly" initials="EK" lastIdx="8" clrIdx="3">
    <p:extLst/>
  </p:cmAuthor>
  <p:cmAuthor id="4" name=" " initials=" " lastIdx="3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965" autoAdjust="0"/>
    <p:restoredTop sz="77609" autoAdjust="0"/>
  </p:normalViewPr>
  <p:slideViewPr>
    <p:cSldViewPr>
      <p:cViewPr>
        <p:scale>
          <a:sx n="100" d="100"/>
          <a:sy n="100" d="100"/>
        </p:scale>
        <p:origin x="3019" y="48"/>
      </p:cViewPr>
      <p:guideLst>
        <p:guide orient="horz"/>
        <p:guide pos="5472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1565" y="43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65CA2D4-094E-48F7-9E06-42143F59D099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51E7E98C-E50F-40A2-A561-002C91555AD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6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E467C250-A218-43FB-AD95-3331D2A81DF1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2FF7759-803D-4F76-9AEC-98B2D9A07B0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294510"/>
            <a:ext cx="5618480" cy="47525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sz="1400" b="1" dirty="0" smtClean="0">
                <a:latin typeface="+mj-lt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sz="1400" b="1" dirty="0">
                <a:solidFill>
                  <a:srgbClr val="336699"/>
                </a:solidFill>
                <a:latin typeface="+mj-lt"/>
                <a:cs typeface="Arial" pitchFamily="34" charset="0"/>
              </a:rPr>
              <a:t>Module</a:t>
            </a:r>
            <a:r>
              <a:rPr lang="en-US" sz="1400" b="1" dirty="0">
                <a:latin typeface="+mj-lt"/>
                <a:cs typeface="Arial" pitchFamily="34" charset="0"/>
              </a:rPr>
              <a:t> </a:t>
            </a:r>
            <a:r>
              <a:rPr lang="en-US" sz="1400" b="1" dirty="0">
                <a:solidFill>
                  <a:srgbClr val="336699"/>
                </a:solidFill>
                <a:latin typeface="+mj-lt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60133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109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53801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87762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766763"/>
            <a:ext cx="4848225" cy="3636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726558"/>
            <a:ext cx="5688632" cy="2520280"/>
          </a:xfrm>
        </p:spPr>
        <p:txBody>
          <a:bodyPr/>
          <a:lstStyle/>
          <a:p>
            <a:pPr fontAlgn="base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16223" cy="79208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</a:t>
            </a:r>
            <a:r>
              <a:rPr lang="en-US" b="1" dirty="0" smtClean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US" b="1" dirty="0">
              <a:solidFill>
                <a:srgbClr val="336699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9361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766763"/>
            <a:ext cx="4848225" cy="3636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726558"/>
            <a:ext cx="5688632" cy="2520280"/>
          </a:xfrm>
        </p:spPr>
        <p:txBody>
          <a:bodyPr/>
          <a:lstStyle/>
          <a:p>
            <a:pPr fontAlgn="base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16223" cy="79208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</a:t>
            </a:r>
            <a:r>
              <a:rPr lang="en-US" b="1" dirty="0" smtClean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US" b="1" dirty="0">
              <a:solidFill>
                <a:srgbClr val="336699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2072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63625" y="766763"/>
            <a:ext cx="4848225" cy="3636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238" y="4726558"/>
            <a:ext cx="5688632" cy="2520280"/>
          </a:xfrm>
        </p:spPr>
        <p:txBody>
          <a:bodyPr/>
          <a:lstStyle/>
          <a:p>
            <a:pPr fontAlgn="base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16223" cy="79208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</a:t>
            </a:r>
            <a:r>
              <a:rPr lang="en-US" b="1" dirty="0" smtClean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US" b="1" dirty="0">
              <a:solidFill>
                <a:srgbClr val="336699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13747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F7759-803D-4F76-9AEC-98B2D9A07B0D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271190" y="190054"/>
            <a:ext cx="2002155" cy="494128"/>
          </a:xfrm>
        </p:spPr>
        <p:txBody>
          <a:bodyPr/>
          <a:lstStyle/>
          <a:p>
            <a:pPr algn="l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Course 20410D</a:t>
            </a:r>
          </a:p>
          <a:p>
            <a:pPr algn="l">
              <a:defRPr/>
            </a:pP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Module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336699"/>
                </a:solidFill>
                <a:latin typeface="Arial" pitchFamily="34" charset="0"/>
                <a:cs typeface="Arial" pitchFamily="34" charset="0"/>
              </a:rPr>
              <a:t>0: Introduction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4721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533400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8233" y="2514600"/>
            <a:ext cx="5687423" cy="13716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400" baseline="0">
                <a:solidFill>
                  <a:schemeClr val="bg1"/>
                </a:solidFill>
                <a:latin typeface="Segoe UI Light" pitchFamily="34" charset="0"/>
              </a:defRPr>
            </a:lvl1pPr>
          </a:lstStyle>
          <a:p>
            <a:pPr lvl="0"/>
            <a:r>
              <a:rPr lang="en-US" dirty="0" smtClean="0"/>
              <a:t>&lt;Number&gt;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108233" y="3886200"/>
            <a:ext cx="5638800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Course title starts here</a:t>
            </a:r>
            <a:endParaRPr lang="en-US" dirty="0"/>
          </a:p>
        </p:txBody>
      </p:sp>
      <p:pic>
        <p:nvPicPr>
          <p:cNvPr id="3" name="Picture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758770"/>
            <a:ext cx="2590800" cy="95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namic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108233" y="2514600"/>
            <a:ext cx="5687423" cy="13716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400" baseline="0">
                <a:solidFill>
                  <a:schemeClr val="bg1"/>
                </a:solidFill>
                <a:latin typeface="Segoe UI Light" pitchFamily="34" charset="0"/>
              </a:defRPr>
            </a:lvl1pPr>
          </a:lstStyle>
          <a:p>
            <a:pPr lvl="0"/>
            <a:r>
              <a:rPr lang="en-US" dirty="0" smtClean="0"/>
              <a:t>&lt;Number&gt;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108233" y="3886200"/>
            <a:ext cx="5638800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Course title starts here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93478"/>
            <a:ext cx="4710223" cy="1016322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998843"/>
            <a:ext cx="1814119" cy="69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93914" y="-76200"/>
            <a:ext cx="9448800" cy="723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286000" y="2514600"/>
            <a:ext cx="6858000" cy="881743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590800" y="2514600"/>
            <a:ext cx="5638800" cy="88174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smtClean="0"/>
              <a:t>Module &lt;Number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90800" y="3505200"/>
            <a:ext cx="5624732" cy="14325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Module title starts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42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pt Slide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32pt Slide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51054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70C0"/>
              </a:buClr>
              <a:buFont typeface="Arial" pitchFamily="34" charset="0"/>
              <a:buChar char="•"/>
              <a:defRPr sz="28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800100" indent="-342900">
              <a:buClr>
                <a:srgbClr val="0070C0"/>
              </a:buClr>
              <a:buFont typeface="Arial" pitchFamily="34" charset="0"/>
              <a:buChar char="•"/>
              <a:defRPr sz="2400" b="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257300" indent="-342900">
              <a:buClr>
                <a:srgbClr val="0070C0"/>
              </a:buClr>
              <a:buFont typeface="Arial" pitchFamily="34" charset="0"/>
              <a:buChar char="•"/>
              <a:defRPr sz="2000" b="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181723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pt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28 </a:t>
            </a:r>
            <a:r>
              <a:rPr lang="en-US" dirty="0" err="1" smtClean="0"/>
              <a:t>pt</a:t>
            </a:r>
            <a:r>
              <a:rPr lang="en-US" dirty="0" smtClean="0"/>
              <a:t> Slide Title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4DA60-3BEE-4BCE-BEDB-E433FD97096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51054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0070C0"/>
              </a:buClr>
              <a:buFont typeface="Arial" pitchFamily="34" charset="0"/>
              <a:buChar char="•"/>
              <a:defRPr sz="28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800100" indent="-342900">
              <a:buClr>
                <a:srgbClr val="0070C0"/>
              </a:buClr>
              <a:buFont typeface="Arial" pitchFamily="34" charset="0"/>
              <a:buChar char="•"/>
              <a:defRPr sz="2400" b="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257300" indent="-342900">
              <a:buClr>
                <a:srgbClr val="0070C0"/>
              </a:buClr>
              <a:buFont typeface="Arial" pitchFamily="34" charset="0"/>
              <a:buChar char="•"/>
              <a:defRPr sz="2000" b="0"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819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32460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8229600" cy="822960"/>
          </a:xfrm>
        </p:spPr>
        <p:txBody>
          <a:bodyPr>
            <a:noAutofit/>
          </a:bodyPr>
          <a:lstStyle>
            <a:lvl1pPr algn="l">
              <a:defRPr sz="3200" baseline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32pt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11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9B7DB-8367-4EA5-BD31-DC3A1C807884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D814DA60-3BEE-4BCE-BEDB-E433FD97096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  <p:sldLayoutId id="2147483661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20410D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/>
              <a:t>Installing and Configuring Windows Server</a:t>
            </a:r>
            <a:r>
              <a:rPr lang="en-CA" baseline="30000" dirty="0"/>
              <a:t>®</a:t>
            </a:r>
            <a:r>
              <a:rPr lang="en-CA" dirty="0"/>
              <a:t> </a:t>
            </a:r>
            <a:r>
              <a:rPr lang="en-CA" dirty="0" smtClean="0"/>
              <a:t>2012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0732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2025" y="949081"/>
            <a:ext cx="8340015" cy="51473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1: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Deploying and Managing Windows </a:t>
            </a:r>
            <a:endParaRPr lang="en-CA" sz="2600" dirty="0" smtClean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0">
              <a:lnSpc>
                <a:spcPct val="110000"/>
              </a:lnSpc>
              <a:spcBef>
                <a:spcPts val="600"/>
              </a:spcBef>
              <a:buClr>
                <a:srgbClr val="0070C0"/>
              </a:buClr>
              <a:buNone/>
            </a:pPr>
            <a:r>
              <a:rPr lang="en-CA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Server 2012 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2: Introduction to Active Directory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Domain 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Services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3: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Managing Active Directory </a:t>
            </a:r>
            <a:r>
              <a:rPr lang="en-CA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Domain Services 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Objects </a:t>
            </a: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4: Automating Active Directory Domain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Services 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Administration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5: Implementing IPv4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9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6: Implementing Dynamic Host Configuration Protocol</a:t>
            </a:r>
          </a:p>
        </p:txBody>
      </p:sp>
    </p:spTree>
    <p:extLst>
      <p:ext uri="{BB962C8B-B14F-4D97-AF65-F5344CB8AC3E}">
        <p14:creationId xmlns:p14="http://schemas.microsoft.com/office/powerpoint/2010/main" val="58446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 </a:t>
            </a:r>
            <a:r>
              <a:rPr lang="en-US" i="1" dirty="0" smtClean="0"/>
              <a:t>(continued)</a:t>
            </a:r>
            <a:endParaRPr lang="en-US" i="1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1276" y="1021215"/>
            <a:ext cx="8119156" cy="51473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7: Implementing </a:t>
            </a:r>
            <a:r>
              <a:rPr lang="en-US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DNS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8: Implementing IPv6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9: Implementing Local Storage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10: Implementing File and Print Services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11: Implementing Group Policy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  <a:tabLst>
                <a:tab pos="2057400" algn="l"/>
              </a:tabLst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12: Securing Windows Servers by Using Group Policy Objects</a:t>
            </a: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  <a:tabLst>
                <a:tab pos="2057400" algn="l"/>
              </a:tabLst>
            </a:pP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Module 13: Implementing Server Virtualization with Hyper</a:t>
            </a:r>
            <a:r>
              <a:rPr lang="en-CA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‑</a:t>
            </a:r>
            <a:r>
              <a:rPr lang="en-US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V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92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22960"/>
          </a:xfrm>
        </p:spPr>
        <p:txBody>
          <a:bodyPr/>
          <a:lstStyle/>
          <a:p>
            <a:r>
              <a:rPr lang="en-US" dirty="0" smtClean="0"/>
              <a:t>Windows Certification Paths</a:t>
            </a:r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376622" y="4869160"/>
            <a:ext cx="8488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67744" y="3783729"/>
            <a:ext cx="4912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64"/>
            <a:r>
              <a:rPr lang="en-US" sz="2400" b="1" dirty="0" smtClean="0">
                <a:solidFill>
                  <a:srgbClr val="92D050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553" y="960983"/>
            <a:ext cx="330336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MCSA Windows Server 2012</a:t>
            </a:r>
            <a:endParaRPr lang="en-US" sz="2000" dirty="0">
              <a:solidFill>
                <a:schemeClr val="tx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376622" y="1271016"/>
            <a:ext cx="1256336" cy="175596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70-410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20410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Installing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and Configuring Windows Server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2012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Plus 2"/>
          <p:cNvSpPr>
            <a:spLocks/>
          </p:cNvSpPr>
          <p:nvPr/>
        </p:nvSpPr>
        <p:spPr>
          <a:xfrm>
            <a:off x="1698353" y="2015750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" name="Plus 50"/>
          <p:cNvSpPr>
            <a:spLocks/>
          </p:cNvSpPr>
          <p:nvPr/>
        </p:nvSpPr>
        <p:spPr>
          <a:xfrm>
            <a:off x="3219443" y="204341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967761" y="1273702"/>
            <a:ext cx="1236087" cy="17510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4295" rIns="0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dirty="0"/>
              <a:t>Exam 70-411</a:t>
            </a:r>
          </a:p>
          <a:p>
            <a:pPr algn="ctr"/>
            <a:r>
              <a:rPr lang="en-US" sz="1500" dirty="0"/>
              <a:t>(</a:t>
            </a:r>
            <a:r>
              <a:rPr lang="en-US" sz="1500" i="1" dirty="0"/>
              <a:t>20411</a:t>
            </a:r>
            <a:r>
              <a:rPr lang="en-US" sz="1500" dirty="0"/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Administering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Windows Server 2012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3512907" y="1279454"/>
            <a:ext cx="1211291" cy="1665859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70-412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20412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Configuring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Advanced Windows Server 2012 Services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 bwMode="auto">
          <a:xfrm>
            <a:off x="3050411" y="3320542"/>
            <a:ext cx="1625781" cy="133259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70-417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20417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Upgrading Your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Skills to MCSA Windows Server 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7448" y="960983"/>
            <a:ext cx="3067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MCSE Server Infrastructure</a:t>
            </a:r>
            <a:endParaRPr lang="en-US" sz="2000" dirty="0">
              <a:solidFill>
                <a:schemeClr val="tx2">
                  <a:lumMod val="50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5449392" y="1287006"/>
            <a:ext cx="1438925" cy="1493922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70-413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20413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 </a:t>
            </a:r>
            <a:endParaRPr lang="en-US" sz="1500" dirty="0" smtClean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Designing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and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a Server 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304746" y="1268760"/>
            <a:ext cx="1368153" cy="1512167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70-414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20414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 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an Advanced Server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1" name="Plus 70"/>
          <p:cNvSpPr>
            <a:spLocks/>
          </p:cNvSpPr>
          <p:nvPr/>
        </p:nvSpPr>
        <p:spPr>
          <a:xfrm>
            <a:off x="6976702" y="192363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439839" y="3010073"/>
            <a:ext cx="33086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MCSE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Desktop Infrastructure</a:t>
            </a:r>
          </a:p>
        </p:txBody>
      </p:sp>
      <p:sp>
        <p:nvSpPr>
          <p:cNvPr id="86" name="Plus 85"/>
          <p:cNvSpPr/>
          <p:nvPr/>
        </p:nvSpPr>
        <p:spPr>
          <a:xfrm>
            <a:off x="4996845" y="392509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>
            <a:spLocks/>
          </p:cNvSpPr>
          <p:nvPr/>
        </p:nvSpPr>
        <p:spPr bwMode="auto">
          <a:xfrm>
            <a:off x="5449393" y="3350092"/>
            <a:ext cx="1282900" cy="1393681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70-415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20415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a Desktop 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Infrastructure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4" name="Rectangle 93"/>
          <p:cNvSpPr>
            <a:spLocks/>
          </p:cNvSpPr>
          <p:nvPr/>
        </p:nvSpPr>
        <p:spPr bwMode="auto">
          <a:xfrm>
            <a:off x="7092279" y="3356992"/>
            <a:ext cx="1584177" cy="1351386"/>
          </a:xfrm>
          <a:prstGeom prst="rect">
            <a:avLst/>
          </a:prstGeom>
          <a:solidFill>
            <a:srgbClr val="4668C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70-416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20416</a:t>
            </a: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Implementing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Desktop Application Environments</a:t>
            </a:r>
          </a:p>
        </p:txBody>
      </p:sp>
      <p:sp>
        <p:nvSpPr>
          <p:cNvPr id="90" name="Plus 89"/>
          <p:cNvSpPr>
            <a:spLocks/>
          </p:cNvSpPr>
          <p:nvPr/>
        </p:nvSpPr>
        <p:spPr>
          <a:xfrm>
            <a:off x="6779762" y="3943060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>
            <a:spLocks/>
          </p:cNvSpPr>
          <p:nvPr/>
        </p:nvSpPr>
        <p:spPr bwMode="auto">
          <a:xfrm>
            <a:off x="535854" y="5292626"/>
            <a:ext cx="1336895" cy="116071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70-687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20687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Configuring Windows 8.1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Rectangle 34"/>
          <p:cNvSpPr>
            <a:spLocks/>
          </p:cNvSpPr>
          <p:nvPr/>
        </p:nvSpPr>
        <p:spPr bwMode="auto">
          <a:xfrm>
            <a:off x="2329138" y="5292626"/>
            <a:ext cx="1442547" cy="116071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70-688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20688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/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Supporting Windows 8.1</a:t>
            </a:r>
            <a:endParaRPr lang="en-US" sz="1500" dirty="0">
              <a:solidFill>
                <a:prstClr val="white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0058" y="4921423"/>
            <a:ext cx="267379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64"/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  <a:ea typeface="Segoe UI" pitchFamily="34" charset="0"/>
                <a:cs typeface="Segoe UI" pitchFamily="34" charset="0"/>
              </a:rPr>
              <a:t>MCSA Windows 8</a:t>
            </a:r>
          </a:p>
        </p:txBody>
      </p:sp>
      <p:sp>
        <p:nvSpPr>
          <p:cNvPr id="46" name="Plus 45"/>
          <p:cNvSpPr/>
          <p:nvPr/>
        </p:nvSpPr>
        <p:spPr>
          <a:xfrm>
            <a:off x="1976014" y="5772563"/>
            <a:ext cx="217111" cy="217111"/>
          </a:xfrm>
          <a:prstGeom prst="mathPlus">
            <a:avLst>
              <a:gd name="adj1" fmla="val 1695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>
            <a:spLocks/>
          </p:cNvSpPr>
          <p:nvPr/>
        </p:nvSpPr>
        <p:spPr bwMode="auto">
          <a:xfrm>
            <a:off x="4617987" y="5305543"/>
            <a:ext cx="1682205" cy="114779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95" tIns="34295" rIns="34295" bIns="3429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Exam 70-689</a:t>
            </a:r>
          </a:p>
          <a:p>
            <a:pPr algn="ctr" defTabSz="685864"/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(</a:t>
            </a:r>
            <a:r>
              <a:rPr lang="en-US" sz="1500" i="1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20689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)</a:t>
            </a:r>
          </a:p>
          <a:p>
            <a:pPr algn="ctr" defTabSz="685864">
              <a:lnSpc>
                <a:spcPct val="90000"/>
              </a:lnSpc>
            </a:pPr>
            <a:r>
              <a:rPr lang="en-US" sz="1500" dirty="0" smtClean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Upgrading Your </a:t>
            </a:r>
            <a:r>
              <a:rPr lang="en-US" sz="1500" dirty="0">
                <a:solidFill>
                  <a:prstClr val="white"/>
                </a:solidFill>
                <a:ea typeface="Segoe UI" pitchFamily="34" charset="0"/>
                <a:cs typeface="Segoe UI" pitchFamily="34" charset="0"/>
              </a:rPr>
              <a:t>Skills to MCSA Windows 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995936" y="5688315"/>
            <a:ext cx="4912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64"/>
            <a:r>
              <a:rPr lang="en-US" sz="2400" b="1" dirty="0" smtClean="0">
                <a:solidFill>
                  <a:srgbClr val="92D05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</a:t>
            </a:r>
          </a:p>
        </p:txBody>
      </p:sp>
      <p:sp>
        <p:nvSpPr>
          <p:cNvPr id="58" name="Right Arrow 57"/>
          <p:cNvSpPr/>
          <p:nvPr/>
        </p:nvSpPr>
        <p:spPr>
          <a:xfrm rot="2515756" flipV="1">
            <a:off x="4700782" y="3354112"/>
            <a:ext cx="718437" cy="198043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Arrow 47"/>
          <p:cNvSpPr/>
          <p:nvPr/>
        </p:nvSpPr>
        <p:spPr>
          <a:xfrm rot="18918188" flipV="1">
            <a:off x="4689731" y="2645470"/>
            <a:ext cx="720000" cy="198000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0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Environnement</a:t>
            </a:r>
            <a:r>
              <a:rPr lang="en-US" dirty="0" smtClean="0"/>
              <a:t> </a:t>
            </a:r>
            <a:r>
              <a:rPr lang="fr-BE" dirty="0" smtClean="0"/>
              <a:t>virtuel</a:t>
            </a:r>
            <a:endParaRPr lang="fr-BE" dirty="0"/>
          </a:p>
        </p:txBody>
      </p:sp>
      <p:graphicFrame>
        <p:nvGraphicFramePr>
          <p:cNvPr id="6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568408"/>
              </p:ext>
            </p:extLst>
          </p:nvPr>
        </p:nvGraphicFramePr>
        <p:xfrm>
          <a:off x="611560" y="878021"/>
          <a:ext cx="7560840" cy="545378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40160"/>
                <a:gridCol w="6120680"/>
              </a:tblGrid>
              <a:tr h="182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Tx/>
                        <a:buNone/>
                        <a:tabLst/>
                      </a:pPr>
                      <a:r>
                        <a:rPr kumimoji="0" lang="fr-BE" sz="14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cs typeface="+mn-cs"/>
                        </a:rPr>
                        <a:t>Machine Virtuelle</a:t>
                      </a:r>
                      <a:endParaRPr kumimoji="0" lang="fr-BE" sz="14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0" marR="0" marT="0" marB="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BE" sz="1400" b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Rôle :</a:t>
                      </a:r>
                      <a:endParaRPr kumimoji="0" lang="fr-BE" sz="14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18000" marR="18000" marT="0" marB="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8017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LON-DC1</a:t>
                      </a:r>
                      <a:endParaRPr lang="fr-BE" sz="1800" noProof="0" dirty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Contrôleur </a:t>
                      </a:r>
                      <a:r>
                        <a:rPr lang="fr-BE" sz="1800" kern="1200" baseline="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du domaine </a:t>
                      </a:r>
                      <a:r>
                        <a:rPr lang="fr-BE" sz="1800" kern="120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Adatum.com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R2)</a:t>
                      </a:r>
                      <a:r>
                        <a:rPr lang="fr-BE" sz="1800" kern="1200" noProof="0" dirty="0" smtClean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noProof="0" dirty="0"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4588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LON-SVR1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Serveur membre du domaine Adatum.com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R2)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7779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LON-SVR2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Serveur membre du domaine Adatum.com appartenant à un deuxième sous-réseau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R2)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LON-SVR3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Machine virtuelle vierge servant à l’</a:t>
                      </a:r>
                      <a:r>
                        <a:rPr lang="fr-BE" sz="1800" kern="1200" baseline="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installation de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 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LON-HOST1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Hôte pour Hyper-V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R2)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kern="12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egoe U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LON-CORE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Serveur « stand-</a:t>
                      </a:r>
                      <a:r>
                        <a:rPr lang="fr-BE" sz="1800" kern="1200" noProof="0" dirty="0" err="1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alone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 »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Windows Server 2012 R2, version </a:t>
                      </a:r>
                      <a:r>
                        <a:rPr lang="fr-BE" sz="1800" kern="1200" noProof="0" dirty="0" err="1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Core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)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</a:t>
                      </a:r>
                      <a:endParaRPr lang="fr-BE" sz="1800" kern="12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egoe U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LON-RTR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Router (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Windows Server 2012 R2)</a:t>
                      </a: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. 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LON-CL1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Client du domaine Adatum.com (Windows 8.1 et Microsoft Office 2013).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  <a:tr h="55745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20410D-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28600" algn="l"/>
                          <a:tab pos="457200" algn="l"/>
                        </a:tabLst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LON-CL2</a:t>
                      </a:r>
                      <a:endParaRPr lang="fr-BE" sz="1800" noProof="0" dirty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8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kern="1200" noProof="0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Segoe UI"/>
                          <a:cs typeface="Calibri" pitchFamily="34" charset="0"/>
                        </a:rPr>
                        <a:t>Client du domaine Adatum.com appartenant à un deuxième sous-réseau (Windows 8.1 et Microsoft Office 2013).</a:t>
                      </a:r>
                      <a:endParaRPr lang="fr-BE" sz="1800" noProof="0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72000" marR="108000" marT="18000" marB="18000" anchor="ctr"/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9" y="4437112"/>
            <a:ext cx="1092297" cy="17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0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Switch virtuel</a:t>
            </a:r>
            <a:endParaRPr lang="fr-BE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835949"/>
            <a:ext cx="7344816" cy="59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7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Importation de machines virtuelles</a:t>
            </a:r>
            <a:endParaRPr lang="fr-BE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001266"/>
            <a:ext cx="7536466" cy="56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6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Importation de machines virtuelles</a:t>
            </a:r>
            <a:endParaRPr lang="en-US" i="1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41276" y="1021215"/>
            <a:ext cx="8119156" cy="514735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fr-FR" sz="2600" b="1" dirty="0">
                <a:latin typeface="Calibri" pitchFamily="34" charset="0"/>
                <a:ea typeface="Segoe UI" pitchFamily="34" charset="0"/>
                <a:cs typeface="Calibri" pitchFamily="34" charset="0"/>
              </a:rPr>
              <a:t>Inscrire l’ordinateur virtuel sur place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: c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ette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option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enregistre la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machine virtuelle dans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l’inventaire de Hyper-V sans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la déplacer.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L’identifiant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unique (UID)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est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conservé.</a:t>
            </a: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fr-FR" sz="2600" b="1" dirty="0">
                <a:latin typeface="Calibri" pitchFamily="34" charset="0"/>
                <a:ea typeface="Segoe UI" pitchFamily="34" charset="0"/>
                <a:cs typeface="Calibri" pitchFamily="34" charset="0"/>
              </a:rPr>
              <a:t>Restaurer l’ordinateur virtuel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: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cette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option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permet de déplacer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la machine virtuelle vers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un autre répertoire. L’identifiant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unique (UID)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est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conservé.</a:t>
            </a:r>
          </a:p>
          <a:p>
            <a:pPr marL="252000" indent="-252000">
              <a:lnSpc>
                <a:spcPct val="110000"/>
              </a:lnSpc>
              <a:spcBef>
                <a:spcPts val="1200"/>
              </a:spcBef>
              <a:buClr>
                <a:srgbClr val="0070C0"/>
              </a:buClr>
            </a:pPr>
            <a:r>
              <a:rPr lang="fr-FR" sz="2600" b="1" dirty="0">
                <a:latin typeface="Calibri" pitchFamily="34" charset="0"/>
                <a:ea typeface="Segoe UI" pitchFamily="34" charset="0"/>
                <a:cs typeface="Calibri" pitchFamily="34" charset="0"/>
              </a:rPr>
              <a:t>Copier l’ordinateur virtuel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: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cette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option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permet de déplacer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la machine virtuelle vers un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autre répertoire. </a:t>
            </a:r>
            <a:r>
              <a:rPr lang="fr-FR" sz="2600" dirty="0">
                <a:latin typeface="Calibri" pitchFamily="34" charset="0"/>
                <a:ea typeface="Segoe UI" pitchFamily="34" charset="0"/>
                <a:cs typeface="Calibri" pitchFamily="34" charset="0"/>
              </a:rPr>
              <a:t>Dans ce cas, un nouvel identifiant unique (UID) est </a:t>
            </a:r>
            <a:r>
              <a:rPr lang="fr-FR" sz="2600" dirty="0" smtClean="0">
                <a:latin typeface="Calibri" pitchFamily="34" charset="0"/>
                <a:ea typeface="Segoe UI" pitchFamily="34" charset="0"/>
                <a:cs typeface="Calibri" pitchFamily="34" charset="0"/>
              </a:rPr>
              <a:t>créé.</a:t>
            </a:r>
            <a:endParaRPr lang="en-CA" sz="2600" dirty="0">
              <a:latin typeface="Calibri" pitchFamily="34" charset="0"/>
              <a:ea typeface="Segoe U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ule 0 Template fr M Aug 2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C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 0 Template fr M Aug 29</Template>
  <TotalTime>2677</TotalTime>
  <Words>496</Words>
  <Application>Microsoft Office PowerPoint</Application>
  <PresentationFormat>Affichage à l'écran (4:3)</PresentationFormat>
  <Paragraphs>118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Verdana</vt:lpstr>
      <vt:lpstr>Module 0 Template fr M Aug 29</vt:lpstr>
      <vt:lpstr>Présentation PowerPoint</vt:lpstr>
      <vt:lpstr>Course Outline</vt:lpstr>
      <vt:lpstr>Course Outline (continued)</vt:lpstr>
      <vt:lpstr>Windows Certification Paths</vt:lpstr>
      <vt:lpstr>Environnement virtuel</vt:lpstr>
      <vt:lpstr>Switch virtuel</vt:lpstr>
      <vt:lpstr>Importation de machines virtuelles</vt:lpstr>
      <vt:lpstr>Importation de machines virtuelles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Colleen Walsh</dc:creator>
  <cp:lastModifiedBy>Administrator</cp:lastModifiedBy>
  <cp:revision>223</cp:revision>
  <cp:lastPrinted>2013-11-01T16:18:52Z</cp:lastPrinted>
  <dcterms:created xsi:type="dcterms:W3CDTF">2012-10-27T20:46:32Z</dcterms:created>
  <dcterms:modified xsi:type="dcterms:W3CDTF">2017-04-24T01:12:37Z</dcterms:modified>
</cp:coreProperties>
</file>