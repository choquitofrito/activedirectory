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97" r:id="rId18"/>
    <p:sldId id="273" r:id="rId19"/>
    <p:sldId id="274" r:id="rId20"/>
    <p:sldId id="293"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1" r:id="rId36"/>
    <p:sldId id="292" r:id="rId37"/>
    <p:sldId id="296" r:id="rId38"/>
  </p:sldIdLst>
  <p:sldSz cx="9144000" cy="6858000" type="screen4x3"/>
  <p:notesSz cx="6858000" cy="9144000"/>
  <p:embeddedFontLst>
    <p:embeddedFont>
      <p:font typeface="Segoe UI Light" panose="020B0502040204020203" pitchFamily="34" charset="0"/>
      <p:regular r:id="rId40"/>
      <p:italic r:id="rId41"/>
    </p:embeddedFont>
    <p:embeddedFont>
      <p:font typeface="Segoe UI" panose="020B0502040204020203" pitchFamily="34" charset="0"/>
      <p:regular r:id="rId42"/>
      <p:bold r:id="rId43"/>
      <p:italic r:id="rId44"/>
      <p:boldItalic r:id="rId45"/>
    </p:embeddedFont>
    <p:embeddedFont>
      <p:font typeface="Verdana" panose="020B0604030504040204" pitchFamily="34" charset="0"/>
      <p:regular r:id="rId46"/>
      <p:bold r:id="rId47"/>
      <p:italic r:id="rId48"/>
      <p:boldItalic r:id="rId49"/>
    </p:embeddedFont>
    <p:embeddedFont>
      <p:font typeface="Calibri" panose="020F0502020204030204" pitchFamily="34" charset="0"/>
      <p:regular r:id="rId50"/>
      <p:bold r:id="rId51"/>
      <p:italic r:id="rId52"/>
      <p:boldItalic r:id="rId53"/>
    </p:embeddedFont>
    <p:embeddedFont>
      <p:font typeface="SimSun" panose="02010600030101010101" pitchFamily="2" charset="-122"/>
      <p:regular r:id="rId54"/>
    </p:embeddedFont>
    <p:embeddedFont>
      <p:font typeface="Arial Narrow" panose="020B0606020202030204" pitchFamily="34" charset="0"/>
      <p:regular r:id="rId55"/>
      <p:bold r:id="rId56"/>
      <p:italic r:id="rId57"/>
      <p:boldItalic r:id="rId58"/>
    </p:embeddedFont>
    <p:embeddedFont>
      <p:font typeface="Gulim" panose="020B0604020202020204" charset="-127"/>
      <p:regular r:id="rId59"/>
    </p:embeddedFont>
    <p:embeddedFont>
      <p:font typeface="Segoe Light" panose="020B0604020202020204" charset="0"/>
      <p:regular r:id="rId60"/>
      <p:italic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79984" autoAdjust="0"/>
  </p:normalViewPr>
  <p:slideViewPr>
    <p:cSldViewPr>
      <p:cViewPr varScale="1">
        <p:scale>
          <a:sx n="88" d="100"/>
          <a:sy n="88" d="100"/>
        </p:scale>
        <p:origin x="2236" y="6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p:cViewPr varScale="1">
        <p:scale>
          <a:sx n="64" d="100"/>
          <a:sy n="64" d="100"/>
        </p:scale>
        <p:origin x="165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4.xml"/><Relationship Id="rId61" Type="http://schemas.openxmlformats.org/officeDocument/2006/relationships/font" Target="fonts/font2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922C70-125F-40B9-B599-DC39D5FDED2E}" type="datetimeFigureOut">
              <a:rPr lang="en-CA" smtClean="0"/>
              <a:t>2017-06-19</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9B1165-8AB6-4FB4-B4AB-19C09BDB711F}" type="slidenum">
              <a:rPr lang="en-CA" smtClean="0"/>
              <a:t>‹N°›</a:t>
            </a:fld>
            <a:endParaRPr lang="en-CA" dirty="0"/>
          </a:p>
        </p:txBody>
      </p:sp>
    </p:spTree>
    <p:extLst>
      <p:ext uri="{BB962C8B-B14F-4D97-AF65-F5344CB8AC3E}">
        <p14:creationId xmlns:p14="http://schemas.microsoft.com/office/powerpoint/2010/main" val="421273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go.microsoft.com/fwlink/?LinkID=112079&amp;clcid=0x409"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60 minutes</a:t>
            </a:r>
          </a:p>
          <a:p>
            <a:pPr>
              <a:lnSpc>
                <a:spcPct val="115000"/>
              </a:lnSpc>
              <a:spcAft>
                <a:spcPts val="1000"/>
              </a:spcAft>
            </a:pPr>
            <a:r>
              <a:rPr lang="en-CA" sz="1000" b="1" dirty="0">
                <a:latin typeface="Arial"/>
                <a:ea typeface="Calibri"/>
                <a:cs typeface="Times New Roman"/>
              </a:rPr>
              <a:t>Lab: </a:t>
            </a:r>
            <a:r>
              <a:rPr lang="en-CA" sz="1000" dirty="0">
                <a:latin typeface="Arial"/>
                <a:ea typeface="Calibri"/>
                <a:cs typeface="Times New Roman"/>
              </a:rPr>
              <a:t>45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the features and benefits of Internet Protocol version 6 (IPv6).</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addressing.</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coexistence with Internet Protocol version 4 (IPv4).</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transition technologies.</a:t>
            </a:r>
            <a:endParaRPr lang="en-CA" sz="1000" dirty="0" smtClean="0">
              <a:effectLst/>
              <a:latin typeface="Arial"/>
              <a:ea typeface="Times New Roman"/>
              <a:cs typeface="Times New Roman"/>
            </a:endParaRPr>
          </a:p>
          <a:p>
            <a:pPr>
              <a:lnSpc>
                <a:spcPct val="115000"/>
              </a:lnSpc>
              <a:spcBef>
                <a:spcPts val="900"/>
              </a:spcBef>
              <a:spcAft>
                <a:spcPts val="995"/>
              </a:spcAft>
            </a:pPr>
            <a:r>
              <a:rPr lang="en-US" sz="1000" b="1" dirty="0" smtClean="0">
                <a:effectLst/>
                <a:latin typeface="Arial"/>
                <a:ea typeface="Times New Roman"/>
                <a:cs typeface="Segoe UI"/>
              </a:rPr>
              <a:t>Required Materials</a:t>
            </a:r>
            <a:endParaRPr lang="en-CA" sz="1000" b="1" dirty="0" smtClean="0">
              <a:effectLst/>
              <a:latin typeface="Arial"/>
              <a:ea typeface="Times New Roman"/>
              <a:cs typeface="Segoe UI"/>
            </a:endParaRPr>
          </a:p>
          <a:p>
            <a:pPr>
              <a:lnSpc>
                <a:spcPct val="115000"/>
              </a:lnSpc>
              <a:spcAft>
                <a:spcPts val="995"/>
              </a:spcAft>
            </a:pPr>
            <a:r>
              <a:rPr lang="en-CA" sz="1000" dirty="0">
                <a:latin typeface="Arial"/>
                <a:ea typeface="Calibri"/>
                <a:cs typeface="Segoe UI"/>
              </a:rPr>
              <a:t>To teach this module, you need the Microsoft</a:t>
            </a:r>
            <a:r>
              <a:rPr lang="en-CA" sz="1000" baseline="30000" dirty="0">
                <a:latin typeface="Arial"/>
                <a:ea typeface="Calibri"/>
                <a:cs typeface="Segoe UI"/>
              </a:rPr>
              <a:t>®</a:t>
            </a:r>
            <a:r>
              <a:rPr lang="en-CA" sz="1000" dirty="0">
                <a:latin typeface="Arial"/>
                <a:ea typeface="Calibri"/>
                <a:cs typeface="Segoe UI"/>
              </a:rPr>
              <a:t> Office PowerPoint</a:t>
            </a:r>
            <a:r>
              <a:rPr lang="en-CA" sz="1000" baseline="30000" dirty="0">
                <a:latin typeface="Arial"/>
                <a:ea typeface="Calibri"/>
                <a:cs typeface="Segoe UI"/>
              </a:rPr>
              <a:t>®</a:t>
            </a:r>
            <a:r>
              <a:rPr lang="en-CA" sz="1000" dirty="0">
                <a:latin typeface="Arial"/>
                <a:ea typeface="Calibri"/>
                <a:cs typeface="Segoe UI"/>
              </a:rPr>
              <a:t> file 20410D_08.pptx.</a:t>
            </a:r>
            <a:endParaRPr lang="en-CA" sz="1000" dirty="0">
              <a:latin typeface="Arial"/>
              <a:ea typeface="Calibri"/>
              <a:cs typeface="Times New Roman"/>
            </a:endParaRPr>
          </a:p>
          <a:p>
            <a:pPr>
              <a:lnSpc>
                <a:spcPct val="115000"/>
              </a:lnSpc>
              <a:spcAft>
                <a:spcPts val="995"/>
              </a:spcAft>
            </a:pPr>
            <a:r>
              <a:rPr lang="en-CA" sz="1000" b="1" dirty="0">
                <a:latin typeface="Arial"/>
                <a:ea typeface="Calibri"/>
                <a:cs typeface="Times New Roman"/>
              </a:rPr>
              <a:t>Important: </a:t>
            </a:r>
            <a:r>
              <a:rPr lang="en-CA" sz="1000" dirty="0">
                <a:latin typeface="Arial"/>
                <a:ea typeface="Calibri"/>
                <a:cs typeface="Times New Roman"/>
              </a:rPr>
              <a:t>We recommend that you use Office PowerPoint 2007 or a newer version to display the slides for this course. If you use PowerPoint Viewer or an older version of Office PowerPoint, all the features of the slides might not display correctly.</a:t>
            </a:r>
          </a:p>
          <a:p>
            <a:pPr>
              <a:lnSpc>
                <a:spcPct val="115000"/>
              </a:lnSpc>
              <a:spcBef>
                <a:spcPts val="900"/>
              </a:spcBef>
              <a:spcAft>
                <a:spcPts val="995"/>
              </a:spcAft>
            </a:pPr>
            <a:r>
              <a:rPr lang="en-US" sz="1000" b="1" dirty="0" smtClean="0">
                <a:effectLst/>
                <a:latin typeface="Arial"/>
                <a:ea typeface="Times New Roman"/>
                <a:cs typeface="Segoe UI"/>
              </a:rPr>
              <a:t>Preparation Tasks</a:t>
            </a:r>
            <a:endParaRPr lang="en-CA" sz="1000" b="1" dirty="0" smtClean="0">
              <a:effectLst/>
              <a:latin typeface="Arial"/>
              <a:ea typeface="Times New Roman"/>
              <a:cs typeface="Segoe UI"/>
            </a:endParaRPr>
          </a:p>
          <a:p>
            <a:pPr>
              <a:lnSpc>
                <a:spcPct val="115000"/>
              </a:lnSpc>
              <a:spcAft>
                <a:spcPts val="995"/>
              </a:spcAft>
            </a:pPr>
            <a:r>
              <a:rPr lang="en-CA" sz="1000" dirty="0">
                <a:latin typeface="Arial"/>
                <a:cs typeface="Times New Roman"/>
              </a:rPr>
              <a:t>To prepare for this module: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Read all of the materials for this module.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Practice performing the demonstrations and the lab exercises.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Gulim"/>
                <a:cs typeface="Times New Roman"/>
              </a:rPr>
              <a:t>Work through the Module Review and Takeaways section, and determine how you will use this section to reinforce student learning and promote knowledge transfer to on‑the‑job performance.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48675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module contents.</a:t>
            </a:r>
          </a:p>
        </p:txBody>
      </p:sp>
      <p:sp>
        <p:nvSpPr>
          <p:cNvPr id="4" name="Slide Number Placeholder 3"/>
          <p:cNvSpPr>
            <a:spLocks noGrp="1"/>
          </p:cNvSpPr>
          <p:nvPr>
            <p:ph type="sldNum" sz="quarter" idx="10"/>
          </p:nvPr>
        </p:nvSpPr>
        <p:spPr/>
        <p:txBody>
          <a:bodyPr/>
          <a:lstStyle/>
          <a:p>
            <a:fld id="{109B1165-8AB6-4FB4-B4AB-19C09BDB711F}" type="slidenum">
              <a:rPr lang="en-CA" smtClean="0"/>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9498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Provide an overview of the topics that this lesson will discuss. Explain that in this lesson, you will compare IPv4 and IPv6, so that students understand the differences between the two more fully.</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909182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Highlight the benefits of IPv6 that are most likely to appeal to students, including:</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Larger address space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Stateful and stateless configuration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End‑to‑end communication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Quality of Service (QoS)</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Note that some of these benefits were implemented widely in IPv4, but were not required. For example, Internet Protocol security (IPsec) and QoS.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41879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Use this topic to expand on the differences between IPv4 and IPv6 that the previous topic discussed. Note that this topic does not repeat information that the previous topic provided, and it is not a comprehensive list of the differences between the versions. Vary your coverage of this content based on the interest of your students and your comfort with in‑depth networking topics.</a:t>
            </a:r>
          </a:p>
        </p:txBody>
      </p:sp>
      <p:sp>
        <p:nvSpPr>
          <p:cNvPr id="4" name="Slide Number Placeholder 3"/>
          <p:cNvSpPr>
            <a:spLocks noGrp="1"/>
          </p:cNvSpPr>
          <p:nvPr>
            <p:ph type="sldNum" sz="quarter" idx="10"/>
          </p:nvPr>
        </p:nvSpPr>
        <p:spPr/>
        <p:txBody>
          <a:bodyPr/>
          <a:lstStyle/>
          <a:p>
            <a:fld id="{109B1165-8AB6-4FB4-B4AB-19C09BDB711F}" type="slidenum">
              <a:rPr lang="en-CA" smtClean="0"/>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412054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slide shows the example from the text laid out in four rows. Use this slide, and the next four slides, as a five-frame build slide.</a:t>
            </a:r>
          </a:p>
          <a:p>
            <a:pPr>
              <a:lnSpc>
                <a:spcPct val="115000"/>
              </a:lnSpc>
              <a:spcAft>
                <a:spcPts val="1000"/>
              </a:spcAft>
            </a:pPr>
            <a:r>
              <a:rPr lang="en-CA" sz="1000" dirty="0">
                <a:latin typeface="Arial"/>
                <a:ea typeface="Calibri"/>
                <a:cs typeface="Times New Roman"/>
              </a:rPr>
              <a:t>Guide students through the process of converting the binary IPv6 address on the slide to hexadecimal. It is not important that students have a strong grasp of the manual details. This topic is meant to provide students with an overview.</a:t>
            </a:r>
          </a:p>
          <a:p>
            <a:pPr>
              <a:lnSpc>
                <a:spcPct val="115000"/>
              </a:lnSpc>
              <a:spcAft>
                <a:spcPts val="1000"/>
              </a:spcAft>
            </a:pPr>
            <a:r>
              <a:rPr lang="en-CA" sz="1000" dirty="0">
                <a:latin typeface="Arial"/>
                <a:ea typeface="Calibri"/>
                <a:cs typeface="Times New Roman"/>
              </a:rPr>
              <a:t>Consider showing a demonstration of binary to decimal to hexadecimal with the Windows Server 2012 Calculator app.</a:t>
            </a:r>
          </a:p>
        </p:txBody>
      </p:sp>
      <p:sp>
        <p:nvSpPr>
          <p:cNvPr id="4" name="Slide Number Placeholder 3"/>
          <p:cNvSpPr>
            <a:spLocks noGrp="1"/>
          </p:cNvSpPr>
          <p:nvPr>
            <p:ph type="sldNum" sz="quarter" idx="10"/>
          </p:nvPr>
        </p:nvSpPr>
        <p:spPr/>
        <p:txBody>
          <a:bodyPr/>
          <a:lstStyle/>
          <a:p>
            <a:fld id="{109B1165-8AB6-4FB4-B4AB-19C09BDB711F}" type="slidenum">
              <a:rPr lang="en-CA" smtClean="0"/>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779911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2</a:t>
            </a:r>
            <a:r>
              <a:rPr lang="en-CA" sz="1000" baseline="30000" dirty="0">
                <a:latin typeface="Arial"/>
                <a:ea typeface="Calibri"/>
                <a:cs typeface="Times New Roman"/>
              </a:rPr>
              <a:t>nd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It shows a 16‑bit binary number</a:t>
            </a:r>
            <a:r>
              <a:rPr lang="en-CA" sz="1000" dirty="0">
                <a:solidFill>
                  <a:srgbClr val="000000"/>
                </a:solidFill>
                <a:latin typeface="Arial"/>
                <a:ea typeface="Calibri"/>
                <a:cs typeface="Times New Roman"/>
              </a:rPr>
              <a:t> divided into 4 groups of 4 bits each</a:t>
            </a:r>
            <a:r>
              <a:rPr lang="en-CA" sz="1000" dirty="0">
                <a:latin typeface="Arial"/>
                <a:ea typeface="Calibri"/>
                <a:cs typeface="Times New Roman"/>
              </a:rPr>
              <a:t>.</a:t>
            </a:r>
          </a:p>
        </p:txBody>
      </p:sp>
      <p:sp>
        <p:nvSpPr>
          <p:cNvPr id="4" name="Slide Number Placeholder 3"/>
          <p:cNvSpPr>
            <a:spLocks noGrp="1"/>
          </p:cNvSpPr>
          <p:nvPr>
            <p:ph type="sldNum" sz="quarter" idx="10"/>
          </p:nvPr>
        </p:nvSpPr>
        <p:spPr/>
        <p:txBody>
          <a:bodyPr/>
          <a:lstStyle/>
          <a:p>
            <a:fld id="{109B1165-8AB6-4FB4-B4AB-19C09BDB711F}" type="slidenum">
              <a:rPr lang="en-CA" smtClean="0"/>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181561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3</a:t>
            </a:r>
            <a:r>
              <a:rPr lang="en-CA" sz="1000" baseline="30000" dirty="0">
                <a:latin typeface="Arial"/>
                <a:ea typeface="Calibri"/>
                <a:cs typeface="Times New Roman"/>
              </a:rPr>
              <a:t>rd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Each group of 4 bits from the previous frame is converted to a hexadecimal digit.</a:t>
            </a:r>
          </a:p>
        </p:txBody>
      </p:sp>
      <p:sp>
        <p:nvSpPr>
          <p:cNvPr id="4" name="Slide Number Placeholder 3"/>
          <p:cNvSpPr>
            <a:spLocks noGrp="1"/>
          </p:cNvSpPr>
          <p:nvPr>
            <p:ph type="sldNum" sz="quarter" idx="10"/>
          </p:nvPr>
        </p:nvSpPr>
        <p:spPr/>
        <p:txBody>
          <a:bodyPr/>
          <a:lstStyle/>
          <a:p>
            <a:fld id="{109B1165-8AB6-4FB4-B4AB-19C09BDB711F}" type="slidenum">
              <a:rPr lang="en-CA" smtClean="0"/>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65178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4</a:t>
            </a:r>
            <a:r>
              <a:rPr lang="en-CA" sz="1000" baseline="30000" dirty="0">
                <a:latin typeface="Arial"/>
                <a:ea typeface="Calibri"/>
                <a:cs typeface="Times New Roman"/>
              </a:rPr>
              <a:t>th</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The 4 hexadecimal digits from the previous frame are combined to make a 4‑digit hexadecimal number.</a:t>
            </a:r>
          </a:p>
        </p:txBody>
      </p:sp>
      <p:sp>
        <p:nvSpPr>
          <p:cNvPr id="4" name="Slide Number Placeholder 3"/>
          <p:cNvSpPr>
            <a:spLocks noGrp="1"/>
          </p:cNvSpPr>
          <p:nvPr>
            <p:ph type="sldNum" sz="quarter" idx="10"/>
          </p:nvPr>
        </p:nvSpPr>
        <p:spPr/>
        <p:txBody>
          <a:bodyPr/>
          <a:lstStyle/>
          <a:p>
            <a:fld id="{109B1165-8AB6-4FB4-B4AB-19C09BDB711F}" type="slidenum">
              <a:rPr lang="en-CA" smtClean="0"/>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330020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5</a:t>
            </a:r>
            <a:r>
              <a:rPr lang="en-CA" sz="1000" baseline="30000" dirty="0">
                <a:latin typeface="Arial"/>
                <a:ea typeface="Calibri"/>
                <a:cs typeface="Times New Roman"/>
              </a:rPr>
              <a:t>th</a:t>
            </a:r>
            <a:r>
              <a:rPr lang="en-CA" sz="1000" dirty="0">
                <a:latin typeface="Arial"/>
                <a:ea typeface="Calibri"/>
                <a:cs typeface="Times New Roman"/>
              </a:rPr>
              <a:t> of 5 frames. It is a repeat of the first frame, and it depicts the example laid out in four rows.</a:t>
            </a:r>
          </a:p>
        </p:txBody>
      </p:sp>
      <p:sp>
        <p:nvSpPr>
          <p:cNvPr id="4" name="Slide Number Placeholder 3"/>
          <p:cNvSpPr>
            <a:spLocks noGrp="1"/>
          </p:cNvSpPr>
          <p:nvPr>
            <p:ph type="sldNum" sz="quarter" idx="10"/>
          </p:nvPr>
        </p:nvSpPr>
        <p:spPr/>
        <p:txBody>
          <a:bodyPr/>
          <a:lstStyle/>
          <a:p>
            <a:fld id="{109B1165-8AB6-4FB4-B4AB-19C09BDB711F}" type="slidenum">
              <a:rPr lang="en-CA" smtClean="0"/>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65030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lesson content.</a:t>
            </a:r>
          </a:p>
        </p:txBody>
      </p:sp>
      <p:sp>
        <p:nvSpPr>
          <p:cNvPr id="4" name="Slide Number Placeholder 3"/>
          <p:cNvSpPr>
            <a:spLocks noGrp="1"/>
          </p:cNvSpPr>
          <p:nvPr>
            <p:ph type="sldNum" sz="quarter" idx="10"/>
          </p:nvPr>
        </p:nvSpPr>
        <p:spPr/>
        <p:txBody>
          <a:bodyPr/>
          <a:lstStyle/>
          <a:p>
            <a:fld id="{109B1165-8AB6-4FB4-B4AB-19C09BDB711F}" type="slidenum">
              <a:rPr lang="en-CA" smtClean="0"/>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56795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In the previous lesson, you described to students what an IPv6 address looks like. In this topic, you need to describe how they can identify the network portion of an IPv6 address. Unlike IPv4, an IPv6 unicast address that is assigned to a host always uses a prefix of /64.</a:t>
            </a:r>
          </a:p>
          <a:p>
            <a:pPr>
              <a:lnSpc>
                <a:spcPct val="115000"/>
              </a:lnSpc>
              <a:spcAft>
                <a:spcPts val="1000"/>
              </a:spcAft>
            </a:pPr>
            <a:r>
              <a:rPr lang="en-CA" sz="1000" dirty="0">
                <a:latin typeface="Arial"/>
                <a:ea typeface="Calibri"/>
                <a:cs typeface="Times New Roman"/>
              </a:rPr>
              <a:t>Take a few moments to describe the IPv6 equivalents to IPv4 special address.</a:t>
            </a:r>
          </a:p>
        </p:txBody>
      </p:sp>
      <p:sp>
        <p:nvSpPr>
          <p:cNvPr id="4" name="Slide Number Placeholder 3"/>
          <p:cNvSpPr>
            <a:spLocks noGrp="1"/>
          </p:cNvSpPr>
          <p:nvPr>
            <p:ph type="sldNum" sz="quarter" idx="10"/>
          </p:nvPr>
        </p:nvSpPr>
        <p:spPr/>
        <p:txBody>
          <a:bodyPr/>
          <a:lstStyle/>
          <a:p>
            <a:fld id="{109B1165-8AB6-4FB4-B4AB-19C09BDB711F}" type="slidenum">
              <a:rPr lang="en-CA" smtClean="0"/>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299070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The key message for students to take away from this slide is that global unicast addresses are the equivalent of public IP addresses on the IPv4 Internet. Describe how an organization is provided with 16 bits for subnetting.</a:t>
            </a:r>
          </a:p>
        </p:txBody>
      </p:sp>
      <p:sp>
        <p:nvSpPr>
          <p:cNvPr id="4" name="Slide Number Placeholder 3"/>
          <p:cNvSpPr>
            <a:spLocks noGrp="1"/>
          </p:cNvSpPr>
          <p:nvPr>
            <p:ph type="sldNum" sz="quarter" idx="10"/>
          </p:nvPr>
        </p:nvSpPr>
        <p:spPr/>
        <p:txBody>
          <a:bodyPr/>
          <a:lstStyle/>
          <a:p>
            <a:fld id="{109B1165-8AB6-4FB4-B4AB-19C09BDB711F}" type="slidenum">
              <a:rPr lang="en-CA" smtClean="0"/>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41513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The key information for students to understand about unique local addresses is that they are equivalent to IPv4 private addresses, because they are not routable on the Internet. It also is critical for students to understand that randomly generating the organization ID allows easier mergers between organizations.</a:t>
            </a:r>
          </a:p>
        </p:txBody>
      </p:sp>
      <p:sp>
        <p:nvSpPr>
          <p:cNvPr id="4" name="Slide Number Placeholder 3"/>
          <p:cNvSpPr>
            <a:spLocks noGrp="1"/>
          </p:cNvSpPr>
          <p:nvPr>
            <p:ph type="sldNum" sz="quarter" idx="10"/>
          </p:nvPr>
        </p:nvSpPr>
        <p:spPr/>
        <p:txBody>
          <a:bodyPr/>
          <a:lstStyle/>
          <a:p>
            <a:fld id="{109B1165-8AB6-4FB4-B4AB-19C09BDB711F}" type="slidenum">
              <a:rPr lang="en-CA" smtClean="0"/>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985289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Regardless of whether hosts have been assigned other IPv6 addresses, all hosts automatically generate a link‑local IP address that is used only on locally attached subnets. Unlike Automatic Private IP Addressing (APIPA) addresses, they are not optional and do not indicate a problem.</a:t>
            </a:r>
          </a:p>
        </p:txBody>
      </p:sp>
      <p:sp>
        <p:nvSpPr>
          <p:cNvPr id="4" name="Slide Number Placeholder 3"/>
          <p:cNvSpPr>
            <a:spLocks noGrp="1"/>
          </p:cNvSpPr>
          <p:nvPr>
            <p:ph type="sldNum" sz="quarter" idx="10"/>
          </p:nvPr>
        </p:nvSpPr>
        <p:spPr/>
        <p:txBody>
          <a:bodyPr/>
          <a:lstStyle/>
          <a:p>
            <a:fld id="{109B1165-8AB6-4FB4-B4AB-19C09BDB711F}" type="slidenum">
              <a:rPr lang="en-CA" smtClean="0"/>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17612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Be sure that students understand that a router can assign network prefixes to a client automatically, but a Dynamic Host Configuration Protocol (DHCP) server is required to assign other configuration options dynamically, such as a Domain Name System (DNS) server.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This slide is </a:t>
            </a:r>
            <a:r>
              <a:rPr lang="en-CA" sz="1000" dirty="0">
                <a:solidFill>
                  <a:srgbClr val="000000"/>
                </a:solidFill>
                <a:latin typeface="Arial"/>
                <a:ea typeface="Calibri"/>
                <a:cs typeface="Times New Roman"/>
              </a:rPr>
              <a:t>a summary of the six-step process used for IPv6 autoconfiguration. The steps are:</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derives a link-local address. The client </a:t>
            </a:r>
            <a:r>
              <a:rPr lang="en-US" sz="1000" dirty="0" smtClean="0">
                <a:effectLst/>
                <a:latin typeface="Arial"/>
                <a:ea typeface="Segoe UI"/>
                <a:cs typeface="Times New Roman"/>
              </a:rPr>
              <a:t>checks for address conflicts by using neighbor solicitation, and verifies that the link-local address is unique.</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checks for routers on the network.</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checks to see which prefixes are configured on the router.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adds the prefixes locally.</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If the Managed or Other flag is set, the client checks for DHCPv6 to obtain other configuration information.</a:t>
            </a:r>
            <a:endParaRPr lang="en-CA" sz="1000" dirty="0" smtClean="0">
              <a:effectLst/>
              <a:latin typeface="Arial"/>
              <a:ea typeface="Times New Roman"/>
              <a:cs typeface="Times New Roman"/>
            </a:endParaRPr>
          </a:p>
          <a:p>
            <a:pPr>
              <a:lnSpc>
                <a:spcPct val="115000"/>
              </a:lnSpc>
              <a:spcAft>
                <a:spcPts val="1000"/>
              </a:spcAft>
            </a:pPr>
            <a:r>
              <a:rPr lang="en-CA" sz="1000" dirty="0">
                <a:solidFill>
                  <a:srgbClr val="000000"/>
                </a:solidFill>
                <a:latin typeface="Arial"/>
                <a:ea typeface="Calibri"/>
                <a:cs typeface="Times New Roman"/>
              </a:rPr>
              <a:t>The next slide is a six-frame build slide that provides a step-by-step illustration of this example.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870792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4613"/>
            <a:ext cx="2413000" cy="1809750"/>
          </a:xfrm>
        </p:spPr>
      </p:sp>
      <p:sp>
        <p:nvSpPr>
          <p:cNvPr id="3" name="Notes Placeholder 2"/>
          <p:cNvSpPr>
            <a:spLocks noGrp="1"/>
          </p:cNvSpPr>
          <p:nvPr>
            <p:ph type="body" idx="1"/>
          </p:nvPr>
        </p:nvSpPr>
        <p:spPr>
          <a:xfrm>
            <a:off x="307492" y="2067300"/>
            <a:ext cx="6149837" cy="6812811"/>
          </a:xfrm>
        </p:spPr>
        <p:txBody>
          <a:bodyPr/>
          <a:lstStyle/>
          <a:p>
            <a:r>
              <a:rPr lang="en-US" sz="1000" dirty="0">
                <a:latin typeface="Arial" panose="020B0604020202020204" pitchFamily="34" charset="0"/>
                <a:cs typeface="Arial" panose="020B0604020202020204" pitchFamily="34" charset="0"/>
              </a:rPr>
              <a:t>This is a 6-frame build slide.</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It illustrates a simple example in which the network prefixes are obtained from the router, but additional configuration information is obtained from DHCP. Here is a breakdown of the six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1st of 6 frames: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There is an IPv6 client, an IPv6 router, and a IPv6 DHCP server.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derives the link-local address fe80::d593:e1e:e612:53e4%10.</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2nd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for address conflicts by using neighbor solicitation, and verifies that the link-local address is unique.</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3rd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for routers on the network.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4th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to see which prefixes are configured on the router. This is successful.</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5th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adds the prefixes locally.</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6th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If the Managed or Other flag is set, the client checks the DHCPv6 Server to obtain other configuration information.</a:t>
            </a:r>
            <a:endParaRPr lang="en-CA" sz="1000" dirty="0">
              <a:latin typeface="Arial" panose="020B0604020202020204" pitchFamily="34" charset="0"/>
              <a:cs typeface="Arial" panose="020B0604020202020204" pitchFamily="34" charset="0"/>
            </a:endParaRPr>
          </a:p>
          <a:p>
            <a:endParaRPr lang="en-GB"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DCCEFC8F-1EBC-43E5-886D-F0A9AD3E9B6F}" type="slidenum">
              <a:rPr lang="en-US" smtClean="0"/>
              <a:pPr>
                <a:defRPr/>
              </a:pPr>
              <a:t>17</a:t>
            </a:fld>
            <a:endParaRPr lang="en-US" dirty="0"/>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Rectangle 6"/>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Tree>
    <p:extLst>
      <p:ext uri="{BB962C8B-B14F-4D97-AF65-F5344CB8AC3E}">
        <p14:creationId xmlns:p14="http://schemas.microsoft.com/office/powerpoint/2010/main" val="206671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Use this line diagram to explain to students the states that a host's IPv6 address goes through during its lifecycle.</a:t>
            </a:r>
          </a:p>
        </p:txBody>
      </p:sp>
      <p:sp>
        <p:nvSpPr>
          <p:cNvPr id="4" name="Slide Number Placeholder 3"/>
          <p:cNvSpPr>
            <a:spLocks noGrp="1"/>
          </p:cNvSpPr>
          <p:nvPr>
            <p:ph type="sldNum" sz="quarter" idx="10"/>
          </p:nvPr>
        </p:nvSpPr>
        <p:spPr/>
        <p:txBody>
          <a:bodyPr/>
          <a:lstStyle/>
          <a:p>
            <a:fld id="{109B1165-8AB6-4FB4-B4AB-19C09BDB711F}" type="slidenum">
              <a:rPr lang="en-CA" smtClean="0"/>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285561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Start the </a:t>
            </a:r>
            <a:r>
              <a:rPr lang="en-CA" sz="1000" dirty="0">
                <a:latin typeface="Arial"/>
                <a:ea typeface="Calibri"/>
                <a:cs typeface="Times New Roman"/>
              </a:rPr>
              <a:t>20410D‑LON‑DC1</a:t>
            </a:r>
            <a:r>
              <a:rPr lang="en-CA" sz="1000" dirty="0">
                <a:latin typeface="Arial"/>
                <a:ea typeface="Calibri"/>
                <a:cs typeface="Segoe UI"/>
              </a:rPr>
              <a:t> and </a:t>
            </a:r>
            <a:r>
              <a:rPr lang="en-CA" sz="1000" dirty="0">
                <a:latin typeface="Arial"/>
                <a:ea typeface="Calibri"/>
                <a:cs typeface="Times New Roman"/>
              </a:rPr>
              <a:t>20410D‑LON‑SVR1</a:t>
            </a:r>
            <a:r>
              <a:rPr lang="en-CA" sz="1000" dirty="0">
                <a:latin typeface="Arial"/>
                <a:ea typeface="Calibri"/>
                <a:cs typeface="Segoe UI"/>
              </a:rPr>
              <a:t> virtual machines.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600"/>
              </a:spcBef>
              <a:spcAft>
                <a:spcPts val="300"/>
              </a:spcAft>
            </a:pPr>
            <a:r>
              <a:rPr lang="en-US" sz="1000" b="1" dirty="0" smtClean="0">
                <a:effectLst/>
                <a:latin typeface="Arial"/>
                <a:ea typeface="Times New Roman"/>
                <a:cs typeface="Segoe UI"/>
              </a:rPr>
              <a:t>View IPv6 configuration by using ipconfig and Get‑NetIPAddress</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Sign in to </a:t>
            </a:r>
            <a:r>
              <a:rPr lang="en-US" sz="1000" dirty="0" smtClean="0">
                <a:effectLst/>
                <a:latin typeface="Arial"/>
                <a:ea typeface="Times New Roman"/>
                <a:cs typeface="Times New Roman"/>
              </a:rPr>
              <a:t>LON‑DC1</a:t>
            </a:r>
            <a:r>
              <a:rPr lang="en-US" sz="1000" dirty="0" smtClean="0">
                <a:effectLst/>
                <a:latin typeface="Arial"/>
                <a:ea typeface="Times New Roman"/>
                <a:cs typeface="Segoe UI"/>
              </a:rPr>
              <a:t> and </a:t>
            </a:r>
            <a:r>
              <a:rPr lang="en-US" sz="1000" dirty="0" smtClean="0">
                <a:effectLst/>
                <a:latin typeface="Arial"/>
                <a:ea typeface="Times New Roman"/>
                <a:cs typeface="Times New Roman"/>
              </a:rPr>
              <a:t>LON‑SVR1</a:t>
            </a:r>
            <a:r>
              <a:rPr lang="en-US" sz="1000" dirty="0" smtClean="0">
                <a:effectLst/>
                <a:latin typeface="Arial"/>
                <a:ea typeface="Times New Roman"/>
                <a:cs typeface="Segoe UI"/>
              </a:rPr>
              <a:t> as </a:t>
            </a:r>
            <a:r>
              <a:rPr lang="en-US" sz="1000" b="1" dirty="0" smtClean="0">
                <a:effectLst/>
                <a:latin typeface="Arial"/>
                <a:ea typeface="Times New Roman"/>
                <a:cs typeface="Times New Roman"/>
              </a:rPr>
              <a:t>Adatum\Administrator</a:t>
            </a:r>
            <a:r>
              <a:rPr lang="en-US" sz="1000" dirty="0" smtClean="0">
                <a:effectLst/>
                <a:latin typeface="Arial"/>
                <a:ea typeface="Times New Roman"/>
                <a:cs typeface="Segoe UI"/>
              </a:rPr>
              <a:t> with the password </a:t>
            </a:r>
            <a:r>
              <a:rPr lang="en-US" sz="1000" b="1" dirty="0" smtClean="0">
                <a:effectLst/>
                <a:latin typeface="Arial"/>
                <a:ea typeface="Times New Roman"/>
                <a:cs typeface="Times New Roman"/>
              </a:rPr>
              <a:t>Pa$$w0rd</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On LON‑DC1, on the taskbar, click the </a:t>
            </a:r>
            <a:r>
              <a:rPr lang="en-US" sz="1000" b="1" dirty="0" smtClean="0">
                <a:effectLst/>
                <a:latin typeface="Arial"/>
                <a:ea typeface="Times New Roman"/>
                <a:cs typeface="Times New Roman"/>
              </a:rPr>
              <a:t>Windows PowerShell</a:t>
            </a:r>
            <a:r>
              <a:rPr lang="en-US" sz="1000" b="1" baseline="30000" dirty="0" smtClean="0">
                <a:effectLst/>
                <a:latin typeface="Arial"/>
                <a:ea typeface="Times New Roman"/>
                <a:cs typeface="Times New Roman"/>
              </a:rPr>
              <a:t>®</a:t>
            </a:r>
            <a:r>
              <a:rPr lang="en-US" sz="1000" b="1" dirty="0" smtClean="0">
                <a:effectLst/>
                <a:latin typeface="Arial"/>
                <a:ea typeface="Times New Roman"/>
                <a:cs typeface="Times New Roman"/>
              </a:rPr>
              <a:t> </a:t>
            </a:r>
            <a:r>
              <a:rPr lang="en-US" sz="1000" dirty="0" smtClean="0">
                <a:solidFill>
                  <a:srgbClr val="000000"/>
                </a:solidFill>
                <a:effectLst/>
                <a:latin typeface="Arial"/>
                <a:ea typeface="Times New Roman"/>
                <a:cs typeface="Segoe UI"/>
              </a:rPr>
              <a:t>icon.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ipconfig</a:t>
            </a:r>
            <a:r>
              <a:rPr lang="en-US" sz="1000" dirty="0" smtClean="0">
                <a:solidFill>
                  <a:srgbClr val="000000"/>
                </a:solidFill>
                <a:effectLst/>
                <a:latin typeface="Arial"/>
                <a:ea typeface="Times New Roman"/>
                <a:cs typeface="Segoe UI"/>
              </a:rPr>
              <a:t>, and then press Enter.</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solidFill>
                  <a:srgbClr val="000000"/>
                </a:solidFill>
                <a:effectLst/>
                <a:latin typeface="Arial"/>
                <a:ea typeface="Times New Roman"/>
                <a:cs typeface="Segoe UI"/>
              </a:rPr>
              <a:t>Notice that this returns a link‑local IPv6 address.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4"/>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Get‑NetIPAddress</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000">
              <a:lnSpc>
                <a:spcPts val="1300"/>
              </a:lnSpc>
              <a:spcAft>
                <a:spcPts val="600"/>
              </a:spcAft>
            </a:pPr>
            <a:r>
              <a:rPr lang="en-US" sz="1000" dirty="0" smtClean="0">
                <a:solidFill>
                  <a:srgbClr val="000000"/>
                </a:solidFill>
                <a:effectLst/>
                <a:latin typeface="Arial"/>
                <a:ea typeface="Times New Roman"/>
                <a:cs typeface="Segoe UI"/>
              </a:rPr>
              <a:t>Notice that the </a:t>
            </a:r>
            <a:r>
              <a:rPr lang="en-US" sz="1000" b="1" dirty="0" smtClean="0">
                <a:effectLst/>
                <a:latin typeface="Arial"/>
                <a:ea typeface="Times New Roman"/>
                <a:cs typeface="Times New Roman"/>
              </a:rPr>
              <a:t>Get‑NetIPAddress</a:t>
            </a:r>
            <a:r>
              <a:rPr lang="en-US" sz="1000" dirty="0" smtClean="0">
                <a:solidFill>
                  <a:srgbClr val="000000"/>
                </a:solidFill>
                <a:effectLst/>
                <a:latin typeface="Arial"/>
                <a:ea typeface="Times New Roman"/>
                <a:cs typeface="Segoe UI"/>
              </a:rPr>
              <a:t> command returns a link‑local IPv6 address.</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IPv6 on LON‑DC1</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Local Server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dirty="0" smtClean="0">
                <a:effectLst/>
                <a:latin typeface="Arial"/>
                <a:ea typeface="Times New Roman"/>
                <a:cs typeface="Times New Roman"/>
              </a:rPr>
              <a:t>local server's</a:t>
            </a:r>
            <a:r>
              <a:rPr lang="en-US" sz="1000" b="1" dirty="0" smtClean="0">
                <a:effectLst/>
                <a:latin typeface="Arial"/>
                <a:ea typeface="Times New Roman"/>
                <a:cs typeface="Times New Roman"/>
              </a:rPr>
              <a:t> </a:t>
            </a:r>
            <a:r>
              <a:rPr lang="en-US" sz="1000" dirty="0" smtClean="0">
                <a:effectLst/>
                <a:latin typeface="Arial"/>
                <a:ea typeface="Times New Roman"/>
                <a:cs typeface="Times New Roman"/>
              </a:rPr>
              <a:t>Properties pane</a:t>
            </a:r>
            <a:r>
              <a:rPr lang="en-US" sz="1000" dirty="0" smtClean="0">
                <a:effectLst/>
                <a:latin typeface="Arial"/>
                <a:ea typeface="Times New Roman"/>
                <a:cs typeface="Segoe UI"/>
              </a:rPr>
              <a:t>, next to </a:t>
            </a:r>
            <a:r>
              <a:rPr lang="en-US" sz="1000" b="1" dirty="0" smtClean="0">
                <a:effectLst/>
                <a:latin typeface="Arial"/>
                <a:ea typeface="Times New Roman"/>
                <a:cs typeface="Times New Roman"/>
              </a:rPr>
              <a:t>Ethernet</a:t>
            </a:r>
            <a:r>
              <a:rPr lang="en-US" sz="1000" dirty="0" smtClean="0">
                <a:effectLst/>
                <a:latin typeface="Arial"/>
                <a:ea typeface="Times New Roman"/>
                <a:cs typeface="Segoe UI"/>
              </a:rPr>
              <a:t>, click </a:t>
            </a:r>
            <a:r>
              <a:rPr lang="en-US" sz="1000" b="1" dirty="0" smtClean="0">
                <a:effectLst/>
                <a:latin typeface="Arial"/>
                <a:ea typeface="Times New Roman"/>
                <a:cs typeface="Times New Roman"/>
              </a:rPr>
              <a:t>172.16.0.10, IPv6 enabled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Network Connections</a:t>
            </a:r>
            <a:r>
              <a:rPr lang="en-US" sz="1000" dirty="0" smtClean="0">
                <a:effectLst/>
                <a:latin typeface="Arial"/>
                <a:ea typeface="Times New Roman"/>
                <a:cs typeface="Segoe UI"/>
              </a:rPr>
              <a:t> dialog box, right‑click </a:t>
            </a:r>
            <a:r>
              <a:rPr lang="en-US" sz="1000" b="1" dirty="0" smtClean="0">
                <a:effectLst/>
                <a:latin typeface="Arial"/>
                <a:ea typeface="Times New Roman"/>
                <a:cs typeface="Times New Roman"/>
              </a:rPr>
              <a:t>Ethernet</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Properties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Internet Protocol Version 6 (TCP/IPv6)</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Properties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Internet Protocol Version 6 (TCP/IPv6) Properties</a:t>
            </a:r>
            <a:r>
              <a:rPr lang="en-US" sz="1000" dirty="0" smtClean="0">
                <a:effectLst/>
                <a:latin typeface="Arial"/>
                <a:ea typeface="Times New Roman"/>
                <a:cs typeface="Segoe UI"/>
              </a:rPr>
              <a:t> dialog box, click </a:t>
            </a:r>
            <a:r>
              <a:rPr lang="en-US" sz="1000" b="1" dirty="0" smtClean="0">
                <a:effectLst/>
                <a:latin typeface="Arial"/>
                <a:ea typeface="Times New Roman"/>
                <a:cs typeface="Times New Roman"/>
              </a:rPr>
              <a:t>Use the following IPv6 address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IPv6 address</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FD00:AAAA:BBBB:CCCC::A</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Subnet prefix length</a:t>
            </a:r>
            <a:r>
              <a:rPr lang="en-US" sz="1000" dirty="0" smtClean="0">
                <a:effectLst/>
                <a:latin typeface="Arial"/>
                <a:ea typeface="Times New Roman"/>
                <a:cs typeface="Times New Roman"/>
              </a:rPr>
              <a:t> box, type </a:t>
            </a:r>
            <a:r>
              <a:rPr lang="en-US" sz="1000" b="1" dirty="0" smtClean="0">
                <a:effectLst/>
                <a:latin typeface="Arial"/>
                <a:ea typeface="Times New Roman"/>
                <a:cs typeface="Times New Roman"/>
              </a:rPr>
              <a:t>64</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Preferred DNS server</a:t>
            </a:r>
            <a:r>
              <a:rPr lang="en-US" sz="1000" dirty="0" smtClean="0">
                <a:effectLst/>
                <a:latin typeface="Arial"/>
                <a:ea typeface="Times New Roman"/>
                <a:cs typeface="Times New Roman"/>
              </a:rPr>
              <a:t> box, type </a:t>
            </a:r>
            <a:r>
              <a:rPr lang="en-US" sz="1000" b="1" dirty="0" smtClean="0">
                <a:effectLst/>
                <a:latin typeface="Arial"/>
                <a:ea typeface="Times New Roman"/>
                <a:cs typeface="Times New Roman"/>
              </a:rPr>
              <a:t>::1</a:t>
            </a:r>
            <a:r>
              <a:rPr lang="en-US" sz="1000" dirty="0" smtClean="0">
                <a:effectLst/>
                <a:latin typeface="Arial"/>
                <a:ea typeface="Times New Roman"/>
                <a:cs typeface="Segoe UI"/>
              </a:rPr>
              <a:t>,</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OK</a:t>
            </a:r>
            <a:r>
              <a:rPr lang="en-US" sz="1000" dirty="0" smtClean="0">
                <a:effectLst/>
                <a:latin typeface="Arial"/>
                <a:ea typeface="Times New Roman"/>
                <a:cs typeface="Times New Roman"/>
              </a:rPr>
              <a:t>.</a:t>
            </a:r>
          </a:p>
          <a:p>
            <a:pPr marL="342900" lvl="0" indent="-342900">
              <a:lnSpc>
                <a:spcPct val="115000"/>
              </a:lnSpc>
              <a:spcAft>
                <a:spcPts val="995"/>
              </a:spcAft>
              <a:buFont typeface="+mj-lt"/>
              <a:buAutoNum type="arabicPeriod" startAt="9"/>
            </a:pPr>
            <a:r>
              <a:rPr lang="en-US" sz="1000" dirty="0">
                <a:solidFill>
                  <a:prstClr val="black"/>
                </a:solidFill>
                <a:latin typeface="Arial"/>
                <a:ea typeface="Times New Roman"/>
                <a:cs typeface="Times New Roman"/>
              </a:rPr>
              <a:t>In the </a:t>
            </a:r>
            <a:r>
              <a:rPr lang="en-US" sz="1000" b="1" dirty="0">
                <a:solidFill>
                  <a:prstClr val="black"/>
                </a:solidFill>
                <a:latin typeface="Arial"/>
                <a:ea typeface="Times New Roman"/>
                <a:cs typeface="Times New Roman"/>
              </a:rPr>
              <a:t>Ethernet Properties </a:t>
            </a:r>
            <a:r>
              <a:rPr lang="en-US" sz="1000" dirty="0">
                <a:solidFill>
                  <a:prstClr val="black"/>
                </a:solidFill>
                <a:latin typeface="Arial"/>
                <a:ea typeface="Times New Roman"/>
                <a:cs typeface="Times New Roman"/>
              </a:rPr>
              <a:t>dialog box, click </a:t>
            </a:r>
            <a:r>
              <a:rPr lang="en-US" sz="1000" b="1" dirty="0">
                <a:solidFill>
                  <a:prstClr val="black"/>
                </a:solidFill>
                <a:latin typeface="Arial"/>
                <a:ea typeface="Times New Roman"/>
                <a:cs typeface="Times New Roman"/>
              </a:rPr>
              <a:t>Close</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9"/>
            </a:pPr>
            <a:r>
              <a:rPr lang="en-US" sz="1000" dirty="0">
                <a:solidFill>
                  <a:prstClr val="black"/>
                </a:solidFill>
                <a:latin typeface="Arial"/>
                <a:ea typeface="Times New Roman"/>
                <a:cs typeface="Times New Roman"/>
              </a:rPr>
              <a:t>Close the </a:t>
            </a:r>
            <a:r>
              <a:rPr lang="en-US" sz="1000" b="1" dirty="0">
                <a:solidFill>
                  <a:prstClr val="black"/>
                </a:solidFill>
                <a:latin typeface="Arial"/>
                <a:ea typeface="Times New Roman"/>
                <a:cs typeface="Times New Roman"/>
              </a:rPr>
              <a:t>Network Connections</a:t>
            </a:r>
            <a:r>
              <a:rPr lang="en-US" sz="1000" dirty="0">
                <a:solidFill>
                  <a:prstClr val="black"/>
                </a:solidFill>
                <a:latin typeface="Arial"/>
                <a:ea typeface="Times New Roman"/>
                <a:cs typeface="Times New Roman"/>
              </a:rPr>
              <a:t> </a:t>
            </a:r>
            <a:r>
              <a:rPr lang="en-US" sz="1000" dirty="0">
                <a:solidFill>
                  <a:prstClr val="black"/>
                </a:solidFill>
                <a:latin typeface="Arial"/>
                <a:ea typeface="Times New Roman"/>
                <a:cs typeface="Segoe UI"/>
              </a:rPr>
              <a:t>dialog box</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948553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1928440"/>
            <a:ext cx="6153912" cy="6820024"/>
          </a:xfrm>
        </p:spPr>
        <p:txBody>
          <a:bodyPr>
            <a:noAutofit/>
          </a:bodyPr>
          <a:lstStyle/>
          <a:p>
            <a:pPr lvl="0">
              <a:lnSpc>
                <a:spcPts val="1300"/>
              </a:lnSpc>
              <a:spcBef>
                <a:spcPts val="900"/>
              </a:spcBef>
              <a:spcAft>
                <a:spcPts val="700"/>
              </a:spcAft>
            </a:pPr>
            <a:r>
              <a:rPr lang="en-US" sz="1000" b="1" dirty="0" smtClean="0">
                <a:solidFill>
                  <a:prstClr val="black"/>
                </a:solidFill>
                <a:latin typeface="Arial"/>
                <a:ea typeface="Times New Roman"/>
                <a:cs typeface="Segoe UI"/>
              </a:rPr>
              <a:t>Configure </a:t>
            </a:r>
            <a:r>
              <a:rPr lang="en-US" sz="1000" b="1" dirty="0">
                <a:solidFill>
                  <a:prstClr val="black"/>
                </a:solidFill>
                <a:latin typeface="Arial"/>
                <a:ea typeface="Times New Roman"/>
                <a:cs typeface="Segoe UI"/>
              </a:rPr>
              <a:t>IPv6 on LON‑SVR1</a:t>
            </a:r>
            <a:endParaRPr lang="en-CA" sz="1000" b="1" dirty="0">
              <a:solidFill>
                <a:prstClr val="black"/>
              </a:solidFill>
              <a:latin typeface="Arial"/>
              <a:ea typeface="Times New Roman"/>
              <a:cs typeface="Segoe UI"/>
            </a:endParaRPr>
          </a:p>
          <a:p>
            <a:pPr marL="342900" lvl="0" indent="-342900">
              <a:lnSpc>
                <a:spcPct val="115000"/>
              </a:lnSpc>
              <a:spcAft>
                <a:spcPts val="700"/>
              </a:spcAft>
              <a:buFont typeface="+mj-lt"/>
              <a:buAutoNum type="arabicPeriod"/>
            </a:pPr>
            <a:r>
              <a:rPr lang="en-US" sz="1000" dirty="0">
                <a:latin typeface="Arial"/>
                <a:ea typeface="Times New Roman"/>
                <a:cs typeface="Segoe UI"/>
              </a:rPr>
              <a:t>On LON‑SVR1, in Server Manager, click </a:t>
            </a:r>
            <a:r>
              <a:rPr lang="en-US" sz="1000" b="1" dirty="0">
                <a:latin typeface="Arial"/>
                <a:ea typeface="Times New Roman"/>
                <a:cs typeface="Times New Roman"/>
              </a:rPr>
              <a:t>Local Server</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local server's </a:t>
            </a:r>
            <a:r>
              <a:rPr lang="en-US" sz="1000" dirty="0">
                <a:latin typeface="Arial"/>
                <a:ea typeface="Times New Roman"/>
                <a:cs typeface="Times New Roman"/>
              </a:rPr>
              <a:t>Properties pane</a:t>
            </a:r>
            <a:r>
              <a:rPr lang="en-US" sz="1000" dirty="0">
                <a:latin typeface="Arial"/>
                <a:ea typeface="Times New Roman"/>
                <a:cs typeface="Segoe UI"/>
              </a:rPr>
              <a:t>, next to </a:t>
            </a:r>
            <a:r>
              <a:rPr lang="en-US" sz="1000" b="1" dirty="0">
                <a:latin typeface="Arial"/>
                <a:ea typeface="Times New Roman"/>
                <a:cs typeface="Times New Roman"/>
              </a:rPr>
              <a:t>Ethernet</a:t>
            </a:r>
            <a:r>
              <a:rPr lang="en-US" sz="1000" dirty="0">
                <a:latin typeface="Arial"/>
                <a:ea typeface="Times New Roman"/>
                <a:cs typeface="Segoe UI"/>
              </a:rPr>
              <a:t>, click </a:t>
            </a:r>
            <a:r>
              <a:rPr lang="en-US" sz="1000" b="1" dirty="0">
                <a:latin typeface="Arial"/>
                <a:ea typeface="Times New Roman"/>
                <a:cs typeface="Times New Roman"/>
              </a:rPr>
              <a:t>172.16.0.11, IPv6 enabled</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Network Connections</a:t>
            </a:r>
            <a:r>
              <a:rPr lang="en-US" sz="1000" dirty="0">
                <a:latin typeface="Arial"/>
                <a:ea typeface="Times New Roman"/>
                <a:cs typeface="Segoe UI"/>
              </a:rPr>
              <a:t> dialog box, right‑click </a:t>
            </a:r>
            <a:r>
              <a:rPr lang="en-US" sz="1000" b="1" dirty="0">
                <a:latin typeface="Arial"/>
                <a:ea typeface="Times New Roman"/>
                <a:cs typeface="Times New Roman"/>
              </a:rPr>
              <a:t>Ethernet</a:t>
            </a:r>
            <a:r>
              <a:rPr lang="en-US" sz="1000" dirty="0">
                <a:latin typeface="Arial"/>
                <a:ea typeface="Times New Roman"/>
                <a:cs typeface="Times New Roman"/>
              </a:rPr>
              <a:t>,</a:t>
            </a:r>
            <a:r>
              <a:rPr lang="en-US" sz="1000" dirty="0">
                <a:latin typeface="Arial"/>
                <a:ea typeface="Times New Roman"/>
                <a:cs typeface="Segoe UI"/>
              </a:rPr>
              <a:t> and then click </a:t>
            </a:r>
            <a:r>
              <a:rPr lang="en-US" sz="1000" b="1" dirty="0">
                <a:latin typeface="Arial"/>
                <a:ea typeface="Times New Roman"/>
                <a:cs typeface="Times New Roman"/>
              </a:rPr>
              <a:t>Properties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Ethernet Properties</a:t>
            </a:r>
            <a:r>
              <a:rPr lang="en-US" sz="1000" dirty="0">
                <a:latin typeface="Arial"/>
                <a:ea typeface="Times New Roman"/>
                <a:cs typeface="Segoe UI"/>
              </a:rPr>
              <a:t> dialog box, click </a:t>
            </a:r>
            <a:r>
              <a:rPr lang="en-US" sz="1000" b="1" dirty="0">
                <a:latin typeface="Arial"/>
                <a:ea typeface="Times New Roman"/>
                <a:cs typeface="Times New Roman"/>
              </a:rPr>
              <a:t>Internet Protocol Version 6 (TCP/IPv6)</a:t>
            </a:r>
            <a:r>
              <a:rPr lang="en-US" sz="1000" dirty="0">
                <a:latin typeface="Arial"/>
                <a:ea typeface="Times New Roman"/>
                <a:cs typeface="Segoe UI"/>
              </a:rPr>
              <a:t>, and then click </a:t>
            </a:r>
            <a:r>
              <a:rPr lang="en-US" sz="1000" b="1" dirty="0">
                <a:latin typeface="Arial"/>
                <a:ea typeface="Times New Roman"/>
                <a:cs typeface="Times New Roman"/>
              </a:rPr>
              <a:t>Properties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Internet Protocol Version 6 (TCP/IPv6) Properties</a:t>
            </a:r>
            <a:r>
              <a:rPr lang="en-US" sz="1000" dirty="0">
                <a:latin typeface="Arial"/>
                <a:ea typeface="Times New Roman"/>
                <a:cs typeface="Segoe UI"/>
              </a:rPr>
              <a:t> dialog box, click </a:t>
            </a:r>
            <a:r>
              <a:rPr lang="en-US" sz="1000" b="1" dirty="0">
                <a:latin typeface="Arial"/>
                <a:ea typeface="Times New Roman"/>
                <a:cs typeface="Times New Roman"/>
              </a:rPr>
              <a:t>Use the following IPv6 address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IPv6 address</a:t>
            </a:r>
            <a:r>
              <a:rPr lang="en-US" sz="1000" dirty="0">
                <a:latin typeface="Arial"/>
                <a:ea typeface="Times New Roman"/>
                <a:cs typeface="Segoe UI"/>
              </a:rPr>
              <a:t> box, type </a:t>
            </a:r>
            <a:r>
              <a:rPr lang="en-US" sz="1000" b="1" dirty="0">
                <a:latin typeface="Arial"/>
                <a:ea typeface="Times New Roman"/>
                <a:cs typeface="Times New Roman"/>
              </a:rPr>
              <a:t>FD00:AAAA:BBBB:CCCC::15</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Subnet prefix length</a:t>
            </a:r>
            <a:r>
              <a:rPr lang="en-US" sz="1000" dirty="0">
                <a:latin typeface="Arial"/>
                <a:ea typeface="Times New Roman"/>
                <a:cs typeface="Times New Roman"/>
              </a:rPr>
              <a:t> box, type </a:t>
            </a:r>
            <a:r>
              <a:rPr lang="en-US" sz="1000" b="1" dirty="0">
                <a:latin typeface="Arial"/>
                <a:ea typeface="Times New Roman"/>
                <a:cs typeface="Times New Roman"/>
              </a:rPr>
              <a:t>64</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Preferred DNS server</a:t>
            </a:r>
            <a:r>
              <a:rPr lang="en-US" sz="1000" dirty="0">
                <a:latin typeface="Arial"/>
                <a:ea typeface="Times New Roman"/>
                <a:cs typeface="Times New Roman"/>
              </a:rPr>
              <a:t> box, type </a:t>
            </a:r>
            <a:r>
              <a:rPr lang="en-US" sz="1000" b="1" dirty="0">
                <a:latin typeface="Arial"/>
                <a:ea typeface="Times New Roman"/>
                <a:cs typeface="Times New Roman"/>
              </a:rPr>
              <a:t>FD00:AAAA:BBBB:CCCC::A</a:t>
            </a:r>
            <a:r>
              <a:rPr lang="en-US" sz="1000" dirty="0">
                <a:latin typeface="Arial"/>
                <a:ea typeface="Times New Roman"/>
                <a:cs typeface="Segoe UI"/>
              </a:rPr>
              <a:t>,</a:t>
            </a:r>
            <a:r>
              <a:rPr lang="en-US" sz="1000" dirty="0">
                <a:latin typeface="Arial"/>
                <a:ea typeface="Times New Roman"/>
                <a:cs typeface="Times New Roman"/>
              </a:rPr>
              <a:t> and then click </a:t>
            </a:r>
            <a:r>
              <a:rPr lang="en-US" sz="1000" b="1" dirty="0">
                <a:latin typeface="Arial"/>
                <a:ea typeface="Times New Roman"/>
                <a:cs typeface="Times New Roman"/>
              </a:rPr>
              <a:t>OK</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Ethernet Properties</a:t>
            </a:r>
            <a:r>
              <a:rPr lang="en-US" sz="1000" dirty="0">
                <a:latin typeface="Arial"/>
                <a:ea typeface="Times New Roman"/>
                <a:cs typeface="Times New Roman"/>
              </a:rPr>
              <a:t> dialog box, click </a:t>
            </a:r>
            <a:r>
              <a:rPr lang="en-US" sz="1000" b="1" dirty="0">
                <a:latin typeface="Arial"/>
                <a:ea typeface="Times New Roman"/>
                <a:cs typeface="Times New Roman"/>
              </a:rPr>
              <a:t>Close</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Close the </a:t>
            </a:r>
            <a:r>
              <a:rPr lang="en-US" sz="1000" b="1" dirty="0">
                <a:latin typeface="Arial"/>
                <a:ea typeface="Times New Roman"/>
                <a:cs typeface="Times New Roman"/>
              </a:rPr>
              <a:t>Network Connections</a:t>
            </a:r>
            <a:r>
              <a:rPr lang="en-US" sz="1000" dirty="0">
                <a:latin typeface="Arial"/>
                <a:ea typeface="Times New Roman"/>
                <a:cs typeface="Times New Roman"/>
              </a:rPr>
              <a:t> </a:t>
            </a:r>
            <a:r>
              <a:rPr lang="en-US" sz="1000" dirty="0">
                <a:latin typeface="Arial"/>
                <a:ea typeface="Times New Roman"/>
                <a:cs typeface="Segoe UI"/>
              </a:rPr>
              <a:t>dialog box</a:t>
            </a:r>
            <a:r>
              <a:rPr lang="en-US" sz="1000" dirty="0">
                <a:latin typeface="Arial"/>
                <a:ea typeface="Times New Roman"/>
                <a:cs typeface="Times New Roman"/>
              </a:rPr>
              <a:t>.</a:t>
            </a:r>
            <a:endParaRPr lang="en-CA" sz="1000" dirty="0">
              <a:latin typeface="Arial"/>
              <a:ea typeface="Times New Roman"/>
              <a:cs typeface="Times New Roman"/>
            </a:endParaRPr>
          </a:p>
          <a:p>
            <a:pPr lvl="0">
              <a:lnSpc>
                <a:spcPts val="1300"/>
              </a:lnSpc>
              <a:spcBef>
                <a:spcPts val="900"/>
              </a:spcBef>
              <a:spcAft>
                <a:spcPts val="700"/>
              </a:spcAft>
            </a:pPr>
            <a:r>
              <a:rPr lang="en-US" sz="1000" b="1" dirty="0">
                <a:latin typeface="Arial"/>
                <a:ea typeface="Times New Roman"/>
                <a:cs typeface="Segoe UI"/>
              </a:rPr>
              <a:t>Verify that IPv6 communication is functional</a:t>
            </a:r>
            <a:endParaRPr lang="en-CA" sz="1000" b="1" dirty="0">
              <a:latin typeface="Arial"/>
              <a:ea typeface="Times New Roman"/>
              <a:cs typeface="Segoe UI"/>
            </a:endParaRPr>
          </a:p>
          <a:p>
            <a:pPr marL="342900" lvl="0" indent="-342900">
              <a:lnSpc>
                <a:spcPct val="115000"/>
              </a:lnSpc>
              <a:spcAft>
                <a:spcPts val="700"/>
              </a:spcAft>
              <a:buFont typeface="+mj-lt"/>
              <a:buAutoNum type="arabicPeriod"/>
            </a:pPr>
            <a:r>
              <a:rPr lang="en-US" sz="1000" dirty="0">
                <a:latin typeface="Arial"/>
                <a:ea typeface="Times New Roman"/>
                <a:cs typeface="Segoe UI"/>
              </a:rPr>
              <a:t>On LON‑SVR1, on the taskbar, click the </a:t>
            </a:r>
            <a:r>
              <a:rPr lang="en-US" sz="1000" b="1" dirty="0">
                <a:latin typeface="Arial"/>
                <a:ea typeface="Times New Roman"/>
                <a:cs typeface="Times New Roman"/>
              </a:rPr>
              <a:t>Windows PowerShell</a:t>
            </a:r>
            <a:r>
              <a:rPr lang="en-US" sz="1000" dirty="0">
                <a:latin typeface="Arial"/>
                <a:ea typeface="Times New Roman"/>
                <a:cs typeface="Segoe UI"/>
              </a:rPr>
              <a:t> icon.</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At the Windows PowerShell prompt, type </a:t>
            </a:r>
            <a:r>
              <a:rPr lang="en-US" sz="1000" b="1" dirty="0">
                <a:latin typeface="Arial"/>
                <a:ea typeface="Times New Roman"/>
                <a:cs typeface="Times New Roman"/>
              </a:rPr>
              <a:t>ipconfig</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ct val="115000"/>
              </a:lnSpc>
              <a:spcAft>
                <a:spcPts val="700"/>
              </a:spcAft>
            </a:pPr>
            <a:r>
              <a:rPr lang="en-US" sz="1000" dirty="0">
                <a:latin typeface="Arial"/>
                <a:ea typeface="Times New Roman"/>
                <a:cs typeface="Segoe UI"/>
              </a:rPr>
              <a:t>Notice that both the link‑local IPv6 address and the IPv6 address that you have configured are displayed.</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3"/>
            </a:pPr>
            <a:r>
              <a:rPr lang="en-US" sz="1000" dirty="0">
                <a:latin typeface="Arial"/>
                <a:ea typeface="Times New Roman"/>
                <a:cs typeface="Segoe UI"/>
              </a:rPr>
              <a:t>At a command prompt, type </a:t>
            </a:r>
            <a:r>
              <a:rPr lang="en-US" sz="1000" b="1" dirty="0">
                <a:latin typeface="Arial"/>
                <a:ea typeface="Times New Roman"/>
                <a:cs typeface="Times New Roman"/>
              </a:rPr>
              <a:t>ping ‑6 lon‑dc1</a:t>
            </a:r>
            <a:r>
              <a:rPr lang="en-US" sz="1000" dirty="0">
                <a:latin typeface="Arial"/>
                <a:ea typeface="Times New Roman"/>
                <a:cs typeface="Segoe UI"/>
              </a:rPr>
              <a:t>,</a:t>
            </a:r>
            <a:r>
              <a:rPr lang="en-US" sz="1000" b="1" dirty="0">
                <a:latin typeface="Arial"/>
                <a:ea typeface="Times New Roman"/>
                <a:cs typeface="Times New Roman"/>
              </a:rPr>
              <a:t> </a:t>
            </a:r>
            <a:r>
              <a:rPr lang="en-US" sz="1000" dirty="0">
                <a:latin typeface="Arial"/>
                <a:ea typeface="Times New Roman"/>
                <a:cs typeface="Segoe UI"/>
              </a:rPr>
              <a:t>and then press Enter</a:t>
            </a:r>
            <a:r>
              <a:rPr lang="en-US" sz="1000" dirty="0" smtClean="0">
                <a:latin typeface="Arial"/>
                <a:ea typeface="Times New Roman"/>
                <a:cs typeface="Segoe UI"/>
              </a:rPr>
              <a:t>.</a:t>
            </a:r>
          </a:p>
          <a:p>
            <a:pPr marL="342000" lvl="0">
              <a:lnSpc>
                <a:spcPct val="115000"/>
              </a:lnSpc>
              <a:spcAft>
                <a:spcPts val="700"/>
              </a:spcAft>
            </a:pPr>
            <a:r>
              <a:rPr lang="en-US" sz="1000" dirty="0">
                <a:latin typeface="Arial"/>
                <a:ea typeface="Times New Roman"/>
                <a:cs typeface="Segoe UI"/>
              </a:rPr>
              <a:t>Verify that you receive four replies 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 </a:t>
            </a:r>
            <a:r>
              <a:rPr lang="en-US" sz="1000" dirty="0">
                <a:latin typeface="Arial"/>
                <a:ea typeface="Times New Roman"/>
                <a:cs typeface="Segoe UI"/>
              </a:rPr>
              <a:t>IPv6 address.</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4"/>
            </a:pPr>
            <a:r>
              <a:rPr lang="en-US" sz="1000" dirty="0">
                <a:latin typeface="Arial"/>
                <a:ea typeface="Times New Roman"/>
                <a:cs typeface="Segoe UI"/>
              </a:rPr>
              <a:t>Type </a:t>
            </a:r>
            <a:r>
              <a:rPr lang="en-US" sz="1000" b="1" dirty="0">
                <a:latin typeface="Arial"/>
                <a:ea typeface="Times New Roman"/>
                <a:cs typeface="Times New Roman"/>
              </a:rPr>
              <a:t>ping ‑4</a:t>
            </a:r>
            <a:r>
              <a:rPr lang="en-US" sz="1000" dirty="0">
                <a:latin typeface="Arial"/>
                <a:ea typeface="Times New Roman"/>
                <a:cs typeface="Segoe UI"/>
              </a:rPr>
              <a:t> </a:t>
            </a:r>
            <a:r>
              <a:rPr lang="en-US" sz="1000" b="1" dirty="0">
                <a:latin typeface="Arial"/>
                <a:ea typeface="Times New Roman"/>
                <a:cs typeface="Times New Roman"/>
              </a:rPr>
              <a:t>lon‑dc1</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ct val="115000"/>
              </a:lnSpc>
              <a:spcAft>
                <a:spcPts val="700"/>
              </a:spcAft>
            </a:pPr>
            <a:r>
              <a:rPr lang="en-US" sz="1000" dirty="0">
                <a:latin typeface="Arial"/>
                <a:ea typeface="Times New Roman"/>
                <a:cs typeface="Segoe UI"/>
              </a:rPr>
              <a:t>Verify that you receive four replies 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 </a:t>
            </a:r>
            <a:r>
              <a:rPr lang="en-US" sz="1000" dirty="0">
                <a:latin typeface="Arial"/>
                <a:ea typeface="Times New Roman"/>
                <a:cs typeface="Segoe UI"/>
              </a:rPr>
              <a:t>IPv4 address.</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5"/>
            </a:pPr>
            <a:r>
              <a:rPr lang="en-US" sz="1000" dirty="0">
                <a:latin typeface="Arial"/>
                <a:ea typeface="Times New Roman"/>
                <a:cs typeface="Segoe UI"/>
              </a:rPr>
              <a:t>Type </a:t>
            </a:r>
            <a:r>
              <a:rPr lang="en-US" sz="1000" b="1" dirty="0">
                <a:latin typeface="Arial"/>
                <a:ea typeface="Times New Roman"/>
                <a:cs typeface="Times New Roman"/>
              </a:rPr>
              <a:t>Test-NetConnection FD00:AAAA:BBBB:CCCC::A</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ts val="1300"/>
              </a:lnSpc>
              <a:spcAft>
                <a:spcPts val="700"/>
              </a:spcAft>
            </a:pPr>
            <a:r>
              <a:rPr lang="en-US" sz="1000" dirty="0">
                <a:latin typeface="Arial"/>
                <a:ea typeface="Times New Roman"/>
                <a:cs typeface="Segoe UI"/>
              </a:rPr>
              <a:t>Verify that you receive </a:t>
            </a:r>
            <a:r>
              <a:rPr lang="en-US" sz="1000" b="1" dirty="0">
                <a:latin typeface="Arial"/>
                <a:ea typeface="Times New Roman"/>
                <a:cs typeface="Times New Roman"/>
              </a:rPr>
              <a:t>Ping Succeeded: True </a:t>
            </a:r>
            <a:r>
              <a:rPr lang="en-US" sz="1000" dirty="0">
                <a:latin typeface="Arial"/>
                <a:ea typeface="Times New Roman"/>
                <a:cs typeface="Segoe UI"/>
              </a:rPr>
              <a:t>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a:t>
            </a:r>
            <a:r>
              <a:rPr lang="en-US" sz="1000" dirty="0">
                <a:latin typeface="Arial"/>
                <a:ea typeface="Times New Roman"/>
                <a:cs typeface="Segoe UI"/>
              </a:rPr>
              <a:t> IPv6 address</a:t>
            </a:r>
            <a:r>
              <a:rPr lang="en-US" sz="1000" dirty="0" smtClean="0">
                <a:latin typeface="Arial"/>
                <a:ea typeface="Times New Roman"/>
                <a:cs typeface="Segoe UI"/>
              </a:rPr>
              <a:t>.</a:t>
            </a:r>
            <a:endParaRPr lang="en-US" sz="1000" dirty="0">
              <a:latin typeface="Arial"/>
              <a:cs typeface="Segoe UI"/>
            </a:endParaRPr>
          </a:p>
          <a:p>
            <a:pPr marL="457200">
              <a:lnSpc>
                <a:spcPts val="1300"/>
              </a:lnSpc>
              <a:spcAft>
                <a:spcPts val="700"/>
              </a:spcAft>
            </a:pPr>
            <a:endParaRPr lang="en-US" sz="1000" dirty="0">
              <a:solidFill>
                <a:srgbClr val="000000"/>
              </a:solidFill>
              <a:latin typeface="Arial"/>
              <a:ea typeface="Calibri"/>
              <a:cs typeface="Segoe UI"/>
            </a:endParaRPr>
          </a:p>
          <a:p>
            <a:pPr>
              <a:lnSpc>
                <a:spcPts val="1300"/>
              </a:lnSpc>
              <a:spcAft>
                <a:spcPts val="700"/>
              </a:spcAft>
            </a:pPr>
            <a:r>
              <a:rPr lang="en-CA" sz="1000" dirty="0">
                <a:latin typeface="Arial"/>
                <a:ea typeface="Calibri"/>
                <a:cs typeface="Times New Roman"/>
              </a:rPr>
              <a:t>Leave the virtual machines running after you complete the demonstration.</a:t>
            </a:r>
          </a:p>
          <a:p>
            <a:pPr marL="342900" lvl="0" indent="-342900">
              <a:lnSpc>
                <a:spcPct val="115000"/>
              </a:lnSpc>
              <a:spcAft>
                <a:spcPts val="995"/>
              </a:spcAft>
              <a:buFont typeface="+mj-lt"/>
              <a:buAutoNum type="arabicPeriod"/>
            </a:pP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20</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098263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Briefly describe the lesson content.</a:t>
            </a:r>
            <a:r>
              <a:rPr lang="en-CA" sz="1000" dirty="0">
                <a:solidFill>
                  <a:srgbClr val="000000"/>
                </a:solidFill>
                <a:latin typeface="Arial"/>
                <a:ea typeface="Calibri"/>
                <a:cs typeface="Times New Roman"/>
              </a:rPr>
              <a:t> </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349017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It is important that students understand how to classify nodes. When planning an IPv6 network, they must know the state of the network’s nodes or hosts. Explain to students that by describing the nodes with the proper terminology, they can define the nodes' abilities on the network. This also is important for tunneling, because there are certain kinds of tunnels that require specific types of nodes.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704000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The most important point that students need to learn in this topic is that IPv4 and IPv6 can coexist. Students also should be aware that IPv6 requires additional DNS records.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847200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must have completed the previous demonstration in this module before you begin this demonstration. You need the 20410D‑LON‑DC1 and 20410D‑LON‑SVR1 virtual machines to complete this demonstration. They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an IPv6 host (AAAA) resource record</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Tools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DNS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DNS Manager, expand </a:t>
            </a:r>
            <a:r>
              <a:rPr lang="en-US" sz="1000" b="1" dirty="0" smtClean="0">
                <a:effectLst/>
                <a:latin typeface="Arial"/>
                <a:ea typeface="Times New Roman"/>
                <a:cs typeface="Times New Roman"/>
              </a:rPr>
              <a:t>LON‑DC1</a:t>
            </a:r>
            <a:r>
              <a:rPr lang="en-US" sz="1000" dirty="0" smtClean="0">
                <a:effectLst/>
                <a:latin typeface="Arial"/>
                <a:ea typeface="Times New Roman"/>
                <a:cs typeface="Segoe UI"/>
              </a:rPr>
              <a:t>, expand </a:t>
            </a:r>
            <a:r>
              <a:rPr lang="en-US" sz="1000" b="1" dirty="0" smtClean="0">
                <a:effectLst/>
                <a:latin typeface="Arial"/>
                <a:ea typeface="Times New Roman"/>
                <a:cs typeface="Times New Roman"/>
              </a:rPr>
              <a:t>Forward Lookup Zones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Adatum.com</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Read the records listed for the zone, and notice that LON‑DC1 and LON‑SVR1 have registered their IPv6 addresses dynamically with the DNS server.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Right‑click </a:t>
            </a:r>
            <a:r>
              <a:rPr lang="en-US" sz="1000" b="1" dirty="0" smtClean="0">
                <a:effectLst/>
                <a:latin typeface="Arial"/>
                <a:ea typeface="Times New Roman"/>
                <a:cs typeface="Times New Roman"/>
              </a:rPr>
              <a:t>Adatum.com</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New Host (A or AAAA)</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New Host window, in the </a:t>
            </a:r>
            <a:r>
              <a:rPr lang="en-US" sz="1000" b="1" dirty="0" smtClean="0">
                <a:effectLst/>
                <a:latin typeface="Arial"/>
                <a:ea typeface="Times New Roman"/>
                <a:cs typeface="Times New Roman"/>
              </a:rPr>
              <a:t>Name</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WebApp</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IP address</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FD00:AAAA:BBBB:CCCC::A</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Add Host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OK</a:t>
            </a:r>
            <a:r>
              <a:rPr lang="en-US" sz="1000" dirty="0" smtClean="0">
                <a:effectLst/>
                <a:latin typeface="Arial"/>
                <a:ea typeface="Times New Roman"/>
                <a:cs typeface="Segoe UI"/>
              </a:rPr>
              <a:t> to clear the success message.</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Done</a:t>
            </a:r>
            <a:r>
              <a:rPr lang="en-US" sz="1000" dirty="0" smtClean="0">
                <a:effectLst/>
                <a:latin typeface="Arial"/>
                <a:ea typeface="Times New Roman"/>
                <a:cs typeface="Segoe UI"/>
              </a:rPr>
              <a:t> to close the New Host window.</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Verify name resolution for an IPv6 host (AAAA) resource record</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On LON‑SVR1, if necessary, open a </a:t>
            </a:r>
            <a:r>
              <a:rPr lang="en-US" sz="1000" dirty="0" smtClean="0">
                <a:effectLst/>
                <a:latin typeface="Arial"/>
                <a:ea typeface="Times New Roman"/>
                <a:cs typeface="Times New Roman"/>
              </a:rPr>
              <a:t>Windows PowerShell</a:t>
            </a:r>
            <a:r>
              <a:rPr lang="en-US" sz="1000" dirty="0" smtClean="0">
                <a:solidFill>
                  <a:srgbClr val="000000"/>
                </a:solidFill>
                <a:effectLst/>
                <a:latin typeface="Arial"/>
                <a:ea typeface="Times New Roman"/>
                <a:cs typeface="Segoe UI"/>
              </a:rPr>
              <a:t> prompt.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ping WebApp.adatum.com</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effectLst/>
                <a:latin typeface="Arial"/>
                <a:ea typeface="Times New Roman"/>
                <a:cs typeface="Segoe UI"/>
              </a:rPr>
              <a:t>V</a:t>
            </a:r>
            <a:r>
              <a:rPr lang="en-US" sz="1000" dirty="0" smtClean="0">
                <a:solidFill>
                  <a:srgbClr val="000000"/>
                </a:solidFill>
                <a:effectLst/>
                <a:latin typeface="Arial"/>
                <a:ea typeface="Times New Roman"/>
                <a:cs typeface="Segoe UI"/>
              </a:rPr>
              <a:t>erify that you receive four replies from </a:t>
            </a:r>
            <a:r>
              <a:rPr lang="en-US" sz="1000" b="1" dirty="0" smtClean="0">
                <a:effectLst/>
                <a:latin typeface="Arial"/>
                <a:ea typeface="Times New Roman"/>
                <a:cs typeface="Times New Roman"/>
              </a:rPr>
              <a:t>WebApp.adatum.com </a:t>
            </a:r>
            <a:r>
              <a:rPr lang="en-US" sz="1000" dirty="0" smtClean="0">
                <a:solidFill>
                  <a:srgbClr val="000000"/>
                </a:solidFill>
                <a:effectLst/>
                <a:latin typeface="Arial"/>
                <a:ea typeface="Times New Roman"/>
                <a:cs typeface="Segoe UI"/>
              </a:rPr>
              <a:t>IPv6 address.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3"/>
            </a:pPr>
            <a:r>
              <a:rPr lang="en-US" sz="1000" dirty="0" smtClean="0">
                <a:solidFill>
                  <a:srgbClr val="000000"/>
                </a:solidFill>
                <a:effectLst/>
                <a:latin typeface="Arial"/>
                <a:ea typeface="Times New Roman"/>
                <a:cs typeface="Segoe UI"/>
              </a:rPr>
              <a:t>Type </a:t>
            </a:r>
            <a:r>
              <a:rPr lang="en-US" sz="1000" b="1" dirty="0" smtClean="0">
                <a:effectLst/>
                <a:latin typeface="Arial"/>
                <a:ea typeface="Times New Roman"/>
                <a:cs typeface="Times New Roman"/>
              </a:rPr>
              <a:t>Test-NetConnection WebApp.Adatum.com</a:t>
            </a:r>
            <a:r>
              <a:rPr lang="en-US" sz="1000" dirty="0" smtClean="0">
                <a:effectLst/>
                <a:latin typeface="Arial"/>
                <a:ea typeface="Times New Roman"/>
                <a:cs typeface="Segoe UI"/>
              </a:rPr>
              <a:t>,</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p>
          <a:p>
            <a:pPr marL="342000">
              <a:lnSpc>
                <a:spcPct val="115000"/>
              </a:lnSpc>
              <a:spcAft>
                <a:spcPts val="995"/>
              </a:spcAft>
            </a:pPr>
            <a:r>
              <a:rPr lang="en-US" sz="1000" dirty="0">
                <a:solidFill>
                  <a:srgbClr val="000000"/>
                </a:solidFill>
                <a:latin typeface="Arial"/>
                <a:ea typeface="Times New Roman"/>
                <a:cs typeface="Segoe UI"/>
              </a:rPr>
              <a:t>Verify that you receive </a:t>
            </a:r>
            <a:r>
              <a:rPr lang="en-US" sz="1000" b="1" dirty="0">
                <a:solidFill>
                  <a:prstClr val="black"/>
                </a:solidFill>
                <a:latin typeface="Arial"/>
                <a:ea typeface="Times New Roman"/>
                <a:cs typeface="Times New Roman"/>
              </a:rPr>
              <a:t>Ping Succeeded: True </a:t>
            </a:r>
            <a:r>
              <a:rPr lang="en-US" sz="1000" dirty="0">
                <a:solidFill>
                  <a:srgbClr val="000000"/>
                </a:solidFill>
                <a:latin typeface="Arial"/>
                <a:ea typeface="Times New Roman"/>
                <a:cs typeface="Segoe UI"/>
              </a:rPr>
              <a:t>from </a:t>
            </a:r>
            <a:r>
              <a:rPr lang="en-US" sz="1000" b="1" dirty="0">
                <a:solidFill>
                  <a:prstClr val="black"/>
                </a:solidFill>
                <a:latin typeface="Arial"/>
                <a:ea typeface="Times New Roman"/>
                <a:cs typeface="Times New Roman"/>
              </a:rPr>
              <a:t>WebApp.Adatum.com </a:t>
            </a:r>
            <a:r>
              <a:rPr lang="en-US" sz="1000" dirty="0">
                <a:solidFill>
                  <a:srgbClr val="000000"/>
                </a:solidFill>
                <a:latin typeface="Arial"/>
                <a:ea typeface="Times New Roman"/>
                <a:cs typeface="Segoe UI"/>
              </a:rPr>
              <a:t>IPv6 address.</a:t>
            </a:r>
            <a:endParaRPr lang="en-CA" sz="1000" dirty="0"/>
          </a:p>
          <a:p>
            <a:pPr>
              <a:lnSpc>
                <a:spcPct val="115000"/>
              </a:lnSpc>
              <a:spcAft>
                <a:spcPts val="995"/>
              </a:spcAft>
            </a:pPr>
            <a:r>
              <a:rPr lang="en-CA" sz="1000" dirty="0" smtClean="0">
                <a:latin typeface="Arial"/>
                <a:ea typeface="Calibri"/>
                <a:cs typeface="Times New Roman"/>
              </a:rPr>
              <a:t>After </a:t>
            </a:r>
            <a:r>
              <a:rPr lang="en-CA" sz="1000" dirty="0">
                <a:latin typeface="Arial"/>
                <a:ea typeface="Calibri"/>
                <a:cs typeface="Times New Roman"/>
              </a:rPr>
              <a:t>you complete the demonstration, revert all virtual machines</a:t>
            </a:r>
            <a:r>
              <a:rPr lang="en-CA" sz="1000" dirty="0" smtClean="0">
                <a:latin typeface="Arial"/>
                <a:ea typeface="Calibri"/>
                <a:cs typeface="Times New Roman"/>
              </a:rPr>
              <a:t>.</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674397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The concept of tunneling one protocol inside another might not be familiar to some students. Provide other examples of tunneling to clarify, such as: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Remote Procedure Call (RPC) over HTTP for Outlook</a:t>
            </a:r>
            <a:r>
              <a:rPr lang="en-US" sz="1000" baseline="30000" dirty="0" smtClean="0">
                <a:solidFill>
                  <a:srgbClr val="000000"/>
                </a:solidFill>
                <a:effectLst/>
                <a:latin typeface="Arial"/>
                <a:ea typeface="Times New Roman"/>
                <a:cs typeface="Segoe UI"/>
              </a:rPr>
              <a:t>®</a:t>
            </a:r>
            <a:r>
              <a:rPr lang="en-US" sz="1000" dirty="0" smtClean="0">
                <a:solidFill>
                  <a:srgbClr val="000000"/>
                </a:solidFill>
                <a:effectLst/>
                <a:latin typeface="Arial"/>
                <a:ea typeface="Times New Roman"/>
                <a:cs typeface="Segoe UI"/>
              </a:rPr>
              <a:t> Anywhere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Virtual Private Network (VPN) connections</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211821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lesson content.</a:t>
            </a:r>
          </a:p>
        </p:txBody>
      </p:sp>
      <p:sp>
        <p:nvSpPr>
          <p:cNvPr id="4" name="Slide Number Placeholder 3"/>
          <p:cNvSpPr>
            <a:spLocks noGrp="1"/>
          </p:cNvSpPr>
          <p:nvPr>
            <p:ph type="sldNum" sz="quarter" idx="10"/>
          </p:nvPr>
        </p:nvSpPr>
        <p:spPr/>
        <p:txBody>
          <a:bodyPr/>
          <a:lstStyle/>
          <a:p>
            <a:fld id="{109B1165-8AB6-4FB4-B4AB-19C09BDB711F}" type="slidenum">
              <a:rPr lang="en-CA" smtClean="0"/>
              <a:t>26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737828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Ensure that students understand that ISATAP is suitable only within a private network, and that they cannot use it over the Internet. In the lab, students will configure an ISATAP router to enable communication between an IPv4‑only subnet and an IPv6‑only subnet. Therefore, you must ensure that students understand the purpose of the ISATAP router and the host record.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60484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Stress that the purpose of 6to4 is for IPv6 connectivity over the IPv4 Internet, rather than an internal network. Also, remind students that 6to4 is not suitable for Network Address Translation (NAT). In most cases, they will enable 6to4 on existing network infrastructure components rather than using Windows Server 2012 as a router.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34707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Because Teredo and 6to4 perform a similar function it is essential that students understand the difference between the two. The main benefits of Teredo are its ability to traverse NAT, and the availability of public Teredo servers.</a:t>
            </a:r>
          </a:p>
        </p:txBody>
      </p:sp>
      <p:sp>
        <p:nvSpPr>
          <p:cNvPr id="4" name="Slide Number Placeholder 3"/>
          <p:cNvSpPr>
            <a:spLocks noGrp="1"/>
          </p:cNvSpPr>
          <p:nvPr>
            <p:ph type="sldNum" sz="quarter" idx="10"/>
          </p:nvPr>
        </p:nvSpPr>
        <p:spPr/>
        <p:txBody>
          <a:bodyPr/>
          <a:lstStyle/>
          <a:p>
            <a:fld id="{109B1165-8AB6-4FB4-B4AB-19C09BDB711F}" type="slidenum">
              <a:rPr lang="en-CA" smtClean="0"/>
              <a:t>29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508086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PortProxy has some limitations that you should mention to students, including that:</a:t>
            </a:r>
          </a:p>
          <a:p>
            <a:pPr marL="342900" lvl="0" indent="-342900">
              <a:lnSpc>
                <a:spcPct val="115000"/>
              </a:lnSpc>
              <a:spcAft>
                <a:spcPts val="995"/>
              </a:spcAft>
              <a:buFont typeface="Symbol"/>
              <a:buChar char=""/>
            </a:pPr>
            <a:r>
              <a:rPr lang="en-CA" sz="1000" dirty="0" smtClean="0">
                <a:effectLst/>
                <a:latin typeface="Arial"/>
                <a:ea typeface="Times New Roman"/>
                <a:cs typeface="Times New Roman"/>
              </a:rPr>
              <a:t>PortProxy can proxy only TCP data.</a:t>
            </a:r>
          </a:p>
          <a:p>
            <a:pPr marL="342900" lvl="0" indent="-342900">
              <a:lnSpc>
                <a:spcPct val="115000"/>
              </a:lnSpc>
              <a:spcAft>
                <a:spcPts val="995"/>
              </a:spcAft>
              <a:buFont typeface="Symbol"/>
              <a:buChar char=""/>
            </a:pPr>
            <a:r>
              <a:rPr lang="en-CA" sz="1000" dirty="0" smtClean="0">
                <a:effectLst/>
                <a:latin typeface="Arial"/>
                <a:ea typeface="Times New Roman"/>
                <a:cs typeface="Times New Roman"/>
              </a:rPr>
              <a:t>PortProxy can support only application-layer protocols that do not embed addresses or port information inside the application-layer data. PortProxy cannot change address information at the application level.</a:t>
            </a:r>
          </a:p>
          <a:p>
            <a:pPr>
              <a:lnSpc>
                <a:spcPct val="115000"/>
              </a:lnSpc>
              <a:spcAft>
                <a:spcPts val="1000"/>
              </a:spcAft>
            </a:pPr>
            <a:r>
              <a:rPr lang="en-CA" sz="1000" b="1" dirty="0">
                <a:latin typeface="Arial"/>
                <a:ea typeface="Calibri"/>
                <a:cs typeface="Times New Roman"/>
              </a:rPr>
              <a:t>Additional Reading: </a:t>
            </a:r>
            <a:r>
              <a:rPr lang="en-CA" sz="1000" dirty="0">
                <a:latin typeface="Arial"/>
                <a:ea typeface="Calibri"/>
                <a:cs typeface="Segoe UI"/>
              </a:rPr>
              <a:t>For more information about </a:t>
            </a:r>
            <a:r>
              <a:rPr lang="en-CA" sz="1000" dirty="0">
                <a:latin typeface="Arial"/>
                <a:ea typeface="Calibri"/>
                <a:cs typeface="Times New Roman"/>
              </a:rPr>
              <a:t>IPv6 Transition Technologies,</a:t>
            </a:r>
            <a:r>
              <a:rPr lang="en-CA" sz="1000" dirty="0">
                <a:latin typeface="Arial"/>
                <a:ea typeface="Calibri"/>
                <a:cs typeface="Segoe UI"/>
              </a:rPr>
              <a:t> refer to "IPv6 Transition Technologies" at</a:t>
            </a:r>
            <a:r>
              <a:rPr lang="en-CA" sz="1000" dirty="0">
                <a:latin typeface="Arial"/>
                <a:ea typeface="Calibri"/>
                <a:cs typeface="Times New Roman"/>
              </a:rPr>
              <a:t> </a:t>
            </a:r>
            <a:r>
              <a:rPr lang="en-CA" sz="1000" u="sng" dirty="0">
                <a:latin typeface="Arial"/>
                <a:ea typeface="Calibri"/>
                <a:cs typeface="Segoe UI"/>
                <a:hlinkClick r:id="rId3"/>
              </a:rPr>
              <a:t>http://go.Microsoft.com/fwlink/?LinkID=112079&amp;clcid=0x409</a:t>
            </a:r>
            <a:r>
              <a:rPr lang="en-CA" sz="1000" dirty="0">
                <a:latin typeface="Arial"/>
                <a:ea typeface="Calibri"/>
                <a:cs typeface="Times New Roman"/>
              </a:rPr>
              <a:t>.</a:t>
            </a:r>
          </a:p>
        </p:txBody>
      </p:sp>
      <p:sp>
        <p:nvSpPr>
          <p:cNvPr id="4" name="Slide Number Placeholder 3"/>
          <p:cNvSpPr>
            <a:spLocks noGrp="1"/>
          </p:cNvSpPr>
          <p:nvPr>
            <p:ph type="sldNum" sz="quarter" idx="10"/>
          </p:nvPr>
        </p:nvSpPr>
        <p:spPr/>
        <p:txBody>
          <a:bodyPr/>
          <a:lstStyle/>
          <a:p>
            <a:fld id="{109B1165-8AB6-4FB4-B4AB-19C09BDB711F}" type="slidenum">
              <a:rPr lang="en-CA" smtClean="0"/>
              <a:t>30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987347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Stress to students that most organizations add IPv6 to a functional IPv4 environment, and remove IPv4 only when they no longer need it. Organizations most likely will continue to use IPv4 internally for an extended time.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745733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Before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p>
          <a:p>
            <a:pPr>
              <a:lnSpc>
                <a:spcPct val="115000"/>
              </a:lnSpc>
              <a:spcAft>
                <a:spcPts val="1000"/>
              </a:spcAft>
            </a:pPr>
            <a:r>
              <a:rPr lang="en-CA" sz="1000" b="1" dirty="0">
                <a:solidFill>
                  <a:srgbClr val="000000"/>
                </a:solidFill>
                <a:latin typeface="Arial"/>
                <a:ea typeface="Calibri"/>
                <a:cs typeface="Segoe UI"/>
              </a:rPr>
              <a:t>Exercise 1: Configuring an IPv6 Network</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Times New Roman"/>
              </a:rPr>
              <a:t>For the first step in configuring the test lab, you need to configure LON‑DC1 as an IPv4‑only node, and LON‑SVR2 as an IPv6‑only node. You also need to configure LON‑RTR to support IPv6 routing by adding a network to an interface on the IPv6 network, and by enabling router advertisements. The router advertisements allow the IPv6 clients on the IPv6 network to obtain the correct IPv6 network automatically through stateless configuration.</a:t>
            </a:r>
          </a:p>
          <a:p>
            <a:pPr>
              <a:lnSpc>
                <a:spcPct val="115000"/>
              </a:lnSpc>
              <a:spcAft>
                <a:spcPts val="1000"/>
              </a:spcAft>
            </a:pPr>
            <a:r>
              <a:rPr lang="en-CA" sz="1000" b="1" dirty="0">
                <a:solidFill>
                  <a:srgbClr val="000000"/>
                </a:solidFill>
                <a:latin typeface="Arial"/>
                <a:ea typeface="Calibri"/>
                <a:cs typeface="Segoe UI"/>
              </a:rPr>
              <a:t>Exercise 2: Configuring an ISATAP Router</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After configuring the infrastructure for an IPv4‑only network and an IPv6‑only network, you need to configure LON‑RTR as an ISATAP router to support communication between the IPv4‑only nodes and the IPv6‑only nodes.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configure LON‑RTR as an ISATAP router, you need to enable the IPv4 interface as the ISATAP router. Then you configure an IPv6 network on the ISATAP interface and enable advertising of the network route that includes that network. ISATAP clients will obtain the IPv6 network automatically from the advertisements.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enable ISATAP automatically on clients, you need to create an ISATAP host record in DNS. Clients that can resolve this name automatically become ISATAP clients. To allow clients to resolve this name, you must remove ISATAP from the global query block list on the DNS server.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099812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445061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378258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panose="020B0604020202020204" pitchFamily="34" charset="0"/>
                <a:ea typeface="Calibri"/>
                <a:cs typeface="Arial" panose="020B0604020202020204" pitchFamily="34" charset="0"/>
              </a:rPr>
              <a:t>Lab</a:t>
            </a:r>
            <a:r>
              <a:rPr lang="en-CA" sz="1000" b="1" dirty="0">
                <a:latin typeface="Arial" panose="020B0604020202020204" pitchFamily="34" charset="0"/>
                <a:cs typeface="Arial" panose="020B0604020202020204" pitchFamily="34" charset="0"/>
              </a:rPr>
              <a:t> Review </a:t>
            </a:r>
            <a:r>
              <a:rPr lang="en-CA" sz="1000" b="1" dirty="0" smtClean="0">
                <a:latin typeface="Arial" panose="020B0604020202020204" pitchFamily="34" charset="0"/>
                <a:cs typeface="Arial" panose="020B0604020202020204" pitchFamily="34" charset="0"/>
              </a:rPr>
              <a:t>Questions</a:t>
            </a: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Did you configure IPv6 statically or dynamically in this lab?</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configured IPv6 dynamically in this lab. You added both IPv6 networks to the router, and router advertisements configured LON‑DC1 and LON‑SVR2 with the correct network address.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Why did you not need to configure LON-DC1 with the IPv4 address of the ISATAP router?</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default configuration for Windows client operating systems is set to resolve ISATAP by using DNS to locate the IPv4 address of the ISATAP router. LON‑DC1 used the default configuration.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1253987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267744"/>
            <a:ext cx="6153912" cy="5904656"/>
          </a:xfrm>
        </p:spPr>
        <p:txBody>
          <a:bodyPr>
            <a:noAutofit/>
          </a:bodyPr>
          <a:lstStyle/>
          <a:p>
            <a:pPr>
              <a:lnSpc>
                <a:spcPct val="115000"/>
              </a:lnSpc>
              <a:spcAft>
                <a:spcPts val="600"/>
              </a:spcAft>
            </a:pPr>
            <a:r>
              <a:rPr lang="en-CA" sz="1000" b="1" dirty="0" smtClean="0">
                <a:latin typeface="Arial"/>
                <a:ea typeface="Calibri"/>
                <a:cs typeface="Times New Roman"/>
              </a:rPr>
              <a:t>Module Review Questions</a:t>
            </a:r>
            <a:endParaRPr lang="en-CA" sz="1000" dirty="0">
              <a:latin typeface="Arial"/>
              <a:ea typeface="Calibri"/>
              <a:cs typeface="Times New Roman"/>
            </a:endParaRPr>
          </a:p>
          <a:p>
            <a:pPr>
              <a:lnSpc>
                <a:spcPct val="115000"/>
              </a:lnSpc>
              <a:spcAft>
                <a:spcPts val="700"/>
              </a:spcAft>
            </a:pPr>
            <a:r>
              <a:rPr lang="en-CA" sz="1000" dirty="0">
                <a:latin typeface="Arial"/>
                <a:ea typeface="Calibri"/>
                <a:cs typeface="Times New Roman"/>
              </a:rPr>
              <a:t>Point students to the appropriate section in the course so that they are able to answer the questions that this section </a:t>
            </a:r>
            <a:r>
              <a:rPr lang="en-CA" sz="1000" dirty="0" smtClean="0">
                <a:latin typeface="Arial"/>
                <a:ea typeface="Calibri"/>
                <a:cs typeface="Times New Roman"/>
              </a:rPr>
              <a:t>presents.</a:t>
            </a:r>
          </a:p>
          <a:p>
            <a:pPr>
              <a:lnSpc>
                <a:spcPct val="115000"/>
              </a:lnSpc>
              <a:spcAft>
                <a:spcPts val="7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is the main difference between 6to4 and Teredo?</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Both protocols allow IPv6 connectivity over the IPv4 Internet. However, only Teredo is able to provide connectivity through NAT.</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can you provide a DNS server to an IPv6 host dynamically?</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provide a DNS server to an IPv6 host dynamically, you must use DHCPv6. You can use router advertisements to provide the network portion of an IPv6 address, but router advertisements cannot distribute DNS server IP addresses.</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Your organization is planning to implement IPv6 internally. After some research, you have identified unique local IPv6 addresses as the correct type of IPv6 addresses to use for private networking. To use unique local IPv6 addresses, you must select a 40‑bit identifier that is part of the network. A colleague suggests using all zeros for the 40 bits. Why is this not a good idea?</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40‑bit organization identifier in a unique local IPv6 address should be generated randomly. This makes it as likely as possible that no two organizations will use the same organization identifier. If two organizations use the same organization identifier, then the networks cannot be joined together after a merger.</a:t>
            </a:r>
            <a:endParaRPr lang="en-CA" sz="1000" dirty="0">
              <a:latin typeface="Arial"/>
              <a:ea typeface="Calibri"/>
              <a:cs typeface="Times New Roman"/>
            </a:endParaRPr>
          </a:p>
          <a:p>
            <a:pPr>
              <a:lnSpc>
                <a:spcPct val="115000"/>
              </a:lnSpc>
              <a:spcAft>
                <a:spcPts val="1000"/>
              </a:spcAft>
            </a:pPr>
            <a:endParaRPr lang="en-CA" sz="1000" dirty="0">
              <a:latin typeface="Arial"/>
              <a:ea typeface="Calibri"/>
              <a:cs typeface="Times New Roman"/>
            </a:endParaRPr>
          </a:p>
          <a:p>
            <a:pPr>
              <a:lnSpc>
                <a:spcPct val="115000"/>
              </a:lnSpc>
              <a:spcAft>
                <a:spcPts val="10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649771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216472"/>
            <a:ext cx="6153912" cy="6315968"/>
          </a:xfrm>
        </p:spPr>
        <p:txBody>
          <a:bodyPr>
            <a:noAutofit/>
          </a:bodyPr>
          <a:lstStyle/>
          <a:p>
            <a:pPr>
              <a:lnSpc>
                <a:spcPct val="115000"/>
              </a:lnSpc>
              <a:spcAft>
                <a:spcPts val="7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many IPv6 addresses should be configured on an IPv6 node?</a:t>
            </a:r>
          </a:p>
          <a:p>
            <a:pPr lvl="0">
              <a:lnSpc>
                <a:spcPct val="115000"/>
              </a:lnSpc>
              <a:spcAft>
                <a:spcPts val="700"/>
              </a:spcAft>
            </a:pPr>
            <a:r>
              <a:rPr lang="en-CA" sz="1000" b="1" dirty="0">
                <a:solidFill>
                  <a:prstClr val="black"/>
                </a:solidFill>
                <a:latin typeface="Arial"/>
                <a:ea typeface="Calibri"/>
                <a:cs typeface="Times New Roman"/>
              </a:rPr>
              <a:t>Answer</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There is no specific number of IPv6 addresses that an IPv6 node should have. It depends on the organization’s configuration. Each IPv6 node has a link‑local IPv6 address. Additionally, it also may have a unique local IPv6 address for internal connectivity and a global unicast IPv6 address for IPv6 Internet connectivity.</a:t>
            </a:r>
            <a:endParaRPr lang="en-CA" sz="1000" dirty="0">
              <a:solidFill>
                <a:prstClr val="black"/>
              </a:solidFill>
              <a:latin typeface="Arial"/>
              <a:ea typeface="Calibri"/>
              <a:cs typeface="Times New Roman"/>
            </a:endParaRPr>
          </a:p>
          <a:p>
            <a:pPr lvl="0">
              <a:lnSpc>
                <a:spcPct val="115000"/>
              </a:lnSpc>
              <a:spcAft>
                <a:spcPts val="1000"/>
              </a:spcAft>
            </a:pPr>
            <a:endParaRPr lang="en-CA" sz="1000" b="1" dirty="0">
              <a:solidFill>
                <a:prstClr val="black"/>
              </a:solidFill>
              <a:latin typeface="Arial"/>
              <a:ea typeface="Calibri"/>
              <a:cs typeface="Times New Roman"/>
            </a:endParaRPr>
          </a:p>
          <a:p>
            <a:pPr lvl="0">
              <a:lnSpc>
                <a:spcPct val="115000"/>
              </a:lnSpc>
              <a:spcAft>
                <a:spcPts val="1000"/>
              </a:spcAft>
            </a:pPr>
            <a:r>
              <a:rPr lang="en-CA" sz="1000" b="1" dirty="0" smtClean="0">
                <a:solidFill>
                  <a:prstClr val="black"/>
                </a:solidFill>
                <a:latin typeface="Arial"/>
                <a:ea typeface="Calibri"/>
                <a:cs typeface="Times New Roman"/>
              </a:rPr>
              <a:t>Best Practices</a:t>
            </a:r>
          </a:p>
          <a:p>
            <a:pPr lvl="0">
              <a:lnSpc>
                <a:spcPct val="115000"/>
              </a:lnSpc>
              <a:spcAft>
                <a:spcPts val="1000"/>
              </a:spcAft>
            </a:pPr>
            <a:r>
              <a:rPr lang="en-CA" sz="1000" dirty="0" smtClean="0">
                <a:solidFill>
                  <a:prstClr val="black"/>
                </a:solidFill>
                <a:latin typeface="Arial"/>
                <a:ea typeface="Calibri"/>
                <a:cs typeface="Segoe UI"/>
              </a:rPr>
              <a:t>Use </a:t>
            </a:r>
            <a:r>
              <a:rPr lang="en-CA" sz="1000" dirty="0">
                <a:solidFill>
                  <a:prstClr val="black"/>
                </a:solidFill>
                <a:latin typeface="Arial"/>
                <a:ea typeface="Calibri"/>
                <a:cs typeface="Segoe UI"/>
              </a:rPr>
              <a:t>the following best practices when implementing IPv6:</a:t>
            </a:r>
            <a:endParaRPr lang="en-CA" sz="1000" dirty="0">
              <a:solidFill>
                <a:prstClr val="black"/>
              </a:solidFill>
              <a:latin typeface="Arial"/>
              <a:ea typeface="Calibri"/>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Do not disable IPv6 on Windows 8 or Windows Server 2012.</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Enable coexistence of IPv4 and IPv6 in your organization rather than using transition technologies.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unique local IPv6 addresses on your internal network.</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Teredo to implement IPv6 connectivity over the IPv4 Internet.</a:t>
            </a:r>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3952699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74257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emf"/><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8</a:t>
            </a:r>
            <a:endParaRPr lang="en-CA" sz="2600" dirty="0"/>
          </a:p>
        </p:txBody>
      </p:sp>
      <p:sp>
        <p:nvSpPr>
          <p:cNvPr id="3" name="Subtitle 2"/>
          <p:cNvSpPr>
            <a:spLocks noGrp="1"/>
          </p:cNvSpPr>
          <p:nvPr>
            <p:ph type="subTitle" sz="quarter" idx="1"/>
          </p:nvPr>
        </p:nvSpPr>
        <p:spPr/>
        <p:txBody>
          <a:bodyPr/>
          <a:lstStyle/>
          <a:p>
            <a:r>
              <a:rPr lang="en-CA" dirty="0" smtClean="0"/>
              <a:t>Implementing IPv6
</a:t>
            </a:r>
            <a:endParaRPr lang="en-CA" dirty="0"/>
          </a:p>
        </p:txBody>
      </p:sp>
    </p:spTree>
    <p:extLst>
      <p:ext uri="{BB962C8B-B14F-4D97-AF65-F5344CB8AC3E}">
        <p14:creationId xmlns:p14="http://schemas.microsoft.com/office/powerpoint/2010/main" val="3472254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Overview of IPv6
IPv6 Addressing
Coexistence with IPv4
IPv6 Transition Technologies</a:t>
            </a:r>
            <a:endParaRPr lang="en-CA" dirty="0"/>
          </a:p>
        </p:txBody>
      </p:sp>
    </p:spTree>
    <p:extLst>
      <p:ext uri="{BB962C8B-B14F-4D97-AF65-F5344CB8AC3E}">
        <p14:creationId xmlns:p14="http://schemas.microsoft.com/office/powerpoint/2010/main" val="320060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Overview of IPv6</a:t>
            </a:r>
            <a:endParaRPr lang="en-CA" dirty="0"/>
          </a:p>
        </p:txBody>
      </p:sp>
      <p:sp>
        <p:nvSpPr>
          <p:cNvPr id="3" name="Text Placeholder 2"/>
          <p:cNvSpPr>
            <a:spLocks noGrp="1"/>
          </p:cNvSpPr>
          <p:nvPr>
            <p:ph type="body" idx="1"/>
          </p:nvPr>
        </p:nvSpPr>
        <p:spPr/>
        <p:txBody>
          <a:bodyPr/>
          <a:lstStyle/>
          <a:p>
            <a:r>
              <a:rPr lang="en-CA" dirty="0" smtClean="0"/>
              <a:t>Benefits of IPv6
Differences Between IPv4 and IPv6
IPv6 Address Format</a:t>
            </a:r>
            <a:endParaRPr lang="en-CA" dirty="0"/>
          </a:p>
        </p:txBody>
      </p:sp>
    </p:spTree>
    <p:extLst>
      <p:ext uri="{BB962C8B-B14F-4D97-AF65-F5344CB8AC3E}">
        <p14:creationId xmlns:p14="http://schemas.microsoft.com/office/powerpoint/2010/main" val="735807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Benefits of IPv6</a:t>
            </a:r>
            <a:endParaRPr lang="en-CA" dirty="0"/>
          </a:p>
        </p:txBody>
      </p:sp>
      <p:sp>
        <p:nvSpPr>
          <p:cNvPr id="4" name="Content Placeholder 2"/>
          <p:cNvSpPr>
            <a:spLocks noGrp="1"/>
          </p:cNvSpPr>
          <p:nvPr/>
        </p:nvSpPr>
        <p:spPr bwMode="auto">
          <a:xfrm>
            <a:off x="489201" y="1021215"/>
            <a:ext cx="8180665"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600" dirty="0" smtClean="0"/>
              <a:t>Benefits of IPv6 include:</a:t>
            </a:r>
          </a:p>
          <a:p>
            <a:r>
              <a:rPr lang="en-US" sz="2600" dirty="0" smtClean="0"/>
              <a:t>Larger address space</a:t>
            </a:r>
          </a:p>
          <a:p>
            <a:r>
              <a:rPr lang="en-US" sz="2600" dirty="0" smtClean="0"/>
              <a:t>Hierarchical addressing and routing infrastructure</a:t>
            </a:r>
          </a:p>
          <a:p>
            <a:r>
              <a:rPr lang="en-US" sz="2600" dirty="0" smtClean="0"/>
              <a:t>Stateless and stateful address configuration</a:t>
            </a:r>
          </a:p>
          <a:p>
            <a:r>
              <a:rPr lang="en-US" sz="2600" dirty="0" smtClean="0"/>
              <a:t>Required support for IPsec</a:t>
            </a:r>
          </a:p>
          <a:p>
            <a:r>
              <a:rPr lang="en-US" sz="2600" dirty="0" smtClean="0"/>
              <a:t>End-to-end communication</a:t>
            </a:r>
          </a:p>
          <a:p>
            <a:r>
              <a:rPr lang="en-US" sz="2600" dirty="0" smtClean="0"/>
              <a:t>Required support for QoS</a:t>
            </a:r>
          </a:p>
          <a:p>
            <a:r>
              <a:rPr lang="en-US" sz="2600" dirty="0" smtClean="0"/>
              <a:t>Improved support for single-subnet environments</a:t>
            </a:r>
          </a:p>
          <a:p>
            <a:r>
              <a:rPr lang="en-US" sz="2600" dirty="0" smtClean="0"/>
              <a:t>Extensibility</a:t>
            </a:r>
          </a:p>
          <a:p>
            <a:endParaRPr lang="en-US" dirty="0"/>
          </a:p>
        </p:txBody>
      </p:sp>
    </p:spTree>
    <p:extLst>
      <p:ext uri="{BB962C8B-B14F-4D97-AF65-F5344CB8AC3E}">
        <p14:creationId xmlns:p14="http://schemas.microsoft.com/office/powerpoint/2010/main" val="4116069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Differences Between IPv4 and IPv6</a:t>
            </a:r>
            <a:endParaRPr lang="en-CA" dirty="0"/>
          </a:p>
        </p:txBody>
      </p:sp>
      <p:sp>
        <p:nvSpPr>
          <p:cNvPr id="4" name="Rectangle 3" descr="&quot;&quot;"/>
          <p:cNvSpPr/>
          <p:nvPr/>
        </p:nvSpPr>
        <p:spPr bwMode="auto">
          <a:xfrm>
            <a:off x="6855231" y="1723763"/>
            <a:ext cx="1432909" cy="1398716"/>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en-CA" sz="1000" b="0" u="none" cap="none" normalizeH="0" dirty="0" smtClean="0">
                <a:ln>
                  <a:noFill/>
                </a:ln>
                <a:solidFill>
                  <a:schemeClr val="tx1"/>
                </a:solidFill>
                <a:latin typeface="Segoe UI" pitchFamily="34" charset="0"/>
              </a:rPr>
              <a:t>Placeholder</a:t>
            </a:r>
            <a:r>
              <a:rPr kumimoji="0" lang="en-CA" sz="1000" b="0" u="none" cap="none" normalizeH="0" dirty="0" smtClean="0">
                <a:ln>
                  <a:noFill/>
                </a:ln>
                <a:solidFill>
                  <a:schemeClr val="tx1"/>
                </a:solidFill>
                <a:effectLst>
                  <a:outerShdw blurRad="38100" dist="38100" dir="2700000" algn="tl">
                    <a:srgbClr val="000000">
                      <a:alpha val="43137"/>
                    </a:srgbClr>
                  </a:outerShdw>
                </a:effectLst>
                <a:latin typeface="Segoe UI" pitchFamily="34" charset="0"/>
              </a:rPr>
              <a:t> </a:t>
            </a:r>
            <a:r>
              <a:rPr kumimoji="0" lang="en-CA" sz="1000" b="0" u="none" cap="none" normalizeH="0" dirty="0" smtClean="0">
                <a:ln>
                  <a:noFill/>
                </a:ln>
                <a:solidFill>
                  <a:schemeClr val="tx1"/>
                </a:solidFill>
                <a:latin typeface="Segoe UI" pitchFamily="34" charset="0"/>
              </a:rPr>
              <a:t>to ensure the table gets published correctly. This should sit </a:t>
            </a:r>
            <a:r>
              <a:rPr kumimoji="0" lang="en-CA" sz="1000" u="none" cap="none" normalizeH="0" dirty="0" smtClean="0">
                <a:ln>
                  <a:noFill/>
                </a:ln>
                <a:solidFill>
                  <a:schemeClr val="tx1"/>
                </a:solidFill>
                <a:latin typeface="Segoe UI" pitchFamily="34" charset="0"/>
              </a:rPr>
              <a:t>behind</a:t>
            </a:r>
            <a:r>
              <a:rPr kumimoji="0" lang="en-CA" sz="1000" b="0" u="none" cap="none" normalizeH="0" dirty="0" smtClean="0">
                <a:ln>
                  <a:noFill/>
                </a:ln>
                <a:solidFill>
                  <a:schemeClr val="tx1"/>
                </a:solidFill>
                <a:latin typeface="Segoe UI" pitchFamily="34" charset="0"/>
              </a:rPr>
              <a:t> the table and </a:t>
            </a:r>
            <a:r>
              <a:rPr kumimoji="0" lang="en-CA" sz="1000" u="none" cap="none" normalizeH="0" dirty="0" smtClean="0">
                <a:ln>
                  <a:noFill/>
                </a:ln>
                <a:solidFill>
                  <a:schemeClr val="tx1"/>
                </a:solidFill>
                <a:latin typeface="Segoe UI" pitchFamily="34" charset="0"/>
              </a:rPr>
              <a:t>not be visible</a:t>
            </a:r>
            <a:r>
              <a:rPr kumimoji="0" lang="en-CA" sz="1000" b="0" u="none" cap="none" normalizeH="0" dirty="0" smtClean="0">
                <a:ln>
                  <a:noFill/>
                </a:ln>
                <a:solidFill>
                  <a:schemeClr val="tx1"/>
                </a:solidFill>
                <a:latin typeface="Segoe UI" pitchFamily="34" charset="0"/>
              </a:rPr>
              <a:t>.</a:t>
            </a:r>
          </a:p>
        </p:txBody>
      </p:sp>
      <p:graphicFrame>
        <p:nvGraphicFramePr>
          <p:cNvPr id="5" name="table"/>
          <p:cNvGraphicFramePr>
            <a:graphicFrameLocks/>
          </p:cNvGraphicFramePr>
          <p:nvPr>
            <p:extLst>
              <p:ext uri="{D42A27DB-BD31-4B8C-83A1-F6EECF244321}">
                <p14:modId xmlns:p14="http://schemas.microsoft.com/office/powerpoint/2010/main" val="3273820355"/>
              </p:ext>
            </p:extLst>
          </p:nvPr>
        </p:nvGraphicFramePr>
        <p:xfrm>
          <a:off x="377903" y="905473"/>
          <a:ext cx="8308897" cy="5367815"/>
        </p:xfrm>
        <a:graphic>
          <a:graphicData uri="http://schemas.openxmlformats.org/drawingml/2006/table">
            <a:tbl>
              <a:tblPr>
                <a:tableStyleId>{21E4AEA4-8DFA-4A89-87EB-49C32662AFE0}</a:tableStyleId>
              </a:tblPr>
              <a:tblGrid>
                <a:gridCol w="2407493"/>
                <a:gridCol w="2693357"/>
                <a:gridCol w="3208047"/>
              </a:tblGrid>
              <a:tr h="579311">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Feature</a:t>
                      </a:r>
                    </a:p>
                  </a:txBody>
                  <a:tcPr marL="72000" marR="36000" marT="54000" marB="54000" anchor="ctr" horzOverflow="overflow"/>
                </a:tc>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IPv4</a:t>
                      </a:r>
                    </a:p>
                  </a:txBody>
                  <a:tcPr marL="72000" marR="72000" marT="54000" marB="54000" anchor="ctr" horzOverflow="overflow"/>
                </a:tc>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IPv6</a:t>
                      </a:r>
                    </a:p>
                  </a:txBody>
                  <a:tcPr marL="72000" marR="72000" marT="54000" marB="54000" anchor="ctr" horzOverflow="overflow"/>
                </a:tc>
              </a:tr>
              <a:tr h="377440">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Fragmentation</a:t>
                      </a: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Performed by routers and sending host</a:t>
                      </a: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Performed only by sending host</a:t>
                      </a:r>
                    </a:p>
                  </a:txBody>
                  <a:tcPr marL="72000" marR="72000" marT="54000" marB="54000" anchor="ctr" horzOverflow="overflow"/>
                </a:tc>
              </a:tr>
              <a:tr h="447169">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Address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resolution</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Broadcast ARP request frames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Multicast Neighbor Solicitation messages </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r>
              <a:tr h="447169">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Manage multicast group membership</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 IGMP</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Multicast listener discovery</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r>
              <a:tr h="621679">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Router discovery </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ICMP Router Discovery (optional)</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ICMPv6 Router Solicitation and Router Advertisement (required)</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r>
              <a:tr h="337111">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DNS host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AAAA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r>
              <a:tr h="447169">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DNS reverse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lookup zones</a:t>
                      </a: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IN-ADDR.ARPA</a:t>
                      </a: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IP6.ARPA</a:t>
                      </a:r>
                    </a:p>
                  </a:txBody>
                  <a:tcPr marL="72000" marR="72000" marT="54000" marB="54000" anchor="ctr" horzOverflow="overflow">
                    <a:solidFill>
                      <a:schemeClr val="bg1"/>
                    </a:solidFill>
                  </a:tcPr>
                </a:tc>
              </a:tr>
              <a:tr h="524975">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Minimum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packet size</a:t>
                      </a: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576 bytes</a:t>
                      </a: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1280 bytes</a:t>
                      </a:r>
                    </a:p>
                  </a:txBody>
                  <a:tcPr marL="72000" marR="72000" marT="54000" marB="54000" anchor="ctr" horzOverflow="overflow"/>
                </a:tc>
              </a:tr>
            </a:tbl>
          </a:graphicData>
        </a:graphic>
      </p:graphicFrame>
    </p:spTree>
    <p:extLst>
      <p:ext uri="{BB962C8B-B14F-4D97-AF65-F5344CB8AC3E}">
        <p14:creationId xmlns:p14="http://schemas.microsoft.com/office/powerpoint/2010/main" val="2339069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sp>
        <p:nvSpPr>
          <p:cNvPr id="4" name="alt text here.   main text box" descr="This is the firstof five frames on a build slide.&#10;It shows the example from the text laid out in four rows.&#10;The first row is the 128-bit address in binary.&#10;The second row is the 128-bit address divided into eight 16-bit blocks.&#10;The third row is the 16-bit blocks converted to HEX (base 16).&#10;The fourth row is further simplified by removing leading zeros.&#10;There are no animated graphics on this frame.&#10;"/>
          <p:cNvSpPr>
            <a:spLocks noChangeArrowheads="1"/>
          </p:cNvSpPr>
          <p:nvPr/>
        </p:nvSpPr>
        <p:spPr bwMode="auto">
          <a:xfrm>
            <a:off x="385947" y="810836"/>
            <a:ext cx="8252276" cy="5535070"/>
          </a:xfrm>
          <a:prstGeom prst="roundRect">
            <a:avLst>
              <a:gd name="adj" fmla="val 4167"/>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0" tIns="0" rIns="0" bIns="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266700" indent="-266700" algn="l">
              <a:buClr>
                <a:srgbClr val="006699"/>
              </a:buClr>
              <a:buFontTx/>
              <a:buChar char="•"/>
            </a:pPr>
            <a:r>
              <a:rPr lang="en-US" sz="2400" b="0" dirty="0">
                <a:solidFill>
                  <a:schemeClr val="accent4"/>
                </a:solidFill>
                <a:latin typeface="Segoe UI" pitchFamily="34" charset="0"/>
                <a:ea typeface="Segoe UI" pitchFamily="34" charset="0"/>
                <a:cs typeface="Segoe UI" pitchFamily="34" charset="0"/>
              </a:rPr>
              <a:t>128-bit address in binary:</a:t>
            </a:r>
          </a:p>
          <a:p>
            <a:pPr marL="266700" lvl="1">
              <a:lnSpc>
                <a:spcPct val="90000"/>
              </a:lnSpc>
              <a:buClr>
                <a:srgbClr val="006699"/>
              </a:buClr>
            </a:pPr>
            <a:r>
              <a:rPr lang="en-US" sz="2400" b="1" dirty="0">
                <a:solidFill>
                  <a:schemeClr val="accent4"/>
                </a:solidFill>
                <a:latin typeface="Segoe UI" pitchFamily="34" charset="0"/>
                <a:ea typeface="Segoe UI" pitchFamily="34" charset="0"/>
                <a:cs typeface="Segoe UI" pitchFamily="34" charset="0"/>
              </a:rPr>
              <a:t>00100000000000010000110110111000000000000000000000101111001110110000001010101010000000001111111111111110001010001001110001011010</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128-bit </a:t>
            </a:r>
            <a:r>
              <a:rPr lang="en-US" sz="2400" b="0" dirty="0">
                <a:solidFill>
                  <a:schemeClr val="accent4"/>
                </a:solidFill>
                <a:latin typeface="Segoe UI" pitchFamily="34" charset="0"/>
                <a:ea typeface="Segoe UI" pitchFamily="34" charset="0"/>
                <a:cs typeface="Segoe UI" pitchFamily="34" charset="0"/>
              </a:rPr>
              <a:t>address divided into </a:t>
            </a:r>
            <a:r>
              <a:rPr lang="en-US" sz="2400" b="0" dirty="0" smtClean="0">
                <a:solidFill>
                  <a:schemeClr val="accent4"/>
                </a:solidFill>
                <a:latin typeface="Segoe UI" pitchFamily="34" charset="0"/>
                <a:ea typeface="Segoe UI" pitchFamily="34" charset="0"/>
                <a:cs typeface="Segoe UI" pitchFamily="34" charset="0"/>
              </a:rPr>
              <a:t>16-bit blocks:</a:t>
            </a:r>
            <a:endParaRPr lang="en-US" sz="2400" b="0" dirty="0">
              <a:solidFill>
                <a:schemeClr val="accent4"/>
              </a:solidFill>
              <a:latin typeface="Segoe UI" pitchFamily="34" charset="0"/>
              <a:ea typeface="Segoe UI" pitchFamily="34" charset="0"/>
              <a:cs typeface="Segoe UI" pitchFamily="34" charset="0"/>
            </a:endParaRP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0010000000000001</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00B050"/>
                </a:solidFill>
                <a:latin typeface="Segoe UI" pitchFamily="34" charset="0"/>
                <a:ea typeface="Segoe UI" pitchFamily="34" charset="0"/>
                <a:cs typeface="Segoe UI" pitchFamily="34" charset="0"/>
              </a:rPr>
              <a:t>0000110110111000</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FFC000"/>
                </a:solidFill>
                <a:latin typeface="Segoe UI" pitchFamily="34" charset="0"/>
                <a:ea typeface="Segoe UI" pitchFamily="34" charset="0"/>
                <a:cs typeface="Segoe UI" pitchFamily="34" charset="0"/>
              </a:rPr>
              <a:t>0000000000000000</a:t>
            </a:r>
            <a:r>
              <a:rPr lang="en-US" sz="2600" b="1" spc="120" dirty="0" smtClean="0">
                <a:latin typeface="Segoe UI" pitchFamily="34" charset="0"/>
                <a:ea typeface="Segoe UI" pitchFamily="34" charset="0"/>
                <a:cs typeface="Segoe UI" pitchFamily="34" charset="0"/>
              </a:rPr>
              <a:t> </a:t>
            </a:r>
            <a:r>
              <a:rPr lang="en-US" sz="2600" b="1" spc="120" dirty="0">
                <a:solidFill>
                  <a:srgbClr val="FF33CC"/>
                </a:solidFill>
                <a:latin typeface="Segoe UI" pitchFamily="34" charset="0"/>
                <a:ea typeface="Segoe UI" pitchFamily="34" charset="0"/>
                <a:cs typeface="Segoe UI" pitchFamily="34" charset="0"/>
              </a:rPr>
              <a:t>0010111100111011</a:t>
            </a:r>
            <a:r>
              <a:rPr lang="en-US" sz="2600" b="1" spc="120" dirty="0">
                <a:latin typeface="Segoe UI" pitchFamily="34" charset="0"/>
                <a:ea typeface="Segoe UI" pitchFamily="34" charset="0"/>
                <a:cs typeface="Segoe UI" pitchFamily="34" charset="0"/>
              </a:rPr>
              <a:t>   </a:t>
            </a:r>
            <a:r>
              <a:rPr lang="en-US" sz="2600" b="1" spc="120" dirty="0" smtClean="0">
                <a:solidFill>
                  <a:schemeClr val="accent4"/>
                </a:solidFill>
                <a:latin typeface="Segoe UI" pitchFamily="34" charset="0"/>
                <a:ea typeface="Segoe UI" pitchFamily="34" charset="0"/>
                <a:cs typeface="Segoe UI" pitchFamily="34" charset="0"/>
              </a:rPr>
              <a:t>0000001010101010 </a:t>
            </a:r>
            <a:r>
              <a:rPr lang="en-US" sz="2600" b="1" spc="120" dirty="0">
                <a:solidFill>
                  <a:schemeClr val="accent4"/>
                </a:solidFill>
                <a:latin typeface="Segoe UI" pitchFamily="34" charset="0"/>
                <a:ea typeface="Segoe UI" pitchFamily="34" charset="0"/>
                <a:cs typeface="Segoe UI" pitchFamily="34" charset="0"/>
              </a:rPr>
              <a:t>0000000011111111   </a:t>
            </a:r>
            <a:r>
              <a:rPr lang="en-US" sz="2600" b="1" spc="120" dirty="0" smtClean="0">
                <a:solidFill>
                  <a:schemeClr val="accent4"/>
                </a:solidFill>
                <a:latin typeface="Segoe UI" pitchFamily="34" charset="0"/>
                <a:ea typeface="Segoe UI" pitchFamily="34" charset="0"/>
                <a:cs typeface="Segoe UI" pitchFamily="34" charset="0"/>
              </a:rPr>
              <a:t>1111111000101000 </a:t>
            </a:r>
            <a:r>
              <a:rPr lang="en-US" sz="2600" b="1" spc="120" dirty="0">
                <a:solidFill>
                  <a:schemeClr val="accent4"/>
                </a:solidFill>
                <a:latin typeface="Segoe UI" pitchFamily="34" charset="0"/>
                <a:ea typeface="Segoe UI" pitchFamily="34" charset="0"/>
                <a:cs typeface="Segoe UI" pitchFamily="34" charset="0"/>
              </a:rPr>
              <a:t>1001110001011010 </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Each 16-bit block </a:t>
            </a:r>
            <a:r>
              <a:rPr lang="en-US" sz="2400" b="0" dirty="0">
                <a:solidFill>
                  <a:schemeClr val="accent4"/>
                </a:solidFill>
                <a:latin typeface="Segoe UI" pitchFamily="34" charset="0"/>
                <a:ea typeface="Segoe UI" pitchFamily="34" charset="0"/>
                <a:cs typeface="Segoe UI" pitchFamily="34" charset="0"/>
              </a:rPr>
              <a:t>converted to </a:t>
            </a:r>
            <a:r>
              <a:rPr lang="en-US" sz="2400" b="0" dirty="0" smtClean="0">
                <a:solidFill>
                  <a:schemeClr val="accent4"/>
                </a:solidFill>
                <a:latin typeface="Segoe UI" pitchFamily="34" charset="0"/>
                <a:ea typeface="Segoe UI" pitchFamily="34" charset="0"/>
                <a:cs typeface="Segoe UI" pitchFamily="34" charset="0"/>
              </a:rPr>
              <a:t>hex </a:t>
            </a:r>
            <a:r>
              <a:rPr lang="en-US" sz="2400" b="0" dirty="0">
                <a:solidFill>
                  <a:schemeClr val="accent4"/>
                </a:solidFill>
                <a:latin typeface="Segoe UI" pitchFamily="34" charset="0"/>
                <a:ea typeface="Segoe UI" pitchFamily="34" charset="0"/>
                <a:cs typeface="Segoe UI" pitchFamily="34" charset="0"/>
              </a:rPr>
              <a:t>(base 16):</a:t>
            </a:r>
          </a:p>
          <a:p>
            <a:pPr marL="266700">
              <a:buClr>
                <a:srgbClr val="006699"/>
              </a:buClr>
            </a:pPr>
            <a:r>
              <a:rPr lang="en-US" sz="2600" b="1" spc="120" dirty="0">
                <a:solidFill>
                  <a:srgbClr val="FF0000"/>
                </a:solidFill>
                <a:latin typeface="Segoe UI" pitchFamily="34" charset="0"/>
                <a:ea typeface="Segoe UI" pitchFamily="34" charset="0"/>
                <a:cs typeface="Segoe UI" pitchFamily="34" charset="0"/>
              </a:rPr>
              <a:t>2001</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00B050"/>
                </a:solidFill>
                <a:latin typeface="Segoe UI" pitchFamily="34" charset="0"/>
                <a:ea typeface="Segoe UI" pitchFamily="34" charset="0"/>
                <a:cs typeface="Segoe UI" pitchFamily="34" charset="0"/>
              </a:rPr>
              <a:t>0DB8</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C000"/>
                </a:solidFill>
                <a:latin typeface="Segoe UI" pitchFamily="34" charset="0"/>
                <a:ea typeface="Segoe UI" pitchFamily="34" charset="0"/>
                <a:cs typeface="Segoe UI" pitchFamily="34" charset="0"/>
              </a:rPr>
              <a:t>0000</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33CC"/>
                </a:solidFill>
                <a:latin typeface="Segoe UI" pitchFamily="34" charset="0"/>
                <a:ea typeface="Segoe UI" pitchFamily="34" charset="0"/>
                <a:cs typeface="Segoe UI" pitchFamily="34" charset="0"/>
              </a:rPr>
              <a:t>2F3B</a:t>
            </a:r>
            <a:r>
              <a:rPr lang="en-US" sz="2600" b="1" spc="120" dirty="0">
                <a:solidFill>
                  <a:schemeClr val="accent4"/>
                </a:solidFill>
                <a:latin typeface="Segoe UI" pitchFamily="34" charset="0"/>
                <a:ea typeface="Segoe UI" pitchFamily="34" charset="0"/>
                <a:cs typeface="Segoe UI" pitchFamily="34" charset="0"/>
              </a:rPr>
              <a:t>:02AA:00FF:FE28:9C5A</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Further simplified </a:t>
            </a:r>
            <a:r>
              <a:rPr lang="en-US" sz="2400" b="0" dirty="0">
                <a:solidFill>
                  <a:schemeClr val="accent4"/>
                </a:solidFill>
                <a:latin typeface="Segoe UI" pitchFamily="34" charset="0"/>
                <a:ea typeface="Segoe UI" pitchFamily="34" charset="0"/>
                <a:cs typeface="Segoe UI" pitchFamily="34" charset="0"/>
              </a:rPr>
              <a:t>by </a:t>
            </a:r>
            <a:r>
              <a:rPr lang="en-US" sz="2400" b="0" dirty="0" smtClean="0">
                <a:solidFill>
                  <a:schemeClr val="accent4"/>
                </a:solidFill>
                <a:latin typeface="Segoe UI" pitchFamily="34" charset="0"/>
                <a:ea typeface="Segoe UI" pitchFamily="34" charset="0"/>
                <a:cs typeface="Segoe UI" pitchFamily="34" charset="0"/>
              </a:rPr>
              <a:t>removing leading </a:t>
            </a:r>
            <a:r>
              <a:rPr lang="en-US" sz="2400" b="0" dirty="0">
                <a:solidFill>
                  <a:schemeClr val="accent4"/>
                </a:solidFill>
                <a:latin typeface="Segoe UI" pitchFamily="34" charset="0"/>
                <a:ea typeface="Segoe UI" pitchFamily="34" charset="0"/>
                <a:cs typeface="Segoe UI" pitchFamily="34" charset="0"/>
              </a:rPr>
              <a:t>zeros:</a:t>
            </a: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2001</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00B050"/>
                </a:solidFill>
                <a:latin typeface="Segoe UI" pitchFamily="34" charset="0"/>
                <a:ea typeface="Segoe UI" pitchFamily="34" charset="0"/>
                <a:cs typeface="Segoe UI" pitchFamily="34" charset="0"/>
              </a:rPr>
              <a:t>DB8</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C000"/>
                </a:solidFill>
                <a:latin typeface="Segoe UI" pitchFamily="34" charset="0"/>
                <a:ea typeface="Segoe UI" pitchFamily="34" charset="0"/>
                <a:cs typeface="Segoe UI" pitchFamily="34" charset="0"/>
              </a:rPr>
              <a:t>0</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33CC"/>
                </a:solidFill>
                <a:latin typeface="Segoe UI" pitchFamily="34" charset="0"/>
                <a:ea typeface="Segoe UI" pitchFamily="34" charset="0"/>
                <a:cs typeface="Segoe UI" pitchFamily="34" charset="0"/>
              </a:rPr>
              <a:t>2F3B</a:t>
            </a:r>
            <a:r>
              <a:rPr lang="en-US" sz="2600" b="1" spc="120" dirty="0" smtClean="0">
                <a:solidFill>
                  <a:schemeClr val="accent4"/>
                </a:solidFill>
                <a:latin typeface="Segoe UI" pitchFamily="34" charset="0"/>
                <a:ea typeface="Segoe UI" pitchFamily="34" charset="0"/>
                <a:cs typeface="Segoe UI" pitchFamily="34" charset="0"/>
              </a:rPr>
              <a:t>:2AA:FF:FE28:9C5A</a:t>
            </a:r>
          </a:p>
        </p:txBody>
      </p:sp>
      <p:pic>
        <p:nvPicPr>
          <p:cNvPr id="5"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2209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5e2d0551-981e-4ba2-a2cf-be4bfd76361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rame 2 alt-text, text box" descr="The text from the first frame is no longer visible. Only the 16 bit binary number divided into 4 groups of 4 bits is displayed."/>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18170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d117354-6df4-4070-b8a2-56e9eb59b73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rame 3 alt-text ,2nd box" descr="The 16 bit binary number is displayed in two ways.&#10;First, it is divided into 4 groups of 4 bits, as it is on the first slide.&#10;Second, each group is listed individualy, converted to the hexadecimal digit 2F3B.&#10;"/>
          <p:cNvSpPr>
            <a:spLocks noChangeArrowheads="1"/>
          </p:cNvSpPr>
          <p:nvPr/>
        </p:nvSpPr>
        <p:spPr bwMode="auto">
          <a:xfrm>
            <a:off x="583527" y="1627923"/>
            <a:ext cx="1991535" cy="413655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smtClean="0">
                <a:solidFill>
                  <a:srgbClr val="FF0000"/>
                </a:solidFill>
              </a:rPr>
              <a:t> </a:t>
            </a:r>
            <a:r>
              <a:rPr lang="en-US" sz="2000" dirty="0" smtClean="0">
                <a:solidFill>
                  <a:srgbClr val="FF33CC"/>
                </a:solidFill>
                <a:latin typeface="Segoe UI" pitchFamily="34" charset="0"/>
                <a:ea typeface="Segoe UI" pitchFamily="34" charset="0"/>
                <a:cs typeface="Segoe UI" pitchFamily="34" charset="0"/>
              </a:rPr>
              <a:t>8 4 2 1 </a:t>
            </a:r>
          </a:p>
          <a:p>
            <a:r>
              <a:rPr lang="en-US" sz="2000" dirty="0" smtClean="0">
                <a:solidFill>
                  <a:srgbClr val="FF33CC"/>
                </a:solidFill>
                <a:latin typeface="Segoe UI" pitchFamily="34" charset="0"/>
                <a:ea typeface="Segoe UI" pitchFamily="34" charset="0"/>
                <a:cs typeface="Segoe UI" pitchFamily="34" charset="0"/>
              </a:rPr>
              <a:t>[0 0 1 0] </a:t>
            </a:r>
          </a:p>
          <a:p>
            <a:r>
              <a:rPr lang="en-US" sz="2000" dirty="0" smtClean="0">
                <a:solidFill>
                  <a:srgbClr val="FF33CC"/>
                </a:solidFill>
                <a:latin typeface="Segoe UI" pitchFamily="34" charset="0"/>
                <a:ea typeface="Segoe UI" pitchFamily="34" charset="0"/>
                <a:cs typeface="Segoe UI" pitchFamily="34" charset="0"/>
              </a:rPr>
              <a:t>0+0+2+0=2</a:t>
            </a: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1 1 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8+4+2+1=F</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a:t>
            </a:r>
            <a:r>
              <a:rPr lang="en-US" sz="2000" dirty="0">
                <a:solidFill>
                  <a:srgbClr val="FF33CC"/>
                </a:solidFill>
                <a:latin typeface="Segoe UI" pitchFamily="34" charset="0"/>
                <a:ea typeface="Segoe UI" pitchFamily="34" charset="0"/>
                <a:cs typeface="Segoe UI" pitchFamily="34" charset="0"/>
              </a:rPr>
              <a:t>0 0 1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0+0+2+1=3</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a:t>
            </a:r>
            <a:r>
              <a:rPr lang="en-US" sz="2000" dirty="0">
                <a:solidFill>
                  <a:srgbClr val="FF33CC"/>
                </a:solidFill>
                <a:latin typeface="Segoe UI" pitchFamily="34" charset="0"/>
                <a:ea typeface="Segoe UI" pitchFamily="34" charset="0"/>
                <a:cs typeface="Segoe UI" pitchFamily="34" charset="0"/>
              </a:rPr>
              <a:t>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8+0+2+1=B</a:t>
            </a:r>
            <a:endParaRPr lang="en-US" sz="2000" dirty="0">
              <a:solidFill>
                <a:srgbClr val="FF33CC"/>
              </a:solidFill>
              <a:latin typeface="Segoe UI" pitchFamily="34" charset="0"/>
              <a:ea typeface="Segoe UI" pitchFamily="34" charset="0"/>
              <a:cs typeface="Segoe UI" pitchFamily="34" charset="0"/>
            </a:endParaRPr>
          </a:p>
          <a:p>
            <a:endParaRPr lang="en-US" dirty="0"/>
          </a:p>
        </p:txBody>
      </p:sp>
      <p:sp>
        <p:nvSpPr>
          <p:cNvPr id="6" name="1st box" descr="&#10;"/>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10871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3fd860d8-a706-4143-97bd-3ea4f4cda0a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lt-text here, 3rd box" descr="This slide depicts the 16-bit number two ways, as on the previous slide. Below that, the 4 hexadecimal digits are combined into a single hexadecimal number. "/>
          <p:cNvSpPr>
            <a:spLocks noChangeArrowheads="1"/>
          </p:cNvSpPr>
          <p:nvPr/>
        </p:nvSpPr>
        <p:spPr bwMode="auto">
          <a:xfrm>
            <a:off x="596070" y="5845179"/>
            <a:ext cx="1991535" cy="55800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 2F3B</a:t>
            </a:r>
            <a:endParaRPr lang="en-US" sz="2400" dirty="0">
              <a:solidFill>
                <a:srgbClr val="FF33CC"/>
              </a:solidFill>
              <a:latin typeface="Segoe UI" pitchFamily="34" charset="0"/>
              <a:ea typeface="Segoe UI" pitchFamily="34" charset="0"/>
              <a:cs typeface="Segoe UI" pitchFamily="34" charset="0"/>
            </a:endParaRPr>
          </a:p>
        </p:txBody>
      </p:sp>
      <p:sp>
        <p:nvSpPr>
          <p:cNvPr id="6" name="2nd box"/>
          <p:cNvSpPr>
            <a:spLocks noChangeArrowheads="1"/>
          </p:cNvSpPr>
          <p:nvPr/>
        </p:nvSpPr>
        <p:spPr bwMode="auto">
          <a:xfrm>
            <a:off x="583527" y="1627923"/>
            <a:ext cx="1991535" cy="413655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smtClean="0">
                <a:solidFill>
                  <a:srgbClr val="FF0000"/>
                </a:solidFill>
              </a:rPr>
              <a:t> </a:t>
            </a:r>
            <a:r>
              <a:rPr lang="en-US" sz="2000" dirty="0" smtClean="0">
                <a:solidFill>
                  <a:srgbClr val="FF33CC"/>
                </a:solidFill>
                <a:latin typeface="Segoe UI" pitchFamily="34" charset="0"/>
                <a:ea typeface="Segoe UI" pitchFamily="34" charset="0"/>
                <a:cs typeface="Segoe UI" pitchFamily="34" charset="0"/>
              </a:rPr>
              <a:t>8 4 2 1 </a:t>
            </a:r>
          </a:p>
          <a:p>
            <a:r>
              <a:rPr lang="en-US" sz="2000" dirty="0" smtClean="0">
                <a:solidFill>
                  <a:srgbClr val="FF33CC"/>
                </a:solidFill>
                <a:latin typeface="Segoe UI" pitchFamily="34" charset="0"/>
                <a:ea typeface="Segoe UI" pitchFamily="34" charset="0"/>
                <a:cs typeface="Segoe UI" pitchFamily="34" charset="0"/>
              </a:rPr>
              <a:t>[0 0 1 0] </a:t>
            </a:r>
          </a:p>
          <a:p>
            <a:r>
              <a:rPr lang="en-US" sz="2000" dirty="0" smtClean="0">
                <a:solidFill>
                  <a:srgbClr val="FF33CC"/>
                </a:solidFill>
                <a:latin typeface="Segoe UI" pitchFamily="34" charset="0"/>
                <a:ea typeface="Segoe UI" pitchFamily="34" charset="0"/>
                <a:cs typeface="Segoe UI" pitchFamily="34" charset="0"/>
              </a:rPr>
              <a:t>0+0+2+0=2</a:t>
            </a: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1 1 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8+4+2+1=F</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a:t>
            </a:r>
            <a:r>
              <a:rPr lang="en-US" sz="2000" dirty="0">
                <a:solidFill>
                  <a:srgbClr val="FF33CC"/>
                </a:solidFill>
                <a:latin typeface="Segoe UI" pitchFamily="34" charset="0"/>
                <a:ea typeface="Segoe UI" pitchFamily="34" charset="0"/>
                <a:cs typeface="Segoe UI" pitchFamily="34" charset="0"/>
              </a:rPr>
              <a:t>0 0 1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0+0+2+1=3</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a:t>
            </a:r>
            <a:r>
              <a:rPr lang="en-US" sz="2000" dirty="0">
                <a:solidFill>
                  <a:srgbClr val="FF33CC"/>
                </a:solidFill>
                <a:latin typeface="Segoe UI" pitchFamily="34" charset="0"/>
                <a:ea typeface="Segoe UI" pitchFamily="34" charset="0"/>
                <a:cs typeface="Segoe UI" pitchFamily="34" charset="0"/>
              </a:rPr>
              <a:t>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8+0+2+1=B</a:t>
            </a:r>
            <a:endParaRPr lang="en-US" sz="2000" dirty="0">
              <a:solidFill>
                <a:srgbClr val="FF33CC"/>
              </a:solidFill>
              <a:latin typeface="Segoe UI" pitchFamily="34" charset="0"/>
              <a:ea typeface="Segoe UI" pitchFamily="34" charset="0"/>
              <a:cs typeface="Segoe UI" pitchFamily="34" charset="0"/>
            </a:endParaRPr>
          </a:p>
          <a:p>
            <a:endParaRPr lang="en-US" dirty="0"/>
          </a:p>
        </p:txBody>
      </p:sp>
      <p:sp>
        <p:nvSpPr>
          <p:cNvPr id="7" name="1st box"/>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61488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8a1b6cd6-c113-43fd-b3bc-2d10bfc0f14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stop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013" y="625631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lt text here, main text box" descr="This is the fifth of five frames.&#10;It is a repeat of the first frame - it shows the example from the text laid out in four rows.&#10;The first row is the 128-bit address in binary.&#10;The second row is the 128-bit address divided into eight 16-bit blocks.&#10;The third row is the 16-bit blocks converted to HEX (base 16).&#10;The fourth row is further simplified by removing leading zeros.&#10;There are no animated graphics on this frame.&#10;"/>
          <p:cNvSpPr>
            <a:spLocks noChangeArrowheads="1"/>
          </p:cNvSpPr>
          <p:nvPr/>
        </p:nvSpPr>
        <p:spPr bwMode="auto">
          <a:xfrm>
            <a:off x="385947" y="810836"/>
            <a:ext cx="8207066" cy="5535070"/>
          </a:xfrm>
          <a:prstGeom prst="roundRect">
            <a:avLst>
              <a:gd name="adj" fmla="val 4167"/>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0" tIns="0" rIns="0" bIns="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266700" indent="-266700" algn="l">
              <a:buClr>
                <a:srgbClr val="006699"/>
              </a:buClr>
              <a:buFontTx/>
              <a:buChar char="•"/>
            </a:pPr>
            <a:r>
              <a:rPr lang="en-US" sz="2400" b="0" dirty="0">
                <a:solidFill>
                  <a:schemeClr val="accent4"/>
                </a:solidFill>
                <a:latin typeface="Segoe UI" pitchFamily="34" charset="0"/>
                <a:ea typeface="Segoe UI" pitchFamily="34" charset="0"/>
                <a:cs typeface="Segoe UI" pitchFamily="34" charset="0"/>
              </a:rPr>
              <a:t>128-bit address in binary:</a:t>
            </a:r>
          </a:p>
          <a:p>
            <a:pPr marL="266700" lvl="1">
              <a:lnSpc>
                <a:spcPct val="90000"/>
              </a:lnSpc>
              <a:buClr>
                <a:srgbClr val="006699"/>
              </a:buClr>
            </a:pPr>
            <a:r>
              <a:rPr lang="en-US" sz="2400" b="1" dirty="0">
                <a:solidFill>
                  <a:schemeClr val="accent4"/>
                </a:solidFill>
                <a:latin typeface="Segoe UI" pitchFamily="34" charset="0"/>
                <a:ea typeface="Segoe UI" pitchFamily="34" charset="0"/>
                <a:cs typeface="Segoe UI" pitchFamily="34" charset="0"/>
              </a:rPr>
              <a:t>00100000000000010000110110111000000000000000000000101111001110110000001010101010000000001111111111111110001010001001110001011010</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128-bit </a:t>
            </a:r>
            <a:r>
              <a:rPr lang="en-US" sz="2400" b="0" dirty="0">
                <a:solidFill>
                  <a:schemeClr val="accent4"/>
                </a:solidFill>
                <a:latin typeface="Segoe UI" pitchFamily="34" charset="0"/>
                <a:ea typeface="Segoe UI" pitchFamily="34" charset="0"/>
                <a:cs typeface="Segoe UI" pitchFamily="34" charset="0"/>
              </a:rPr>
              <a:t>address divided into </a:t>
            </a:r>
            <a:r>
              <a:rPr lang="en-US" sz="2400" b="0" dirty="0" smtClean="0">
                <a:solidFill>
                  <a:schemeClr val="accent4"/>
                </a:solidFill>
                <a:latin typeface="Segoe UI" pitchFamily="34" charset="0"/>
                <a:ea typeface="Segoe UI" pitchFamily="34" charset="0"/>
                <a:cs typeface="Segoe UI" pitchFamily="34" charset="0"/>
              </a:rPr>
              <a:t>16-bit blocks:</a:t>
            </a:r>
            <a:endParaRPr lang="en-US" sz="2400" b="0" dirty="0">
              <a:solidFill>
                <a:schemeClr val="accent4"/>
              </a:solidFill>
              <a:latin typeface="Segoe UI" pitchFamily="34" charset="0"/>
              <a:ea typeface="Segoe UI" pitchFamily="34" charset="0"/>
              <a:cs typeface="Segoe UI" pitchFamily="34" charset="0"/>
            </a:endParaRP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0010000000000001</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00B050"/>
                </a:solidFill>
                <a:latin typeface="Segoe UI" pitchFamily="34" charset="0"/>
                <a:ea typeface="Segoe UI" pitchFamily="34" charset="0"/>
                <a:cs typeface="Segoe UI" pitchFamily="34" charset="0"/>
              </a:rPr>
              <a:t>0000110110111000</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FFC000"/>
                </a:solidFill>
                <a:latin typeface="Segoe UI" pitchFamily="34" charset="0"/>
                <a:ea typeface="Segoe UI" pitchFamily="34" charset="0"/>
                <a:cs typeface="Segoe UI" pitchFamily="34" charset="0"/>
              </a:rPr>
              <a:t>0000000000000000</a:t>
            </a:r>
            <a:r>
              <a:rPr lang="en-US" sz="2600" b="1" spc="120" dirty="0" smtClean="0">
                <a:latin typeface="Segoe UI" pitchFamily="34" charset="0"/>
                <a:ea typeface="Segoe UI" pitchFamily="34" charset="0"/>
                <a:cs typeface="Segoe UI" pitchFamily="34" charset="0"/>
              </a:rPr>
              <a:t> </a:t>
            </a:r>
            <a:r>
              <a:rPr lang="en-US" sz="2600" b="1" spc="120" dirty="0">
                <a:solidFill>
                  <a:srgbClr val="FF33CC"/>
                </a:solidFill>
                <a:latin typeface="Segoe UI" pitchFamily="34" charset="0"/>
                <a:ea typeface="Segoe UI" pitchFamily="34" charset="0"/>
                <a:cs typeface="Segoe UI" pitchFamily="34" charset="0"/>
              </a:rPr>
              <a:t>0010111100111011</a:t>
            </a:r>
            <a:r>
              <a:rPr lang="en-US" sz="2600" b="1" spc="120" dirty="0">
                <a:latin typeface="Segoe UI" pitchFamily="34" charset="0"/>
                <a:ea typeface="Segoe UI" pitchFamily="34" charset="0"/>
                <a:cs typeface="Segoe UI" pitchFamily="34" charset="0"/>
              </a:rPr>
              <a:t>   </a:t>
            </a:r>
            <a:r>
              <a:rPr lang="en-US" sz="2600" b="1" spc="120" dirty="0" smtClean="0">
                <a:solidFill>
                  <a:schemeClr val="accent4"/>
                </a:solidFill>
                <a:latin typeface="Segoe UI" pitchFamily="34" charset="0"/>
                <a:ea typeface="Segoe UI" pitchFamily="34" charset="0"/>
                <a:cs typeface="Segoe UI" pitchFamily="34" charset="0"/>
              </a:rPr>
              <a:t>0000001010101010 </a:t>
            </a:r>
            <a:r>
              <a:rPr lang="en-US" sz="2600" b="1" spc="120" dirty="0">
                <a:solidFill>
                  <a:schemeClr val="accent4"/>
                </a:solidFill>
                <a:latin typeface="Segoe UI" pitchFamily="34" charset="0"/>
                <a:ea typeface="Segoe UI" pitchFamily="34" charset="0"/>
                <a:cs typeface="Segoe UI" pitchFamily="34" charset="0"/>
              </a:rPr>
              <a:t>0000000011111111   </a:t>
            </a:r>
            <a:r>
              <a:rPr lang="en-US" sz="2600" b="1" spc="120" dirty="0" smtClean="0">
                <a:solidFill>
                  <a:schemeClr val="accent4"/>
                </a:solidFill>
                <a:latin typeface="Segoe UI" pitchFamily="34" charset="0"/>
                <a:ea typeface="Segoe UI" pitchFamily="34" charset="0"/>
                <a:cs typeface="Segoe UI" pitchFamily="34" charset="0"/>
              </a:rPr>
              <a:t>1111111000101000 </a:t>
            </a:r>
            <a:r>
              <a:rPr lang="en-US" sz="2600" b="1" spc="120" dirty="0">
                <a:solidFill>
                  <a:schemeClr val="accent4"/>
                </a:solidFill>
                <a:latin typeface="Segoe UI" pitchFamily="34" charset="0"/>
                <a:ea typeface="Segoe UI" pitchFamily="34" charset="0"/>
                <a:cs typeface="Segoe UI" pitchFamily="34" charset="0"/>
              </a:rPr>
              <a:t>1001110001011010 </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Each 16-bit block </a:t>
            </a:r>
            <a:r>
              <a:rPr lang="en-US" sz="2400" b="0" dirty="0">
                <a:solidFill>
                  <a:schemeClr val="accent4"/>
                </a:solidFill>
                <a:latin typeface="Segoe UI" pitchFamily="34" charset="0"/>
                <a:ea typeface="Segoe UI" pitchFamily="34" charset="0"/>
                <a:cs typeface="Segoe UI" pitchFamily="34" charset="0"/>
              </a:rPr>
              <a:t>converted to </a:t>
            </a:r>
            <a:r>
              <a:rPr lang="en-US" sz="2400" b="0" dirty="0" smtClean="0">
                <a:solidFill>
                  <a:schemeClr val="accent4"/>
                </a:solidFill>
                <a:latin typeface="Segoe UI" pitchFamily="34" charset="0"/>
                <a:ea typeface="Segoe UI" pitchFamily="34" charset="0"/>
                <a:cs typeface="Segoe UI" pitchFamily="34" charset="0"/>
              </a:rPr>
              <a:t>hex </a:t>
            </a:r>
            <a:r>
              <a:rPr lang="en-US" sz="2400" b="0" dirty="0">
                <a:solidFill>
                  <a:schemeClr val="accent4"/>
                </a:solidFill>
                <a:latin typeface="Segoe UI" pitchFamily="34" charset="0"/>
                <a:ea typeface="Segoe UI" pitchFamily="34" charset="0"/>
                <a:cs typeface="Segoe UI" pitchFamily="34" charset="0"/>
              </a:rPr>
              <a:t>(base 16):</a:t>
            </a:r>
          </a:p>
          <a:p>
            <a:pPr marL="266700">
              <a:buClr>
                <a:srgbClr val="006699"/>
              </a:buClr>
            </a:pPr>
            <a:r>
              <a:rPr lang="en-US" sz="2600" b="1" spc="120" dirty="0">
                <a:solidFill>
                  <a:srgbClr val="FF0000"/>
                </a:solidFill>
                <a:latin typeface="Segoe UI" pitchFamily="34" charset="0"/>
                <a:ea typeface="Segoe UI" pitchFamily="34" charset="0"/>
                <a:cs typeface="Segoe UI" pitchFamily="34" charset="0"/>
              </a:rPr>
              <a:t>2001</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00B050"/>
                </a:solidFill>
                <a:latin typeface="Segoe UI" pitchFamily="34" charset="0"/>
                <a:ea typeface="Segoe UI" pitchFamily="34" charset="0"/>
                <a:cs typeface="Segoe UI" pitchFamily="34" charset="0"/>
              </a:rPr>
              <a:t>0DB8</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C000"/>
                </a:solidFill>
                <a:latin typeface="Segoe UI" pitchFamily="34" charset="0"/>
                <a:ea typeface="Segoe UI" pitchFamily="34" charset="0"/>
                <a:cs typeface="Segoe UI" pitchFamily="34" charset="0"/>
              </a:rPr>
              <a:t>0000</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33CC"/>
                </a:solidFill>
                <a:latin typeface="Segoe UI" pitchFamily="34" charset="0"/>
                <a:ea typeface="Segoe UI" pitchFamily="34" charset="0"/>
                <a:cs typeface="Segoe UI" pitchFamily="34" charset="0"/>
              </a:rPr>
              <a:t>2F3B</a:t>
            </a:r>
            <a:r>
              <a:rPr lang="en-US" sz="2600" b="1" spc="120" dirty="0">
                <a:solidFill>
                  <a:schemeClr val="accent4"/>
                </a:solidFill>
                <a:latin typeface="Segoe UI" pitchFamily="34" charset="0"/>
                <a:ea typeface="Segoe UI" pitchFamily="34" charset="0"/>
                <a:cs typeface="Segoe UI" pitchFamily="34" charset="0"/>
              </a:rPr>
              <a:t>:02AA:00FF:FE28:9C5A</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Further simplified </a:t>
            </a:r>
            <a:r>
              <a:rPr lang="en-US" sz="2400" b="0" dirty="0">
                <a:solidFill>
                  <a:schemeClr val="accent4"/>
                </a:solidFill>
                <a:latin typeface="Segoe UI" pitchFamily="34" charset="0"/>
                <a:ea typeface="Segoe UI" pitchFamily="34" charset="0"/>
                <a:cs typeface="Segoe UI" pitchFamily="34" charset="0"/>
              </a:rPr>
              <a:t>by </a:t>
            </a:r>
            <a:r>
              <a:rPr lang="en-US" sz="2400" b="0" dirty="0" smtClean="0">
                <a:solidFill>
                  <a:schemeClr val="accent4"/>
                </a:solidFill>
                <a:latin typeface="Segoe UI" pitchFamily="34" charset="0"/>
                <a:ea typeface="Segoe UI" pitchFamily="34" charset="0"/>
                <a:cs typeface="Segoe UI" pitchFamily="34" charset="0"/>
              </a:rPr>
              <a:t>removing leading </a:t>
            </a:r>
            <a:r>
              <a:rPr lang="en-US" sz="2400" b="0" dirty="0">
                <a:solidFill>
                  <a:schemeClr val="accent4"/>
                </a:solidFill>
                <a:latin typeface="Segoe UI" pitchFamily="34" charset="0"/>
                <a:ea typeface="Segoe UI" pitchFamily="34" charset="0"/>
                <a:cs typeface="Segoe UI" pitchFamily="34" charset="0"/>
              </a:rPr>
              <a:t>zeros:</a:t>
            </a: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2001</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00B050"/>
                </a:solidFill>
                <a:latin typeface="Segoe UI" pitchFamily="34" charset="0"/>
                <a:ea typeface="Segoe UI" pitchFamily="34" charset="0"/>
                <a:cs typeface="Segoe UI" pitchFamily="34" charset="0"/>
              </a:rPr>
              <a:t>DB8</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C000"/>
                </a:solidFill>
                <a:latin typeface="Segoe UI" pitchFamily="34" charset="0"/>
                <a:ea typeface="Segoe UI" pitchFamily="34" charset="0"/>
                <a:cs typeface="Segoe UI" pitchFamily="34" charset="0"/>
              </a:rPr>
              <a:t>0</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33CC"/>
                </a:solidFill>
                <a:latin typeface="Segoe UI" pitchFamily="34" charset="0"/>
                <a:ea typeface="Segoe UI" pitchFamily="34" charset="0"/>
                <a:cs typeface="Segoe UI" pitchFamily="34" charset="0"/>
              </a:rPr>
              <a:t>2F3B</a:t>
            </a:r>
            <a:r>
              <a:rPr lang="en-US" sz="2600" b="1" spc="120" dirty="0" smtClean="0">
                <a:solidFill>
                  <a:schemeClr val="accent4"/>
                </a:solidFill>
                <a:latin typeface="Segoe UI" pitchFamily="34" charset="0"/>
                <a:ea typeface="Segoe UI" pitchFamily="34" charset="0"/>
                <a:cs typeface="Segoe UI" pitchFamily="34" charset="0"/>
              </a:rPr>
              <a:t>:2AA:FF:FE28:9C5A</a:t>
            </a:r>
          </a:p>
        </p:txBody>
      </p:sp>
    </p:spTree>
    <p:extLst>
      <p:ext uri="{BB962C8B-B14F-4D97-AF65-F5344CB8AC3E}">
        <p14:creationId xmlns:p14="http://schemas.microsoft.com/office/powerpoint/2010/main" val="134665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IPv6 Addressing</a:t>
            </a:r>
            <a:endParaRPr lang="en-CA" dirty="0"/>
          </a:p>
        </p:txBody>
      </p:sp>
      <p:sp>
        <p:nvSpPr>
          <p:cNvPr id="3" name="Text Placeholder 2"/>
          <p:cNvSpPr>
            <a:spLocks noGrp="1"/>
          </p:cNvSpPr>
          <p:nvPr>
            <p:ph type="body" idx="1"/>
          </p:nvPr>
        </p:nvSpPr>
        <p:spPr/>
        <p:txBody>
          <a:bodyPr/>
          <a:lstStyle/>
          <a:p>
            <a:r>
              <a:rPr lang="en-CA" dirty="0" smtClean="0"/>
              <a:t>IPv6 Address Structure
Global Unicast Addresses
Unique Local Unicast Addresses
Link-Local Unicast Addresses
Autoconfiguring IPv6 Addresses
Demonstration: Configuring IPv6 Client Settings</a:t>
            </a:r>
            <a:endParaRPr lang="en-CA" dirty="0"/>
          </a:p>
        </p:txBody>
      </p:sp>
    </p:spTree>
    <p:extLst>
      <p:ext uri="{BB962C8B-B14F-4D97-AF65-F5344CB8AC3E}">
        <p14:creationId xmlns:p14="http://schemas.microsoft.com/office/powerpoint/2010/main" val="2825618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2df9b36e-31a4-4a13-9d84-ea1376291ae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Structure</a:t>
            </a:r>
            <a:endParaRPr lang="en-CA" dirty="0"/>
          </a:p>
        </p:txBody>
      </p:sp>
      <p:sp>
        <p:nvSpPr>
          <p:cNvPr id="4" name="Content Placeholder 2"/>
          <p:cNvSpPr>
            <a:spLocks noGrp="1"/>
          </p:cNvSpPr>
          <p:nvPr/>
        </p:nvSpPr>
        <p:spPr bwMode="auto">
          <a:xfrm>
            <a:off x="458787" y="1114893"/>
            <a:ext cx="8391597" cy="9729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600" dirty="0" smtClean="0"/>
              <a:t>The number of network bits is defined by the prefix</a:t>
            </a:r>
          </a:p>
          <a:p>
            <a:r>
              <a:rPr lang="en-US" sz="2600" dirty="0" smtClean="0"/>
              <a:t>Each host has 64-bits allocated to the interface identifier</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58619304"/>
              </p:ext>
            </p:extLst>
          </p:nvPr>
        </p:nvGraphicFramePr>
        <p:xfrm>
          <a:off x="612073" y="2255519"/>
          <a:ext cx="7917780" cy="4054809"/>
        </p:xfrm>
        <a:graphic>
          <a:graphicData uri="http://schemas.openxmlformats.org/drawingml/2006/table">
            <a:tbl>
              <a:tblPr/>
              <a:tblGrid>
                <a:gridCol w="2472322"/>
                <a:gridCol w="2579917"/>
                <a:gridCol w="2865541"/>
              </a:tblGrid>
              <a:tr h="960121">
                <a:tc>
                  <a:txBody>
                    <a:bodyPr/>
                    <a:lstStyle/>
                    <a:p>
                      <a:pPr marL="0" marR="0" algn="ctr">
                        <a:lnSpc>
                          <a:spcPct val="100000"/>
                        </a:lnSpc>
                        <a:spcBef>
                          <a:spcPts val="0"/>
                        </a:spcBef>
                        <a:spcAft>
                          <a:spcPts val="0"/>
                        </a:spcAft>
                      </a:pPr>
                      <a:r>
                        <a:rPr lang="en-US" sz="2600" b="1" dirty="0" smtClean="0">
                          <a:latin typeface="Segoe UI" pitchFamily="34" charset="0"/>
                          <a:ea typeface="Segoe UI" pitchFamily="34" charset="0"/>
                          <a:cs typeface="Segoe UI" pitchFamily="34" charset="0"/>
                        </a:rPr>
                        <a:t>Type of 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b="1" dirty="0">
                          <a:latin typeface="Segoe UI" pitchFamily="34" charset="0"/>
                          <a:ea typeface="Segoe UI" pitchFamily="34" charset="0"/>
                          <a:cs typeface="Segoe UI" pitchFamily="34" charset="0"/>
                        </a:rPr>
                        <a:t>IPv4 </a:t>
                      </a:r>
                      <a:r>
                        <a:rPr lang="en-US" sz="2600" b="1" dirty="0" smtClean="0">
                          <a:latin typeface="Segoe UI" pitchFamily="34" charset="0"/>
                          <a:ea typeface="Segoe UI" pitchFamily="34" charset="0"/>
                          <a:cs typeface="Segoe UI" pitchFamily="34" charset="0"/>
                        </a:rPr>
                        <a:t>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b="1" dirty="0">
                          <a:latin typeface="Segoe UI" pitchFamily="34" charset="0"/>
                          <a:ea typeface="Segoe UI" pitchFamily="34" charset="0"/>
                          <a:cs typeface="Segoe UI" pitchFamily="34" charset="0"/>
                        </a:rPr>
                        <a:t>IPv6 </a:t>
                      </a:r>
                      <a:r>
                        <a:rPr lang="en-US" sz="2600" b="1" dirty="0" smtClean="0">
                          <a:latin typeface="Segoe UI" pitchFamily="34" charset="0"/>
                          <a:ea typeface="Segoe UI" pitchFamily="34" charset="0"/>
                          <a:cs typeface="Segoe UI" pitchFamily="34" charset="0"/>
                        </a:rPr>
                        <a:t>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Unspecified</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Loopback</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127.0.0.1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0841">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Autoconfigured</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169.254.0.0/16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FE80::/64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2659">
                <a:tc>
                  <a:txBody>
                    <a:bodyPr/>
                    <a:lstStyle/>
                    <a:p>
                      <a:pPr marL="0" marR="0">
                        <a:lnSpc>
                          <a:spcPct val="100000"/>
                        </a:lnSpc>
                        <a:spcBef>
                          <a:spcPts val="0"/>
                        </a:spcBef>
                        <a:spcAft>
                          <a:spcPts val="0"/>
                        </a:spcAft>
                      </a:pPr>
                      <a:r>
                        <a:rPr lang="en-US" sz="2600" dirty="0">
                          <a:latin typeface="Segoe UI" pitchFamily="34" charset="0"/>
                          <a:ea typeface="Segoe UI" pitchFamily="34" charset="0"/>
                          <a:cs typeface="Segoe UI" pitchFamily="34" charset="0"/>
                        </a:rPr>
                        <a:t>Broadcast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255.255.255.255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Uses multicasts instead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a:latin typeface="Segoe UI" pitchFamily="34" charset="0"/>
                          <a:ea typeface="Segoe UI" pitchFamily="34" charset="0"/>
                          <a:cs typeface="Segoe UI" pitchFamily="34" charset="0"/>
                        </a:rPr>
                        <a:t>Multicast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224.0.0.0/4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FF00::/8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12319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78065e88-5729-4538-8f2d-2e43f868b27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Global Unicast Addresses</a:t>
            </a:r>
            <a:endParaRPr lang="en-CA" dirty="0"/>
          </a:p>
        </p:txBody>
      </p:sp>
      <p:grpSp>
        <p:nvGrpSpPr>
          <p:cNvPr id="4" name="alt-text here, Group 7" descr="The graphic on this slide depicts how the bits in a global unicast address are allocated to different purposes.&#10;•The first 3 bits are 001. This signifies that it is a global unicast address.&#10;•The next 45 bits are the global routing prefix that is assigned to top level ISPs.&#10;•The next 16 bits are used by organizations to subnet within their organization.&#10;•The final 64 bits are the client interface ID that identifies individual computers on a network.&#10;"/>
          <p:cNvGrpSpPr/>
          <p:nvPr/>
        </p:nvGrpSpPr>
        <p:grpSpPr>
          <a:xfrm>
            <a:off x="470534" y="2846193"/>
            <a:ext cx="8398354" cy="3585028"/>
            <a:chOff x="470534" y="2846193"/>
            <a:chExt cx="8398354" cy="3585028"/>
          </a:xfrm>
        </p:grpSpPr>
        <p:grpSp>
          <p:nvGrpSpPr>
            <p:cNvPr id="5" name="Group 4"/>
            <p:cNvGrpSpPr/>
            <p:nvPr/>
          </p:nvGrpSpPr>
          <p:grpSpPr>
            <a:xfrm>
              <a:off x="470534" y="2846193"/>
              <a:ext cx="8398354" cy="3585028"/>
              <a:chOff x="294720" y="2923306"/>
              <a:chExt cx="8398354" cy="3585028"/>
            </a:xfrm>
          </p:grpSpPr>
          <p:sp>
            <p:nvSpPr>
              <p:cNvPr id="7" name="black vertical line 55" descr="&quot;&quot;"/>
              <p:cNvSpPr>
                <a:spLocks noChangeShapeType="1"/>
              </p:cNvSpPr>
              <p:nvPr/>
            </p:nvSpPr>
            <p:spPr bwMode="auto">
              <a:xfrm>
                <a:off x="3042680" y="4693404"/>
                <a:ext cx="0" cy="1284275"/>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8" name="black vertical line 54" descr="&quot;&quot;"/>
              <p:cNvSpPr>
                <a:spLocks noChangeShapeType="1"/>
              </p:cNvSpPr>
              <p:nvPr/>
            </p:nvSpPr>
            <p:spPr bwMode="auto">
              <a:xfrm>
                <a:off x="636030" y="4693404"/>
                <a:ext cx="0" cy="46228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9" name="black vertical line 56" descr="&quot;&quot;"/>
              <p:cNvSpPr>
                <a:spLocks noChangeShapeType="1"/>
              </p:cNvSpPr>
              <p:nvPr/>
            </p:nvSpPr>
            <p:spPr bwMode="auto">
              <a:xfrm>
                <a:off x="4869893" y="4693404"/>
                <a:ext cx="4763" cy="45782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0" name="black vertical line 57" descr="&quot;&quot;"/>
              <p:cNvSpPr>
                <a:spLocks noChangeShapeType="1"/>
              </p:cNvSpPr>
              <p:nvPr/>
            </p:nvSpPr>
            <p:spPr bwMode="auto">
              <a:xfrm>
                <a:off x="7668655" y="4674080"/>
                <a:ext cx="0" cy="1284275"/>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nvGrpSpPr>
              <p:cNvPr id="11" name="Group 10"/>
              <p:cNvGrpSpPr>
                <a:grpSpLocks/>
              </p:cNvGrpSpPr>
              <p:nvPr/>
            </p:nvGrpSpPr>
            <p:grpSpPr bwMode="auto">
              <a:xfrm>
                <a:off x="294720" y="2923306"/>
                <a:ext cx="8398354" cy="1770099"/>
                <a:chOff x="547" y="1052"/>
                <a:chExt cx="4810" cy="1081"/>
              </a:xfrm>
            </p:grpSpPr>
            <p:sp>
              <p:nvSpPr>
                <p:cNvPr id="16" name="&quot;Global Routing Prefix&quot;"/>
                <p:cNvSpPr>
                  <a:spLocks noChangeArrowheads="1"/>
                </p:cNvSpPr>
                <p:nvPr/>
              </p:nvSpPr>
              <p:spPr bwMode="auto">
                <a:xfrm>
                  <a:off x="973" y="1636"/>
                  <a:ext cx="1826"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Global </a:t>
                  </a:r>
                  <a:r>
                    <a:rPr lang="en-US" sz="2600" b="0" dirty="0" smtClean="0">
                      <a:latin typeface="Segoe UI" pitchFamily="34" charset="0"/>
                      <a:ea typeface="Segoe UI" pitchFamily="34" charset="0"/>
                      <a:cs typeface="Segoe UI" pitchFamily="34" charset="0"/>
                    </a:rPr>
                    <a:t>Routing</a:t>
                  </a:r>
                </a:p>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Prefix</a:t>
                  </a:r>
                  <a:endParaRPr lang="en-US" sz="2600" b="0" dirty="0">
                    <a:latin typeface="Segoe UI" pitchFamily="34" charset="0"/>
                    <a:ea typeface="Segoe UI" pitchFamily="34" charset="0"/>
                    <a:cs typeface="Segoe UI" pitchFamily="34" charset="0"/>
                  </a:endParaRPr>
                </a:p>
              </p:txBody>
            </p:sp>
            <p:sp>
              <p:nvSpPr>
                <p:cNvPr id="17" name="&quot;001&quot;"/>
                <p:cNvSpPr>
                  <a:spLocks noChangeArrowheads="1"/>
                </p:cNvSpPr>
                <p:nvPr/>
              </p:nvSpPr>
              <p:spPr bwMode="auto">
                <a:xfrm>
                  <a:off x="547" y="1636"/>
                  <a:ext cx="426"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001</a:t>
                  </a:r>
                </a:p>
              </p:txBody>
            </p:sp>
            <p:sp>
              <p:nvSpPr>
                <p:cNvPr id="18" name="&quot;Subnet ID&quot;"/>
                <p:cNvSpPr>
                  <a:spLocks noChangeArrowheads="1"/>
                </p:cNvSpPr>
                <p:nvPr/>
              </p:nvSpPr>
              <p:spPr bwMode="auto">
                <a:xfrm>
                  <a:off x="2799" y="1636"/>
                  <a:ext cx="827"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Subnet</a:t>
                  </a:r>
                </a:p>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 ID</a:t>
                  </a:r>
                  <a:endParaRPr lang="en-US" sz="2600" b="0" dirty="0">
                    <a:latin typeface="Segoe UI" pitchFamily="34" charset="0"/>
                    <a:ea typeface="Segoe UI" pitchFamily="34" charset="0"/>
                    <a:cs typeface="Segoe UI" pitchFamily="34" charset="0"/>
                  </a:endParaRPr>
                </a:p>
              </p:txBody>
            </p:sp>
            <p:sp>
              <p:nvSpPr>
                <p:cNvPr id="19" name="&quot;Interface ID&quot;"/>
                <p:cNvSpPr>
                  <a:spLocks noChangeArrowheads="1"/>
                </p:cNvSpPr>
                <p:nvPr/>
              </p:nvSpPr>
              <p:spPr bwMode="auto">
                <a:xfrm>
                  <a:off x="3630" y="1636"/>
                  <a:ext cx="1727" cy="497"/>
                </a:xfrm>
                <a:prstGeom prst="rect">
                  <a:avLst/>
                </a:prstGeom>
                <a:solidFill>
                  <a:srgbClr val="E4E4BF"/>
                </a:solid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Interface ID</a:t>
                  </a:r>
                </a:p>
              </p:txBody>
            </p:sp>
            <p:sp>
              <p:nvSpPr>
                <p:cNvPr id="20" name="arrow, 2 ended" descr="&quot;&quot;"/>
                <p:cNvSpPr>
                  <a:spLocks noChangeShapeType="1"/>
                </p:cNvSpPr>
                <p:nvPr/>
              </p:nvSpPr>
              <p:spPr bwMode="auto">
                <a:xfrm flipV="1">
                  <a:off x="571" y="1165"/>
                  <a:ext cx="2228"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1" name="Rectangle 20"/>
                <p:cNvSpPr>
                  <a:spLocks noChangeArrowheads="1"/>
                </p:cNvSpPr>
                <p:nvPr/>
              </p:nvSpPr>
              <p:spPr bwMode="auto">
                <a:xfrm>
                  <a:off x="1498" y="1053"/>
                  <a:ext cx="577" cy="226"/>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48 bits</a:t>
                  </a:r>
                </a:p>
              </p:txBody>
            </p:sp>
            <p:sp>
              <p:nvSpPr>
                <p:cNvPr id="22" name="red vertical line 66" descr="&quot;&quot;"/>
                <p:cNvSpPr>
                  <a:spLocks noChangeShapeType="1"/>
                </p:cNvSpPr>
                <p:nvPr/>
              </p:nvSpPr>
              <p:spPr bwMode="auto">
                <a:xfrm>
                  <a:off x="2791" y="1052"/>
                  <a:ext cx="0" cy="55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red vertical line 67" descr="&quot;&quot;"/>
                <p:cNvSpPr>
                  <a:spLocks noChangeShapeType="1"/>
                </p:cNvSpPr>
                <p:nvPr/>
              </p:nvSpPr>
              <p:spPr bwMode="auto">
                <a:xfrm>
                  <a:off x="978" y="1284"/>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red vertical line 68" descr="&quot;&quot;"/>
                <p:cNvSpPr>
                  <a:spLocks noChangeShapeType="1"/>
                </p:cNvSpPr>
                <p:nvPr/>
              </p:nvSpPr>
              <p:spPr bwMode="auto">
                <a:xfrm>
                  <a:off x="3629" y="1280"/>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red vertical line 69" descr="&quot;&quot;"/>
                <p:cNvSpPr>
                  <a:spLocks noChangeShapeType="1"/>
                </p:cNvSpPr>
                <p:nvPr/>
              </p:nvSpPr>
              <p:spPr bwMode="auto">
                <a:xfrm>
                  <a:off x="5344" y="1289"/>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arrow, 2 ended" descr="&quot;&quot;"/>
                <p:cNvSpPr>
                  <a:spLocks noChangeShapeType="1"/>
                </p:cNvSpPr>
                <p:nvPr/>
              </p:nvSpPr>
              <p:spPr bwMode="auto">
                <a:xfrm>
                  <a:off x="991" y="1447"/>
                  <a:ext cx="1800"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7" name="&quot;45 bits&quot;"/>
                <p:cNvSpPr>
                  <a:spLocks noChangeArrowheads="1"/>
                </p:cNvSpPr>
                <p:nvPr/>
              </p:nvSpPr>
              <p:spPr bwMode="auto">
                <a:xfrm>
                  <a:off x="1512" y="1348"/>
                  <a:ext cx="577" cy="226"/>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45 bits</a:t>
                  </a:r>
                </a:p>
              </p:txBody>
            </p:sp>
            <p:sp>
              <p:nvSpPr>
                <p:cNvPr id="28" name="arrow, 2 ended" descr="&quot;&quot;"/>
                <p:cNvSpPr>
                  <a:spLocks noChangeShapeType="1"/>
                </p:cNvSpPr>
                <p:nvPr/>
              </p:nvSpPr>
              <p:spPr bwMode="auto">
                <a:xfrm flipV="1">
                  <a:off x="3647" y="1441"/>
                  <a:ext cx="1670"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9" name="&quot;64 bits&quot;"/>
                <p:cNvSpPr>
                  <a:spLocks noChangeArrowheads="1"/>
                </p:cNvSpPr>
                <p:nvPr/>
              </p:nvSpPr>
              <p:spPr bwMode="auto">
                <a:xfrm>
                  <a:off x="4288" y="1140"/>
                  <a:ext cx="412" cy="451"/>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64 bits</a:t>
                  </a:r>
                </a:p>
              </p:txBody>
            </p:sp>
            <p:sp>
              <p:nvSpPr>
                <p:cNvPr id="30" name="Line 74" descr="&quot;&quot;"/>
                <p:cNvSpPr>
                  <a:spLocks noChangeShapeType="1"/>
                </p:cNvSpPr>
                <p:nvPr/>
              </p:nvSpPr>
              <p:spPr bwMode="auto">
                <a:xfrm>
                  <a:off x="2791" y="1447"/>
                  <a:ext cx="824"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31" name="Rectangle 30"/>
                <p:cNvSpPr>
                  <a:spLocks noChangeArrowheads="1"/>
                </p:cNvSpPr>
                <p:nvPr/>
              </p:nvSpPr>
              <p:spPr bwMode="auto">
                <a:xfrm>
                  <a:off x="3038" y="1148"/>
                  <a:ext cx="371" cy="451"/>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16 bits</a:t>
                  </a:r>
                </a:p>
              </p:txBody>
            </p:sp>
          </p:grpSp>
          <p:sp>
            <p:nvSpPr>
              <p:cNvPr id="12" name="&quot; Prefix managed...&quot;"/>
              <p:cNvSpPr>
                <a:spLocks noChangeArrowheads="1"/>
              </p:cNvSpPr>
              <p:nvPr/>
            </p:nvSpPr>
            <p:spPr bwMode="auto">
              <a:xfrm>
                <a:off x="302437" y="5020418"/>
                <a:ext cx="1681163" cy="1334814"/>
              </a:xfrm>
              <a:prstGeom prst="roundRect">
                <a:avLst>
                  <a:gd name="adj" fmla="val 4167"/>
                </a:avLst>
              </a:prstGeom>
              <a:solidFill>
                <a:schemeClr val="bg1"/>
              </a:solidFill>
              <a:ln w="31750" algn="ctr">
                <a:solidFill>
                  <a:schemeClr val="accent5">
                    <a:lumMod val="50000"/>
                  </a:schemeClr>
                </a:solidFill>
                <a:round/>
                <a:headEnd/>
                <a:tailEnd/>
              </a:ln>
              <a:effectLst>
                <a:outerShdw blurRad="50800" dist="50800" dir="5400000" algn="ctr" rotWithShape="0">
                  <a:schemeClr val="bg1"/>
                </a:outerShdw>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Prefix </a:t>
                </a:r>
                <a:r>
                  <a:rPr lang="en-US" sz="2600" b="0" dirty="0" smtClean="0">
                    <a:latin typeface="Segoe UI" pitchFamily="34" charset="0"/>
                    <a:ea typeface="Segoe UI" pitchFamily="34" charset="0"/>
                    <a:cs typeface="Segoe UI" pitchFamily="34" charset="0"/>
                  </a:rPr>
                  <a:t>Managed</a:t>
                </a:r>
                <a:r>
                  <a:rPr lang="en-US" sz="2600" b="0" dirty="0">
                    <a:latin typeface="Segoe UI" pitchFamily="34" charset="0"/>
                    <a:ea typeface="Segoe UI" pitchFamily="34" charset="0"/>
                    <a:cs typeface="Segoe UI" pitchFamily="34" charset="0"/>
                  </a:rPr>
                  <a:t/>
                </a:r>
                <a:br>
                  <a:rPr lang="en-US" sz="2600" b="0" dirty="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by </a:t>
                </a:r>
                <a:r>
                  <a:rPr lang="en-US" sz="2600" b="0" dirty="0">
                    <a:latin typeface="Segoe UI" pitchFamily="34" charset="0"/>
                    <a:ea typeface="Segoe UI" pitchFamily="34" charset="0"/>
                    <a:cs typeface="Segoe UI" pitchFamily="34" charset="0"/>
                  </a:rPr>
                  <a:t>IANA</a:t>
                </a:r>
              </a:p>
            </p:txBody>
          </p:sp>
          <p:sp>
            <p:nvSpPr>
              <p:cNvPr id="13" name="&quot;Client interface ID&quot;"/>
              <p:cNvSpPr>
                <a:spLocks noChangeArrowheads="1"/>
              </p:cNvSpPr>
              <p:nvPr/>
            </p:nvSpPr>
            <p:spPr bwMode="auto">
              <a:xfrm>
                <a:off x="6976988" y="5065010"/>
                <a:ext cx="1658938" cy="1244141"/>
              </a:xfrm>
              <a:prstGeom prst="roundRect">
                <a:avLst>
                  <a:gd name="adj" fmla="val 4167"/>
                </a:avLst>
              </a:prstGeom>
              <a:solidFill>
                <a:schemeClr val="bg1"/>
              </a:solidFill>
              <a:ln w="31750" algn="ctr">
                <a:solidFill>
                  <a:schemeClr val="accent5">
                    <a:lumMod val="50000"/>
                  </a:schemeClr>
                </a:solidFill>
                <a:round/>
                <a:headEnd/>
                <a:tailEnd/>
              </a:ln>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Client </a:t>
                </a:r>
                <a:br>
                  <a:rPr lang="en-US" sz="2600" b="0" dirty="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Interface </a:t>
                </a:r>
                <a:r>
                  <a:rPr lang="en-US" sz="2600" b="0" dirty="0">
                    <a:latin typeface="Segoe UI" pitchFamily="34" charset="0"/>
                    <a:ea typeface="Segoe UI" pitchFamily="34" charset="0"/>
                    <a:cs typeface="Segoe UI" pitchFamily="34" charset="0"/>
                  </a:rPr>
                  <a:t>ID</a:t>
                </a:r>
              </a:p>
            </p:txBody>
          </p:sp>
          <p:sp>
            <p:nvSpPr>
              <p:cNvPr id="14" name="&quot;Prefix assigned ... &quot;"/>
              <p:cNvSpPr>
                <a:spLocks noChangeArrowheads="1"/>
              </p:cNvSpPr>
              <p:nvPr/>
            </p:nvSpPr>
            <p:spPr bwMode="auto">
              <a:xfrm>
                <a:off x="2267980" y="4868802"/>
                <a:ext cx="2016125" cy="1639532"/>
              </a:xfrm>
              <a:prstGeom prst="roundRect">
                <a:avLst>
                  <a:gd name="adj" fmla="val 4167"/>
                </a:avLst>
              </a:prstGeom>
              <a:ln w="31750">
                <a:solidFill>
                  <a:schemeClr val="accent5">
                    <a:lumMod val="50000"/>
                  </a:schemeClr>
                </a:solidFill>
                <a:headEnd/>
                <a:tailEnd/>
              </a:ln>
            </p:spPr>
            <p:style>
              <a:lnRef idx="2">
                <a:schemeClr val="accent1"/>
              </a:lnRef>
              <a:fillRef idx="1">
                <a:schemeClr val="lt1"/>
              </a:fillRef>
              <a:effectRef idx="0">
                <a:schemeClr val="accent1"/>
              </a:effectRef>
              <a:fontRef idx="minor">
                <a:schemeClr val="dk1"/>
              </a:fontRef>
            </p:style>
            <p:txBody>
              <a:bodyPr wrap="square" lIns="72000" tIns="36000" rIns="72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90000"/>
                  </a:lnSpc>
                </a:pPr>
                <a:r>
                  <a:rPr lang="en-US" sz="2600" b="0" dirty="0">
                    <a:latin typeface="Segoe UI" pitchFamily="34" charset="0"/>
                    <a:ea typeface="Segoe UI" pitchFamily="34" charset="0"/>
                    <a:cs typeface="Segoe UI" pitchFamily="34" charset="0"/>
                  </a:rPr>
                  <a:t>Prefix </a:t>
                </a:r>
                <a:r>
                  <a:rPr lang="en-US" sz="2600" b="0" dirty="0" smtClean="0">
                    <a:latin typeface="Segoe UI" pitchFamily="34" charset="0"/>
                    <a:ea typeface="Segoe UI" pitchFamily="34" charset="0"/>
                    <a:cs typeface="Segoe UI" pitchFamily="34" charset="0"/>
                  </a:rPr>
                  <a:t>Assigned to Top-level ISPs</a:t>
                </a:r>
                <a:endParaRPr lang="en-US" sz="2600" b="0" dirty="0">
                  <a:latin typeface="Segoe UI" pitchFamily="34" charset="0"/>
                  <a:ea typeface="Segoe UI" pitchFamily="34" charset="0"/>
                  <a:cs typeface="Segoe UI" pitchFamily="34" charset="0"/>
                </a:endParaRPr>
              </a:p>
            </p:txBody>
          </p:sp>
          <p:sp>
            <p:nvSpPr>
              <p:cNvPr id="15" name="&quot;Subnet bits for...&quot;"/>
              <p:cNvSpPr>
                <a:spLocks noChangeArrowheads="1"/>
              </p:cNvSpPr>
              <p:nvPr/>
            </p:nvSpPr>
            <p:spPr bwMode="auto">
              <a:xfrm>
                <a:off x="4550805" y="4968393"/>
                <a:ext cx="2275776" cy="1440350"/>
              </a:xfrm>
              <a:prstGeom prst="roundRect">
                <a:avLst>
                  <a:gd name="adj" fmla="val 4167"/>
                </a:avLst>
              </a:prstGeom>
              <a:solidFill>
                <a:schemeClr val="bg1"/>
              </a:solidFill>
              <a:ln w="31750" algn="ctr">
                <a:solidFill>
                  <a:schemeClr val="accent5">
                    <a:lumMod val="50000"/>
                  </a:schemeClr>
                </a:solidFill>
                <a:round/>
                <a:headEnd/>
                <a:tailEnd/>
              </a:ln>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Subnet </a:t>
                </a:r>
                <a:r>
                  <a:rPr lang="en-US" sz="2600" b="0" dirty="0" smtClean="0">
                    <a:latin typeface="Segoe UI" pitchFamily="34" charset="0"/>
                    <a:ea typeface="Segoe UI" pitchFamily="34" charset="0"/>
                    <a:cs typeface="Segoe UI" pitchFamily="34" charset="0"/>
                  </a:rPr>
                  <a:t>Bits for Organizations</a:t>
                </a:r>
                <a:endParaRPr lang="en-US" sz="2600" b="0" dirty="0">
                  <a:latin typeface="Segoe UI" pitchFamily="34" charset="0"/>
                  <a:ea typeface="Segoe UI" pitchFamily="34" charset="0"/>
                  <a:cs typeface="Segoe UI" pitchFamily="34" charset="0"/>
                </a:endParaRPr>
              </a:p>
            </p:txBody>
          </p:sp>
        </p:grpSp>
        <p:sp>
          <p:nvSpPr>
            <p:cNvPr id="6" name="red vertical line 66" descr="&quot;&quot;"/>
            <p:cNvSpPr>
              <a:spLocks noChangeShapeType="1"/>
            </p:cNvSpPr>
            <p:nvPr/>
          </p:nvSpPr>
          <p:spPr bwMode="auto">
            <a:xfrm>
              <a:off x="487162" y="2859293"/>
              <a:ext cx="0" cy="90224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sp>
        <p:nvSpPr>
          <p:cNvPr id="32" name="text box of 3 bullets"/>
          <p:cNvSpPr>
            <a:spLocks noGrp="1"/>
          </p:cNvSpPr>
          <p:nvPr/>
        </p:nvSpPr>
        <p:spPr bwMode="auto">
          <a:xfrm>
            <a:off x="483334" y="1059192"/>
            <a:ext cx="7130844" cy="1664797"/>
          </a:xfrm>
          <a:prstGeom prst="rect">
            <a:avLst/>
          </a:prstGeom>
          <a:noFill/>
          <a:ln w="9525">
            <a:noFill/>
            <a:miter lim="800000"/>
            <a:headEnd/>
            <a:tailEnd/>
          </a:ln>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dk1"/>
                </a:solidFill>
                <a:latin typeface="+mn-lt"/>
                <a:ea typeface="+mn-ea"/>
                <a:cs typeface="+mn-cs"/>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dk1"/>
                </a:solidFill>
                <a:latin typeface="+mn-lt"/>
                <a:ea typeface="+mn-ea"/>
                <a:cs typeface="+mn-cs"/>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dk1"/>
                </a:solidFill>
                <a:latin typeface="+mn-lt"/>
                <a:ea typeface="+mn-ea"/>
                <a:cs typeface="+mn-cs"/>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dk1"/>
                </a:solidFill>
                <a:latin typeface="+mn-lt"/>
                <a:ea typeface="+mn-ea"/>
                <a:cs typeface="+mn-cs"/>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dk1"/>
                </a:solidFill>
                <a:latin typeface="+mn-lt"/>
                <a:ea typeface="+mn-ea"/>
                <a:cs typeface="+mn-cs"/>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9pPr>
          </a:lstStyle>
          <a:p>
            <a:r>
              <a:rPr lang="en-US" sz="2600" dirty="0" smtClean="0">
                <a:latin typeface="Segoe UI" pitchFamily="34" charset="0"/>
                <a:ea typeface="Segoe UI" pitchFamily="34" charset="0"/>
                <a:cs typeface="Segoe UI" pitchFamily="34" charset="0"/>
              </a:rPr>
              <a:t>Are routable on the Ipv6 Internet</a:t>
            </a:r>
          </a:p>
          <a:p>
            <a:r>
              <a:rPr lang="en-US" sz="2600" dirty="0" smtClean="0">
                <a:latin typeface="Segoe UI" pitchFamily="34" charset="0"/>
                <a:ea typeface="Segoe UI" pitchFamily="34" charset="0"/>
                <a:cs typeface="Segoe UI" pitchFamily="34" charset="0"/>
              </a:rPr>
              <a:t>Allocate 16 bits for internal subnetting</a:t>
            </a:r>
          </a:p>
          <a:p>
            <a:r>
              <a:rPr lang="en-US" sz="2600" dirty="0" smtClean="0">
                <a:latin typeface="Segoe UI" pitchFamily="34" charset="0"/>
                <a:ea typeface="Segoe UI" pitchFamily="34" charset="0"/>
                <a:cs typeface="Segoe UI" pitchFamily="34" charset="0"/>
              </a:rPr>
              <a:t>Begin with 2 or 3 (2000::/3)</a:t>
            </a:r>
          </a:p>
        </p:txBody>
      </p:sp>
    </p:spTree>
    <p:extLst>
      <p:ext uri="{BB962C8B-B14F-4D97-AF65-F5344CB8AC3E}">
        <p14:creationId xmlns:p14="http://schemas.microsoft.com/office/powerpoint/2010/main" val="3180855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394ca328-3e16-40f4-9736-35d7ee6e763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Unique Local Unicast Addresses</a:t>
            </a:r>
            <a:endParaRPr lang="en-CA" dirty="0"/>
          </a:p>
        </p:txBody>
      </p:sp>
      <p:grpSp>
        <p:nvGrpSpPr>
          <p:cNvPr id="4" name="Group 3"/>
          <p:cNvGrpSpPr/>
          <p:nvPr/>
        </p:nvGrpSpPr>
        <p:grpSpPr>
          <a:xfrm>
            <a:off x="514378" y="4534776"/>
            <a:ext cx="8163169" cy="1045231"/>
            <a:chOff x="361707" y="4690205"/>
            <a:chExt cx="8163169" cy="1045231"/>
          </a:xfrm>
        </p:grpSpPr>
        <p:grpSp>
          <p:nvGrpSpPr>
            <p:cNvPr id="5" name="Group 4"/>
            <p:cNvGrpSpPr/>
            <p:nvPr/>
          </p:nvGrpSpPr>
          <p:grpSpPr>
            <a:xfrm>
              <a:off x="361707" y="4690205"/>
              <a:ext cx="8163169" cy="1045231"/>
              <a:chOff x="361707" y="4690205"/>
              <a:chExt cx="8163169" cy="1045231"/>
            </a:xfrm>
          </p:grpSpPr>
          <p:sp>
            <p:nvSpPr>
              <p:cNvPr id="11" name="Rectangle 10" descr="&quot;&quot;"/>
              <p:cNvSpPr/>
              <p:nvPr/>
            </p:nvSpPr>
            <p:spPr bwMode="auto">
              <a:xfrm>
                <a:off x="361707" y="4690923"/>
                <a:ext cx="1449675"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2" name="Rectangle 11" descr="&quot;&quot;"/>
              <p:cNvSpPr/>
              <p:nvPr/>
            </p:nvSpPr>
            <p:spPr bwMode="auto">
              <a:xfrm>
                <a:off x="1811381" y="4690205"/>
                <a:ext cx="2739185"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3" name="Rectangle 12" descr="&quot;&quot;"/>
              <p:cNvSpPr/>
              <p:nvPr/>
            </p:nvSpPr>
            <p:spPr bwMode="auto">
              <a:xfrm>
                <a:off x="4550566" y="4691436"/>
                <a:ext cx="1643858"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4" name="Rectangle 13" descr="&quot;&quot;"/>
              <p:cNvSpPr/>
              <p:nvPr/>
            </p:nvSpPr>
            <p:spPr bwMode="auto">
              <a:xfrm>
                <a:off x="6194424" y="4690713"/>
                <a:ext cx="2330452" cy="1044000"/>
              </a:xfrm>
              <a:prstGeom prst="rect">
                <a:avLst/>
              </a:prstGeom>
              <a:solidFill>
                <a:srgbClr val="ECEBC1"/>
              </a:solid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grpSp>
        <p:grpSp>
          <p:nvGrpSpPr>
            <p:cNvPr id="6" name="Group 5"/>
            <p:cNvGrpSpPr/>
            <p:nvPr/>
          </p:nvGrpSpPr>
          <p:grpSpPr>
            <a:xfrm>
              <a:off x="373768" y="5036029"/>
              <a:ext cx="7806142" cy="339103"/>
              <a:chOff x="373768" y="5036029"/>
              <a:chExt cx="7806142" cy="339103"/>
            </a:xfrm>
          </p:grpSpPr>
          <p:sp>
            <p:nvSpPr>
              <p:cNvPr id="7" name="TextBox 4"/>
              <p:cNvSpPr txBox="1"/>
              <p:nvPr/>
            </p:nvSpPr>
            <p:spPr>
              <a:xfrm>
                <a:off x="373768" y="5036029"/>
                <a:ext cx="1363177"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11111110</a:t>
                </a:r>
                <a:endParaRPr lang="en-CA" sz="2200" dirty="0">
                  <a:latin typeface="Segoe UI" pitchFamily="34" charset="0"/>
                  <a:ea typeface="Segoe UI" pitchFamily="34" charset="0"/>
                  <a:cs typeface="Segoe UI" pitchFamily="34" charset="0"/>
                </a:endParaRPr>
              </a:p>
            </p:txBody>
          </p:sp>
          <p:sp>
            <p:nvSpPr>
              <p:cNvPr id="8" name="TextBox 8"/>
              <p:cNvSpPr txBox="1"/>
              <p:nvPr/>
            </p:nvSpPr>
            <p:spPr>
              <a:xfrm>
                <a:off x="4679196" y="5036325"/>
                <a:ext cx="1386598"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Subnet ID</a:t>
                </a:r>
                <a:endParaRPr lang="en-CA" sz="2200" dirty="0">
                  <a:latin typeface="Segoe UI" pitchFamily="34" charset="0"/>
                  <a:ea typeface="Segoe UI" pitchFamily="34" charset="0"/>
                  <a:cs typeface="Segoe UI" pitchFamily="34" charset="0"/>
                </a:endParaRPr>
              </a:p>
            </p:txBody>
          </p:sp>
          <p:sp>
            <p:nvSpPr>
              <p:cNvPr id="9" name="TextBox 9"/>
              <p:cNvSpPr txBox="1"/>
              <p:nvPr/>
            </p:nvSpPr>
            <p:spPr>
              <a:xfrm>
                <a:off x="6539389" y="5036029"/>
                <a:ext cx="1640521"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Interface ID</a:t>
                </a:r>
                <a:endParaRPr lang="en-CA" sz="2200" dirty="0">
                  <a:latin typeface="Segoe UI" pitchFamily="34" charset="0"/>
                  <a:ea typeface="Segoe UI" pitchFamily="34" charset="0"/>
                  <a:cs typeface="Segoe UI" pitchFamily="34" charset="0"/>
                </a:endParaRPr>
              </a:p>
            </p:txBody>
          </p:sp>
          <p:sp>
            <p:nvSpPr>
              <p:cNvPr id="10" name="TextBox 6"/>
              <p:cNvSpPr txBox="1"/>
              <p:nvPr/>
            </p:nvSpPr>
            <p:spPr>
              <a:xfrm>
                <a:off x="2022998" y="5036578"/>
                <a:ext cx="2241050"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Organization ID</a:t>
                </a:r>
                <a:endParaRPr lang="en-CA" sz="2200" dirty="0">
                  <a:latin typeface="Segoe UI" pitchFamily="34" charset="0"/>
                  <a:ea typeface="Segoe UI" pitchFamily="34" charset="0"/>
                  <a:cs typeface="Segoe UI" pitchFamily="34" charset="0"/>
                </a:endParaRPr>
              </a:p>
            </p:txBody>
          </p:sp>
        </p:grpSp>
      </p:grpSp>
      <p:grpSp>
        <p:nvGrpSpPr>
          <p:cNvPr id="15" name="Group 14"/>
          <p:cNvGrpSpPr/>
          <p:nvPr/>
        </p:nvGrpSpPr>
        <p:grpSpPr>
          <a:xfrm>
            <a:off x="514379" y="5597634"/>
            <a:ext cx="1497474" cy="935133"/>
            <a:chOff x="514379" y="5597634"/>
            <a:chExt cx="1497474" cy="935133"/>
          </a:xfrm>
        </p:grpSpPr>
        <p:sp>
          <p:nvSpPr>
            <p:cNvPr id="16" name="TextBox 33"/>
            <p:cNvSpPr txBox="1"/>
            <p:nvPr/>
          </p:nvSpPr>
          <p:spPr>
            <a:xfrm>
              <a:off x="514379" y="6172668"/>
              <a:ext cx="1497474" cy="360099"/>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FD00::/8</a:t>
              </a:r>
            </a:p>
          </p:txBody>
        </p:sp>
        <p:grpSp>
          <p:nvGrpSpPr>
            <p:cNvPr id="17" name="Group 16"/>
            <p:cNvGrpSpPr/>
            <p:nvPr/>
          </p:nvGrpSpPr>
          <p:grpSpPr>
            <a:xfrm>
              <a:off x="519215" y="5597634"/>
              <a:ext cx="1440000" cy="565898"/>
              <a:chOff x="457837" y="5975194"/>
              <a:chExt cx="1440000" cy="565898"/>
            </a:xfrm>
          </p:grpSpPr>
          <p:cxnSp>
            <p:nvCxnSpPr>
              <p:cNvPr id="18" name="Straight Arrow Connector 17" descr="&quot;&quot;"/>
              <p:cNvCxnSpPr/>
              <p:nvPr/>
            </p:nvCxnSpPr>
            <p:spPr bwMode="auto">
              <a:xfrm rot="16200000">
                <a:off x="298903" y="6152599"/>
                <a:ext cx="360000"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19" name="Straight Arrow Connector 18" descr="&quot;&quot;"/>
              <p:cNvCxnSpPr/>
              <p:nvPr/>
            </p:nvCxnSpPr>
            <p:spPr bwMode="auto">
              <a:xfrm rot="16200000">
                <a:off x="1715242" y="6152599"/>
                <a:ext cx="360000"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20" name="Straight Connector 19" descr="&quot;&quot;"/>
              <p:cNvCxnSpPr/>
              <p:nvPr/>
            </p:nvCxnSpPr>
            <p:spPr bwMode="auto">
              <a:xfrm>
                <a:off x="1141852" y="6285942"/>
                <a:ext cx="0" cy="255150"/>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21" name="Straight Connector 20" descr="&quot;&quot;"/>
              <p:cNvCxnSpPr/>
              <p:nvPr/>
            </p:nvCxnSpPr>
            <p:spPr bwMode="auto">
              <a:xfrm rot="5400000">
                <a:off x="1177837" y="5591485"/>
                <a:ext cx="0" cy="1440000"/>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grpSp>
      </p:grpSp>
      <p:grpSp>
        <p:nvGrpSpPr>
          <p:cNvPr id="22" name="alt-text here, Group 14" descr="The graphic on this slide depicts how the bits are allocated for unique local IPv6 addresses:&#10;•The first 8 bits are 11111110. These bits identify it a unique local unicast address.&#10;•The next 40 bits are the organization ID, which uniquely identifies an organization.&#10;•The next 16 bits are the subnet bits, which are used to create networks inside the organization.&#10;•The final 64 bits are the interface ID that identifies clients on the network.&#10;&#10;"/>
          <p:cNvGrpSpPr/>
          <p:nvPr/>
        </p:nvGrpSpPr>
        <p:grpSpPr>
          <a:xfrm>
            <a:off x="519850" y="3686519"/>
            <a:ext cx="8163169" cy="815306"/>
            <a:chOff x="458319" y="4094887"/>
            <a:chExt cx="8163169" cy="815306"/>
          </a:xfrm>
        </p:grpSpPr>
        <p:grpSp>
          <p:nvGrpSpPr>
            <p:cNvPr id="23" name="Group 22"/>
            <p:cNvGrpSpPr/>
            <p:nvPr/>
          </p:nvGrpSpPr>
          <p:grpSpPr>
            <a:xfrm>
              <a:off x="458319" y="4180113"/>
              <a:ext cx="8163169" cy="730080"/>
              <a:chOff x="458319" y="4510316"/>
              <a:chExt cx="8163169" cy="399878"/>
            </a:xfrm>
          </p:grpSpPr>
          <p:cxnSp>
            <p:nvCxnSpPr>
              <p:cNvPr id="38" name="Straight Connector 37" descr="&quot;&quot;"/>
              <p:cNvCxnSpPr/>
              <p:nvPr/>
            </p:nvCxnSpPr>
            <p:spPr bwMode="auto">
              <a:xfrm>
                <a:off x="1907994" y="4515911"/>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39" name="Straight Connector 38" descr="&quot;&quot;"/>
              <p:cNvCxnSpPr/>
              <p:nvPr/>
            </p:nvCxnSpPr>
            <p:spPr bwMode="auto">
              <a:xfrm>
                <a:off x="458319" y="4515911"/>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0" name="Straight Connector 39" descr="&quot;&quot;"/>
              <p:cNvCxnSpPr/>
              <p:nvPr/>
            </p:nvCxnSpPr>
            <p:spPr bwMode="auto">
              <a:xfrm>
                <a:off x="4647178" y="4510318"/>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1" name="Straight Connector 40" descr="&quot;&quot;"/>
              <p:cNvCxnSpPr/>
              <p:nvPr/>
            </p:nvCxnSpPr>
            <p:spPr bwMode="auto">
              <a:xfrm>
                <a:off x="6284535" y="4510317"/>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2" name="Straight Connector 41" descr="&quot;&quot;"/>
              <p:cNvCxnSpPr/>
              <p:nvPr/>
            </p:nvCxnSpPr>
            <p:spPr bwMode="auto">
              <a:xfrm>
                <a:off x="8621488" y="4510316"/>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grpSp>
        <p:grpSp>
          <p:nvGrpSpPr>
            <p:cNvPr id="24" name="Group 23"/>
            <p:cNvGrpSpPr/>
            <p:nvPr/>
          </p:nvGrpSpPr>
          <p:grpSpPr>
            <a:xfrm>
              <a:off x="481498" y="4530517"/>
              <a:ext cx="8089371" cy="21827"/>
              <a:chOff x="481498" y="4530517"/>
              <a:chExt cx="8089371" cy="21827"/>
            </a:xfrm>
          </p:grpSpPr>
          <p:cxnSp>
            <p:nvCxnSpPr>
              <p:cNvPr id="30" name="Straight Arrow Connector 29" descr="&quot;&quot;"/>
              <p:cNvCxnSpPr/>
              <p:nvPr/>
            </p:nvCxnSpPr>
            <p:spPr bwMode="auto">
              <a:xfrm>
                <a:off x="1430953" y="4539842"/>
                <a:ext cx="413722"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1" name="Straight Arrow Connector 30" descr="&quot;&quot;"/>
              <p:cNvCxnSpPr/>
              <p:nvPr/>
            </p:nvCxnSpPr>
            <p:spPr bwMode="auto">
              <a:xfrm flipV="1">
                <a:off x="7740650" y="4541160"/>
                <a:ext cx="830219" cy="15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2" name="Straight Arrow Connector 31" descr="&quot;&quot;"/>
              <p:cNvCxnSpPr/>
              <p:nvPr/>
            </p:nvCxnSpPr>
            <p:spPr bwMode="auto">
              <a:xfrm>
                <a:off x="5787660" y="4545394"/>
                <a:ext cx="447005" cy="695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3" name="Straight Arrow Connector 32" descr="&quot;&quot;"/>
              <p:cNvCxnSpPr/>
              <p:nvPr/>
            </p:nvCxnSpPr>
            <p:spPr bwMode="auto">
              <a:xfrm>
                <a:off x="3717925" y="4545031"/>
                <a:ext cx="871350" cy="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4" name="Straight Arrow Connector 33" descr="&quot;&quot;"/>
              <p:cNvCxnSpPr/>
              <p:nvPr/>
            </p:nvCxnSpPr>
            <p:spPr bwMode="auto">
              <a:xfrm rot="10800000" flipV="1">
                <a:off x="6336000" y="4530517"/>
                <a:ext cx="720000" cy="15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5" name="Straight Arrow Connector 34" descr="&quot;&quot;"/>
              <p:cNvCxnSpPr/>
              <p:nvPr/>
            </p:nvCxnSpPr>
            <p:spPr bwMode="auto">
              <a:xfrm rot="10800000">
                <a:off x="4667081" y="4541442"/>
                <a:ext cx="447005" cy="695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6" name="Straight Arrow Connector 35" descr="&quot;&quot;"/>
              <p:cNvCxnSpPr/>
              <p:nvPr/>
            </p:nvCxnSpPr>
            <p:spPr bwMode="auto">
              <a:xfrm rot="10800000">
                <a:off x="1950322" y="4538222"/>
                <a:ext cx="871350" cy="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7" name="Straight Arrow Connector 36" descr="&quot;&quot;"/>
              <p:cNvCxnSpPr/>
              <p:nvPr/>
            </p:nvCxnSpPr>
            <p:spPr bwMode="auto">
              <a:xfrm flipH="1" flipV="1">
                <a:off x="481498" y="4549964"/>
                <a:ext cx="361513" cy="1"/>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grpSp>
        <p:grpSp>
          <p:nvGrpSpPr>
            <p:cNvPr id="25" name="Group 24"/>
            <p:cNvGrpSpPr/>
            <p:nvPr/>
          </p:nvGrpSpPr>
          <p:grpSpPr>
            <a:xfrm>
              <a:off x="812358" y="4094887"/>
              <a:ext cx="6949449" cy="737951"/>
              <a:chOff x="812358" y="4094887"/>
              <a:chExt cx="6949449" cy="737951"/>
            </a:xfrm>
          </p:grpSpPr>
          <p:sp>
            <p:nvSpPr>
              <p:cNvPr id="26" name="TextBox 55"/>
              <p:cNvSpPr txBox="1"/>
              <p:nvPr/>
            </p:nvSpPr>
            <p:spPr>
              <a:xfrm>
                <a:off x="2884761" y="4105611"/>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40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7" name="TextBox 56"/>
              <p:cNvSpPr txBox="1"/>
              <p:nvPr/>
            </p:nvSpPr>
            <p:spPr>
              <a:xfrm>
                <a:off x="5114086" y="4101159"/>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16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8" name="TextBox 57"/>
              <p:cNvSpPr txBox="1"/>
              <p:nvPr/>
            </p:nvSpPr>
            <p:spPr>
              <a:xfrm>
                <a:off x="7051765" y="4094887"/>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64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9" name="TextBox 38"/>
              <p:cNvSpPr txBox="1"/>
              <p:nvPr/>
            </p:nvSpPr>
            <p:spPr>
              <a:xfrm>
                <a:off x="812358" y="4112641"/>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8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grpSp>
      </p:grpSp>
      <p:sp>
        <p:nvSpPr>
          <p:cNvPr id="43" name="text box"/>
          <p:cNvSpPr/>
          <p:nvPr/>
        </p:nvSpPr>
        <p:spPr>
          <a:xfrm>
            <a:off x="503950" y="1124250"/>
            <a:ext cx="7228956" cy="1754326"/>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7200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lvl="0"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Are equivalent to IPv4 private addresses</a:t>
            </a:r>
          </a:p>
          <a:p>
            <a:pPr marL="174625" lvl="0"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Require the organization ID to be randomly generated</a:t>
            </a:r>
          </a:p>
          <a:p>
            <a:pPr marL="174625"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Allocates 16 bits for internal subnetting</a:t>
            </a:r>
          </a:p>
        </p:txBody>
      </p:sp>
    </p:spTree>
    <p:extLst>
      <p:ext uri="{BB962C8B-B14F-4D97-AF65-F5344CB8AC3E}">
        <p14:creationId xmlns:p14="http://schemas.microsoft.com/office/powerpoint/2010/main" val="222229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86bd53d5-19b8-42e7-bca3-97bc2ced157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Link-Local Unicast Addresses</a:t>
            </a:r>
            <a:endParaRPr lang="en-CA" dirty="0"/>
          </a:p>
        </p:txBody>
      </p:sp>
      <p:grpSp>
        <p:nvGrpSpPr>
          <p:cNvPr id="4" name="Group 3" descr="&quot;&quot;"/>
          <p:cNvGrpSpPr/>
          <p:nvPr/>
        </p:nvGrpSpPr>
        <p:grpSpPr>
          <a:xfrm>
            <a:off x="786830" y="5044936"/>
            <a:ext cx="7392045" cy="684839"/>
            <a:chOff x="800100" y="5000076"/>
            <a:chExt cx="7392045" cy="684839"/>
          </a:xfrm>
        </p:grpSpPr>
        <p:sp>
          <p:nvSpPr>
            <p:cNvPr id="5" name="Rectangle 4" descr="&quot;&quot;&#10;"/>
            <p:cNvSpPr>
              <a:spLocks noChangeArrowheads="1"/>
            </p:cNvSpPr>
            <p:nvPr/>
          </p:nvSpPr>
          <p:spPr bwMode="auto">
            <a:xfrm>
              <a:off x="3419475" y="5000076"/>
              <a:ext cx="2262783" cy="684839"/>
            </a:xfrm>
            <a:prstGeom prst="rect">
              <a:avLst/>
            </a:prstGeom>
            <a:no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a:latin typeface="Segoe UI" pitchFamily="34" charset="0"/>
                  <a:ea typeface="Segoe UI" pitchFamily="34" charset="0"/>
                  <a:cs typeface="Segoe UI" pitchFamily="34" charset="0"/>
                </a:rPr>
                <a:t>000 . . . 000</a:t>
              </a:r>
            </a:p>
          </p:txBody>
        </p:sp>
        <p:sp>
          <p:nvSpPr>
            <p:cNvPr id="6" name="Rectangle 5" descr="&quot;&quot;&#10;"/>
            <p:cNvSpPr>
              <a:spLocks noChangeArrowheads="1"/>
            </p:cNvSpPr>
            <p:nvPr/>
          </p:nvSpPr>
          <p:spPr bwMode="auto">
            <a:xfrm>
              <a:off x="800100" y="5000076"/>
              <a:ext cx="2619375" cy="684839"/>
            </a:xfrm>
            <a:prstGeom prst="rect">
              <a:avLst/>
            </a:prstGeom>
            <a:no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smtClean="0">
                  <a:latin typeface="Segoe UI" pitchFamily="34" charset="0"/>
                  <a:ea typeface="Segoe UI" pitchFamily="34" charset="0"/>
                  <a:cs typeface="Segoe UI" pitchFamily="34" charset="0"/>
                </a:rPr>
                <a:t>1111  1110  10</a:t>
              </a:r>
              <a:endParaRPr lang="en-US" sz="2600" dirty="0">
                <a:latin typeface="Segoe UI" pitchFamily="34" charset="0"/>
                <a:ea typeface="Segoe UI" pitchFamily="34" charset="0"/>
                <a:cs typeface="Segoe UI" pitchFamily="34" charset="0"/>
              </a:endParaRPr>
            </a:p>
          </p:txBody>
        </p:sp>
        <p:sp>
          <p:nvSpPr>
            <p:cNvPr id="7" name="Rectangle 6" descr="&quot;&quot;&#10;"/>
            <p:cNvSpPr>
              <a:spLocks noChangeArrowheads="1"/>
            </p:cNvSpPr>
            <p:nvPr/>
          </p:nvSpPr>
          <p:spPr bwMode="auto">
            <a:xfrm>
              <a:off x="5682258" y="5000076"/>
              <a:ext cx="2509887" cy="684839"/>
            </a:xfrm>
            <a:prstGeom prst="rect">
              <a:avLst/>
            </a:prstGeom>
            <a:solidFill>
              <a:srgbClr val="E4E4BF"/>
            </a:solid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a:latin typeface="Segoe UI" pitchFamily="34" charset="0"/>
                  <a:ea typeface="Segoe UI" pitchFamily="34" charset="0"/>
                  <a:cs typeface="Segoe UI" pitchFamily="34" charset="0"/>
                </a:rPr>
                <a:t>Interface ID</a:t>
              </a:r>
            </a:p>
          </p:txBody>
        </p:sp>
      </p:grpSp>
      <p:grpSp>
        <p:nvGrpSpPr>
          <p:cNvPr id="8" name="Group 7"/>
          <p:cNvGrpSpPr/>
          <p:nvPr/>
        </p:nvGrpSpPr>
        <p:grpSpPr>
          <a:xfrm>
            <a:off x="789988" y="4221123"/>
            <a:ext cx="7356093" cy="802610"/>
            <a:chOff x="789988" y="4437029"/>
            <a:chExt cx="7356093" cy="802610"/>
          </a:xfrm>
        </p:grpSpPr>
        <p:grpSp>
          <p:nvGrpSpPr>
            <p:cNvPr id="9" name="Group 8"/>
            <p:cNvGrpSpPr/>
            <p:nvPr/>
          </p:nvGrpSpPr>
          <p:grpSpPr>
            <a:xfrm>
              <a:off x="789988" y="4696322"/>
              <a:ext cx="7356093" cy="543317"/>
              <a:chOff x="584409" y="4407221"/>
              <a:chExt cx="7356093" cy="543317"/>
            </a:xfrm>
          </p:grpSpPr>
          <p:sp>
            <p:nvSpPr>
              <p:cNvPr id="14" name="Line 87" descr="&quot;&quot;"/>
              <p:cNvSpPr>
                <a:spLocks noChangeShapeType="1"/>
              </p:cNvSpPr>
              <p:nvPr/>
            </p:nvSpPr>
            <p:spPr bwMode="auto">
              <a:xfrm>
                <a:off x="584409" y="4407221"/>
                <a:ext cx="0" cy="5387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5" name="Line 88" descr="&quot;&quot;"/>
              <p:cNvSpPr>
                <a:spLocks noChangeShapeType="1"/>
              </p:cNvSpPr>
              <p:nvPr/>
            </p:nvSpPr>
            <p:spPr bwMode="auto">
              <a:xfrm flipH="1">
                <a:off x="5460377" y="4412976"/>
                <a:ext cx="0" cy="53641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6" name="Line 89" descr="&quot;&quot;"/>
              <p:cNvSpPr>
                <a:spLocks noChangeShapeType="1"/>
              </p:cNvSpPr>
              <p:nvPr/>
            </p:nvSpPr>
            <p:spPr bwMode="auto">
              <a:xfrm>
                <a:off x="7940502" y="4412976"/>
                <a:ext cx="0" cy="53295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7" name="Line 90" descr="&quot;&quot;"/>
              <p:cNvSpPr>
                <a:spLocks noChangeShapeType="1"/>
              </p:cNvSpPr>
              <p:nvPr/>
            </p:nvSpPr>
            <p:spPr bwMode="auto">
              <a:xfrm flipV="1">
                <a:off x="3223420" y="4752550"/>
                <a:ext cx="2192883" cy="4604"/>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8" name="Line 92" descr="&quot;&quot;"/>
              <p:cNvSpPr>
                <a:spLocks noChangeShapeType="1"/>
              </p:cNvSpPr>
              <p:nvPr/>
            </p:nvSpPr>
            <p:spPr bwMode="auto">
              <a:xfrm>
                <a:off x="5465747" y="4749097"/>
                <a:ext cx="2447432"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9" name="Line 94" descr="&quot;&quot;"/>
              <p:cNvSpPr>
                <a:spLocks noChangeShapeType="1"/>
              </p:cNvSpPr>
              <p:nvPr/>
            </p:nvSpPr>
            <p:spPr bwMode="auto">
              <a:xfrm>
                <a:off x="611191" y="4754852"/>
                <a:ext cx="2552700" cy="2302"/>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0" name="Line 101" descr="&quot;&quot;"/>
              <p:cNvSpPr>
                <a:spLocks noChangeShapeType="1"/>
              </p:cNvSpPr>
              <p:nvPr/>
            </p:nvSpPr>
            <p:spPr bwMode="auto">
              <a:xfrm flipH="1">
                <a:off x="3194428" y="4412976"/>
                <a:ext cx="2602" cy="53756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10" name="Group 9"/>
            <p:cNvGrpSpPr/>
            <p:nvPr/>
          </p:nvGrpSpPr>
          <p:grpSpPr>
            <a:xfrm>
              <a:off x="1649295" y="4437029"/>
              <a:ext cx="5715844" cy="685828"/>
              <a:chOff x="1368512" y="4242614"/>
              <a:chExt cx="5715844" cy="685828"/>
            </a:xfrm>
          </p:grpSpPr>
          <p:sp>
            <p:nvSpPr>
              <p:cNvPr id="11" name="Rectangle 10"/>
              <p:cNvSpPr>
                <a:spLocks noChangeArrowheads="1"/>
              </p:cNvSpPr>
              <p:nvPr/>
            </p:nvSpPr>
            <p:spPr bwMode="auto">
              <a:xfrm>
                <a:off x="6319290" y="4242614"/>
                <a:ext cx="765066"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64 bits</a:t>
                </a:r>
              </a:p>
            </p:txBody>
          </p:sp>
          <p:sp>
            <p:nvSpPr>
              <p:cNvPr id="12" name="Rectangle 11"/>
              <p:cNvSpPr>
                <a:spLocks noChangeArrowheads="1"/>
              </p:cNvSpPr>
              <p:nvPr/>
            </p:nvSpPr>
            <p:spPr bwMode="auto">
              <a:xfrm>
                <a:off x="3870364" y="4246067"/>
                <a:ext cx="761163"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54 bits</a:t>
                </a:r>
              </a:p>
            </p:txBody>
          </p:sp>
          <p:sp>
            <p:nvSpPr>
              <p:cNvPr id="13" name="Rectangle 12"/>
              <p:cNvSpPr>
                <a:spLocks noChangeArrowheads="1"/>
              </p:cNvSpPr>
              <p:nvPr/>
            </p:nvSpPr>
            <p:spPr bwMode="auto">
              <a:xfrm>
                <a:off x="1368512" y="4248256"/>
                <a:ext cx="729936"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10 bits</a:t>
                </a:r>
              </a:p>
            </p:txBody>
          </p:sp>
        </p:grpSp>
      </p:grpSp>
      <p:grpSp>
        <p:nvGrpSpPr>
          <p:cNvPr id="21" name="alt-text here, Group 28" descr="The graphic depicts the allocation of bits for link-local IPv6 addresses:&#10;•The first 10 bits are 1111 1110 10.&#10;•The next 54 bits are set to 0.&#10;•The final 64 bits are the interface ID.&#10;"/>
          <p:cNvGrpSpPr/>
          <p:nvPr/>
        </p:nvGrpSpPr>
        <p:grpSpPr>
          <a:xfrm>
            <a:off x="764489" y="5744647"/>
            <a:ext cx="2644048" cy="743084"/>
            <a:chOff x="744752" y="5634273"/>
            <a:chExt cx="2644048" cy="743084"/>
          </a:xfrm>
        </p:grpSpPr>
        <p:grpSp>
          <p:nvGrpSpPr>
            <p:cNvPr id="22" name="Group 21"/>
            <p:cNvGrpSpPr>
              <a:grpSpLocks/>
            </p:cNvGrpSpPr>
            <p:nvPr/>
          </p:nvGrpSpPr>
          <p:grpSpPr bwMode="auto">
            <a:xfrm flipV="1">
              <a:off x="744752" y="5634273"/>
              <a:ext cx="2644048" cy="363751"/>
              <a:chOff x="1395" y="867"/>
              <a:chExt cx="3574" cy="316"/>
            </a:xfrm>
          </p:grpSpPr>
          <p:sp>
            <p:nvSpPr>
              <p:cNvPr id="24" name="Line 97" descr="&quot;&quot;"/>
              <p:cNvSpPr>
                <a:spLocks noChangeShapeType="1"/>
              </p:cNvSpPr>
              <p:nvPr/>
            </p:nvSpPr>
            <p:spPr bwMode="auto">
              <a:xfrm rot="16200000" flipH="1">
                <a:off x="3177" y="-788"/>
                <a:ext cx="9" cy="357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Line 98" descr="&quot;&quot;"/>
              <p:cNvSpPr>
                <a:spLocks noChangeShapeType="1"/>
              </p:cNvSpPr>
              <p:nvPr/>
            </p:nvSpPr>
            <p:spPr bwMode="auto">
              <a:xfrm>
                <a:off x="1416" y="998"/>
                <a:ext cx="1" cy="18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Line 99" descr="&quot;&quot;"/>
              <p:cNvSpPr>
                <a:spLocks noChangeShapeType="1"/>
              </p:cNvSpPr>
              <p:nvPr/>
            </p:nvSpPr>
            <p:spPr bwMode="auto">
              <a:xfrm>
                <a:off x="4951" y="1001"/>
                <a:ext cx="1" cy="18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7" name="Line 100" descr="&quot;&quot;"/>
              <p:cNvSpPr>
                <a:spLocks noChangeShapeType="1"/>
              </p:cNvSpPr>
              <p:nvPr/>
            </p:nvSpPr>
            <p:spPr bwMode="auto">
              <a:xfrm flipV="1">
                <a:off x="3270" y="867"/>
                <a:ext cx="0" cy="14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sp>
          <p:nvSpPr>
            <p:cNvPr id="23" name="AutoShape 102"/>
            <p:cNvSpPr>
              <a:spLocks noChangeArrowheads="1"/>
            </p:cNvSpPr>
            <p:nvPr/>
          </p:nvSpPr>
          <p:spPr bwMode="auto">
            <a:xfrm>
              <a:off x="1334314" y="5991740"/>
              <a:ext cx="1464183" cy="385617"/>
            </a:xfrm>
            <a:prstGeom prst="roundRect">
              <a:avLst>
                <a:gd name="adj" fmla="val 4167"/>
              </a:avLst>
            </a:prstGeom>
            <a:solidFill>
              <a:schemeClr val="bg1"/>
            </a:solid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600" dirty="0" smtClean="0">
                  <a:latin typeface="Segoe UI" pitchFamily="34" charset="0"/>
                  <a:ea typeface="Segoe UI" pitchFamily="34" charset="0"/>
                  <a:cs typeface="Segoe UI" pitchFamily="34" charset="0"/>
                </a:rPr>
                <a:t>FE80::/8</a:t>
              </a:r>
              <a:endParaRPr lang="en-US" sz="2600" dirty="0">
                <a:latin typeface="Segoe UI" pitchFamily="34" charset="0"/>
                <a:ea typeface="Segoe UI" pitchFamily="34" charset="0"/>
                <a:cs typeface="Segoe UI" pitchFamily="34" charset="0"/>
              </a:endParaRPr>
            </a:p>
          </p:txBody>
        </p:sp>
      </p:grpSp>
      <p:sp>
        <p:nvSpPr>
          <p:cNvPr id="28" name="TextBox 26"/>
          <p:cNvSpPr txBox="1"/>
          <p:nvPr/>
        </p:nvSpPr>
        <p:spPr>
          <a:xfrm>
            <a:off x="450000" y="1047175"/>
            <a:ext cx="8400516" cy="2600712"/>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automatically generated on all IPv6 hosts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similar to IPv4 </a:t>
            </a:r>
            <a:r>
              <a:rPr lang="en-CA" sz="2400" b="0" dirty="0" smtClean="0">
                <a:latin typeface="Segoe UI" pitchFamily="34" charset="0"/>
                <a:ea typeface="Segoe UI" pitchFamily="34" charset="0"/>
                <a:cs typeface="Segoe UI" pitchFamily="34" charset="0"/>
              </a:rPr>
              <a:t>APIPA</a:t>
            </a:r>
            <a:r>
              <a:rPr lang="en-US" sz="2400" b="0" dirty="0" smtClean="0">
                <a:latin typeface="Segoe UI" pitchFamily="34" charset="0"/>
                <a:ea typeface="Segoe UI" pitchFamily="34" charset="0"/>
                <a:cs typeface="Segoe UI" pitchFamily="34" charset="0"/>
              </a:rPr>
              <a:t> </a:t>
            </a:r>
            <a:r>
              <a:rPr lang="en-US" sz="2400" b="0" dirty="0">
                <a:latin typeface="Segoe UI" pitchFamily="34" charset="0"/>
                <a:ea typeface="Segoe UI" pitchFamily="34" charset="0"/>
                <a:cs typeface="Segoe UI" pitchFamily="34" charset="0"/>
              </a:rPr>
              <a:t>addresses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sometimes used in place of broadcast messages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Include a zone ID that identifies the interface</a:t>
            </a:r>
          </a:p>
          <a:p>
            <a:pPr>
              <a:spcBef>
                <a:spcPts val="600"/>
              </a:spcBef>
              <a:buClr>
                <a:srgbClr val="0070C0"/>
              </a:buClr>
              <a:buSzPct val="90000"/>
            </a:pPr>
            <a:r>
              <a:rPr lang="en-US" sz="2400" b="0" dirty="0">
                <a:latin typeface="Segoe UI" pitchFamily="34" charset="0"/>
                <a:ea typeface="Segoe UI" pitchFamily="34" charset="0"/>
                <a:cs typeface="Segoe UI" pitchFamily="34" charset="0"/>
              </a:rPr>
              <a:t>  Examples: fe80::2b0:d0ff:fee9:4143%3</a:t>
            </a:r>
          </a:p>
          <a:p>
            <a:pPr>
              <a:spcBef>
                <a:spcPts val="600"/>
              </a:spcBef>
              <a:buClr>
                <a:srgbClr val="0070C0"/>
              </a:buClr>
              <a:buSzPct val="90000"/>
            </a:pPr>
            <a:r>
              <a:rPr lang="en-US" sz="2400" b="0" dirty="0">
                <a:latin typeface="Segoe UI" pitchFamily="34" charset="0"/>
                <a:ea typeface="Segoe UI" pitchFamily="34" charset="0"/>
                <a:cs typeface="Segoe UI" pitchFamily="34" charset="0"/>
              </a:rPr>
              <a:t>    </a:t>
            </a:r>
            <a:r>
              <a:rPr lang="en-US" sz="2400" b="0" dirty="0" smtClean="0">
                <a:latin typeface="Segoe UI" pitchFamily="34" charset="0"/>
                <a:ea typeface="Segoe UI" pitchFamily="34" charset="0"/>
                <a:cs typeface="Segoe UI" pitchFamily="34" charset="0"/>
              </a:rPr>
              <a:t>              </a:t>
            </a:r>
            <a:r>
              <a:rPr lang="en-US" sz="2400" b="0" dirty="0">
                <a:latin typeface="Segoe UI" pitchFamily="34" charset="0"/>
                <a:ea typeface="Segoe UI" pitchFamily="34" charset="0"/>
                <a:cs typeface="Segoe UI" pitchFamily="34" charset="0"/>
              </a:rPr>
              <a:t>fe80::94bd:21cf:4080:e612%2</a:t>
            </a:r>
          </a:p>
        </p:txBody>
      </p:sp>
    </p:spTree>
    <p:extLst>
      <p:ext uri="{BB962C8B-B14F-4D97-AF65-F5344CB8AC3E}">
        <p14:creationId xmlns:p14="http://schemas.microsoft.com/office/powerpoint/2010/main" val="14404454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2fd98fdd-082a-4fe8-9eae-b62bce7191f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Autoconfiguring IPv6 Addresses</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6 of 6 steps" descr="6th of 6 frames&#10;Arrows travel between the server &amp; the client—they represent the client searching for and then obtaining DHCPv6 configuration information."/>
          <p:cNvGrpSpPr>
            <a:grpSpLocks/>
          </p:cNvGrpSpPr>
          <p:nvPr/>
        </p:nvGrpSpPr>
        <p:grpSpPr bwMode="auto">
          <a:xfrm>
            <a:off x="288072" y="5147570"/>
            <a:ext cx="3353183" cy="589840"/>
            <a:chOff x="353" y="779"/>
            <a:chExt cx="1877" cy="613"/>
          </a:xfrm>
        </p:grpSpPr>
        <p:sp>
          <p:nvSpPr>
            <p:cNvPr id="6" name="&quot;If Managed or Other flag"/>
            <p:cNvSpPr>
              <a:spLocks noChangeArrowheads="1"/>
            </p:cNvSpPr>
            <p:nvPr/>
          </p:nvSpPr>
          <p:spPr bwMode="auto">
            <a:xfrm>
              <a:off x="514" y="779"/>
              <a:ext cx="1716" cy="61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en-US" sz="2000" b="0" dirty="0">
                  <a:latin typeface="Segoe UI" pitchFamily="34" charset="0"/>
                  <a:ea typeface="Segoe UI" pitchFamily="34" charset="0"/>
                  <a:cs typeface="Segoe UI" pitchFamily="34" charset="0"/>
                </a:rPr>
                <a:t>If </a:t>
              </a:r>
              <a:r>
                <a:rPr lang="en-US" sz="2000" b="0" dirty="0" smtClean="0">
                  <a:latin typeface="Segoe UI" pitchFamily="34" charset="0"/>
                  <a:ea typeface="Segoe UI" pitchFamily="34" charset="0"/>
                  <a:cs typeface="Segoe UI" pitchFamily="34" charset="0"/>
                </a:rPr>
                <a:t>Managed or Other flag set, check DHCPv6</a:t>
              </a:r>
              <a:endParaRPr lang="en-US" sz="2000" b="0" dirty="0">
                <a:latin typeface="Segoe UI" pitchFamily="34" charset="0"/>
                <a:ea typeface="Segoe UI" pitchFamily="34" charset="0"/>
                <a:cs typeface="Segoe UI" pitchFamily="34" charset="0"/>
              </a:endParaRPr>
            </a:p>
          </p:txBody>
        </p:sp>
        <p:sp>
          <p:nvSpPr>
            <p:cNvPr id="7" name="&quot;6&quot;"/>
            <p:cNvSpPr>
              <a:spLocks noChangeArrowheads="1"/>
            </p:cNvSpPr>
            <p:nvPr/>
          </p:nvSpPr>
          <p:spPr bwMode="auto">
            <a:xfrm>
              <a:off x="353" y="779"/>
              <a:ext cx="161" cy="29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6</a:t>
              </a:r>
            </a:p>
          </p:txBody>
        </p:sp>
      </p:grpSp>
      <p:grpSp>
        <p:nvGrpSpPr>
          <p:cNvPr id="8" name="5 of 6 steps" descr="5th of 6 frames&#10;An arrow travels from the router to the client—it represents additional router prefixes that the client adds locally."/>
          <p:cNvGrpSpPr>
            <a:grpSpLocks/>
          </p:cNvGrpSpPr>
          <p:nvPr/>
        </p:nvGrpSpPr>
        <p:grpSpPr bwMode="auto">
          <a:xfrm>
            <a:off x="288836" y="4574335"/>
            <a:ext cx="3379310" cy="366833"/>
            <a:chOff x="372" y="896"/>
            <a:chExt cx="1467" cy="340"/>
          </a:xfrm>
          <a:effectLst/>
        </p:grpSpPr>
        <p:sp>
          <p:nvSpPr>
            <p:cNvPr id="9" name="&quot;Add prefixes"/>
            <p:cNvSpPr>
              <a:spLocks noChangeArrowheads="1"/>
            </p:cNvSpPr>
            <p:nvPr/>
          </p:nvSpPr>
          <p:spPr bwMode="auto">
            <a:xfrm>
              <a:off x="497" y="896"/>
              <a:ext cx="1342" cy="340"/>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Add prefixes</a:t>
              </a:r>
            </a:p>
          </p:txBody>
        </p:sp>
        <p:sp>
          <p:nvSpPr>
            <p:cNvPr id="10" name="&quot;5&quot;"/>
            <p:cNvSpPr>
              <a:spLocks noChangeArrowheads="1"/>
            </p:cNvSpPr>
            <p:nvPr/>
          </p:nvSpPr>
          <p:spPr bwMode="auto">
            <a:xfrm>
              <a:off x="372" y="896"/>
              <a:ext cx="125" cy="26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5</a:t>
              </a:r>
            </a:p>
          </p:txBody>
        </p:sp>
      </p:grpSp>
      <p:grpSp>
        <p:nvGrpSpPr>
          <p:cNvPr id="11" name="4 of 6 steps" descr="4th of 6 frames&#10;A check mark appears on the router."/>
          <p:cNvGrpSpPr>
            <a:grpSpLocks/>
          </p:cNvGrpSpPr>
          <p:nvPr/>
        </p:nvGrpSpPr>
        <p:grpSpPr bwMode="auto">
          <a:xfrm>
            <a:off x="288609" y="4004666"/>
            <a:ext cx="3671967" cy="360438"/>
            <a:chOff x="306" y="1648"/>
            <a:chExt cx="1782" cy="449"/>
          </a:xfrm>
        </p:grpSpPr>
        <p:sp>
          <p:nvSpPr>
            <p:cNvPr id="12" name="&quot;Check the router"/>
            <p:cNvSpPr>
              <a:spLocks noChangeArrowheads="1"/>
            </p:cNvSpPr>
            <p:nvPr/>
          </p:nvSpPr>
          <p:spPr bwMode="auto">
            <a:xfrm>
              <a:off x="445" y="1648"/>
              <a:ext cx="1643" cy="449"/>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Check the router for prefixes</a:t>
              </a:r>
            </a:p>
          </p:txBody>
        </p:sp>
        <p:sp>
          <p:nvSpPr>
            <p:cNvPr id="13" name="&quot;4&quot;"/>
            <p:cNvSpPr>
              <a:spLocks noChangeArrowheads="1"/>
            </p:cNvSpPr>
            <p:nvPr/>
          </p:nvSpPr>
          <p:spPr bwMode="auto">
            <a:xfrm>
              <a:off x="306" y="1648"/>
              <a:ext cx="140" cy="35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4</a:t>
              </a:r>
            </a:p>
          </p:txBody>
        </p:sp>
      </p:grpSp>
      <p:grpSp>
        <p:nvGrpSpPr>
          <p:cNvPr id="14" name="3 of 6 steps" descr="3rd of 6 frames&#10;An arrow travels from the client to the router—it represents the client searching for router configuration information."/>
          <p:cNvGrpSpPr>
            <a:grpSpLocks/>
          </p:cNvGrpSpPr>
          <p:nvPr/>
        </p:nvGrpSpPr>
        <p:grpSpPr bwMode="auto">
          <a:xfrm>
            <a:off x="288471" y="3383936"/>
            <a:ext cx="4399093" cy="301719"/>
            <a:chOff x="333" y="146"/>
            <a:chExt cx="2108" cy="1077"/>
          </a:xfrm>
        </p:grpSpPr>
        <p:sp>
          <p:nvSpPr>
            <p:cNvPr id="15" name="&quot;Check for a router on"/>
            <p:cNvSpPr>
              <a:spLocks noChangeArrowheads="1"/>
            </p:cNvSpPr>
            <p:nvPr/>
          </p:nvSpPr>
          <p:spPr bwMode="auto">
            <a:xfrm>
              <a:off x="471" y="307"/>
              <a:ext cx="1970" cy="916"/>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Check for a </a:t>
              </a:r>
              <a:r>
                <a:rPr lang="en-US" sz="2000" b="0" dirty="0" smtClean="0">
                  <a:latin typeface="Segoe UI" pitchFamily="34" charset="0"/>
                  <a:ea typeface="Segoe UI" pitchFamily="34" charset="0"/>
                  <a:cs typeface="Segoe UI" pitchFamily="34" charset="0"/>
                </a:rPr>
                <a:t>router </a:t>
              </a:r>
              <a:r>
                <a:rPr lang="en-US" sz="2000" b="0" dirty="0">
                  <a:latin typeface="Segoe UI" pitchFamily="34" charset="0"/>
                  <a:ea typeface="Segoe UI" pitchFamily="34" charset="0"/>
                  <a:cs typeface="Segoe UI" pitchFamily="34" charset="0"/>
                </a:rPr>
                <a:t>on the network</a:t>
              </a:r>
            </a:p>
          </p:txBody>
        </p:sp>
        <p:sp>
          <p:nvSpPr>
            <p:cNvPr id="16" name="&quot;3&quot;"/>
            <p:cNvSpPr>
              <a:spLocks noChangeArrowheads="1"/>
            </p:cNvSpPr>
            <p:nvPr/>
          </p:nvSpPr>
          <p:spPr bwMode="auto">
            <a:xfrm>
              <a:off x="333" y="146"/>
              <a:ext cx="138" cy="102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3</a:t>
              </a:r>
            </a:p>
          </p:txBody>
        </p:sp>
      </p:grpSp>
      <p:grpSp>
        <p:nvGrpSpPr>
          <p:cNvPr id="17" name="2 of 6 steps" descr="2nd of 6 frames&#10;A series of concentric circles move outward from the IPv6 client—they represent the client checking for address conflicts."/>
          <p:cNvGrpSpPr>
            <a:grpSpLocks/>
          </p:cNvGrpSpPr>
          <p:nvPr/>
        </p:nvGrpSpPr>
        <p:grpSpPr bwMode="auto">
          <a:xfrm>
            <a:off x="287961" y="2540288"/>
            <a:ext cx="3760420" cy="528672"/>
            <a:chOff x="260" y="470"/>
            <a:chExt cx="1922" cy="363"/>
          </a:xfrm>
        </p:grpSpPr>
        <p:sp>
          <p:nvSpPr>
            <p:cNvPr id="18" name="&quot;Check for address conflicts"/>
            <p:cNvSpPr>
              <a:spLocks noChangeArrowheads="1"/>
            </p:cNvSpPr>
            <p:nvPr/>
          </p:nvSpPr>
          <p:spPr bwMode="auto">
            <a:xfrm>
              <a:off x="407" y="470"/>
              <a:ext cx="1775" cy="36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en-US" sz="2000" b="0" dirty="0">
                  <a:latin typeface="Segoe UI" pitchFamily="34" charset="0"/>
                  <a:ea typeface="Segoe UI" pitchFamily="34" charset="0"/>
                  <a:cs typeface="Segoe UI" pitchFamily="34" charset="0"/>
                </a:rPr>
                <a:t>Check for address </a:t>
              </a:r>
              <a:r>
                <a:rPr lang="en-US" sz="2000" b="0" dirty="0" smtClean="0">
                  <a:latin typeface="Segoe UI" pitchFamily="34" charset="0"/>
                  <a:ea typeface="Segoe UI" pitchFamily="34" charset="0"/>
                  <a:cs typeface="Segoe UI" pitchFamily="34" charset="0"/>
                </a:rPr>
                <a:t>conflicts by </a:t>
              </a:r>
              <a:r>
                <a:rPr lang="en-US" sz="2000" b="0" dirty="0">
                  <a:latin typeface="Segoe UI" pitchFamily="34" charset="0"/>
                  <a:ea typeface="Segoe UI" pitchFamily="34" charset="0"/>
                  <a:cs typeface="Segoe UI" pitchFamily="34" charset="0"/>
                </a:rPr>
                <a:t>using neighbor solicitation</a:t>
              </a:r>
            </a:p>
          </p:txBody>
        </p:sp>
        <p:sp>
          <p:nvSpPr>
            <p:cNvPr id="19" name="&quot;2&quot;"/>
            <p:cNvSpPr>
              <a:spLocks noChangeArrowheads="1"/>
            </p:cNvSpPr>
            <p:nvPr/>
          </p:nvSpPr>
          <p:spPr bwMode="auto">
            <a:xfrm>
              <a:off x="260" y="470"/>
              <a:ext cx="147" cy="19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smtClean="0">
                  <a:solidFill>
                    <a:srgbClr val="990033"/>
                  </a:solidFill>
                  <a:latin typeface="Arial Narrow" pitchFamily="34" charset="0"/>
                </a:rPr>
                <a:t>2</a:t>
              </a:r>
              <a:endParaRPr lang="en-US" sz="2400" b="0" dirty="0">
                <a:solidFill>
                  <a:srgbClr val="990033"/>
                </a:solidFill>
                <a:latin typeface="Arial Narrow" pitchFamily="34" charset="0"/>
              </a:endParaRPr>
            </a:p>
          </p:txBody>
        </p:sp>
      </p:grpSp>
      <p:grpSp>
        <p:nvGrpSpPr>
          <p:cNvPr id="20" name="1 of 6 steps" descr="1st of 6 frames&#10;The basic diagram has an IPv6 client, an IPv6 router, and a IPv6 DHCP server. There are no moving graphics on this frame."/>
          <p:cNvGrpSpPr>
            <a:grpSpLocks/>
          </p:cNvGrpSpPr>
          <p:nvPr/>
        </p:nvGrpSpPr>
        <p:grpSpPr bwMode="auto">
          <a:xfrm>
            <a:off x="288165" y="1916906"/>
            <a:ext cx="3495980" cy="359966"/>
            <a:chOff x="362" y="873"/>
            <a:chExt cx="1952" cy="671"/>
          </a:xfrm>
        </p:grpSpPr>
        <p:sp>
          <p:nvSpPr>
            <p:cNvPr id="21" name="&quot;Derive a link-local"/>
            <p:cNvSpPr>
              <a:spLocks noChangeArrowheads="1"/>
            </p:cNvSpPr>
            <p:nvPr/>
          </p:nvSpPr>
          <p:spPr bwMode="auto">
            <a:xfrm>
              <a:off x="523" y="873"/>
              <a:ext cx="1791" cy="671"/>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Derive </a:t>
              </a:r>
              <a:r>
                <a:rPr lang="en-US" sz="2000" b="0" dirty="0" smtClean="0">
                  <a:latin typeface="Segoe UI" pitchFamily="34" charset="0"/>
                  <a:ea typeface="Segoe UI" pitchFamily="34" charset="0"/>
                  <a:cs typeface="Segoe UI" pitchFamily="34" charset="0"/>
                </a:rPr>
                <a:t>a link-local address</a:t>
              </a:r>
              <a:endParaRPr lang="en-US" sz="2000" b="0" dirty="0">
                <a:latin typeface="Segoe UI" pitchFamily="34" charset="0"/>
                <a:ea typeface="Segoe UI" pitchFamily="34" charset="0"/>
                <a:cs typeface="Segoe UI" pitchFamily="34" charset="0"/>
              </a:endParaRPr>
            </a:p>
          </p:txBody>
        </p:sp>
        <p:sp>
          <p:nvSpPr>
            <p:cNvPr id="22" name="&quot;1&quot;"/>
            <p:cNvSpPr>
              <a:spLocks noChangeArrowheads="1"/>
            </p:cNvSpPr>
            <p:nvPr/>
          </p:nvSpPr>
          <p:spPr bwMode="auto">
            <a:xfrm>
              <a:off x="362" y="873"/>
              <a:ext cx="161" cy="53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1</a:t>
              </a:r>
            </a:p>
          </p:txBody>
        </p:sp>
      </p:grpSp>
      <p:grpSp>
        <p:nvGrpSpPr>
          <p:cNvPr id="23" name="server, label, 2 arrows &quot;6&quot;"/>
          <p:cNvGrpSpPr/>
          <p:nvPr/>
        </p:nvGrpSpPr>
        <p:grpSpPr>
          <a:xfrm>
            <a:off x="6772274" y="2209798"/>
            <a:ext cx="1995760" cy="3378279"/>
            <a:chOff x="6772274" y="2209798"/>
            <a:chExt cx="1995760" cy="3378279"/>
          </a:xfrm>
        </p:grpSpPr>
        <p:pic>
          <p:nvPicPr>
            <p:cNvPr id="24" name="serve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066395" y="4179004"/>
              <a:ext cx="794561" cy="1409073"/>
            </a:xfrm>
            <a:prstGeom prst="rect">
              <a:avLst/>
            </a:prstGeom>
            <a:noFill/>
            <a:extLst>
              <a:ext uri="{909E8E84-426E-40DD-AFC4-6F175D3DCCD1}">
                <a14:hiddenFill xmlns:a14="http://schemas.microsoft.com/office/drawing/2010/main">
                  <a:solidFill>
                    <a:srgbClr val="FFFFFF"/>
                  </a:solidFill>
                </a14:hiddenFill>
              </a:ext>
            </a:extLst>
          </p:spPr>
        </p:pic>
        <p:sp>
          <p:nvSpPr>
            <p:cNvPr id="25" name="diagonal red arrow 4" descr="&quot;&quot;"/>
            <p:cNvSpPr>
              <a:spLocks noChangeShapeType="1"/>
            </p:cNvSpPr>
            <p:nvPr/>
          </p:nvSpPr>
          <p:spPr bwMode="auto">
            <a:xfrm>
              <a:off x="6772274" y="2257425"/>
              <a:ext cx="466381" cy="194469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26" name="diagonal red arrow 3" descr="&quot;&quot;"/>
            <p:cNvSpPr>
              <a:spLocks noChangeShapeType="1"/>
            </p:cNvSpPr>
            <p:nvPr/>
          </p:nvSpPr>
          <p:spPr bwMode="auto">
            <a:xfrm rot="10800000">
              <a:off x="7000873" y="2209798"/>
              <a:ext cx="523454" cy="1867273"/>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27" name="&quot;IPv6 DHCP Server &quot;" descr="&quot;&quot;"/>
            <p:cNvSpPr>
              <a:spLocks noChangeArrowheads="1"/>
            </p:cNvSpPr>
            <p:nvPr/>
          </p:nvSpPr>
          <p:spPr bwMode="auto">
            <a:xfrm>
              <a:off x="7922627" y="4202119"/>
              <a:ext cx="845407" cy="887363"/>
            </a:xfrm>
            <a:prstGeom prst="roundRect">
              <a:avLst>
                <a:gd name="adj" fmla="val 4167"/>
              </a:avLst>
            </a:prstGeom>
            <a:solidFill>
              <a:schemeClr val="bg1"/>
            </a:solid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IPv6 DHCP Server </a:t>
              </a:r>
            </a:p>
          </p:txBody>
        </p:sp>
        <p:sp>
          <p:nvSpPr>
            <p:cNvPr id="28" name="&quot;6 in diagram&quot;"/>
            <p:cNvSpPr>
              <a:spLocks noChangeArrowheads="1"/>
            </p:cNvSpPr>
            <p:nvPr/>
          </p:nvSpPr>
          <p:spPr bwMode="auto">
            <a:xfrm>
              <a:off x="7358903" y="2953106"/>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6</a:t>
              </a:r>
              <a:endParaRPr lang="en-US" sz="2400" b="0" dirty="0">
                <a:solidFill>
                  <a:srgbClr val="990033"/>
                </a:solidFill>
                <a:latin typeface="Arial Narrow" pitchFamily="34" charset="0"/>
              </a:endParaRPr>
            </a:p>
          </p:txBody>
        </p:sp>
      </p:grpSp>
      <p:grpSp>
        <p:nvGrpSpPr>
          <p:cNvPr id="29" name="router, checkmark, 2 arrows, et al"/>
          <p:cNvGrpSpPr/>
          <p:nvPr/>
        </p:nvGrpSpPr>
        <p:grpSpPr>
          <a:xfrm>
            <a:off x="4505255" y="2200274"/>
            <a:ext cx="1838394" cy="3387803"/>
            <a:chOff x="4505255" y="2200274"/>
            <a:chExt cx="1838394" cy="3387803"/>
          </a:xfrm>
        </p:grpSpPr>
        <p:pic>
          <p:nvPicPr>
            <p:cNvPr id="30" name="route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505255" y="4549363"/>
              <a:ext cx="1535113" cy="800100"/>
            </a:xfrm>
            <a:prstGeom prst="rect">
              <a:avLst/>
            </a:prstGeom>
            <a:noFill/>
            <a:extLst>
              <a:ext uri="{909E8E84-426E-40DD-AFC4-6F175D3DCCD1}">
                <a14:hiddenFill xmlns:a14="http://schemas.microsoft.com/office/drawing/2010/main">
                  <a:solidFill>
                    <a:srgbClr val="FFFFFF"/>
                  </a:solidFill>
                </a14:hiddenFill>
              </a:ext>
            </a:extLst>
          </p:spPr>
        </p:pic>
        <p:sp>
          <p:nvSpPr>
            <p:cNvPr id="31" name="diagonal red arrow 2" descr="&quot;&quot;"/>
            <p:cNvSpPr>
              <a:spLocks noChangeShapeType="1"/>
            </p:cNvSpPr>
            <p:nvPr/>
          </p:nvSpPr>
          <p:spPr bwMode="auto">
            <a:xfrm flipH="1">
              <a:off x="5296231" y="2200275"/>
              <a:ext cx="809294" cy="2192361"/>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32" name="diagonal red arrow 1" descr="&quot;&quot;"/>
            <p:cNvSpPr>
              <a:spLocks noChangeShapeType="1"/>
            </p:cNvSpPr>
            <p:nvPr/>
          </p:nvSpPr>
          <p:spPr bwMode="auto">
            <a:xfrm rot="10800000" flipH="1">
              <a:off x="5591174" y="2200274"/>
              <a:ext cx="752475" cy="2257426"/>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pic>
          <p:nvPicPr>
            <p:cNvPr id="33" name="check mark"/>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689734" y="4258850"/>
              <a:ext cx="583077" cy="581025"/>
            </a:xfrm>
            <a:prstGeom prst="rect">
              <a:avLst/>
            </a:prstGeom>
            <a:noFill/>
            <a:extLst>
              <a:ext uri="{909E8E84-426E-40DD-AFC4-6F175D3DCCD1}">
                <a14:hiddenFill xmlns:a14="http://schemas.microsoft.com/office/drawing/2010/main">
                  <a:solidFill>
                    <a:srgbClr val="FFFFFF"/>
                  </a:solidFill>
                </a14:hiddenFill>
              </a:ext>
            </a:extLst>
          </p:spPr>
        </p:pic>
        <p:sp>
          <p:nvSpPr>
            <p:cNvPr id="34" name="&quot;IPv6 Router&quot;" descr="&quot;&quot;"/>
            <p:cNvSpPr>
              <a:spLocks noChangeArrowheads="1"/>
            </p:cNvSpPr>
            <p:nvPr/>
          </p:nvSpPr>
          <p:spPr bwMode="auto">
            <a:xfrm>
              <a:off x="4736282" y="5341451"/>
              <a:ext cx="1376094" cy="246626"/>
            </a:xfrm>
            <a:prstGeom prst="roundRect">
              <a:avLst>
                <a:gd name="adj" fmla="val 4167"/>
              </a:avLst>
            </a:prstGeom>
            <a:solidFill>
              <a:schemeClr val="bg1"/>
            </a:solidFill>
            <a:ln w="9525" algn="ctr">
              <a:noFill/>
              <a:round/>
              <a:headEnd/>
              <a:tailEnd/>
            </a:ln>
            <a:effectLst/>
          </p:spPr>
          <p:txBody>
            <a:bodyPr wrap="none" lIns="36000" tIns="0" rIns="3600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000" b="0" dirty="0">
                  <a:latin typeface="Segoe UI" pitchFamily="34" charset="0"/>
                  <a:ea typeface="Segoe UI" pitchFamily="34" charset="0"/>
                  <a:cs typeface="Segoe UI" pitchFamily="34" charset="0"/>
                </a:rPr>
                <a:t>IPv6 Router</a:t>
              </a:r>
            </a:p>
          </p:txBody>
        </p:sp>
        <p:sp>
          <p:nvSpPr>
            <p:cNvPr id="35" name="&quot;5 in diagram&quot;"/>
            <p:cNvSpPr>
              <a:spLocks noChangeArrowheads="1"/>
            </p:cNvSpPr>
            <p:nvPr/>
          </p:nvSpPr>
          <p:spPr bwMode="auto">
            <a:xfrm>
              <a:off x="6040368" y="333552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5</a:t>
              </a:r>
              <a:endParaRPr lang="en-US" sz="2400" b="0" dirty="0">
                <a:solidFill>
                  <a:srgbClr val="990033"/>
                </a:solidFill>
                <a:latin typeface="Arial Narrow" pitchFamily="34" charset="0"/>
              </a:endParaRPr>
            </a:p>
          </p:txBody>
        </p:sp>
        <p:sp>
          <p:nvSpPr>
            <p:cNvPr id="36" name="&quot;4 in diagram&quot;"/>
            <p:cNvSpPr>
              <a:spLocks noChangeArrowheads="1"/>
            </p:cNvSpPr>
            <p:nvPr/>
          </p:nvSpPr>
          <p:spPr bwMode="auto">
            <a:xfrm>
              <a:off x="4837716" y="3946956"/>
              <a:ext cx="176136"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4</a:t>
              </a:r>
              <a:endParaRPr lang="en-US" sz="2400" b="0" dirty="0">
                <a:solidFill>
                  <a:srgbClr val="990033"/>
                </a:solidFill>
                <a:latin typeface="Arial Narrow" pitchFamily="34" charset="0"/>
              </a:endParaRPr>
            </a:p>
          </p:txBody>
        </p:sp>
        <p:sp>
          <p:nvSpPr>
            <p:cNvPr id="37" name="&quot;3 in diagram&quot;"/>
            <p:cNvSpPr>
              <a:spLocks noChangeArrowheads="1"/>
            </p:cNvSpPr>
            <p:nvPr/>
          </p:nvSpPr>
          <p:spPr bwMode="auto">
            <a:xfrm>
              <a:off x="5658605" y="2607479"/>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3</a:t>
              </a:r>
              <a:endParaRPr lang="en-US" sz="2400" b="0" dirty="0">
                <a:solidFill>
                  <a:srgbClr val="990033"/>
                </a:solidFill>
                <a:latin typeface="Arial Narrow" pitchFamily="34" charset="0"/>
              </a:endParaRPr>
            </a:p>
          </p:txBody>
        </p:sp>
      </p:grpSp>
      <p:grpSp>
        <p:nvGrpSpPr>
          <p:cNvPr id="38" name="alt-text here, workstation, target &quot;1&quot;, &quot;2&quot;" descr="A diagram of the six steps in the IPv6 autoconfiguration process.&#10;It depicts an IPv6 router, an IPv6 client, and a IPv6 DHCP server that are communicating with each other. The six frames of the next slide describe the diagram’s details.&#10;"/>
          <p:cNvGrpSpPr/>
          <p:nvPr/>
        </p:nvGrpSpPr>
        <p:grpSpPr>
          <a:xfrm>
            <a:off x="4938520" y="839116"/>
            <a:ext cx="3544736" cy="1444625"/>
            <a:chOff x="4938520" y="839116"/>
            <a:chExt cx="3544736" cy="1444625"/>
          </a:xfrm>
        </p:grpSpPr>
        <p:pic>
          <p:nvPicPr>
            <p:cNvPr id="39" name="work station"/>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5879341" y="839116"/>
              <a:ext cx="1279640" cy="1444625"/>
            </a:xfrm>
            <a:prstGeom prst="rect">
              <a:avLst/>
            </a:prstGeom>
            <a:noFill/>
            <a:extLst>
              <a:ext uri="{909E8E84-426E-40DD-AFC4-6F175D3DCCD1}">
                <a14:hiddenFill xmlns:a14="http://schemas.microsoft.com/office/drawing/2010/main">
                  <a:solidFill>
                    <a:srgbClr val="FFFFFF"/>
                  </a:solidFill>
                </a14:hiddenFill>
              </a:ext>
            </a:extLst>
          </p:spPr>
        </p:pic>
        <p:sp>
          <p:nvSpPr>
            <p:cNvPr id="40" name="&quot;IPv6 Client&quot;" descr="&quot;&quot;"/>
            <p:cNvSpPr>
              <a:spLocks noChangeArrowheads="1"/>
            </p:cNvSpPr>
            <p:nvPr/>
          </p:nvSpPr>
          <p:spPr bwMode="auto">
            <a:xfrm>
              <a:off x="7238656" y="1366707"/>
              <a:ext cx="1244600" cy="303213"/>
            </a:xfrm>
            <a:prstGeom prst="roundRect">
              <a:avLst>
                <a:gd name="adj" fmla="val 4167"/>
              </a:avLst>
            </a:prstGeom>
            <a:solidFill>
              <a:schemeClr val="bg1"/>
            </a:solidFill>
            <a:ln w="9525" algn="ctr">
              <a:noFill/>
              <a:round/>
              <a:headEnd/>
              <a:tailEnd/>
            </a:ln>
            <a:effectLst/>
          </p:spPr>
          <p:txBody>
            <a:bodyPr wrap="none" t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000" b="0" dirty="0">
                  <a:latin typeface="Segoe UI" pitchFamily="34" charset="0"/>
                  <a:ea typeface="Segoe UI" pitchFamily="34" charset="0"/>
                  <a:cs typeface="Segoe UI" pitchFamily="34" charset="0"/>
                </a:rPr>
                <a:t>IPv6 Client</a:t>
              </a:r>
            </a:p>
          </p:txBody>
        </p:sp>
        <p:grpSp>
          <p:nvGrpSpPr>
            <p:cNvPr id="41" name="Group 40"/>
            <p:cNvGrpSpPr/>
            <p:nvPr/>
          </p:nvGrpSpPr>
          <p:grpSpPr>
            <a:xfrm>
              <a:off x="4938520" y="994628"/>
              <a:ext cx="981598" cy="873951"/>
              <a:chOff x="4938520" y="994628"/>
              <a:chExt cx="981598" cy="873951"/>
            </a:xfrm>
          </p:grpSpPr>
          <p:sp>
            <p:nvSpPr>
              <p:cNvPr id="43" name="target - outer circle" descr="&quot;&quot;"/>
              <p:cNvSpPr>
                <a:spLocks noChangeArrowheads="1"/>
              </p:cNvSpPr>
              <p:nvPr/>
            </p:nvSpPr>
            <p:spPr bwMode="auto">
              <a:xfrm>
                <a:off x="5167643" y="1119279"/>
                <a:ext cx="752475" cy="749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4" name="target - middle circle" descr="&quot;&quot;"/>
              <p:cNvSpPr>
                <a:spLocks noChangeArrowheads="1"/>
              </p:cNvSpPr>
              <p:nvPr/>
            </p:nvSpPr>
            <p:spPr bwMode="auto">
              <a:xfrm>
                <a:off x="5296231" y="1246279"/>
                <a:ext cx="495300" cy="495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5" name="target - inside circle" descr="&quot;&quot;"/>
              <p:cNvSpPr>
                <a:spLocks noChangeArrowheads="1"/>
              </p:cNvSpPr>
              <p:nvPr/>
            </p:nvSpPr>
            <p:spPr bwMode="auto">
              <a:xfrm>
                <a:off x="5413706" y="1365342"/>
                <a:ext cx="260350" cy="257175"/>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6" name="&quot;2 in diagram&quot;"/>
              <p:cNvSpPr>
                <a:spLocks noChangeArrowheads="1"/>
              </p:cNvSpPr>
              <p:nvPr/>
            </p:nvSpPr>
            <p:spPr bwMode="auto">
              <a:xfrm>
                <a:off x="4938520" y="994628"/>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2</a:t>
                </a:r>
                <a:endParaRPr lang="en-US" sz="2400" b="0" dirty="0">
                  <a:solidFill>
                    <a:srgbClr val="990033"/>
                  </a:solidFill>
                  <a:latin typeface="Arial Narrow" pitchFamily="34" charset="0"/>
                </a:endParaRPr>
              </a:p>
            </p:txBody>
          </p:sp>
        </p:grpSp>
        <p:sp>
          <p:nvSpPr>
            <p:cNvPr id="42" name="&quot;1 in diagram&quot;"/>
            <p:cNvSpPr>
              <a:spLocks noChangeArrowheads="1"/>
            </p:cNvSpPr>
            <p:nvPr/>
          </p:nvSpPr>
          <p:spPr bwMode="auto">
            <a:xfrm>
              <a:off x="7905712" y="106669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a:solidFill>
                    <a:srgbClr val="990033"/>
                  </a:solidFill>
                  <a:latin typeface="Arial Narrow" pitchFamily="34" charset="0"/>
                </a:rPr>
                <a:t>1</a:t>
              </a:r>
            </a:p>
          </p:txBody>
        </p:sp>
      </p:grpSp>
      <p:sp>
        <p:nvSpPr>
          <p:cNvPr id="47" name="&quot;The 6-step process ..."/>
          <p:cNvSpPr>
            <a:spLocks noChangeArrowheads="1"/>
          </p:cNvSpPr>
          <p:nvPr/>
        </p:nvSpPr>
        <p:spPr bwMode="auto">
          <a:xfrm>
            <a:off x="575070" y="853281"/>
            <a:ext cx="4262646" cy="888298"/>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lIns="0" tIns="0" rIns="0" bIns="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US" sz="2400" b="0" dirty="0">
                <a:latin typeface="Segoe UI" pitchFamily="34" charset="0"/>
                <a:ea typeface="Segoe UI" pitchFamily="34" charset="0"/>
                <a:cs typeface="Segoe UI" pitchFamily="34" charset="0"/>
              </a:rPr>
              <a:t>Address autoconfiguration for IPv6 is a </a:t>
            </a:r>
            <a:r>
              <a:rPr lang="en-US" sz="2400" b="0" dirty="0" smtClean="0">
                <a:latin typeface="Segoe UI" pitchFamily="34" charset="0"/>
                <a:ea typeface="Segoe UI" pitchFamily="34" charset="0"/>
                <a:cs typeface="Segoe UI" pitchFamily="34" charset="0"/>
              </a:rPr>
              <a:t>six-step process:</a:t>
            </a:r>
            <a:endParaRPr lang="en-US"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081908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stop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013" y="636989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lay but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1655" y="6369893"/>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extra text box for 6th of 6 steps"/>
          <p:cNvSpPr>
            <a:spLocks noChangeArrowheads="1"/>
          </p:cNvSpPr>
          <p:nvPr/>
        </p:nvSpPr>
        <p:spPr bwMode="auto">
          <a:xfrm>
            <a:off x="576000" y="5832000"/>
            <a:ext cx="3384555" cy="284561"/>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DHCPv6 information received</a:t>
            </a:r>
          </a:p>
        </p:txBody>
      </p:sp>
      <p:grpSp>
        <p:nvGrpSpPr>
          <p:cNvPr id="32" name="frame 6, 6 of 6 steps"/>
          <p:cNvGrpSpPr>
            <a:grpSpLocks/>
          </p:cNvGrpSpPr>
          <p:nvPr/>
        </p:nvGrpSpPr>
        <p:grpSpPr bwMode="auto">
          <a:xfrm>
            <a:off x="288072" y="5147570"/>
            <a:ext cx="3353183" cy="589840"/>
            <a:chOff x="353" y="779"/>
            <a:chExt cx="1877" cy="613"/>
          </a:xfrm>
        </p:grpSpPr>
        <p:sp>
          <p:nvSpPr>
            <p:cNvPr id="33" name="&quot;If Managed or Other flag"/>
            <p:cNvSpPr>
              <a:spLocks noChangeArrowheads="1"/>
            </p:cNvSpPr>
            <p:nvPr/>
          </p:nvSpPr>
          <p:spPr bwMode="auto">
            <a:xfrm>
              <a:off x="514" y="779"/>
              <a:ext cx="1716" cy="61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r>
                <a:rPr lang="en-US" sz="2000" dirty="0">
                  <a:latin typeface="Segoe UI" pitchFamily="34" charset="0"/>
                  <a:ea typeface="Segoe UI" pitchFamily="34" charset="0"/>
                  <a:cs typeface="Segoe UI" pitchFamily="34" charset="0"/>
                </a:rPr>
                <a:t>If </a:t>
              </a:r>
              <a:r>
                <a:rPr lang="en-US" sz="2000" dirty="0" smtClean="0">
                  <a:latin typeface="Segoe UI" pitchFamily="34" charset="0"/>
                  <a:ea typeface="Segoe UI" pitchFamily="34" charset="0"/>
                  <a:cs typeface="Segoe UI" pitchFamily="34" charset="0"/>
                </a:rPr>
                <a:t>Managed or Other flag set, check DHCPv6</a:t>
              </a:r>
              <a:endParaRPr lang="en-US" sz="2000" dirty="0">
                <a:latin typeface="Segoe UI" pitchFamily="34" charset="0"/>
                <a:ea typeface="Segoe UI" pitchFamily="34" charset="0"/>
                <a:cs typeface="Segoe UI" pitchFamily="34" charset="0"/>
              </a:endParaRPr>
            </a:p>
          </p:txBody>
        </p:sp>
        <p:sp>
          <p:nvSpPr>
            <p:cNvPr id="34" name="&quot;6&quot;"/>
            <p:cNvSpPr>
              <a:spLocks noChangeArrowheads="1"/>
            </p:cNvSpPr>
            <p:nvPr/>
          </p:nvSpPr>
          <p:spPr bwMode="auto">
            <a:xfrm>
              <a:off x="353" y="779"/>
              <a:ext cx="161" cy="29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6</a:t>
              </a:r>
            </a:p>
          </p:txBody>
        </p:sp>
      </p:grpSp>
      <p:sp>
        <p:nvSpPr>
          <p:cNvPr id="60" name="extra text box for 5th of 6 steps"/>
          <p:cNvSpPr>
            <a:spLocks noChangeArrowheads="1"/>
          </p:cNvSpPr>
          <p:nvPr/>
        </p:nvSpPr>
        <p:spPr bwMode="auto">
          <a:xfrm>
            <a:off x="576000" y="4618750"/>
            <a:ext cx="3047041" cy="307616"/>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Additional router prefixes</a:t>
            </a:r>
          </a:p>
        </p:txBody>
      </p:sp>
      <p:grpSp>
        <p:nvGrpSpPr>
          <p:cNvPr id="35" name="frame 5, 5 of 6 steps"/>
          <p:cNvGrpSpPr>
            <a:grpSpLocks/>
          </p:cNvGrpSpPr>
          <p:nvPr/>
        </p:nvGrpSpPr>
        <p:grpSpPr bwMode="auto">
          <a:xfrm>
            <a:off x="288836" y="4212457"/>
            <a:ext cx="3379310" cy="366833"/>
            <a:chOff x="372" y="896"/>
            <a:chExt cx="1467" cy="340"/>
          </a:xfrm>
          <a:effectLst/>
        </p:grpSpPr>
        <p:sp>
          <p:nvSpPr>
            <p:cNvPr id="36" name="&quot;Add prefixes"/>
            <p:cNvSpPr>
              <a:spLocks noChangeArrowheads="1"/>
            </p:cNvSpPr>
            <p:nvPr/>
          </p:nvSpPr>
          <p:spPr bwMode="auto">
            <a:xfrm>
              <a:off x="497" y="896"/>
              <a:ext cx="1342" cy="340"/>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Add prefixes</a:t>
              </a:r>
            </a:p>
          </p:txBody>
        </p:sp>
        <p:sp>
          <p:nvSpPr>
            <p:cNvPr id="37" name="&quot;5&quot;"/>
            <p:cNvSpPr>
              <a:spLocks noChangeArrowheads="1"/>
            </p:cNvSpPr>
            <p:nvPr/>
          </p:nvSpPr>
          <p:spPr bwMode="auto">
            <a:xfrm>
              <a:off x="372" y="896"/>
              <a:ext cx="125" cy="26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5</a:t>
              </a:r>
            </a:p>
          </p:txBody>
        </p:sp>
      </p:grpSp>
      <p:grpSp>
        <p:nvGrpSpPr>
          <p:cNvPr id="38" name="frame 4, 4 of 6 steps"/>
          <p:cNvGrpSpPr>
            <a:grpSpLocks/>
          </p:cNvGrpSpPr>
          <p:nvPr/>
        </p:nvGrpSpPr>
        <p:grpSpPr bwMode="auto">
          <a:xfrm>
            <a:off x="288609" y="3707804"/>
            <a:ext cx="3671967" cy="360438"/>
            <a:chOff x="306" y="1648"/>
            <a:chExt cx="1782" cy="449"/>
          </a:xfrm>
        </p:grpSpPr>
        <p:sp>
          <p:nvSpPr>
            <p:cNvPr id="39" name="&quot;Check the router"/>
            <p:cNvSpPr>
              <a:spLocks noChangeArrowheads="1"/>
            </p:cNvSpPr>
            <p:nvPr/>
          </p:nvSpPr>
          <p:spPr bwMode="auto">
            <a:xfrm>
              <a:off x="445" y="1648"/>
              <a:ext cx="1643" cy="449"/>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Check the router for prefixes</a:t>
              </a:r>
            </a:p>
          </p:txBody>
        </p:sp>
        <p:sp>
          <p:nvSpPr>
            <p:cNvPr id="40" name="&quot;4&quot;"/>
            <p:cNvSpPr>
              <a:spLocks noChangeArrowheads="1"/>
            </p:cNvSpPr>
            <p:nvPr/>
          </p:nvSpPr>
          <p:spPr bwMode="auto">
            <a:xfrm>
              <a:off x="306" y="1648"/>
              <a:ext cx="140" cy="35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4</a:t>
              </a:r>
            </a:p>
          </p:txBody>
        </p:sp>
      </p:grpSp>
      <p:sp>
        <p:nvSpPr>
          <p:cNvPr id="59" name="extra text box for 3rd of 6 steps"/>
          <p:cNvSpPr>
            <a:spLocks noChangeArrowheads="1"/>
          </p:cNvSpPr>
          <p:nvPr/>
        </p:nvSpPr>
        <p:spPr bwMode="auto">
          <a:xfrm>
            <a:off x="576000" y="3276000"/>
            <a:ext cx="3622510" cy="252210"/>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Router configuration </a:t>
            </a:r>
            <a:r>
              <a:rPr lang="en-US" dirty="0" smtClean="0">
                <a:latin typeface="Segoe UI" pitchFamily="34" charset="0"/>
                <a:ea typeface="Segoe UI" pitchFamily="34" charset="0"/>
                <a:cs typeface="Segoe UI" pitchFamily="34" charset="0"/>
              </a:rPr>
              <a:t>search</a:t>
            </a:r>
            <a:endParaRPr lang="en-US" dirty="0">
              <a:latin typeface="Segoe UI" pitchFamily="34" charset="0"/>
              <a:ea typeface="Segoe UI" pitchFamily="34" charset="0"/>
              <a:cs typeface="Segoe UI" pitchFamily="34" charset="0"/>
            </a:endParaRPr>
          </a:p>
        </p:txBody>
      </p:sp>
      <p:grpSp>
        <p:nvGrpSpPr>
          <p:cNvPr id="41" name="frame 3, 3 of 6 steps"/>
          <p:cNvGrpSpPr>
            <a:grpSpLocks/>
          </p:cNvGrpSpPr>
          <p:nvPr/>
        </p:nvGrpSpPr>
        <p:grpSpPr bwMode="auto">
          <a:xfrm>
            <a:off x="288471" y="2952060"/>
            <a:ext cx="4399093" cy="287992"/>
            <a:chOff x="333" y="307"/>
            <a:chExt cx="2108" cy="1028"/>
          </a:xfrm>
        </p:grpSpPr>
        <p:sp>
          <p:nvSpPr>
            <p:cNvPr id="42" name="&quot;Check for a router on"/>
            <p:cNvSpPr>
              <a:spLocks noChangeArrowheads="1"/>
            </p:cNvSpPr>
            <p:nvPr/>
          </p:nvSpPr>
          <p:spPr bwMode="auto">
            <a:xfrm>
              <a:off x="471" y="307"/>
              <a:ext cx="1970" cy="916"/>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Check for a router on the network</a:t>
              </a:r>
            </a:p>
          </p:txBody>
        </p:sp>
        <p:sp>
          <p:nvSpPr>
            <p:cNvPr id="43" name="&quot;3&quot;"/>
            <p:cNvSpPr>
              <a:spLocks noChangeArrowheads="1"/>
            </p:cNvSpPr>
            <p:nvPr/>
          </p:nvSpPr>
          <p:spPr bwMode="auto">
            <a:xfrm>
              <a:off x="333" y="307"/>
              <a:ext cx="138" cy="102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3</a:t>
              </a:r>
            </a:p>
          </p:txBody>
        </p:sp>
      </p:grpSp>
      <p:pic>
        <p:nvPicPr>
          <p:cNvPr id="51" name="route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505255" y="4549363"/>
            <a:ext cx="1535113" cy="800100"/>
          </a:xfrm>
          <a:prstGeom prst="rect">
            <a:avLst/>
          </a:prstGeom>
          <a:noFill/>
          <a:extLst>
            <a:ext uri="{909E8E84-426E-40DD-AFC4-6F175D3DCCD1}">
              <a14:hiddenFill xmlns:a14="http://schemas.microsoft.com/office/drawing/2010/main">
                <a:solidFill>
                  <a:srgbClr val="FFFFFF"/>
                </a:solidFill>
              </a14:hiddenFill>
            </a:ext>
          </a:extLst>
        </p:spPr>
      </p:pic>
      <p:pic>
        <p:nvPicPr>
          <p:cNvPr id="53" name="work station"/>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879341" y="839116"/>
            <a:ext cx="1279640" cy="1444625"/>
          </a:xfrm>
          <a:prstGeom prst="rect">
            <a:avLst/>
          </a:prstGeom>
          <a:noFill/>
          <a:extLst>
            <a:ext uri="{909E8E84-426E-40DD-AFC4-6F175D3DCCD1}">
              <a14:hiddenFill xmlns:a14="http://schemas.microsoft.com/office/drawing/2010/main">
                <a:solidFill>
                  <a:srgbClr val="FFFFFF"/>
                </a:solidFill>
              </a14:hiddenFill>
            </a:ext>
          </a:extLst>
        </p:spPr>
      </p:pic>
      <p:pic>
        <p:nvPicPr>
          <p:cNvPr id="54" name="serve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7066395" y="4179004"/>
            <a:ext cx="794561" cy="1409073"/>
          </a:xfrm>
          <a:prstGeom prst="rect">
            <a:avLst/>
          </a:prstGeom>
          <a:noFill/>
          <a:extLst>
            <a:ext uri="{909E8E84-426E-40DD-AFC4-6F175D3DCCD1}">
              <a14:hiddenFill xmlns:a14="http://schemas.microsoft.com/office/drawing/2010/main">
                <a:solidFill>
                  <a:srgbClr val="FFFFFF"/>
                </a:solidFill>
              </a14:hiddenFill>
            </a:ext>
          </a:extLst>
        </p:spPr>
      </p:pic>
      <p:sp>
        <p:nvSpPr>
          <p:cNvPr id="55" name="target - outer circle" descr="&quot;&quot;"/>
          <p:cNvSpPr>
            <a:spLocks noChangeArrowheads="1"/>
          </p:cNvSpPr>
          <p:nvPr/>
        </p:nvSpPr>
        <p:spPr bwMode="auto">
          <a:xfrm>
            <a:off x="5167643" y="1119279"/>
            <a:ext cx="752475" cy="749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56" name="target - middle circle" descr="&quot;&quot;"/>
          <p:cNvSpPr>
            <a:spLocks noChangeArrowheads="1"/>
          </p:cNvSpPr>
          <p:nvPr/>
        </p:nvSpPr>
        <p:spPr bwMode="auto">
          <a:xfrm>
            <a:off x="5296231" y="1246279"/>
            <a:ext cx="495300" cy="495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57" name="target - inside circle" descr="&quot;&quot;"/>
          <p:cNvSpPr>
            <a:spLocks noChangeArrowheads="1"/>
          </p:cNvSpPr>
          <p:nvPr/>
        </p:nvSpPr>
        <p:spPr bwMode="auto">
          <a:xfrm>
            <a:off x="5413706" y="1365342"/>
            <a:ext cx="260350" cy="257175"/>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grpSp>
        <p:nvGrpSpPr>
          <p:cNvPr id="44" name="frame 2, 2 of 6 steps"/>
          <p:cNvGrpSpPr>
            <a:grpSpLocks/>
          </p:cNvGrpSpPr>
          <p:nvPr/>
        </p:nvGrpSpPr>
        <p:grpSpPr bwMode="auto">
          <a:xfrm>
            <a:off x="287960" y="2159858"/>
            <a:ext cx="3760419" cy="528672"/>
            <a:chOff x="260" y="470"/>
            <a:chExt cx="1922" cy="363"/>
          </a:xfrm>
        </p:grpSpPr>
        <p:sp>
          <p:nvSpPr>
            <p:cNvPr id="45" name="&quot;Check for address conflicts"/>
            <p:cNvSpPr>
              <a:spLocks noChangeArrowheads="1"/>
            </p:cNvSpPr>
            <p:nvPr/>
          </p:nvSpPr>
          <p:spPr bwMode="auto">
            <a:xfrm>
              <a:off x="407" y="470"/>
              <a:ext cx="1775" cy="36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r>
                <a:rPr lang="en-US" sz="2000" dirty="0">
                  <a:latin typeface="Segoe UI" pitchFamily="34" charset="0"/>
                  <a:ea typeface="Segoe UI" pitchFamily="34" charset="0"/>
                  <a:cs typeface="Segoe UI" pitchFamily="34" charset="0"/>
                </a:rPr>
                <a:t>Check for address </a:t>
              </a:r>
              <a:r>
                <a:rPr lang="en-US" sz="2000" dirty="0" smtClean="0">
                  <a:latin typeface="Segoe UI" pitchFamily="34" charset="0"/>
                  <a:ea typeface="Segoe UI" pitchFamily="34" charset="0"/>
                  <a:cs typeface="Segoe UI" pitchFamily="34" charset="0"/>
                </a:rPr>
                <a:t>conflicts by </a:t>
              </a:r>
              <a:r>
                <a:rPr lang="en-US" sz="2000" dirty="0">
                  <a:latin typeface="Segoe UI" pitchFamily="34" charset="0"/>
                  <a:ea typeface="Segoe UI" pitchFamily="34" charset="0"/>
                  <a:cs typeface="Segoe UI" pitchFamily="34" charset="0"/>
                </a:rPr>
                <a:t>using neighbor solicitation</a:t>
              </a:r>
            </a:p>
          </p:txBody>
        </p:sp>
        <p:sp>
          <p:nvSpPr>
            <p:cNvPr id="46" name="&quot;2&quot;"/>
            <p:cNvSpPr>
              <a:spLocks noChangeArrowheads="1"/>
            </p:cNvSpPr>
            <p:nvPr/>
          </p:nvSpPr>
          <p:spPr bwMode="auto">
            <a:xfrm>
              <a:off x="260" y="470"/>
              <a:ext cx="147" cy="19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smtClean="0">
                  <a:solidFill>
                    <a:srgbClr val="990033"/>
                  </a:solidFill>
                  <a:latin typeface="Arial Narrow" pitchFamily="34" charset="0"/>
                </a:rPr>
                <a:t>2</a:t>
              </a:r>
              <a:endParaRPr lang="en-US" sz="2400" dirty="0">
                <a:solidFill>
                  <a:srgbClr val="990033"/>
                </a:solidFill>
                <a:latin typeface="Arial Narrow" pitchFamily="34" charset="0"/>
              </a:endParaRPr>
            </a:p>
          </p:txBody>
        </p:sp>
      </p:grpSp>
      <p:sp>
        <p:nvSpPr>
          <p:cNvPr id="58" name="extra text box for 1st of 6 steps"/>
          <p:cNvSpPr>
            <a:spLocks noChangeArrowheads="1"/>
          </p:cNvSpPr>
          <p:nvPr/>
        </p:nvSpPr>
        <p:spPr bwMode="auto">
          <a:xfrm>
            <a:off x="576000" y="1669920"/>
            <a:ext cx="3383201" cy="327689"/>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fe80::d593:e1e:e612:53e4%10</a:t>
            </a:r>
          </a:p>
        </p:txBody>
      </p:sp>
      <p:grpSp>
        <p:nvGrpSpPr>
          <p:cNvPr id="47" name="frame 1, 1 of 6 steps"/>
          <p:cNvGrpSpPr>
            <a:grpSpLocks/>
          </p:cNvGrpSpPr>
          <p:nvPr/>
        </p:nvGrpSpPr>
        <p:grpSpPr bwMode="auto">
          <a:xfrm>
            <a:off x="288165" y="1296120"/>
            <a:ext cx="3495980" cy="359966"/>
            <a:chOff x="362" y="873"/>
            <a:chExt cx="1952" cy="671"/>
          </a:xfrm>
        </p:grpSpPr>
        <p:sp>
          <p:nvSpPr>
            <p:cNvPr id="48" name="&quot;Derive a Link-Local"/>
            <p:cNvSpPr>
              <a:spLocks noChangeArrowheads="1"/>
            </p:cNvSpPr>
            <p:nvPr/>
          </p:nvSpPr>
          <p:spPr bwMode="auto">
            <a:xfrm>
              <a:off x="523" y="873"/>
              <a:ext cx="1791" cy="671"/>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Derive </a:t>
              </a:r>
              <a:r>
                <a:rPr lang="en-US" sz="2000" dirty="0" smtClean="0">
                  <a:latin typeface="Segoe UI" pitchFamily="34" charset="0"/>
                  <a:ea typeface="Segoe UI" pitchFamily="34" charset="0"/>
                  <a:cs typeface="Segoe UI" pitchFamily="34" charset="0"/>
                </a:rPr>
                <a:t>a link-local address</a:t>
              </a:r>
              <a:endParaRPr lang="en-US" sz="2000" dirty="0">
                <a:latin typeface="Segoe UI" pitchFamily="34" charset="0"/>
                <a:ea typeface="Segoe UI" pitchFamily="34" charset="0"/>
                <a:cs typeface="Segoe UI" pitchFamily="34" charset="0"/>
              </a:endParaRPr>
            </a:p>
          </p:txBody>
        </p:sp>
        <p:sp>
          <p:nvSpPr>
            <p:cNvPr id="49" name="&quot;1&quot;"/>
            <p:cNvSpPr>
              <a:spLocks noChangeArrowheads="1"/>
            </p:cNvSpPr>
            <p:nvPr/>
          </p:nvSpPr>
          <p:spPr bwMode="auto">
            <a:xfrm>
              <a:off x="362" y="873"/>
              <a:ext cx="161" cy="53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1</a:t>
              </a:r>
            </a:p>
          </p:txBody>
        </p:sp>
      </p:grpSp>
      <p:sp>
        <p:nvSpPr>
          <p:cNvPr id="62" name="diagonal red arrow 4" descr="&quot;&quot;"/>
          <p:cNvSpPr>
            <a:spLocks noChangeShapeType="1"/>
          </p:cNvSpPr>
          <p:nvPr/>
        </p:nvSpPr>
        <p:spPr bwMode="auto">
          <a:xfrm>
            <a:off x="6772274" y="2257425"/>
            <a:ext cx="466381" cy="194469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3" name="diagonal red arrow 3" descr="&quot;&quot;"/>
          <p:cNvSpPr>
            <a:spLocks noChangeShapeType="1"/>
          </p:cNvSpPr>
          <p:nvPr/>
        </p:nvSpPr>
        <p:spPr bwMode="auto">
          <a:xfrm rot="10800000">
            <a:off x="7000873" y="2209798"/>
            <a:ext cx="523454" cy="1867273"/>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4" name="diagonal red arrow 2" descr="&quot;&quot;"/>
          <p:cNvSpPr>
            <a:spLocks noChangeShapeType="1"/>
          </p:cNvSpPr>
          <p:nvPr/>
        </p:nvSpPr>
        <p:spPr bwMode="auto">
          <a:xfrm flipH="1">
            <a:off x="5296231" y="2200275"/>
            <a:ext cx="809294" cy="2192361"/>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5" name="diagonal red arrow 1" descr="&quot;&quot;"/>
          <p:cNvSpPr>
            <a:spLocks noChangeShapeType="1"/>
          </p:cNvSpPr>
          <p:nvPr/>
        </p:nvSpPr>
        <p:spPr bwMode="auto">
          <a:xfrm rot="10800000" flipH="1">
            <a:off x="5591174" y="2200274"/>
            <a:ext cx="752475" cy="2257426"/>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pic>
        <p:nvPicPr>
          <p:cNvPr id="66" name="check mark"/>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4689734" y="4258850"/>
            <a:ext cx="583077" cy="581025"/>
          </a:xfrm>
          <a:prstGeom prst="rect">
            <a:avLst/>
          </a:prstGeom>
          <a:noFill/>
          <a:extLst>
            <a:ext uri="{909E8E84-426E-40DD-AFC4-6F175D3DCCD1}">
              <a14:hiddenFill xmlns:a14="http://schemas.microsoft.com/office/drawing/2010/main">
                <a:solidFill>
                  <a:srgbClr val="FFFFFF"/>
                </a:solidFill>
              </a14:hiddenFill>
            </a:ext>
          </a:extLst>
        </p:spPr>
      </p:pic>
      <p:sp>
        <p:nvSpPr>
          <p:cNvPr id="67" name="&quot;IPv6 Client&quot;" descr="&quot;&quot;"/>
          <p:cNvSpPr>
            <a:spLocks noChangeArrowheads="1"/>
          </p:cNvSpPr>
          <p:nvPr/>
        </p:nvSpPr>
        <p:spPr bwMode="auto">
          <a:xfrm>
            <a:off x="7238656" y="1366707"/>
            <a:ext cx="1244600" cy="303213"/>
          </a:xfrm>
          <a:prstGeom prst="roundRect">
            <a:avLst>
              <a:gd name="adj" fmla="val 4167"/>
            </a:avLst>
          </a:prstGeom>
          <a:solidFill>
            <a:schemeClr val="bg1"/>
          </a:solidFill>
          <a:ln w="9525" algn="ctr">
            <a:noFill/>
            <a:round/>
            <a:headEnd/>
            <a:tailEnd/>
          </a:ln>
          <a:effectLst/>
        </p:spPr>
        <p:txBody>
          <a:bodyPr wrap="none" tIns="0" bIns="0" anchor="ctr"/>
          <a:lstStyle/>
          <a:p>
            <a:pPr>
              <a:lnSpc>
                <a:spcPct val="85000"/>
              </a:lnSpc>
            </a:pPr>
            <a:r>
              <a:rPr lang="en-US" sz="2000" dirty="0">
                <a:latin typeface="Segoe UI" pitchFamily="34" charset="0"/>
                <a:ea typeface="Segoe UI" pitchFamily="34" charset="0"/>
                <a:cs typeface="Segoe UI" pitchFamily="34" charset="0"/>
              </a:rPr>
              <a:t>IPv6 Client</a:t>
            </a:r>
          </a:p>
        </p:txBody>
      </p:sp>
      <p:sp>
        <p:nvSpPr>
          <p:cNvPr id="68" name="&quot;IPv6 DHCP Server &quot;" descr="&quot;&quot;"/>
          <p:cNvSpPr>
            <a:spLocks noChangeArrowheads="1"/>
          </p:cNvSpPr>
          <p:nvPr/>
        </p:nvSpPr>
        <p:spPr bwMode="auto">
          <a:xfrm>
            <a:off x="7922627" y="4202119"/>
            <a:ext cx="845407" cy="887363"/>
          </a:xfrm>
          <a:prstGeom prst="roundRect">
            <a:avLst>
              <a:gd name="adj" fmla="val 4167"/>
            </a:avLst>
          </a:prstGeom>
          <a:solidFill>
            <a:schemeClr val="bg1"/>
          </a:solidFill>
          <a:ln w="9525" algn="ctr">
            <a:noFill/>
            <a:round/>
            <a:headEnd/>
            <a:tailEnd/>
          </a:ln>
          <a:effectLst/>
        </p:spPr>
        <p:txBody>
          <a:bodyPr wrap="square" lIns="0" tIns="0" rIns="0" bIns="0" anchor="ctr"/>
          <a:lstStyle/>
          <a:p>
            <a:pPr algn="ctr">
              <a:lnSpc>
                <a:spcPct val="85000"/>
              </a:lnSpc>
            </a:pPr>
            <a:r>
              <a:rPr lang="en-US" sz="2000" dirty="0">
                <a:latin typeface="Segoe UI" pitchFamily="34" charset="0"/>
                <a:ea typeface="Segoe UI" pitchFamily="34" charset="0"/>
                <a:cs typeface="Segoe UI" pitchFamily="34" charset="0"/>
              </a:rPr>
              <a:t>IPv6 DHCP Server </a:t>
            </a:r>
          </a:p>
        </p:txBody>
      </p:sp>
      <p:sp>
        <p:nvSpPr>
          <p:cNvPr id="69" name="&quot;IPv6 Router&quot;" descr="&quot;&quot;"/>
          <p:cNvSpPr>
            <a:spLocks noChangeArrowheads="1"/>
          </p:cNvSpPr>
          <p:nvPr/>
        </p:nvSpPr>
        <p:spPr bwMode="auto">
          <a:xfrm>
            <a:off x="4736282" y="5341451"/>
            <a:ext cx="1376094" cy="246626"/>
          </a:xfrm>
          <a:prstGeom prst="roundRect">
            <a:avLst>
              <a:gd name="adj" fmla="val 4167"/>
            </a:avLst>
          </a:prstGeom>
          <a:solidFill>
            <a:schemeClr val="bg1"/>
          </a:solidFill>
          <a:ln w="9525" algn="ctr">
            <a:noFill/>
            <a:round/>
            <a:headEnd/>
            <a:tailEnd/>
          </a:ln>
          <a:effectLst/>
        </p:spPr>
        <p:txBody>
          <a:bodyPr wrap="none" lIns="36000" tIns="0" rIns="36000" bIns="0" anchor="ctr"/>
          <a:lstStyle/>
          <a:p>
            <a:pPr>
              <a:lnSpc>
                <a:spcPct val="85000"/>
              </a:lnSpc>
            </a:pPr>
            <a:r>
              <a:rPr lang="en-US" sz="2000" dirty="0">
                <a:latin typeface="Segoe UI" pitchFamily="34" charset="0"/>
                <a:ea typeface="Segoe UI" pitchFamily="34" charset="0"/>
                <a:cs typeface="Segoe UI" pitchFamily="34" charset="0"/>
              </a:rPr>
              <a:t>IPv6 Router</a:t>
            </a:r>
          </a:p>
        </p:txBody>
      </p:sp>
      <p:sp>
        <p:nvSpPr>
          <p:cNvPr id="74" name="&quot;6&quot; in diagram, alt text here" descr="6th step&#10;Arrows point between the server &amp; the client—they represent the client searching for and then obtaining DHCPv6 configuration information.&#10;"/>
          <p:cNvSpPr>
            <a:spLocks noChangeArrowheads="1"/>
          </p:cNvSpPr>
          <p:nvPr/>
        </p:nvSpPr>
        <p:spPr bwMode="auto">
          <a:xfrm>
            <a:off x="7358903" y="2953106"/>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6</a:t>
            </a:r>
            <a:endParaRPr lang="en-US" sz="2400" dirty="0">
              <a:solidFill>
                <a:srgbClr val="990033"/>
              </a:solidFill>
              <a:latin typeface="Arial Narrow" pitchFamily="34" charset="0"/>
            </a:endParaRPr>
          </a:p>
        </p:txBody>
      </p:sp>
      <p:sp>
        <p:nvSpPr>
          <p:cNvPr id="72" name="&quot;5 in diagram, alt text here" descr="5th step&#10;An arrow points from the router to the client—it represents additional router prefixes that the client adds locally.&#10;"/>
          <p:cNvSpPr>
            <a:spLocks noChangeArrowheads="1"/>
          </p:cNvSpPr>
          <p:nvPr/>
        </p:nvSpPr>
        <p:spPr bwMode="auto">
          <a:xfrm>
            <a:off x="6040368" y="333552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5</a:t>
            </a:r>
            <a:endParaRPr lang="en-US" sz="2400" dirty="0">
              <a:solidFill>
                <a:srgbClr val="990033"/>
              </a:solidFill>
              <a:latin typeface="Arial Narrow" pitchFamily="34" charset="0"/>
            </a:endParaRPr>
          </a:p>
        </p:txBody>
      </p:sp>
      <p:sp>
        <p:nvSpPr>
          <p:cNvPr id="73" name="&quot;4&quot; in diagram, alt text here" descr="4th step&#10;A check mark appears on the router.&#10;"/>
          <p:cNvSpPr>
            <a:spLocks noChangeArrowheads="1"/>
          </p:cNvSpPr>
          <p:nvPr/>
        </p:nvSpPr>
        <p:spPr bwMode="auto">
          <a:xfrm>
            <a:off x="4837716" y="3946956"/>
            <a:ext cx="176136"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4</a:t>
            </a:r>
            <a:endParaRPr lang="en-US" sz="2400" dirty="0">
              <a:solidFill>
                <a:srgbClr val="990033"/>
              </a:solidFill>
              <a:latin typeface="Arial Narrow" pitchFamily="34" charset="0"/>
            </a:endParaRPr>
          </a:p>
        </p:txBody>
      </p:sp>
      <p:sp>
        <p:nvSpPr>
          <p:cNvPr id="70" name="&quot;3&quot; in diagram, alt text here" descr="3rd step&#10;An arrow points from the client to the router—it represents the client searching for router configuration information.&#10;"/>
          <p:cNvSpPr>
            <a:spLocks noChangeArrowheads="1"/>
          </p:cNvSpPr>
          <p:nvPr/>
        </p:nvSpPr>
        <p:spPr bwMode="auto">
          <a:xfrm>
            <a:off x="5658605" y="2607479"/>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3</a:t>
            </a:r>
            <a:endParaRPr lang="en-US" sz="2400" dirty="0">
              <a:solidFill>
                <a:srgbClr val="990033"/>
              </a:solidFill>
              <a:latin typeface="Arial Narrow" pitchFamily="34" charset="0"/>
            </a:endParaRPr>
          </a:p>
        </p:txBody>
      </p:sp>
      <p:sp>
        <p:nvSpPr>
          <p:cNvPr id="71" name="&quot;2&quot; in diagram, alt text here" descr="2nd step&#10;A series of concentric circles move outward from the IPv6 client—they represent the client checking for address conflicts.&#10;"/>
          <p:cNvSpPr>
            <a:spLocks noChangeArrowheads="1"/>
          </p:cNvSpPr>
          <p:nvPr/>
        </p:nvSpPr>
        <p:spPr bwMode="auto">
          <a:xfrm>
            <a:off x="4938520" y="994628"/>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2</a:t>
            </a:r>
            <a:endParaRPr lang="en-US" sz="2400" dirty="0">
              <a:solidFill>
                <a:srgbClr val="990033"/>
              </a:solidFill>
              <a:latin typeface="Arial Narrow" pitchFamily="34" charset="0"/>
            </a:endParaRPr>
          </a:p>
        </p:txBody>
      </p:sp>
      <p:sp>
        <p:nvSpPr>
          <p:cNvPr id="52" name="&quot;1&quot; in diagram, alt text here" descr="1st step&#10;The diagram has an IPv6 client, an IPv6 router, and a IPv6 DHCP server. There are no moving graphics on this frame.&#10;"/>
          <p:cNvSpPr>
            <a:spLocks noChangeArrowheads="1"/>
          </p:cNvSpPr>
          <p:nvPr/>
        </p:nvSpPr>
        <p:spPr bwMode="auto">
          <a:xfrm>
            <a:off x="7905712" y="106669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a:solidFill>
                  <a:srgbClr val="990033"/>
                </a:solidFill>
                <a:latin typeface="Arial Narrow" pitchFamily="34" charset="0"/>
              </a:rPr>
              <a:t>1</a:t>
            </a:r>
          </a:p>
        </p:txBody>
      </p:sp>
      <p:sp>
        <p:nvSpPr>
          <p:cNvPr id="50" name="&quot;The 6-step process ..."/>
          <p:cNvSpPr>
            <a:spLocks noChangeArrowheads="1"/>
          </p:cNvSpPr>
          <p:nvPr/>
        </p:nvSpPr>
        <p:spPr bwMode="auto">
          <a:xfrm>
            <a:off x="575070" y="853280"/>
            <a:ext cx="3564882" cy="415479"/>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lIns="0" tIns="0" rIns="0" bIns="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US" sz="2400" b="0" dirty="0" smtClean="0">
                <a:latin typeface="Segoe UI" pitchFamily="34" charset="0"/>
                <a:ea typeface="Segoe UI" pitchFamily="34" charset="0"/>
                <a:cs typeface="Segoe UI" pitchFamily="34" charset="0"/>
              </a:rPr>
              <a:t>The six-step process:</a:t>
            </a:r>
            <a:endParaRPr lang="en-US" sz="2400" b="0" dirty="0">
              <a:latin typeface="Segoe UI" pitchFamily="34" charset="0"/>
              <a:ea typeface="Segoe UI" pitchFamily="34" charset="0"/>
              <a:cs typeface="Segoe UI" pitchFamily="34" charset="0"/>
            </a:endParaRPr>
          </a:p>
        </p:txBody>
      </p:sp>
      <p:sp>
        <p:nvSpPr>
          <p:cNvPr id="2" name="slide title"/>
          <p:cNvSpPr>
            <a:spLocks noGrp="1"/>
          </p:cNvSpPr>
          <p:nvPr>
            <p:ph type="title"/>
          </p:nvPr>
        </p:nvSpPr>
        <p:spPr/>
        <p:txBody>
          <a:bodyPr/>
          <a:lstStyle/>
          <a:p>
            <a:r>
              <a:rPr lang="en-GB" sz="2800" dirty="0" smtClean="0">
                <a:latin typeface="Segoe UI" pitchFamily="34" charset="0"/>
                <a:ea typeface="Segoe UI" pitchFamily="34" charset="0"/>
                <a:cs typeface="Segoe UI" pitchFamily="34" charset="0"/>
              </a:rPr>
              <a:t>Autoconfiguring IPv6 Addresses	</a:t>
            </a:r>
            <a:endParaRPr lang="en-GB" sz="280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4404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wipe(left)">
                                      <p:cBhvr>
                                        <p:cTn id="9" dur="1000"/>
                                        <p:tgtEl>
                                          <p:spTgt spid="47"/>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left)">
                                      <p:cBhvr>
                                        <p:cTn id="15" dur="20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wipe(left)">
                                      <p:cBhvr>
                                        <p:cTn id="20" dur="1000"/>
                                        <p:tgtEl>
                                          <p:spTgt spid="44"/>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par>
                                <p:cTn id="27" presetID="6" presetClass="emph" presetSubtype="0" fill="hold" grpId="1" nodeType="withEffect">
                                  <p:stCondLst>
                                    <p:cond delay="0"/>
                                  </p:stCondLst>
                                  <p:childTnLst>
                                    <p:animScale>
                                      <p:cBhvr>
                                        <p:cTn id="28" dur="500" fill="hold"/>
                                        <p:tgtEl>
                                          <p:spTgt spid="57"/>
                                        </p:tgtEl>
                                      </p:cBhvr>
                                      <p:by x="150000" y="150000"/>
                                    </p:animScale>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6" presetClass="emph" presetSubtype="0" fill="hold" grpId="1" nodeType="withEffect">
                                  <p:stCondLst>
                                    <p:cond delay="0"/>
                                  </p:stCondLst>
                                  <p:childTnLst>
                                    <p:animScale>
                                      <p:cBhvr>
                                        <p:cTn id="34" dur="500" fill="hold"/>
                                        <p:tgtEl>
                                          <p:spTgt spid="56"/>
                                        </p:tgtEl>
                                      </p:cBhvr>
                                      <p:by x="150000" y="150000"/>
                                    </p:animScale>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500"/>
                                        <p:tgtEl>
                                          <p:spTgt spid="55"/>
                                        </p:tgtEl>
                                      </p:cBhvr>
                                    </p:animEffect>
                                  </p:childTnLst>
                                </p:cTn>
                              </p:par>
                              <p:par>
                                <p:cTn id="39" presetID="6" presetClass="emph" presetSubtype="0" fill="hold" grpId="1" nodeType="withEffect">
                                  <p:stCondLst>
                                    <p:cond delay="0"/>
                                  </p:stCondLst>
                                  <p:childTnLst>
                                    <p:animScale>
                                      <p:cBhvr>
                                        <p:cTn id="40" dur="500" fill="hold"/>
                                        <p:tgtEl>
                                          <p:spTgt spid="55"/>
                                        </p:tgtEl>
                                      </p:cBhvr>
                                      <p:by x="150000" y="150000"/>
                                    </p:animScale>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wipe(left)">
                                      <p:cBhvr>
                                        <p:cTn id="45" dur="1000"/>
                                        <p:tgtEl>
                                          <p:spTgt spid="41"/>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par>
                                <p:cTn id="48" presetID="22" presetClass="entr" presetSubtype="1" fill="hold" grpId="0"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up)">
                                      <p:cBhvr>
                                        <p:cTn id="50" dur="1000"/>
                                        <p:tgtEl>
                                          <p:spTgt spid="64"/>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wipe(left)">
                                      <p:cBhvr>
                                        <p:cTn id="54" dur="2000"/>
                                        <p:tgtEl>
                                          <p:spTgt spid="5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wipe(left)">
                                      <p:cBhvr>
                                        <p:cTn id="59" dur="1000"/>
                                        <p:tgtEl>
                                          <p:spTgt spid="38"/>
                                        </p:tgtEl>
                                      </p:cBhvr>
                                    </p:animEffect>
                                  </p:childTnLst>
                                </p:cTn>
                              </p:par>
                              <p:par>
                                <p:cTn id="60" presetID="1" presetClass="entr" presetSubtype="0" fill="hold" grpId="0" nodeType="withEffect">
                                  <p:stCondLst>
                                    <p:cond delay="0"/>
                                  </p:stCondLst>
                                  <p:childTnLst>
                                    <p:set>
                                      <p:cBhvr>
                                        <p:cTn id="61" dur="1" fill="hold">
                                          <p:stCondLst>
                                            <p:cond delay="0"/>
                                          </p:stCondLst>
                                        </p:cTn>
                                        <p:tgtEl>
                                          <p:spTgt spid="73"/>
                                        </p:tgtEl>
                                        <p:attrNameLst>
                                          <p:attrName>style.visibility</p:attrName>
                                        </p:attrNameLst>
                                      </p:cBhvr>
                                      <p:to>
                                        <p:strVal val="visible"/>
                                      </p:to>
                                    </p:set>
                                  </p:childTnLst>
                                </p:cTn>
                              </p:par>
                              <p:par>
                                <p:cTn id="62" presetID="9" presetClass="entr" presetSubtype="0" fill="hold"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dissolve">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wipe(left)">
                                      <p:cBhvr>
                                        <p:cTn id="69" dur="1000"/>
                                        <p:tgtEl>
                                          <p:spTgt spid="35"/>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72"/>
                                        </p:tgtEl>
                                        <p:attrNameLst>
                                          <p:attrName>style.visibility</p:attrName>
                                        </p:attrNameLst>
                                      </p:cBhvr>
                                      <p:to>
                                        <p:strVal val="visible"/>
                                      </p:to>
                                    </p:set>
                                  </p:childTnLst>
                                </p:cTn>
                              </p:par>
                              <p:par>
                                <p:cTn id="72" presetID="22" presetClass="entr" presetSubtype="4"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1000"/>
                                        <p:tgtEl>
                                          <p:spTgt spid="65"/>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wipe(left)">
                                      <p:cBhvr>
                                        <p:cTn id="78" dur="2000"/>
                                        <p:tgtEl>
                                          <p:spTgt spid="6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3" dur="1000"/>
                                        <p:tgtEl>
                                          <p:spTgt spid="32"/>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74"/>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78"/>
                                        </p:tgtEl>
                                        <p:attrNameLst>
                                          <p:attrName>style.visibility</p:attrName>
                                        </p:attrNameLst>
                                      </p:cBhvr>
                                      <p:to>
                                        <p:strVal val="visible"/>
                                      </p:to>
                                    </p:set>
                                  </p:childTnLst>
                                </p:cTn>
                              </p:par>
                              <p:par>
                                <p:cTn id="88" presetID="22" presetClass="entr" presetSubtype="1"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wipe(up)">
                                      <p:cBhvr>
                                        <p:cTn id="90" dur="1000"/>
                                        <p:tgtEl>
                                          <p:spTgt spid="62"/>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animEffect transition="in" filter="wipe(down)">
                                      <p:cBhvr>
                                        <p:cTn id="93" dur="1000"/>
                                        <p:tgtEl>
                                          <p:spTgt spid="63"/>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wipe(left)">
                                      <p:cBhvr>
                                        <p:cTn id="97"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0" grpId="0" animBg="1"/>
      <p:bldP spid="59" grpId="0" animBg="1"/>
      <p:bldP spid="55" grpId="0" animBg="1"/>
      <p:bldP spid="55" grpId="1" animBg="1"/>
      <p:bldP spid="56" grpId="0" animBg="1"/>
      <p:bldP spid="56" grpId="1" animBg="1"/>
      <p:bldP spid="57" grpId="0" animBg="1"/>
      <p:bldP spid="57" grpId="1" animBg="1"/>
      <p:bldP spid="58" grpId="0" animBg="1"/>
      <p:bldP spid="62" grpId="0" animBg="1"/>
      <p:bldP spid="63" grpId="0" animBg="1"/>
      <p:bldP spid="64" grpId="0" animBg="1"/>
      <p:bldP spid="65" grpId="0" animBg="1"/>
      <p:bldP spid="74" grpId="0"/>
      <p:bldP spid="72" grpId="0"/>
      <p:bldP spid="73" grpId="0"/>
      <p:bldP spid="70" grpId="0"/>
      <p:bldP spid="71" grpId="0"/>
      <p:bldP spid="52" grpId="0"/>
    </p:bldLst>
  </p:timing>
</p:sld>
</file>

<file path=ppt/slides/slide18.xml><?xml version="1.0" encoding="utf-8"?>
<p:sld xmlns:a="http://schemas.openxmlformats.org/drawingml/2006/main" xmlns:r="http://schemas.openxmlformats.org/officeDocument/2006/relationships" xmlns:p="http://schemas.openxmlformats.org/presentationml/2006/main">
  <p:cSld name="c2f869cf-1db6-478c-ab03-7064dc51cc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Autoconfiguring IPv6 Addresses</a:t>
            </a:r>
            <a:endParaRPr lang="en-CA" dirty="0"/>
          </a:p>
        </p:txBody>
      </p:sp>
      <p:grpSp>
        <p:nvGrpSpPr>
          <p:cNvPr id="4" name="alt text here" descr="A line diagram of the states that a host's IPv6 address goes through during its lifecycle. They are laid out along a time line.&#10;The states are, in order, tentative, preferred, deprecated, and invalid.&#10;The tentative and preferred states make up the preferred lifetime, while the tentative, preferred, and deprecated states make up the valid lifetime.&#10;"/>
          <p:cNvGrpSpPr/>
          <p:nvPr/>
        </p:nvGrpSpPr>
        <p:grpSpPr>
          <a:xfrm>
            <a:off x="542053" y="1487075"/>
            <a:ext cx="8326438" cy="3137115"/>
            <a:chOff x="490537" y="1487075"/>
            <a:chExt cx="8326438" cy="3137115"/>
          </a:xfrm>
        </p:grpSpPr>
        <p:grpSp>
          <p:nvGrpSpPr>
            <p:cNvPr id="5" name="set of labels and arrows underneath largest arrow"/>
            <p:cNvGrpSpPr/>
            <p:nvPr/>
          </p:nvGrpSpPr>
          <p:grpSpPr>
            <a:xfrm>
              <a:off x="566737" y="3592314"/>
              <a:ext cx="6309519" cy="1031876"/>
              <a:chOff x="566737" y="3765552"/>
              <a:chExt cx="6309519" cy="1031876"/>
            </a:xfrm>
          </p:grpSpPr>
          <p:sp>
            <p:nvSpPr>
              <p:cNvPr id="21" name="red arrow on valid lifetime" descr="&quot;&quot;"/>
              <p:cNvSpPr>
                <a:spLocks noChangeShapeType="1"/>
              </p:cNvSpPr>
              <p:nvPr/>
            </p:nvSpPr>
            <p:spPr bwMode="auto">
              <a:xfrm>
                <a:off x="619125" y="4632688"/>
                <a:ext cx="6216650"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2" name="red arrow on preferred lifetime" descr="&quot;&quot;"/>
              <p:cNvSpPr>
                <a:spLocks noChangeShapeType="1"/>
              </p:cNvSpPr>
              <p:nvPr/>
            </p:nvSpPr>
            <p:spPr bwMode="auto">
              <a:xfrm>
                <a:off x="614362" y="4138846"/>
                <a:ext cx="4360863"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vertical red line 72" descr="&quot;&quot;"/>
              <p:cNvSpPr>
                <a:spLocks noChangeShapeType="1"/>
              </p:cNvSpPr>
              <p:nvPr/>
            </p:nvSpPr>
            <p:spPr bwMode="auto">
              <a:xfrm>
                <a:off x="6876256" y="3770314"/>
                <a:ext cx="0" cy="97856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vertical red line 70" descr="&quot;&quot;"/>
              <p:cNvSpPr>
                <a:spLocks noChangeShapeType="1"/>
              </p:cNvSpPr>
              <p:nvPr/>
            </p:nvSpPr>
            <p:spPr bwMode="auto">
              <a:xfrm>
                <a:off x="5019675" y="3775077"/>
                <a:ext cx="0" cy="481407"/>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vertical red line 58" descr="&quot;&quot;"/>
              <p:cNvSpPr>
                <a:spLocks noChangeShapeType="1"/>
              </p:cNvSpPr>
              <p:nvPr/>
            </p:nvSpPr>
            <p:spPr bwMode="auto">
              <a:xfrm>
                <a:off x="566737" y="3765552"/>
                <a:ext cx="0" cy="98332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quot;Valid Lifetime" descr="&quot;&quot;"/>
              <p:cNvSpPr>
                <a:spLocks noChangeArrowheads="1"/>
              </p:cNvSpPr>
              <p:nvPr/>
            </p:nvSpPr>
            <p:spPr bwMode="auto">
              <a:xfrm>
                <a:off x="3133725" y="4453300"/>
                <a:ext cx="1841500"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itchFamily="34" charset="0"/>
                    <a:ea typeface="Segoe UI" pitchFamily="34" charset="0"/>
                    <a:cs typeface="Segoe UI" pitchFamily="34" charset="0"/>
                  </a:rPr>
                  <a:t>Valid Lifetime</a:t>
                </a:r>
              </a:p>
            </p:txBody>
          </p:sp>
          <p:sp>
            <p:nvSpPr>
              <p:cNvPr id="27" name="&quot;Preferred Lifetime" descr="&quot;&quot;"/>
              <p:cNvSpPr>
                <a:spLocks noChangeArrowheads="1"/>
              </p:cNvSpPr>
              <p:nvPr/>
            </p:nvSpPr>
            <p:spPr bwMode="auto">
              <a:xfrm>
                <a:off x="1734051" y="3944724"/>
                <a:ext cx="2367547"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itchFamily="34" charset="0"/>
                    <a:ea typeface="Segoe UI" pitchFamily="34" charset="0"/>
                    <a:cs typeface="Segoe UI" pitchFamily="34" charset="0"/>
                  </a:rPr>
                  <a:t>Preferred Lifetime</a:t>
                </a:r>
              </a:p>
            </p:txBody>
          </p:sp>
        </p:grpSp>
        <p:grpSp>
          <p:nvGrpSpPr>
            <p:cNvPr id="6" name="biggest arroe and label"/>
            <p:cNvGrpSpPr/>
            <p:nvPr/>
          </p:nvGrpSpPr>
          <p:grpSpPr>
            <a:xfrm>
              <a:off x="490537" y="3429000"/>
              <a:ext cx="8326438" cy="313350"/>
              <a:chOff x="490537" y="3414715"/>
              <a:chExt cx="8326438" cy="313350"/>
            </a:xfrm>
          </p:grpSpPr>
          <p:sp>
            <p:nvSpPr>
              <p:cNvPr id="19" name="&quot;Time" descr="&quot;&quot;"/>
              <p:cNvSpPr>
                <a:spLocks noChangeArrowheads="1"/>
              </p:cNvSpPr>
              <p:nvPr/>
            </p:nvSpPr>
            <p:spPr bwMode="auto">
              <a:xfrm>
                <a:off x="8220075" y="3414715"/>
                <a:ext cx="596900" cy="3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a:latin typeface="Segoe UI" pitchFamily="34" charset="0"/>
                    <a:ea typeface="Segoe UI" pitchFamily="34" charset="0"/>
                    <a:cs typeface="Segoe UI" pitchFamily="34" charset="0"/>
                  </a:rPr>
                  <a:t>Time</a:t>
                </a:r>
                <a:endParaRPr lang="en-US" sz="1600" dirty="0">
                  <a:latin typeface="Segoe UI" pitchFamily="34" charset="0"/>
                  <a:ea typeface="Segoe UI" pitchFamily="34" charset="0"/>
                  <a:cs typeface="Segoe UI" pitchFamily="34" charset="0"/>
                </a:endParaRPr>
              </a:p>
            </p:txBody>
          </p:sp>
          <p:sp>
            <p:nvSpPr>
              <p:cNvPr id="20" name="red arrow, biggest one 68" descr="&quot;&quot;"/>
              <p:cNvSpPr>
                <a:spLocks noChangeShapeType="1"/>
              </p:cNvSpPr>
              <p:nvPr/>
            </p:nvSpPr>
            <p:spPr bwMode="auto">
              <a:xfrm>
                <a:off x="490537" y="3600452"/>
                <a:ext cx="7769225" cy="0"/>
              </a:xfrm>
              <a:prstGeom prst="line">
                <a:avLst/>
              </a:prstGeom>
              <a:noFill/>
              <a:ln w="76200">
                <a:solidFill>
                  <a:srgbClr val="CC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7" name="set of labels and arrows above largest arrow"/>
            <p:cNvGrpSpPr/>
            <p:nvPr/>
          </p:nvGrpSpPr>
          <p:grpSpPr>
            <a:xfrm>
              <a:off x="558800" y="2368552"/>
              <a:ext cx="7773988" cy="1236663"/>
              <a:chOff x="558800" y="2368552"/>
              <a:chExt cx="7773988" cy="1236663"/>
            </a:xfrm>
          </p:grpSpPr>
          <p:sp>
            <p:nvSpPr>
              <p:cNvPr id="9" name="vertical red line 64" descr="&quot;&quot;"/>
              <p:cNvSpPr>
                <a:spLocks noChangeShapeType="1"/>
              </p:cNvSpPr>
              <p:nvPr/>
            </p:nvSpPr>
            <p:spPr bwMode="auto">
              <a:xfrm>
                <a:off x="2081212" y="2466977"/>
                <a:ext cx="0" cy="113823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0" name="vertical red line 67" descr="&quot;&quot;"/>
              <p:cNvSpPr>
                <a:spLocks noChangeShapeType="1"/>
              </p:cNvSpPr>
              <p:nvPr/>
            </p:nvSpPr>
            <p:spPr bwMode="auto">
              <a:xfrm>
                <a:off x="6876256" y="2463802"/>
                <a:ext cx="0" cy="113823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1" name="vertical red line 71" descr="&quot;&quot;"/>
              <p:cNvSpPr>
                <a:spLocks noChangeShapeType="1"/>
              </p:cNvSpPr>
              <p:nvPr/>
            </p:nvSpPr>
            <p:spPr bwMode="auto">
              <a:xfrm>
                <a:off x="5019675" y="3032921"/>
                <a:ext cx="0" cy="561975"/>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nvGrpSpPr>
              <p:cNvPr id="12" name="4 text boxes in a row"/>
              <p:cNvGrpSpPr/>
              <p:nvPr/>
            </p:nvGrpSpPr>
            <p:grpSpPr>
              <a:xfrm>
                <a:off x="558800" y="3027365"/>
                <a:ext cx="7773988" cy="401635"/>
                <a:chOff x="558800" y="3027365"/>
                <a:chExt cx="7773988" cy="401635"/>
              </a:xfrm>
            </p:grpSpPr>
            <p:sp>
              <p:nvSpPr>
                <p:cNvPr id="15" name="&quot;Invalid" descr="&quot;&quot;"/>
                <p:cNvSpPr>
                  <a:spLocks noChangeArrowheads="1"/>
                </p:cNvSpPr>
                <p:nvPr/>
              </p:nvSpPr>
              <p:spPr bwMode="auto">
                <a:xfrm>
                  <a:off x="6748463" y="3027365"/>
                  <a:ext cx="1584325" cy="396872"/>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Invalid</a:t>
                  </a:r>
                </a:p>
              </p:txBody>
            </p:sp>
            <p:sp>
              <p:nvSpPr>
                <p:cNvPr id="16" name="&quot;Tentative" descr="&quot;&quot;"/>
                <p:cNvSpPr>
                  <a:spLocks noChangeArrowheads="1"/>
                </p:cNvSpPr>
                <p:nvPr/>
              </p:nvSpPr>
              <p:spPr bwMode="auto">
                <a:xfrm>
                  <a:off x="558800" y="3053720"/>
                  <a:ext cx="1584325" cy="280059"/>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Tentative</a:t>
                  </a:r>
                </a:p>
              </p:txBody>
            </p:sp>
            <p:sp>
              <p:nvSpPr>
                <p:cNvPr id="17" name="&quot;Deprecated" descr="&quot;&quot;"/>
                <p:cNvSpPr>
                  <a:spLocks noChangeArrowheads="1"/>
                </p:cNvSpPr>
                <p:nvPr/>
              </p:nvSpPr>
              <p:spPr bwMode="auto">
                <a:xfrm>
                  <a:off x="5167313" y="3032128"/>
                  <a:ext cx="1584325" cy="396872"/>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Deprecated</a:t>
                  </a:r>
                </a:p>
              </p:txBody>
            </p:sp>
            <p:sp>
              <p:nvSpPr>
                <p:cNvPr id="18" name="&quot;Preferred" descr="&quot;&quot;"/>
                <p:cNvSpPr>
                  <a:spLocks noChangeArrowheads="1"/>
                </p:cNvSpPr>
                <p:nvPr/>
              </p:nvSpPr>
              <p:spPr bwMode="auto">
                <a:xfrm>
                  <a:off x="2917825" y="3051578"/>
                  <a:ext cx="1431925" cy="288766"/>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Preferred</a:t>
                  </a:r>
                </a:p>
              </p:txBody>
            </p:sp>
          </p:grpSp>
          <p:sp>
            <p:nvSpPr>
              <p:cNvPr id="13" name="red arrow on &quot;valid&quot;" descr="&quot;&quot;"/>
              <p:cNvSpPr>
                <a:spLocks noChangeShapeType="1"/>
              </p:cNvSpPr>
              <p:nvPr/>
            </p:nvSpPr>
            <p:spPr bwMode="auto">
              <a:xfrm>
                <a:off x="2109787" y="2547940"/>
                <a:ext cx="4714875"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4" name="&quot;Valid" descr="&quot;&quot;"/>
              <p:cNvSpPr>
                <a:spLocks noChangeArrowheads="1"/>
              </p:cNvSpPr>
              <p:nvPr/>
            </p:nvSpPr>
            <p:spPr bwMode="auto">
              <a:xfrm>
                <a:off x="3994150" y="2368552"/>
                <a:ext cx="842546"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dirty="0">
                    <a:latin typeface="Segoe UI" pitchFamily="34" charset="0"/>
                    <a:ea typeface="Segoe UI" pitchFamily="34" charset="0"/>
                    <a:cs typeface="Segoe UI" pitchFamily="34" charset="0"/>
                  </a:rPr>
                  <a:t>Valid</a:t>
                </a:r>
              </a:p>
            </p:txBody>
          </p:sp>
        </p:grpSp>
        <p:sp>
          <p:nvSpPr>
            <p:cNvPr id="8" name="&quot;Autoconfigured IP Timeline&quot;"/>
            <p:cNvSpPr>
              <a:spLocks noChangeArrowheads="1"/>
            </p:cNvSpPr>
            <p:nvPr/>
          </p:nvSpPr>
          <p:spPr bwMode="auto">
            <a:xfrm>
              <a:off x="2423331" y="1487075"/>
              <a:ext cx="4087786" cy="40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400" dirty="0">
                  <a:latin typeface="Segoe UI" pitchFamily="34" charset="0"/>
                  <a:ea typeface="Segoe UI" pitchFamily="34" charset="0"/>
                  <a:cs typeface="Segoe UI" pitchFamily="34" charset="0"/>
                </a:rPr>
                <a:t>Autoconfigured IP Timeline</a:t>
              </a:r>
              <a:endParaRPr lang="en-US" sz="2400" dirty="0">
                <a:latin typeface="Segoe UI" pitchFamily="34" charset="0"/>
                <a:ea typeface="Segoe UI" pitchFamily="34" charset="0"/>
                <a:cs typeface="Segoe UI" pitchFamily="34" charset="0"/>
              </a:endParaRPr>
            </a:p>
          </p:txBody>
        </p:sp>
      </p:grpSp>
    </p:spTree>
    <p:extLst>
      <p:ext uri="{BB962C8B-B14F-4D97-AF65-F5344CB8AC3E}">
        <p14:creationId xmlns:p14="http://schemas.microsoft.com/office/powerpoint/2010/main" val="11816330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cd41bed6-742c-49fa-b5d5-9622d980baa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Configuring IPv6 Client Settings</a:t>
            </a:r>
            <a:endParaRPr lang="en-CA" dirty="0"/>
          </a:p>
        </p:txBody>
      </p:sp>
      <p:sp>
        <p:nvSpPr>
          <p:cNvPr id="4" name="Content Placeholder 2"/>
          <p:cNvSpPr>
            <a:spLocks noGrp="1"/>
          </p:cNvSpPr>
          <p:nvPr/>
        </p:nvSpPr>
        <p:spPr bwMode="auto">
          <a:xfrm>
            <a:off x="458878" y="1095034"/>
            <a:ext cx="6689537" cy="300632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dirty="0"/>
              <a:t>In this demonstration, you will see how to:</a:t>
            </a:r>
          </a:p>
          <a:p>
            <a:pPr marL="174625" lvl="1" indent="-174625">
              <a:buSzPct val="90000"/>
            </a:pPr>
            <a:r>
              <a:rPr lang="en-US" dirty="0"/>
              <a:t>View IPv6 configuration by using </a:t>
            </a:r>
            <a:r>
              <a:rPr lang="en-US" b="1" dirty="0" smtClean="0"/>
              <a:t>ipconfig</a:t>
            </a:r>
            <a:r>
              <a:rPr lang="en-US" dirty="0" smtClean="0"/>
              <a:t> and </a:t>
            </a:r>
            <a:r>
              <a:rPr lang="en-US" b="1" dirty="0" smtClean="0"/>
              <a:t>Get-NetIPAddress</a:t>
            </a:r>
            <a:endParaRPr lang="en-US" b="1" dirty="0"/>
          </a:p>
          <a:p>
            <a:pPr marL="174625" lvl="1" indent="-174625">
              <a:buSzPct val="90000"/>
            </a:pPr>
            <a:r>
              <a:rPr lang="en-US" dirty="0"/>
              <a:t>Configure IPv6 on a domain controller and a server </a:t>
            </a:r>
          </a:p>
          <a:p>
            <a:pPr marL="174625" lvl="1" indent="-174625">
              <a:buSzPct val="90000"/>
            </a:pPr>
            <a:r>
              <a:rPr lang="en-US" dirty="0"/>
              <a:t>Verify IPv6 communication is functional</a:t>
            </a:r>
          </a:p>
          <a:p>
            <a:pPr marL="0" indent="0">
              <a:buNone/>
            </a:pPr>
            <a:endParaRPr lang="en-US" dirty="0"/>
          </a:p>
        </p:txBody>
      </p:sp>
    </p:spTree>
    <p:extLst>
      <p:ext uri="{BB962C8B-B14F-4D97-AF65-F5344CB8AC3E}">
        <p14:creationId xmlns:p14="http://schemas.microsoft.com/office/powerpoint/2010/main" val="42673954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6240369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de369c75-beee-4b11-bae3-bdb00f1c5a7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Coexistence with IPv4</a:t>
            </a:r>
            <a:endParaRPr lang="en-CA" dirty="0"/>
          </a:p>
        </p:txBody>
      </p:sp>
      <p:sp>
        <p:nvSpPr>
          <p:cNvPr id="3" name="Text Placeholder 2"/>
          <p:cNvSpPr>
            <a:spLocks noGrp="1"/>
          </p:cNvSpPr>
          <p:nvPr>
            <p:ph type="body" idx="1"/>
          </p:nvPr>
        </p:nvSpPr>
        <p:spPr/>
        <p:txBody>
          <a:bodyPr/>
          <a:lstStyle/>
          <a:p>
            <a:r>
              <a:rPr lang="en-CA" dirty="0" smtClean="0"/>
              <a:t>What Are Node Types?
IPv4 and IPv6 Coexistence
Demonstration: Configuring DNS to Support IPv6
What Is IPv6 over IPv4 Tunneling?</a:t>
            </a:r>
            <a:endParaRPr lang="en-CA" dirty="0"/>
          </a:p>
        </p:txBody>
      </p:sp>
    </p:spTree>
    <p:extLst>
      <p:ext uri="{BB962C8B-B14F-4D97-AF65-F5344CB8AC3E}">
        <p14:creationId xmlns:p14="http://schemas.microsoft.com/office/powerpoint/2010/main" val="5142807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869fdd30-2093-42e4-a7c8-58f685add33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Are Node Types?</a:t>
            </a:r>
            <a:endParaRPr lang="en-CA" dirty="0"/>
          </a:p>
        </p:txBody>
      </p:sp>
      <p:sp>
        <p:nvSpPr>
          <p:cNvPr id="4" name="Oval 3" descr="&quot;&quot;"/>
          <p:cNvSpPr/>
          <p:nvPr/>
        </p:nvSpPr>
        <p:spPr bwMode="auto">
          <a:xfrm rot="20587389">
            <a:off x="628016" y="3385011"/>
            <a:ext cx="3772885" cy="2526712"/>
          </a:xfrm>
          <a:prstGeom prst="ellipse">
            <a:avLst/>
          </a:prstGeom>
          <a:noFill/>
          <a:ln w="41275" cap="flat" cmpd="sng" algn="ctr">
            <a:solidFill>
              <a:schemeClr val="bg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sp>
        <p:nvSpPr>
          <p:cNvPr id="5" name="Oval 4" descr="&quot;&quot;"/>
          <p:cNvSpPr/>
          <p:nvPr/>
        </p:nvSpPr>
        <p:spPr bwMode="auto">
          <a:xfrm rot="20587389">
            <a:off x="4653778" y="1292320"/>
            <a:ext cx="3993941" cy="2883933"/>
          </a:xfrm>
          <a:prstGeom prst="ellipse">
            <a:avLst/>
          </a:prstGeom>
          <a:noFill/>
          <a:ln w="41275" cap="flat" cmpd="sng" algn="ctr">
            <a:solidFill>
              <a:schemeClr val="bg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grpSp>
        <p:nvGrpSpPr>
          <p:cNvPr id="6" name="alt text here  Group 21" descr="A graphic that depicts two networks. One network has an IPv4 only node and an IPv4/IPv6 node, and the other network has a single IPv6-only node. The two networks are joined by a router, which uses tunneling to allow communication between the two networks.&#10;&#10;"/>
          <p:cNvGrpSpPr/>
          <p:nvPr/>
        </p:nvGrpSpPr>
        <p:grpSpPr>
          <a:xfrm>
            <a:off x="407184" y="999656"/>
            <a:ext cx="8457343" cy="4823507"/>
            <a:chOff x="257056" y="876824"/>
            <a:chExt cx="8457343" cy="4823507"/>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666333">
              <a:off x="3466264" y="2501422"/>
              <a:ext cx="2023580" cy="2042549"/>
            </a:xfrm>
            <a:prstGeom prst="rect">
              <a:avLst/>
            </a:prstGeom>
          </p:spPr>
        </p:pic>
        <p:grpSp>
          <p:nvGrpSpPr>
            <p:cNvPr id="8" name="Group 7"/>
            <p:cNvGrpSpPr/>
            <p:nvPr/>
          </p:nvGrpSpPr>
          <p:grpSpPr>
            <a:xfrm>
              <a:off x="257056" y="876824"/>
              <a:ext cx="8457343" cy="4823507"/>
              <a:chOff x="156007" y="562881"/>
              <a:chExt cx="8457343" cy="4823507"/>
            </a:xfrm>
            <a:noFill/>
            <a:effectLst/>
          </p:grpSpPr>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985601" y="562881"/>
                <a:ext cx="1327567" cy="1498732"/>
              </a:xfrm>
              <a:prstGeom prst="rect">
                <a:avLst/>
              </a:prstGeom>
              <a:grpFill/>
              <a:ln>
                <a:noFill/>
              </a:ln>
              <a:extLst/>
            </p:spPr>
          </p:pic>
          <p:pic>
            <p:nvPicPr>
              <p:cNvPr id="1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223257" y="1804132"/>
                <a:ext cx="1343515" cy="1516735"/>
              </a:xfrm>
              <a:prstGeom prst="rect">
                <a:avLst/>
              </a:prstGeom>
              <a:grpFill/>
              <a:ln>
                <a:noFill/>
              </a:ln>
              <a:extLst/>
            </p:spPr>
          </p:pic>
          <p:pic>
            <p:nvPicPr>
              <p:cNvPr id="12" name="Picture 11"/>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56007" y="3838561"/>
                <a:ext cx="1371056" cy="1547827"/>
              </a:xfrm>
              <a:prstGeom prst="rect">
                <a:avLst/>
              </a:prstGeom>
              <a:grpFill/>
              <a:ln>
                <a:noFill/>
              </a:ln>
              <a:extLst/>
            </p:spPr>
          </p:pic>
          <p:sp>
            <p:nvSpPr>
              <p:cNvPr id="13" name="AutoShape 13"/>
              <p:cNvSpPr>
                <a:spLocks noChangeArrowheads="1"/>
              </p:cNvSpPr>
              <p:nvPr/>
            </p:nvSpPr>
            <p:spPr bwMode="auto">
              <a:xfrm>
                <a:off x="2871337" y="4716386"/>
                <a:ext cx="2300181" cy="320004"/>
              </a:xfrm>
              <a:prstGeom prst="roundRect">
                <a:avLst>
                  <a:gd name="adj" fmla="val 4167"/>
                </a:avLst>
              </a:prstGeom>
              <a:solidFill>
                <a:schemeClr val="bg1"/>
              </a:solidFill>
              <a:ln w="9525" algn="ctr">
                <a:noFill/>
                <a:round/>
                <a:headEnd/>
                <a:tailEnd/>
              </a:ln>
              <a:effectLst/>
            </p:spPr>
            <p:txBody>
              <a:bodyPr wrap="squar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IPv4 </a:t>
                </a:r>
                <a:r>
                  <a:rPr lang="en-US" sz="2400" b="0" dirty="0" smtClean="0">
                    <a:latin typeface="Segoe UI" pitchFamily="34" charset="0"/>
                    <a:ea typeface="Segoe UI" pitchFamily="34" charset="0"/>
                    <a:cs typeface="Segoe UI" pitchFamily="34" charset="0"/>
                  </a:rPr>
                  <a:t>Network</a:t>
                </a:r>
                <a:endParaRPr lang="en-US" sz="2400" b="0" dirty="0">
                  <a:latin typeface="Segoe UI" pitchFamily="34" charset="0"/>
                  <a:ea typeface="Segoe UI" pitchFamily="34" charset="0"/>
                  <a:cs typeface="Segoe UI" pitchFamily="34" charset="0"/>
                </a:endParaRPr>
              </a:p>
            </p:txBody>
          </p:sp>
          <p:sp>
            <p:nvSpPr>
              <p:cNvPr id="14" name="AutoShape 14"/>
              <p:cNvSpPr>
                <a:spLocks noChangeArrowheads="1"/>
              </p:cNvSpPr>
              <p:nvPr/>
            </p:nvSpPr>
            <p:spPr bwMode="auto">
              <a:xfrm>
                <a:off x="6313169" y="3105516"/>
                <a:ext cx="2300181" cy="320004"/>
              </a:xfrm>
              <a:prstGeom prst="roundRect">
                <a:avLst>
                  <a:gd name="adj" fmla="val 4167"/>
                </a:avLst>
              </a:prstGeom>
              <a:solidFill>
                <a:schemeClr val="bg1"/>
              </a:solidFill>
              <a:ln w="9525" algn="ctr">
                <a:noFill/>
                <a:round/>
                <a:headEnd/>
                <a:tailEnd/>
              </a:ln>
              <a:effectLst/>
            </p:spPr>
            <p:txBody>
              <a:bodyPr wrap="squar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IPv6 </a:t>
                </a:r>
                <a:r>
                  <a:rPr lang="en-US" sz="2400" b="0" dirty="0" smtClean="0">
                    <a:latin typeface="Segoe UI" pitchFamily="34" charset="0"/>
                    <a:ea typeface="Segoe UI" pitchFamily="34" charset="0"/>
                    <a:cs typeface="Segoe UI" pitchFamily="34" charset="0"/>
                  </a:rPr>
                  <a:t>Network</a:t>
                </a:r>
                <a:endParaRPr lang="en-US" sz="2400" b="0" dirty="0">
                  <a:latin typeface="Segoe UI" pitchFamily="34" charset="0"/>
                  <a:ea typeface="Segoe UI" pitchFamily="34" charset="0"/>
                  <a:cs typeface="Segoe UI" pitchFamily="34" charset="0"/>
                </a:endParaRPr>
              </a:p>
            </p:txBody>
          </p:sp>
          <p:sp>
            <p:nvSpPr>
              <p:cNvPr id="15" name="Rectangle 14"/>
              <p:cNvSpPr>
                <a:spLocks noChangeArrowheads="1"/>
              </p:cNvSpPr>
              <p:nvPr/>
            </p:nvSpPr>
            <p:spPr bwMode="auto">
              <a:xfrm>
                <a:off x="1141316" y="3265518"/>
                <a:ext cx="2146045" cy="369332"/>
              </a:xfrm>
              <a:prstGeom prst="rect">
                <a:avLst/>
              </a:prstGeom>
              <a:solidFill>
                <a:schemeClr val="bg1"/>
              </a:solidFill>
              <a:ln w="9525" algn="ctr">
                <a:noFill/>
                <a:miter lim="800000"/>
                <a:headEnd/>
                <a:tailEnd/>
              </a:ln>
              <a:effectLs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IPv4/IPv6 Node</a:t>
                </a:r>
                <a:endParaRPr lang="en-US" sz="2400" b="0" dirty="0">
                  <a:latin typeface="Segoe UI" pitchFamily="34" charset="0"/>
                  <a:ea typeface="Segoe UI" pitchFamily="34" charset="0"/>
                  <a:cs typeface="Segoe UI" pitchFamily="34" charset="0"/>
                </a:endParaRPr>
              </a:p>
            </p:txBody>
          </p:sp>
          <p:sp>
            <p:nvSpPr>
              <p:cNvPr id="16" name="Rectangle 15"/>
              <p:cNvSpPr>
                <a:spLocks noChangeArrowheads="1"/>
              </p:cNvSpPr>
              <p:nvPr/>
            </p:nvSpPr>
            <p:spPr bwMode="auto">
              <a:xfrm>
                <a:off x="1567499" y="4211591"/>
                <a:ext cx="1314000" cy="664797"/>
              </a:xfrm>
              <a:prstGeom prst="rect">
                <a:avLst/>
              </a:prstGeom>
              <a:solidFill>
                <a:schemeClr val="bg1"/>
              </a:solidFill>
              <a:ln w="9525" algn="ctr">
                <a:noFill/>
                <a:miter lim="800000"/>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b="0" dirty="0" smtClean="0">
                    <a:latin typeface="Segoe UI" pitchFamily="34" charset="0"/>
                    <a:ea typeface="Segoe UI" pitchFamily="34" charset="0"/>
                    <a:cs typeface="Segoe UI" pitchFamily="34" charset="0"/>
                  </a:rPr>
                  <a:t>IPv4-only Node</a:t>
                </a:r>
                <a:endParaRPr lang="en-US" sz="2400" b="0" dirty="0">
                  <a:latin typeface="Segoe UI" pitchFamily="34" charset="0"/>
                  <a:ea typeface="Segoe UI" pitchFamily="34" charset="0"/>
                  <a:cs typeface="Segoe UI" pitchFamily="34" charset="0"/>
                </a:endParaRPr>
              </a:p>
            </p:txBody>
          </p:sp>
          <p:sp>
            <p:nvSpPr>
              <p:cNvPr id="17" name="Rectangle 16"/>
              <p:cNvSpPr>
                <a:spLocks noChangeArrowheads="1"/>
              </p:cNvSpPr>
              <p:nvPr/>
            </p:nvSpPr>
            <p:spPr bwMode="auto">
              <a:xfrm>
                <a:off x="6399572" y="1094298"/>
                <a:ext cx="1333191" cy="664797"/>
              </a:xfrm>
              <a:prstGeom prst="rect">
                <a:avLst/>
              </a:prstGeom>
              <a:solidFill>
                <a:schemeClr val="bg1"/>
              </a:solidFill>
              <a:ln w="9525" algn="ctr">
                <a:noFill/>
                <a:miter lim="800000"/>
                <a:headEnd/>
                <a:tailEnd/>
              </a:ln>
              <a:effectLs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b="0" dirty="0" smtClean="0">
                    <a:latin typeface="Segoe UI" pitchFamily="34" charset="0"/>
                    <a:ea typeface="Segoe UI" pitchFamily="34" charset="0"/>
                    <a:cs typeface="Segoe UI" pitchFamily="34" charset="0"/>
                  </a:rPr>
                  <a:t>IPv6-only Node</a:t>
                </a:r>
                <a:endParaRPr lang="en-US" sz="2400" b="0" dirty="0">
                  <a:latin typeface="Segoe UI" pitchFamily="34" charset="0"/>
                  <a:ea typeface="Segoe UI" pitchFamily="34" charset="0"/>
                  <a:cs typeface="Segoe UI" pitchFamily="34" charset="0"/>
                </a:endParaRPr>
              </a:p>
            </p:txBody>
          </p:sp>
        </p:grpSp>
        <p:pic>
          <p:nvPicPr>
            <p:cNvPr id="9" name="Picture 8"/>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rot="704352">
              <a:off x="3681771" y="2963817"/>
              <a:ext cx="1763431" cy="91963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15768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762f7baa-02c1-4782-98a1-936fbc9ebbf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Coexistence entre IPv4 et IPv6</a:t>
            </a:r>
            <a:endParaRPr lang="fr-FR" dirty="0"/>
          </a:p>
        </p:txBody>
      </p:sp>
      <p:sp>
        <p:nvSpPr>
          <p:cNvPr id="4" name="Content Placeholder 2"/>
          <p:cNvSpPr>
            <a:spLocks noGrp="1"/>
          </p:cNvSpPr>
          <p:nvPr/>
        </p:nvSpPr>
        <p:spPr bwMode="auto">
          <a:xfrm>
            <a:off x="467544" y="976667"/>
            <a:ext cx="8136904"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nSpc>
                <a:spcPct val="110000"/>
              </a:lnSpc>
              <a:buNone/>
            </a:pPr>
            <a:r>
              <a:rPr lang="fr-FR" sz="2600" dirty="0" smtClean="0"/>
              <a:t>Windows Server 2012 utilise une architecture à double niveau : un niveau IPv4 et un niveau IPv6</a:t>
            </a:r>
            <a:br>
              <a:rPr lang="fr-FR" sz="2600" dirty="0" smtClean="0"/>
            </a:br>
            <a:endParaRPr lang="fr-FR" sz="2600" dirty="0" smtClean="0"/>
          </a:p>
          <a:p>
            <a:pPr>
              <a:lnSpc>
                <a:spcPct val="100000"/>
              </a:lnSpc>
              <a:buNone/>
            </a:pPr>
            <a:r>
              <a:rPr lang="fr-FR" sz="2600" dirty="0" smtClean="0"/>
              <a:t>A propos des enregistrement DNS :</a:t>
            </a:r>
          </a:p>
          <a:p>
            <a:r>
              <a:rPr lang="fr-FR" sz="2600" dirty="0" smtClean="0"/>
              <a:t>Hôte</a:t>
            </a:r>
            <a:r>
              <a:rPr lang="fr-FR" sz="2400" dirty="0" smtClean="0"/>
              <a:t> (A) : nœud IPv4</a:t>
            </a:r>
          </a:p>
          <a:p>
            <a:pPr lvl="0"/>
            <a:r>
              <a:rPr lang="fr-FR" sz="2400" dirty="0" smtClean="0"/>
              <a:t>Hôte (AAAA) : nœud </a:t>
            </a:r>
            <a:r>
              <a:rPr lang="fr-FR" sz="2400" dirty="0" smtClean="0"/>
              <a:t>IPv6</a:t>
            </a:r>
            <a:r>
              <a:rPr lang="fr-FR" sz="2400" dirty="0" smtClean="0"/>
              <a:t> </a:t>
            </a:r>
          </a:p>
          <a:p>
            <a:r>
              <a:rPr lang="fr-FR" sz="2400" dirty="0" smtClean="0"/>
              <a:t>Pointeur (PTR) </a:t>
            </a:r>
            <a:r>
              <a:rPr lang="fr-FR" sz="2400" dirty="0"/>
              <a:t>: nœud </a:t>
            </a:r>
            <a:r>
              <a:rPr lang="fr-FR" sz="2400" dirty="0" smtClean="0"/>
              <a:t>IPv4</a:t>
            </a:r>
            <a:r>
              <a:rPr lang="fr-FR" sz="2400" dirty="0"/>
              <a:t> </a:t>
            </a:r>
            <a:r>
              <a:rPr lang="fr-FR" sz="2400" dirty="0" smtClean="0"/>
              <a:t>et </a:t>
            </a:r>
            <a:r>
              <a:rPr lang="fr-FR" sz="2400" dirty="0"/>
              <a:t>nœud </a:t>
            </a:r>
            <a:r>
              <a:rPr lang="fr-FR" sz="2400" dirty="0" smtClean="0"/>
              <a:t>IPv6</a:t>
            </a:r>
            <a:endParaRPr lang="fr-FR" sz="2400" dirty="0"/>
          </a:p>
        </p:txBody>
      </p:sp>
    </p:spTree>
    <p:extLst>
      <p:ext uri="{BB962C8B-B14F-4D97-AF65-F5344CB8AC3E}">
        <p14:creationId xmlns:p14="http://schemas.microsoft.com/office/powerpoint/2010/main" val="1671704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90d29b14-81c4-497b-94e8-96168dad45be">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16081" cy="740664"/>
          </a:xfrm>
        </p:spPr>
        <p:txBody>
          <a:bodyPr/>
          <a:lstStyle/>
          <a:p>
            <a:r>
              <a:rPr lang="en-CA" dirty="0" smtClean="0"/>
              <a:t>Demonstration: Configuring DNS to Support IPv6</a:t>
            </a:r>
            <a:endParaRPr lang="en-CA" dirty="0"/>
          </a:p>
        </p:txBody>
      </p:sp>
      <p:sp>
        <p:nvSpPr>
          <p:cNvPr id="4" name="Content Placeholder 2"/>
          <p:cNvSpPr>
            <a:spLocks noGrp="1"/>
          </p:cNvSpPr>
          <p:nvPr/>
        </p:nvSpPr>
        <p:spPr bwMode="auto">
          <a:xfrm>
            <a:off x="477796" y="987196"/>
            <a:ext cx="7218290" cy="476649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00000"/>
              </a:lnSpc>
              <a:buNone/>
            </a:pPr>
            <a:r>
              <a:rPr lang="en-US" dirty="0" smtClean="0"/>
              <a:t>In this demonstration, you will see how to:</a:t>
            </a:r>
          </a:p>
          <a:p>
            <a:pPr marL="174625" lvl="1" indent="-174625">
              <a:buSzPct val="90000"/>
            </a:pPr>
            <a:r>
              <a:rPr lang="en-US" dirty="0"/>
              <a:t>Configure an </a:t>
            </a:r>
            <a:r>
              <a:rPr lang="en-CA" dirty="0"/>
              <a:t>IPv6 host (AAAA) resource record</a:t>
            </a:r>
            <a:r>
              <a:rPr lang="en-US" dirty="0"/>
              <a:t> for an IPv6 address</a:t>
            </a:r>
          </a:p>
          <a:p>
            <a:pPr marL="174625" lvl="1" indent="-174625">
              <a:buSzPct val="90000"/>
            </a:pPr>
            <a:r>
              <a:rPr lang="en-US" dirty="0"/>
              <a:t>Verify name resolution for an </a:t>
            </a:r>
            <a:r>
              <a:rPr lang="en-CA" dirty="0"/>
              <a:t>IPv6 host (AAAA) resource record</a:t>
            </a:r>
            <a:endParaRPr lang="en-US" dirty="0"/>
          </a:p>
        </p:txBody>
      </p:sp>
    </p:spTree>
    <p:extLst>
      <p:ext uri="{BB962C8B-B14F-4D97-AF65-F5344CB8AC3E}">
        <p14:creationId xmlns:p14="http://schemas.microsoft.com/office/powerpoint/2010/main" val="1410799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c2c235f2-aa4d-4589-b104-523b3499b62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Coexistence </a:t>
            </a:r>
            <a:r>
              <a:rPr lang="fr-FR" dirty="0" smtClean="0"/>
              <a:t>IPv4-IPV6 : Tunneling</a:t>
            </a:r>
            <a:endParaRPr lang="fr-FR" dirty="0"/>
          </a:p>
        </p:txBody>
      </p:sp>
      <p:grpSp>
        <p:nvGrpSpPr>
          <p:cNvPr id="4" name="IPv6 packet alongside tunnelling packet"/>
          <p:cNvGrpSpPr/>
          <p:nvPr/>
        </p:nvGrpSpPr>
        <p:grpSpPr>
          <a:xfrm>
            <a:off x="3419872" y="4896929"/>
            <a:ext cx="5608659" cy="1916447"/>
            <a:chOff x="3206749" y="3319459"/>
            <a:chExt cx="5664201" cy="3133819"/>
          </a:xfrm>
        </p:grpSpPr>
        <p:sp>
          <p:nvSpPr>
            <p:cNvPr id="5" name="red line" descr="&quot;&quot;"/>
            <p:cNvSpPr>
              <a:spLocks noChangeShapeType="1"/>
            </p:cNvSpPr>
            <p:nvPr/>
          </p:nvSpPr>
          <p:spPr bwMode="auto">
            <a:xfrm>
              <a:off x="3215478" y="5866209"/>
              <a:ext cx="0" cy="447673"/>
            </a:xfrm>
            <a:prstGeom prst="line">
              <a:avLst/>
            </a:prstGeom>
            <a:solidFill>
              <a:schemeClr val="bg1">
                <a:lumMod val="85000"/>
              </a:schemeClr>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6" name="red line" descr="&quot;&quot;"/>
            <p:cNvSpPr>
              <a:spLocks noChangeShapeType="1"/>
            </p:cNvSpPr>
            <p:nvPr/>
          </p:nvSpPr>
          <p:spPr bwMode="auto">
            <a:xfrm>
              <a:off x="8848988" y="5915026"/>
              <a:ext cx="0" cy="416717"/>
            </a:xfrm>
            <a:prstGeom prst="line">
              <a:avLst/>
            </a:prstGeom>
            <a:solidFill>
              <a:schemeClr val="bg1">
                <a:lumMod val="85000"/>
              </a:schemeClr>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7" name="red arrow" descr="&quot;&quot;"/>
            <p:cNvSpPr>
              <a:spLocks noChangeShapeType="1"/>
            </p:cNvSpPr>
            <p:nvPr/>
          </p:nvSpPr>
          <p:spPr bwMode="auto">
            <a:xfrm flipH="1">
              <a:off x="8822791" y="3404520"/>
              <a:ext cx="3175" cy="1599280"/>
            </a:xfrm>
            <a:prstGeom prst="line">
              <a:avLst/>
            </a:prstGeom>
            <a:solidFill>
              <a:schemeClr val="bg1">
                <a:lumMod val="85000"/>
              </a:schemeClr>
            </a:solidFill>
            <a:ln w="38100">
              <a:solidFill>
                <a:srgbClr val="CC0000"/>
              </a:solidFill>
              <a:round/>
              <a:headEn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GB" dirty="0" smtClean="0">
                  <a:latin typeface="Segoe UI" pitchFamily="34" charset="0"/>
                  <a:ea typeface="Segoe UI" pitchFamily="34" charset="0"/>
                  <a:cs typeface="Segoe UI" pitchFamily="34" charset="0"/>
                </a:rPr>
                <a:t> </a:t>
              </a:r>
              <a:endParaRPr lang="en-GB" dirty="0">
                <a:latin typeface="Segoe UI" pitchFamily="34" charset="0"/>
                <a:ea typeface="Segoe UI" pitchFamily="34" charset="0"/>
                <a:cs typeface="Segoe UI" pitchFamily="34" charset="0"/>
              </a:endParaRPr>
            </a:p>
          </p:txBody>
        </p:sp>
        <p:sp>
          <p:nvSpPr>
            <p:cNvPr id="8" name="red arrow" descr="&quot;&quot;"/>
            <p:cNvSpPr>
              <a:spLocks noChangeShapeType="1"/>
            </p:cNvSpPr>
            <p:nvPr/>
          </p:nvSpPr>
          <p:spPr bwMode="auto">
            <a:xfrm>
              <a:off x="4248146" y="3405184"/>
              <a:ext cx="0" cy="1608141"/>
            </a:xfrm>
            <a:prstGeom prst="line">
              <a:avLst/>
            </a:prstGeom>
            <a:solidFill>
              <a:schemeClr val="bg1">
                <a:lumMod val="85000"/>
              </a:schemeClr>
            </a:solidFill>
            <a:ln w="38100">
              <a:solidFill>
                <a:srgbClr val="CC0000"/>
              </a:solidFill>
              <a:round/>
              <a:headEn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grpSp>
          <p:nvGrpSpPr>
            <p:cNvPr id="9" name="layout of tunneled packet"/>
            <p:cNvGrpSpPr>
              <a:grpSpLocks/>
            </p:cNvGrpSpPr>
            <p:nvPr/>
          </p:nvGrpSpPr>
          <p:grpSpPr bwMode="auto">
            <a:xfrm>
              <a:off x="3206749" y="5003800"/>
              <a:ext cx="5664201" cy="1009652"/>
              <a:chOff x="2025" y="3152"/>
              <a:chExt cx="3568" cy="636"/>
            </a:xfrm>
            <a:solidFill>
              <a:schemeClr val="bg1">
                <a:lumMod val="85000"/>
              </a:schemeClr>
            </a:solidFill>
          </p:grpSpPr>
          <p:sp>
            <p:nvSpPr>
              <p:cNvPr id="20" name="&quot;Upper layer protocol"/>
              <p:cNvSpPr>
                <a:spLocks noChangeArrowheads="1"/>
              </p:cNvSpPr>
              <p:nvPr/>
            </p:nvSpPr>
            <p:spPr bwMode="auto">
              <a:xfrm>
                <a:off x="4358" y="3158"/>
                <a:ext cx="1235" cy="630"/>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Upper </a:t>
                </a:r>
                <a:r>
                  <a:rPr lang="en-US" sz="2000" b="0" dirty="0" smtClean="0">
                    <a:latin typeface="Segoe UI" pitchFamily="34" charset="0"/>
                    <a:ea typeface="Segoe UI" pitchFamily="34" charset="0"/>
                    <a:cs typeface="Segoe UI" pitchFamily="34" charset="0"/>
                  </a:rPr>
                  <a:t>Layer Protocol </a:t>
                </a:r>
                <a:r>
                  <a:rPr lang="en-US" sz="2000" b="0" dirty="0" smtClean="0">
                    <a:latin typeface="Segoe UI" pitchFamily="34" charset="0"/>
                    <a:ea typeface="Segoe UI" pitchFamily="34" charset="0"/>
                    <a:cs typeface="Segoe UI" pitchFamily="34" charset="0"/>
                  </a:rPr>
                  <a:t>Data</a:t>
                </a:r>
                <a:endParaRPr lang="en-US" sz="2000" b="0" dirty="0">
                  <a:latin typeface="Segoe UI" pitchFamily="34" charset="0"/>
                  <a:ea typeface="Segoe UI" pitchFamily="34" charset="0"/>
                  <a:cs typeface="Segoe UI" pitchFamily="34" charset="0"/>
                </a:endParaRPr>
              </a:p>
            </p:txBody>
          </p:sp>
          <p:sp>
            <p:nvSpPr>
              <p:cNvPr id="21" name="&quot;Extension headers..."/>
              <p:cNvSpPr>
                <a:spLocks noChangeArrowheads="1"/>
              </p:cNvSpPr>
              <p:nvPr/>
            </p:nvSpPr>
            <p:spPr bwMode="auto">
              <a:xfrm>
                <a:off x="3524" y="3158"/>
                <a:ext cx="837" cy="630"/>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Extension </a:t>
                </a:r>
                <a:r>
                  <a:rPr lang="en-US" sz="2000" b="0" dirty="0" smtClean="0">
                    <a:latin typeface="Segoe UI" pitchFamily="34" charset="0"/>
                    <a:ea typeface="Segoe UI" pitchFamily="34" charset="0"/>
                    <a:cs typeface="Segoe UI" pitchFamily="34" charset="0"/>
                  </a:rPr>
                  <a:t>Headers</a:t>
                </a:r>
                <a:endParaRPr lang="en-US" sz="2000" b="0" dirty="0">
                  <a:latin typeface="Segoe UI" pitchFamily="34" charset="0"/>
                  <a:ea typeface="Segoe UI" pitchFamily="34" charset="0"/>
                  <a:cs typeface="Segoe UI" pitchFamily="34" charset="0"/>
                </a:endParaRPr>
              </a:p>
            </p:txBody>
          </p:sp>
          <p:sp>
            <p:nvSpPr>
              <p:cNvPr id="22" name="&quot;IPv6 header"/>
              <p:cNvSpPr>
                <a:spLocks noChangeArrowheads="1"/>
              </p:cNvSpPr>
              <p:nvPr/>
            </p:nvSpPr>
            <p:spPr bwMode="auto">
              <a:xfrm>
                <a:off x="2688" y="3158"/>
                <a:ext cx="837" cy="630"/>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IPv6 </a:t>
                </a:r>
                <a:endParaRPr lang="en-US" sz="2000" b="0" dirty="0" smtClean="0">
                  <a:latin typeface="Segoe UI" pitchFamily="34" charset="0"/>
                  <a:ea typeface="Segoe UI" pitchFamily="34" charset="0"/>
                  <a:cs typeface="Segoe UI" pitchFamily="34" charset="0"/>
                </a:endParaRPr>
              </a:p>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sp>
            <p:nvSpPr>
              <p:cNvPr id="23" name="&quot;IPv4 header"/>
              <p:cNvSpPr>
                <a:spLocks noChangeArrowheads="1"/>
              </p:cNvSpPr>
              <p:nvPr/>
            </p:nvSpPr>
            <p:spPr bwMode="auto">
              <a:xfrm>
                <a:off x="2025" y="3152"/>
                <a:ext cx="668" cy="636"/>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IPv4 </a:t>
                </a:r>
                <a:br>
                  <a:rPr lang="en-US" sz="2000" b="0" dirty="0">
                    <a:latin typeface="Segoe UI" pitchFamily="34" charset="0"/>
                    <a:ea typeface="Segoe UI" pitchFamily="34" charset="0"/>
                    <a:cs typeface="Segoe UI" pitchFamily="34" charset="0"/>
                  </a:rPr>
                </a:b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grpSp>
        <p:grpSp>
          <p:nvGrpSpPr>
            <p:cNvPr id="10" name="layout of IPv6 packet"/>
            <p:cNvGrpSpPr>
              <a:grpSpLocks/>
            </p:cNvGrpSpPr>
            <p:nvPr/>
          </p:nvGrpSpPr>
          <p:grpSpPr bwMode="auto">
            <a:xfrm>
              <a:off x="4246030" y="3790948"/>
              <a:ext cx="4591050" cy="965202"/>
              <a:chOff x="2701" y="2388"/>
              <a:chExt cx="2892" cy="608"/>
            </a:xfrm>
            <a:solidFill>
              <a:schemeClr val="bg1">
                <a:lumMod val="85000"/>
              </a:schemeClr>
            </a:solidFill>
          </p:grpSpPr>
          <p:sp>
            <p:nvSpPr>
              <p:cNvPr id="17" name="&quot;Upper layer..."/>
              <p:cNvSpPr>
                <a:spLocks noChangeArrowheads="1"/>
              </p:cNvSpPr>
              <p:nvPr/>
            </p:nvSpPr>
            <p:spPr bwMode="auto">
              <a:xfrm>
                <a:off x="4377" y="2388"/>
                <a:ext cx="1216" cy="608"/>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Upper </a:t>
                </a:r>
                <a:r>
                  <a:rPr lang="en-US" sz="2000" b="0" dirty="0" smtClean="0">
                    <a:latin typeface="Segoe UI" pitchFamily="34" charset="0"/>
                    <a:ea typeface="Segoe UI" pitchFamily="34" charset="0"/>
                    <a:cs typeface="Segoe UI" pitchFamily="34" charset="0"/>
                  </a:rPr>
                  <a:t>Layer Protocol </a:t>
                </a:r>
                <a:r>
                  <a:rPr lang="en-US" sz="2000" b="0" dirty="0" smtClean="0">
                    <a:latin typeface="Segoe UI" pitchFamily="34" charset="0"/>
                    <a:ea typeface="Segoe UI" pitchFamily="34" charset="0"/>
                    <a:cs typeface="Segoe UI" pitchFamily="34" charset="0"/>
                  </a:rPr>
                  <a:t>Data</a:t>
                </a:r>
                <a:endParaRPr lang="en-US" sz="2000" b="0" dirty="0">
                  <a:latin typeface="Segoe UI" pitchFamily="34" charset="0"/>
                  <a:ea typeface="Segoe UI" pitchFamily="34" charset="0"/>
                  <a:cs typeface="Segoe UI" pitchFamily="34" charset="0"/>
                </a:endParaRPr>
              </a:p>
            </p:txBody>
          </p:sp>
          <p:sp>
            <p:nvSpPr>
              <p:cNvPr id="18" name="&quot;Extension headers"/>
              <p:cNvSpPr>
                <a:spLocks noChangeArrowheads="1"/>
              </p:cNvSpPr>
              <p:nvPr/>
            </p:nvSpPr>
            <p:spPr bwMode="auto">
              <a:xfrm>
                <a:off x="3537" y="2388"/>
                <a:ext cx="837" cy="608"/>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Extension Headers</a:t>
                </a:r>
                <a:endParaRPr lang="en-US" sz="2000" b="0" dirty="0">
                  <a:latin typeface="Segoe UI" pitchFamily="34" charset="0"/>
                  <a:ea typeface="Segoe UI" pitchFamily="34" charset="0"/>
                  <a:cs typeface="Segoe UI" pitchFamily="34" charset="0"/>
                </a:endParaRPr>
              </a:p>
            </p:txBody>
          </p:sp>
          <p:sp>
            <p:nvSpPr>
              <p:cNvPr id="19" name="&quot;IPv6 header"/>
              <p:cNvSpPr>
                <a:spLocks noChangeArrowheads="1"/>
              </p:cNvSpPr>
              <p:nvPr/>
            </p:nvSpPr>
            <p:spPr bwMode="auto">
              <a:xfrm>
                <a:off x="2701" y="2388"/>
                <a:ext cx="837" cy="608"/>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IPv6 </a:t>
                </a:r>
                <a:endParaRPr lang="en-US" sz="2000" b="0" dirty="0" smtClean="0">
                  <a:latin typeface="Segoe UI" pitchFamily="34" charset="0"/>
                  <a:ea typeface="Segoe UI" pitchFamily="34" charset="0"/>
                  <a:cs typeface="Segoe UI" pitchFamily="34" charset="0"/>
                </a:endParaRPr>
              </a:p>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grpSp>
        <p:grpSp>
          <p:nvGrpSpPr>
            <p:cNvPr id="11" name="&quot;IPv4 Packet&quot; label and arrow"/>
            <p:cNvGrpSpPr/>
            <p:nvPr/>
          </p:nvGrpSpPr>
          <p:grpSpPr>
            <a:xfrm>
              <a:off x="3298824" y="6048068"/>
              <a:ext cx="5518150" cy="405210"/>
              <a:chOff x="3298824" y="6048068"/>
              <a:chExt cx="5518150" cy="405210"/>
            </a:xfrm>
          </p:grpSpPr>
          <p:sp>
            <p:nvSpPr>
              <p:cNvPr id="15" name="Line 93" descr="&quot;&quot;"/>
              <p:cNvSpPr>
                <a:spLocks noChangeShapeType="1"/>
              </p:cNvSpPr>
              <p:nvPr/>
            </p:nvSpPr>
            <p:spPr bwMode="auto">
              <a:xfrm>
                <a:off x="3298824" y="6232734"/>
                <a:ext cx="5518150" cy="9954"/>
              </a:xfrm>
              <a:prstGeom prst="line">
                <a:avLst/>
              </a:prstGeom>
              <a:solidFill>
                <a:schemeClr val="bg1">
                  <a:lumMod val="85000"/>
                </a:schemeClr>
              </a:solidFill>
              <a:ln w="38100">
                <a:solidFill>
                  <a:srgbClr val="CC0000"/>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16" name="text box"/>
              <p:cNvSpPr>
                <a:spLocks noChangeArrowheads="1"/>
              </p:cNvSpPr>
              <p:nvPr/>
            </p:nvSpPr>
            <p:spPr bwMode="auto">
              <a:xfrm>
                <a:off x="5417143" y="6048068"/>
                <a:ext cx="1708548" cy="405210"/>
              </a:xfrm>
              <a:prstGeom prst="rect">
                <a:avLst/>
              </a:prstGeom>
              <a:solidFill>
                <a:schemeClr val="bg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dirty="0">
                    <a:latin typeface="Segoe UI" pitchFamily="34" charset="0"/>
                    <a:ea typeface="Segoe UI" pitchFamily="34" charset="0"/>
                    <a:cs typeface="Segoe UI" pitchFamily="34" charset="0"/>
                  </a:rPr>
                  <a:t>IPv4 Packet</a:t>
                </a:r>
              </a:p>
            </p:txBody>
          </p:sp>
        </p:grpSp>
        <p:grpSp>
          <p:nvGrpSpPr>
            <p:cNvPr id="12" name="&quot;IPv6 Packet&quot; label and arrow"/>
            <p:cNvGrpSpPr/>
            <p:nvPr/>
          </p:nvGrpSpPr>
          <p:grpSpPr>
            <a:xfrm>
              <a:off x="4306355" y="3319459"/>
              <a:ext cx="4467225" cy="405210"/>
              <a:chOff x="4306355" y="3319459"/>
              <a:chExt cx="4467225" cy="405210"/>
            </a:xfrm>
          </p:grpSpPr>
          <p:sp>
            <p:nvSpPr>
              <p:cNvPr id="13" name="Line 98" descr="&quot;&quot;"/>
              <p:cNvSpPr>
                <a:spLocks noChangeShapeType="1"/>
              </p:cNvSpPr>
              <p:nvPr/>
            </p:nvSpPr>
            <p:spPr bwMode="auto">
              <a:xfrm flipV="1">
                <a:off x="4306355" y="3521072"/>
                <a:ext cx="4467225" cy="3175"/>
              </a:xfrm>
              <a:prstGeom prst="line">
                <a:avLst/>
              </a:prstGeom>
              <a:solidFill>
                <a:schemeClr val="bg1">
                  <a:lumMod val="85000"/>
                </a:schemeClr>
              </a:solidFill>
              <a:ln w="38100">
                <a:solidFill>
                  <a:srgbClr val="CC0000"/>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14" name="text box"/>
              <p:cNvSpPr>
                <a:spLocks noChangeArrowheads="1"/>
              </p:cNvSpPr>
              <p:nvPr/>
            </p:nvSpPr>
            <p:spPr bwMode="auto">
              <a:xfrm>
                <a:off x="5589055" y="3319459"/>
                <a:ext cx="1781175" cy="405210"/>
              </a:xfrm>
              <a:prstGeom prst="rect">
                <a:avLst/>
              </a:prstGeom>
              <a:solidFill>
                <a:schemeClr val="bg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dirty="0">
                    <a:latin typeface="Segoe UI" pitchFamily="34" charset="0"/>
                    <a:ea typeface="Segoe UI" pitchFamily="34" charset="0"/>
                    <a:cs typeface="Segoe UI" pitchFamily="34" charset="0"/>
                  </a:rPr>
                  <a:t>IPv6 Packet</a:t>
                </a:r>
              </a:p>
            </p:txBody>
          </p:sp>
        </p:grpSp>
      </p:grpSp>
      <p:grpSp>
        <p:nvGrpSpPr>
          <p:cNvPr id="24" name="alt text here, main diagram" descr="Graphic that depicts an IPv4 network and an IPv6 network. On the IPv4 network a client is tunneling an IPv6 packet inside an IPv4 packet for delivery to the IPv6 network. The router between the two networks unpacks the IPv6 packet from the IPv4 packet for delivery to a client on the IPv6 network.&#10;&#10;There is a second diagram which depicts the parts of the IPv6 packet laid out alongside the parts of the IPv4 tunneling packet in two rows.&#10;The parts of the IPv6 packet are:&#10;• The IPv6 header&#10;• The extension headers&#10;• The upper layer protocol data unit&#10;&#10;The parts of the IPv4 tunneling packet are:&#10;• The IPv4 header&#10;• The IPv6 header&#10;• The extension headers&#10;• The upper layer protocol data unit&#10;&#10;This second diagram illustrates that the IPv4 tunneling packet is equivalent to an IPv6 packet, with an IPv4 header added to it.&#10;"/>
          <p:cNvGrpSpPr/>
          <p:nvPr/>
        </p:nvGrpSpPr>
        <p:grpSpPr>
          <a:xfrm>
            <a:off x="244094" y="2564904"/>
            <a:ext cx="4156139" cy="4176464"/>
            <a:chOff x="244094" y="889532"/>
            <a:chExt cx="4831962" cy="4968985"/>
          </a:xfrm>
        </p:grpSpPr>
        <p:sp>
          <p:nvSpPr>
            <p:cNvPr id="25" name="new blue oval" descr="&quot;&quot;"/>
            <p:cNvSpPr/>
            <p:nvPr/>
          </p:nvSpPr>
          <p:spPr bwMode="auto">
            <a:xfrm>
              <a:off x="244094" y="4040481"/>
              <a:ext cx="2849475" cy="1691398"/>
            </a:xfrm>
            <a:prstGeom prst="ellipse">
              <a:avLst/>
            </a:prstGeom>
            <a:noFill/>
            <a:ln w="53975" cap="flat" cmpd="sng" algn="ctr">
              <a:solidFill>
                <a:srgbClr val="C8D8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sp>
          <p:nvSpPr>
            <p:cNvPr id="26" name="new pink oval" descr="&quot;&quot;"/>
            <p:cNvSpPr/>
            <p:nvPr/>
          </p:nvSpPr>
          <p:spPr bwMode="auto">
            <a:xfrm>
              <a:off x="2226581" y="1512883"/>
              <a:ext cx="2849475" cy="1691398"/>
            </a:xfrm>
            <a:prstGeom prst="ellipse">
              <a:avLst/>
            </a:prstGeom>
            <a:solidFill>
              <a:schemeClr val="accent1"/>
            </a:solidFill>
            <a:ln w="53975" cap="flat" cmpd="sng" algn="ctr">
              <a:solidFill>
                <a:srgbClr val="F4CAC1"/>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pic>
          <p:nvPicPr>
            <p:cNvPr id="27" name="workstation, lower middl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918392" y="4812291"/>
              <a:ext cx="926740" cy="1046226"/>
            </a:xfrm>
            <a:prstGeom prst="rect">
              <a:avLst/>
            </a:prstGeom>
            <a:noFill/>
            <a:extLst>
              <a:ext uri="{909E8E84-426E-40DD-AFC4-6F175D3DCCD1}">
                <a14:hiddenFill xmlns:a14="http://schemas.microsoft.com/office/drawing/2010/main">
                  <a:solidFill>
                    <a:srgbClr val="FFFFFF"/>
                  </a:solidFill>
                </a14:hiddenFill>
              </a:ext>
            </a:extLst>
          </p:spPr>
        </p:pic>
        <p:pic>
          <p:nvPicPr>
            <p:cNvPr id="28" name="workstation, lower left on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46881" y="4146684"/>
              <a:ext cx="952213" cy="1074984"/>
            </a:xfrm>
            <a:prstGeom prst="rect">
              <a:avLst/>
            </a:prstGeom>
            <a:noFill/>
            <a:extLst>
              <a:ext uri="{909E8E84-426E-40DD-AFC4-6F175D3DCCD1}">
                <a14:hiddenFill xmlns:a14="http://schemas.microsoft.com/office/drawing/2010/main">
                  <a:solidFill>
                    <a:srgbClr val="FFFFFF"/>
                  </a:solidFill>
                </a14:hiddenFill>
              </a:ext>
            </a:extLst>
          </p:spPr>
        </p:pic>
        <p:pic>
          <p:nvPicPr>
            <p:cNvPr id="29" name="route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925171" y="3100033"/>
              <a:ext cx="1270560" cy="662603"/>
            </a:xfrm>
            <a:prstGeom prst="rect">
              <a:avLst/>
            </a:prstGeom>
            <a:noFill/>
            <a:extLst>
              <a:ext uri="{909E8E84-426E-40DD-AFC4-6F175D3DCCD1}">
                <a14:hiddenFill xmlns:a14="http://schemas.microsoft.com/office/drawing/2010/main">
                  <a:solidFill>
                    <a:srgbClr val="FFFFFF"/>
                  </a:solidFill>
                </a14:hiddenFill>
              </a:ext>
            </a:extLst>
          </p:spPr>
        </p:pic>
        <p:pic>
          <p:nvPicPr>
            <p:cNvPr id="30" name="workstation, top on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087928" y="1227856"/>
              <a:ext cx="954104" cy="1077118"/>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3 pink packets"/>
            <p:cNvGrpSpPr/>
            <p:nvPr/>
          </p:nvGrpSpPr>
          <p:grpSpPr>
            <a:xfrm>
              <a:off x="2744789" y="2194981"/>
              <a:ext cx="681037" cy="1039812"/>
              <a:chOff x="2744789" y="2194981"/>
              <a:chExt cx="681037" cy="1039812"/>
            </a:xfrm>
          </p:grpSpPr>
          <p:sp>
            <p:nvSpPr>
              <p:cNvPr id="51" name="packet" descr="&quot;&quot;"/>
              <p:cNvSpPr>
                <a:spLocks noChangeArrowheads="1"/>
              </p:cNvSpPr>
              <p:nvPr/>
            </p:nvSpPr>
            <p:spPr bwMode="auto">
              <a:xfrm rot="13118546">
                <a:off x="2744789" y="2864906"/>
                <a:ext cx="153987" cy="369887"/>
              </a:xfrm>
              <a:prstGeom prst="can">
                <a:avLst>
                  <a:gd name="adj" fmla="val 40746"/>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2" name="packet" descr="&quot;&quot;"/>
              <p:cNvSpPr>
                <a:spLocks noChangeArrowheads="1"/>
              </p:cNvSpPr>
              <p:nvPr/>
            </p:nvSpPr>
            <p:spPr bwMode="auto">
              <a:xfrm rot="13118546">
                <a:off x="3006726" y="2529943"/>
                <a:ext cx="152400" cy="369888"/>
              </a:xfrm>
              <a:prstGeom prst="can">
                <a:avLst>
                  <a:gd name="adj" fmla="val 41171"/>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3" name="packet" descr="&quot;&quot;"/>
              <p:cNvSpPr>
                <a:spLocks noChangeArrowheads="1"/>
              </p:cNvSpPr>
              <p:nvPr/>
            </p:nvSpPr>
            <p:spPr bwMode="auto">
              <a:xfrm rot="12919978">
                <a:off x="3273426" y="2194981"/>
                <a:ext cx="152400" cy="369887"/>
              </a:xfrm>
              <a:prstGeom prst="can">
                <a:avLst>
                  <a:gd name="adj" fmla="val 41170"/>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grpSp>
          <p:nvGrpSpPr>
            <p:cNvPr id="32" name="3 blue packets"/>
            <p:cNvGrpSpPr/>
            <p:nvPr/>
          </p:nvGrpSpPr>
          <p:grpSpPr>
            <a:xfrm>
              <a:off x="1283569" y="3719523"/>
              <a:ext cx="1098130" cy="767846"/>
              <a:chOff x="1283569" y="3719523"/>
              <a:chExt cx="1098130" cy="767846"/>
            </a:xfrm>
          </p:grpSpPr>
          <p:sp>
            <p:nvSpPr>
              <p:cNvPr id="48" name="packet" descr="&quot;&quot;"/>
              <p:cNvSpPr>
                <a:spLocks noChangeArrowheads="1"/>
              </p:cNvSpPr>
              <p:nvPr/>
            </p:nvSpPr>
            <p:spPr bwMode="auto">
              <a:xfrm rot="13670699">
                <a:off x="1401838" y="4221463"/>
                <a:ext cx="147637" cy="384175"/>
              </a:xfrm>
              <a:prstGeom prst="can">
                <a:avLst>
                  <a:gd name="adj" fmla="val 44140"/>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9" name="packet" descr="&quot;&quot;"/>
              <p:cNvSpPr>
                <a:spLocks noChangeArrowheads="1"/>
              </p:cNvSpPr>
              <p:nvPr/>
            </p:nvSpPr>
            <p:spPr bwMode="auto">
              <a:xfrm rot="13670699">
                <a:off x="1758829" y="3912690"/>
                <a:ext cx="147637" cy="382588"/>
              </a:xfrm>
              <a:prstGeom prst="can">
                <a:avLst>
                  <a:gd name="adj" fmla="val 43958"/>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0" name="packet" descr="&quot;&quot;"/>
              <p:cNvSpPr>
                <a:spLocks noChangeArrowheads="1"/>
              </p:cNvSpPr>
              <p:nvPr/>
            </p:nvSpPr>
            <p:spPr bwMode="auto">
              <a:xfrm rot="13670699">
                <a:off x="2116587" y="3602048"/>
                <a:ext cx="147638" cy="382587"/>
              </a:xfrm>
              <a:prstGeom prst="can">
                <a:avLst>
                  <a:gd name="adj" fmla="val 43958"/>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sp>
          <p:nvSpPr>
            <p:cNvPr id="33" name="IPv4 label" descr="&quot;&quot;"/>
            <p:cNvSpPr>
              <a:spLocks noChangeArrowheads="1"/>
            </p:cNvSpPr>
            <p:nvPr/>
          </p:nvSpPr>
          <p:spPr bwMode="auto">
            <a:xfrm>
              <a:off x="2006213" y="4356628"/>
              <a:ext cx="751095" cy="290177"/>
            </a:xfrm>
            <a:prstGeom prst="roundRect">
              <a:avLst>
                <a:gd name="adj" fmla="val 4167"/>
              </a:avLst>
            </a:prstGeom>
            <a:solidFill>
              <a:schemeClr val="bg1"/>
            </a:solidFill>
            <a:ln w="9525" algn="ctr">
              <a:noFill/>
              <a:round/>
              <a:headEnd/>
              <a:tailEnd/>
            </a:ln>
            <a:effec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a:latin typeface="Segoe UI" pitchFamily="34" charset="0"/>
                  <a:ea typeface="Segoe UI" pitchFamily="34" charset="0"/>
                  <a:cs typeface="Segoe UI" pitchFamily="34" charset="0"/>
                </a:rPr>
                <a:t>IPv4</a:t>
              </a:r>
            </a:p>
          </p:txBody>
        </p:sp>
        <p:sp>
          <p:nvSpPr>
            <p:cNvPr id="34" name="IPv6 label" descr="&quot;&quot;"/>
            <p:cNvSpPr>
              <a:spLocks noChangeArrowheads="1"/>
            </p:cNvSpPr>
            <p:nvPr/>
          </p:nvSpPr>
          <p:spPr bwMode="auto">
            <a:xfrm>
              <a:off x="3870483" y="2379924"/>
              <a:ext cx="751095" cy="290177"/>
            </a:xfrm>
            <a:prstGeom prst="roundRect">
              <a:avLst>
                <a:gd name="adj" fmla="val 4167"/>
              </a:avLst>
            </a:prstGeom>
            <a:solidFill>
              <a:schemeClr val="bg1"/>
            </a:solidFill>
            <a:ln w="9525" algn="ctr">
              <a:noFill/>
              <a:round/>
              <a:headEnd/>
              <a:tailEnd/>
            </a:ln>
            <a:effec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smtClean="0">
                  <a:latin typeface="Segoe UI" pitchFamily="34" charset="0"/>
                  <a:ea typeface="Segoe UI" pitchFamily="34" charset="0"/>
                  <a:cs typeface="Segoe UI" pitchFamily="34" charset="0"/>
                </a:rPr>
                <a:t>IPv6</a:t>
              </a:r>
              <a:endParaRPr lang="en-US" sz="2400" dirty="0">
                <a:latin typeface="Segoe UI" pitchFamily="34" charset="0"/>
                <a:ea typeface="Segoe UI" pitchFamily="34" charset="0"/>
                <a:cs typeface="Segoe UI" pitchFamily="34" charset="0"/>
              </a:endParaRPr>
            </a:p>
          </p:txBody>
        </p:sp>
        <p:grpSp>
          <p:nvGrpSpPr>
            <p:cNvPr id="35" name="4 packets and 2 arrows"/>
            <p:cNvGrpSpPr/>
            <p:nvPr/>
          </p:nvGrpSpPr>
          <p:grpSpPr>
            <a:xfrm>
              <a:off x="601849" y="4543326"/>
              <a:ext cx="2081632" cy="814339"/>
              <a:chOff x="601849" y="4543326"/>
              <a:chExt cx="2081632" cy="814339"/>
            </a:xfrm>
          </p:grpSpPr>
          <p:sp>
            <p:nvSpPr>
              <p:cNvPr id="42" name="packet, pink on screen" descr="&quot;&quot;"/>
              <p:cNvSpPr>
                <a:spLocks noChangeArrowheads="1"/>
              </p:cNvSpPr>
              <p:nvPr/>
            </p:nvSpPr>
            <p:spPr bwMode="auto">
              <a:xfrm rot="6593003">
                <a:off x="2418369" y="5092553"/>
                <a:ext cx="147637" cy="382587"/>
              </a:xfrm>
              <a:prstGeom prst="can">
                <a:avLst>
                  <a:gd name="adj" fmla="val 43958"/>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3" name="red arrow" descr="&quot;&quot;"/>
              <p:cNvSpPr>
                <a:spLocks noChangeShapeType="1"/>
              </p:cNvSpPr>
              <p:nvPr/>
            </p:nvSpPr>
            <p:spPr bwMode="auto">
              <a:xfrm flipH="1" flipV="1">
                <a:off x="1971678" y="5104193"/>
                <a:ext cx="393700" cy="117475"/>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4" name="packet" descr="&quot;&quot;"/>
              <p:cNvSpPr>
                <a:spLocks noChangeArrowheads="1"/>
              </p:cNvSpPr>
              <p:nvPr/>
            </p:nvSpPr>
            <p:spPr bwMode="auto">
              <a:xfrm rot="17471953">
                <a:off x="1708248" y="4821237"/>
                <a:ext cx="149225" cy="384175"/>
              </a:xfrm>
              <a:prstGeom prst="can">
                <a:avLst>
                  <a:gd name="adj" fmla="val 43671"/>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5" name="packet" descr="&quot;&quot;"/>
              <p:cNvSpPr>
                <a:spLocks noChangeArrowheads="1"/>
              </p:cNvSpPr>
              <p:nvPr/>
            </p:nvSpPr>
            <p:spPr bwMode="auto">
              <a:xfrm rot="17471953">
                <a:off x="1297190" y="4676747"/>
                <a:ext cx="147637" cy="384175"/>
              </a:xfrm>
              <a:prstGeom prst="can">
                <a:avLst>
                  <a:gd name="adj" fmla="val 44140"/>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6" name="red arrow" descr="&quot;&quot;"/>
              <p:cNvSpPr>
                <a:spLocks noChangeShapeType="1"/>
              </p:cNvSpPr>
              <p:nvPr/>
            </p:nvSpPr>
            <p:spPr bwMode="auto">
              <a:xfrm flipH="1" flipV="1">
                <a:off x="910259" y="4679485"/>
                <a:ext cx="314325" cy="119063"/>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7" name="packet, pink on screen" descr="&quot;&quot;"/>
              <p:cNvSpPr>
                <a:spLocks noChangeArrowheads="1"/>
              </p:cNvSpPr>
              <p:nvPr/>
            </p:nvSpPr>
            <p:spPr bwMode="auto">
              <a:xfrm rot="6593003">
                <a:off x="719324" y="4425851"/>
                <a:ext cx="147638" cy="382588"/>
              </a:xfrm>
              <a:prstGeom prst="can">
                <a:avLst>
                  <a:gd name="adj" fmla="val 43958"/>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grpSp>
          <p:nvGrpSpPr>
            <p:cNvPr id="36" name="upper left group of packets and arrow"/>
            <p:cNvGrpSpPr/>
            <p:nvPr/>
          </p:nvGrpSpPr>
          <p:grpSpPr>
            <a:xfrm>
              <a:off x="429419" y="889532"/>
              <a:ext cx="1913330" cy="1027300"/>
              <a:chOff x="429419" y="889532"/>
              <a:chExt cx="1913330" cy="1027300"/>
            </a:xfrm>
          </p:grpSpPr>
          <p:sp>
            <p:nvSpPr>
              <p:cNvPr id="37" name="&quot;IPv4 Packet&quot;"/>
              <p:cNvSpPr>
                <a:spLocks noChangeArrowheads="1"/>
              </p:cNvSpPr>
              <p:nvPr/>
            </p:nvSpPr>
            <p:spPr bwMode="auto">
              <a:xfrm>
                <a:off x="1475656" y="1393612"/>
                <a:ext cx="8670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IPv4 </a:t>
                </a:r>
                <a:r>
                  <a:rPr lang="en-US" sz="2000" b="0" dirty="0" smtClean="0">
                    <a:latin typeface="Segoe UI" pitchFamily="34" charset="0"/>
                    <a:ea typeface="Segoe UI" pitchFamily="34" charset="0"/>
                    <a:cs typeface="Segoe UI" pitchFamily="34" charset="0"/>
                  </a:rPr>
                  <a:t>Packet</a:t>
                </a:r>
                <a:endParaRPr lang="en-US" sz="2000" b="0" dirty="0">
                  <a:latin typeface="Segoe UI" pitchFamily="34" charset="0"/>
                  <a:ea typeface="Segoe UI" pitchFamily="34" charset="0"/>
                  <a:cs typeface="Segoe UI" pitchFamily="34" charset="0"/>
                </a:endParaRPr>
              </a:p>
            </p:txBody>
          </p:sp>
          <p:sp>
            <p:nvSpPr>
              <p:cNvPr id="38" name="blue packet" descr="&quot;&quot;"/>
              <p:cNvSpPr>
                <a:spLocks noChangeArrowheads="1"/>
              </p:cNvSpPr>
              <p:nvPr/>
            </p:nvSpPr>
            <p:spPr bwMode="auto">
              <a:xfrm rot="16200000">
                <a:off x="1667648" y="685418"/>
                <a:ext cx="417671" cy="825899"/>
              </a:xfrm>
              <a:prstGeom prst="can">
                <a:avLst>
                  <a:gd name="adj" fmla="val 33926"/>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39" name="red arrow" descr="&quot;&quot;"/>
              <p:cNvSpPr>
                <a:spLocks noChangeShapeType="1"/>
              </p:cNvSpPr>
              <p:nvPr/>
            </p:nvSpPr>
            <p:spPr bwMode="auto">
              <a:xfrm>
                <a:off x="774396" y="1150336"/>
                <a:ext cx="731838"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0" name="&quot;IPv6 Packet"/>
              <p:cNvSpPr>
                <a:spLocks noChangeArrowheads="1"/>
              </p:cNvSpPr>
              <p:nvPr/>
            </p:nvSpPr>
            <p:spPr bwMode="auto">
              <a:xfrm>
                <a:off x="429419" y="1332976"/>
                <a:ext cx="936626" cy="5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IPv6 </a:t>
                </a:r>
                <a:r>
                  <a:rPr lang="en-US" sz="2000" b="0" dirty="0" smtClean="0">
                    <a:latin typeface="Segoe UI" pitchFamily="34" charset="0"/>
                    <a:ea typeface="Segoe UI" pitchFamily="34" charset="0"/>
                    <a:cs typeface="Segoe UI" pitchFamily="34" charset="0"/>
                  </a:rPr>
                  <a:t>Packet</a:t>
                </a:r>
                <a:endParaRPr lang="en-US" sz="2000" b="0" dirty="0">
                  <a:latin typeface="Segoe UI" pitchFamily="34" charset="0"/>
                  <a:ea typeface="Segoe UI" pitchFamily="34" charset="0"/>
                  <a:cs typeface="Segoe UI" pitchFamily="34" charset="0"/>
                </a:endParaRPr>
              </a:p>
            </p:txBody>
          </p:sp>
          <p:sp>
            <p:nvSpPr>
              <p:cNvPr id="41" name="pink packet" descr="&quot;&quot;"/>
              <p:cNvSpPr>
                <a:spLocks noChangeArrowheads="1"/>
              </p:cNvSpPr>
              <p:nvPr/>
            </p:nvSpPr>
            <p:spPr bwMode="auto">
              <a:xfrm rot="16200000">
                <a:off x="734219" y="802749"/>
                <a:ext cx="228601" cy="633413"/>
              </a:xfrm>
              <a:prstGeom prst="can">
                <a:avLst>
                  <a:gd name="adj" fmla="val 33926"/>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latin typeface="Segoe UI" pitchFamily="34" charset="0"/>
                  <a:ea typeface="Segoe UI" pitchFamily="34" charset="0"/>
                  <a:cs typeface="Segoe UI" pitchFamily="34" charset="0"/>
                </a:endParaRPr>
              </a:p>
            </p:txBody>
          </p:sp>
        </p:grpSp>
      </p:grpSp>
      <p:sp>
        <p:nvSpPr>
          <p:cNvPr id="54" name="text box &quot;IPv6 over IPv4 tunneling ....."/>
          <p:cNvSpPr>
            <a:spLocks noChangeArrowheads="1"/>
          </p:cNvSpPr>
          <p:nvPr/>
        </p:nvSpPr>
        <p:spPr bwMode="auto">
          <a:xfrm>
            <a:off x="3707904" y="740705"/>
            <a:ext cx="5370888" cy="3696407"/>
          </a:xfrm>
          <a:prstGeom prst="roundRect">
            <a:avLst>
              <a:gd name="adj" fmla="val 5634"/>
            </a:avLst>
          </a:prstGeom>
          <a:noFill/>
          <a:ln w="9525" algn="ctr">
            <a:noFill/>
            <a:round/>
            <a:headEnd/>
            <a:tailEnd/>
          </a:ln>
          <a:effec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just">
              <a:lnSpc>
                <a:spcPct val="90000"/>
              </a:lnSpc>
              <a:tabLst>
                <a:tab pos="987425" algn="l"/>
              </a:tabLst>
            </a:pPr>
            <a:r>
              <a:rPr lang="fr-BE" sz="2800" b="0" dirty="0"/>
              <a:t>L’idée principale est, du point de vue du réseau IPv4, de considérer les paquets IPv6 comme étant </a:t>
            </a:r>
            <a:r>
              <a:rPr lang="fr-BE" sz="2800" b="0" dirty="0" smtClean="0"/>
              <a:t>des </a:t>
            </a:r>
            <a:r>
              <a:rPr lang="fr-BE" sz="2800" b="0" dirty="0"/>
              <a:t>données à faire transiter, ce qui aura </a:t>
            </a:r>
            <a:r>
              <a:rPr lang="fr-BE" sz="2800" b="0" dirty="0" smtClean="0"/>
              <a:t>	pour </a:t>
            </a:r>
            <a:r>
              <a:rPr lang="fr-BE" sz="2800" b="0" dirty="0"/>
              <a:t>effet d’encapsuler </a:t>
            </a:r>
            <a:r>
              <a:rPr lang="fr-BE" sz="2800" b="0" dirty="0" smtClean="0"/>
              <a:t>	le </a:t>
            </a:r>
            <a:r>
              <a:rPr lang="fr-BE" sz="2800" b="0" dirty="0"/>
              <a:t>paquet IPv6 dans un </a:t>
            </a:r>
            <a:r>
              <a:rPr lang="fr-BE" sz="2800" b="0" dirty="0" smtClean="0"/>
              <a:t>	paquet </a:t>
            </a:r>
            <a:r>
              <a:rPr lang="fr-BE" sz="2800" b="0" dirty="0"/>
              <a:t>IPv4</a:t>
            </a:r>
            <a:endParaRPr lang="en-US"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92011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865ee31-b3de-44ef-ba35-c87f5fa794f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Lesson 4: IPv6 Transition Technologies</a:t>
            </a:r>
            <a:endParaRPr lang="en-CA" dirty="0"/>
          </a:p>
        </p:txBody>
      </p:sp>
      <p:sp>
        <p:nvSpPr>
          <p:cNvPr id="3" name="Text Placeholder 2"/>
          <p:cNvSpPr>
            <a:spLocks noGrp="1"/>
          </p:cNvSpPr>
          <p:nvPr>
            <p:ph type="body" idx="1"/>
          </p:nvPr>
        </p:nvSpPr>
        <p:spPr/>
        <p:txBody>
          <a:bodyPr/>
          <a:lstStyle/>
          <a:p>
            <a:r>
              <a:rPr lang="en-CA" dirty="0" smtClean="0"/>
              <a:t>What Is ISATAP?
What Is 6to4?
What Is Teredo?
What Is PortProxy?
Process for Transitioning to IPv6</a:t>
            </a:r>
            <a:endParaRPr lang="en-CA" dirty="0"/>
          </a:p>
        </p:txBody>
      </p:sp>
    </p:spTree>
    <p:extLst>
      <p:ext uri="{BB962C8B-B14F-4D97-AF65-F5344CB8AC3E}">
        <p14:creationId xmlns:p14="http://schemas.microsoft.com/office/powerpoint/2010/main" val="3629098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9372b38e-64ea-4d48-9d99-cd45f0bf9900">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48129" cy="740664"/>
          </a:xfrm>
        </p:spPr>
        <p:txBody>
          <a:bodyPr/>
          <a:lstStyle/>
          <a:p>
            <a:r>
              <a:rPr lang="en-CA" dirty="0" smtClean="0"/>
              <a:t>ISATAP</a:t>
            </a:r>
            <a:r>
              <a:rPr lang="en-CA" dirty="0"/>
              <a:t> </a:t>
            </a:r>
            <a:r>
              <a:rPr lang="en-CA" dirty="0" smtClean="0"/>
              <a:t>(Intra-Site Automatic Tunnel Address Protocol)</a:t>
            </a:r>
            <a:endParaRPr lang="en-CA" dirty="0"/>
          </a:p>
        </p:txBody>
      </p:sp>
      <p:grpSp>
        <p:nvGrpSpPr>
          <p:cNvPr id="4" name="alt-text here, Group 12" descr="Drawing that depicts an IPv4 only network and an IPv6 capable network. An ISATAP router connects the two networks, and the clients on the IPv4 only network are ISATAP hosts."/>
          <p:cNvGrpSpPr/>
          <p:nvPr/>
        </p:nvGrpSpPr>
        <p:grpSpPr>
          <a:xfrm>
            <a:off x="971600" y="4008872"/>
            <a:ext cx="7255032" cy="2804504"/>
            <a:chOff x="520548" y="1352278"/>
            <a:chExt cx="7549053" cy="2804504"/>
          </a:xfrm>
        </p:grpSpPr>
        <p:sp>
          <p:nvSpPr>
            <p:cNvPr id="5" name="Line 66" descr="&quot;&quot;"/>
            <p:cNvSpPr>
              <a:spLocks noChangeShapeType="1"/>
            </p:cNvSpPr>
            <p:nvPr/>
          </p:nvSpPr>
          <p:spPr bwMode="auto">
            <a:xfrm rot="5400000">
              <a:off x="2127458" y="2548136"/>
              <a:ext cx="0" cy="127913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6" name="Line 67" descr="&quot;&quot;"/>
            <p:cNvSpPr>
              <a:spLocks noChangeShapeType="1"/>
            </p:cNvSpPr>
            <p:nvPr/>
          </p:nvSpPr>
          <p:spPr bwMode="auto">
            <a:xfrm rot="5400000">
              <a:off x="5795963" y="1642248"/>
              <a:ext cx="0" cy="36560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59351" y="3209695"/>
              <a:ext cx="968375" cy="513887"/>
            </a:xfrm>
            <a:prstGeom prst="rect">
              <a:avLst/>
            </a:prstGeom>
            <a:noFill/>
            <a:extLst>
              <a:ext uri="{909E8E84-426E-40DD-AFC4-6F175D3DCCD1}">
                <a14:hiddenFill xmlns:a14="http://schemas.microsoft.com/office/drawing/2010/main">
                  <a:solidFill>
                    <a:srgbClr val="FFFFFF"/>
                  </a:solidFill>
                </a14:hiddenFill>
              </a:ext>
            </a:extLst>
          </p:spPr>
        </p:pic>
        <p:sp>
          <p:nvSpPr>
            <p:cNvPr id="8" name="Line 72" descr="&quot;&quot;"/>
            <p:cNvSpPr>
              <a:spLocks noChangeShapeType="1"/>
            </p:cNvSpPr>
            <p:nvPr/>
          </p:nvSpPr>
          <p:spPr bwMode="auto">
            <a:xfrm rot="16200000" flipH="1" flipV="1">
              <a:off x="6987714" y="2685859"/>
              <a:ext cx="801023" cy="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9" name="Line 73" descr="&quot;&quot;"/>
            <p:cNvSpPr>
              <a:spLocks noChangeShapeType="1"/>
            </p:cNvSpPr>
            <p:nvPr/>
          </p:nvSpPr>
          <p:spPr bwMode="auto">
            <a:xfrm rot="16200000" flipH="1">
              <a:off x="2353625" y="2352426"/>
              <a:ext cx="958539" cy="4937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869113" y="1352278"/>
              <a:ext cx="1069975" cy="1230171"/>
            </a:xfrm>
            <a:prstGeom prst="rect">
              <a:avLst/>
            </a:prstGeom>
            <a:noFill/>
            <a:extLst>
              <a:ext uri="{909E8E84-426E-40DD-AFC4-6F175D3DCCD1}">
                <a14:hiddenFill xmlns:a14="http://schemas.microsoft.com/office/drawing/2010/main">
                  <a:solidFill>
                    <a:srgbClr val="FFFFFF"/>
                  </a:solidFill>
                </a14:hiddenFill>
              </a:ext>
            </a:extLst>
          </p:spPr>
        </p:pic>
        <p:sp>
          <p:nvSpPr>
            <p:cNvPr id="11" name="Cloud" descr="&quot;&quot;"/>
            <p:cNvSpPr>
              <a:spLocks noChangeAspect="1" noEditPoints="1" noChangeArrowheads="1"/>
            </p:cNvSpPr>
            <p:nvPr/>
          </p:nvSpPr>
          <p:spPr bwMode="auto">
            <a:xfrm rot="656834">
              <a:off x="6143053" y="2689172"/>
              <a:ext cx="1926548" cy="122426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chemeClr val="bg1">
                  <a:lumMod val="50000"/>
                </a:schemeClr>
              </a:solidFill>
              <a:miter lim="800000"/>
              <a:headEnd/>
              <a:tailEnd/>
            </a:ln>
            <a:effectLst/>
          </p:spPr>
          <p:txBody>
            <a:bodyPr lIns="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12" name="Rectangle 11"/>
            <p:cNvSpPr>
              <a:spLocks noChangeArrowheads="1"/>
            </p:cNvSpPr>
            <p:nvPr/>
          </p:nvSpPr>
          <p:spPr bwMode="auto">
            <a:xfrm>
              <a:off x="6353058" y="2836214"/>
              <a:ext cx="1506538"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dirty="0" smtClean="0">
                  <a:solidFill>
                    <a:srgbClr val="5F5F5F"/>
                  </a:solidFill>
                  <a:latin typeface="Segoe UI" pitchFamily="34" charset="0"/>
                  <a:ea typeface="Segoe UI" pitchFamily="34" charset="0"/>
                  <a:cs typeface="Segoe UI" pitchFamily="34" charset="0"/>
                </a:rPr>
                <a:t>IPv6-Capable</a:t>
              </a:r>
              <a:r>
                <a:rPr lang="en-US" sz="2200" dirty="0">
                  <a:solidFill>
                    <a:srgbClr val="5F5F5F"/>
                  </a:solidFill>
                  <a:latin typeface="Segoe UI" pitchFamily="34" charset="0"/>
                  <a:ea typeface="Segoe UI" pitchFamily="34" charset="0"/>
                  <a:cs typeface="Segoe UI" pitchFamily="34" charset="0"/>
                </a:rPr>
                <a:t/>
              </a:r>
              <a:br>
                <a:rPr lang="en-US" sz="2200" dirty="0">
                  <a:solidFill>
                    <a:srgbClr val="5F5F5F"/>
                  </a:solidFill>
                  <a:latin typeface="Segoe UI" pitchFamily="34" charset="0"/>
                  <a:ea typeface="Segoe UI" pitchFamily="34" charset="0"/>
                  <a:cs typeface="Segoe UI" pitchFamily="34" charset="0"/>
                </a:rPr>
              </a:br>
              <a:r>
                <a:rPr lang="en-US" sz="2200" dirty="0" smtClean="0">
                  <a:solidFill>
                    <a:srgbClr val="5F5F5F"/>
                  </a:solidFill>
                  <a:latin typeface="Segoe UI" pitchFamily="34" charset="0"/>
                  <a:ea typeface="Segoe UI" pitchFamily="34" charset="0"/>
                  <a:cs typeface="Segoe UI" pitchFamily="34" charset="0"/>
                </a:rPr>
                <a:t>Network</a:t>
              </a:r>
              <a:endParaRPr lang="en-US" sz="2200" dirty="0">
                <a:solidFill>
                  <a:srgbClr val="5F5F5F"/>
                </a:solidFill>
                <a:latin typeface="Segoe UI" pitchFamily="34" charset="0"/>
                <a:ea typeface="Segoe UI" pitchFamily="34" charset="0"/>
                <a:cs typeface="Segoe UI" pitchFamily="34" charset="0"/>
              </a:endParaRPr>
            </a:p>
          </p:txBody>
        </p:sp>
        <p:sp>
          <p:nvSpPr>
            <p:cNvPr id="13" name="Cloud" descr="&quot;&quot;"/>
            <p:cNvSpPr>
              <a:spLocks noChangeAspect="1" noEditPoints="1" noChangeArrowheads="1"/>
            </p:cNvSpPr>
            <p:nvPr/>
          </p:nvSpPr>
          <p:spPr bwMode="auto">
            <a:xfrm>
              <a:off x="2122487" y="2636030"/>
              <a:ext cx="2015856" cy="133055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rgbClr val="777777"/>
              </a:solidFill>
              <a:miter lim="800000"/>
              <a:headEnd/>
              <a:tailEnd/>
            </a:ln>
            <a:effectLst/>
          </p:spPr>
          <p:txBody>
            <a:bodyPr lIns="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14" name="Rectangle 13"/>
            <p:cNvSpPr>
              <a:spLocks noChangeArrowheads="1"/>
            </p:cNvSpPr>
            <p:nvPr/>
          </p:nvSpPr>
          <p:spPr bwMode="auto">
            <a:xfrm>
              <a:off x="520548" y="3511087"/>
              <a:ext cx="1442431" cy="645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Host</a:t>
              </a:r>
              <a:endParaRPr lang="en-US" sz="2200" b="0" dirty="0">
                <a:latin typeface="Segoe UI" pitchFamily="34" charset="0"/>
                <a:ea typeface="Segoe UI" pitchFamily="34" charset="0"/>
                <a:cs typeface="Segoe UI" pitchFamily="34" charset="0"/>
              </a:endParaRPr>
            </a:p>
          </p:txBody>
        </p:sp>
        <p:sp>
          <p:nvSpPr>
            <p:cNvPr id="15" name="Rectangle 14"/>
            <p:cNvSpPr>
              <a:spLocks noChangeArrowheads="1"/>
            </p:cNvSpPr>
            <p:nvPr/>
          </p:nvSpPr>
          <p:spPr bwMode="auto">
            <a:xfrm>
              <a:off x="956694" y="1683533"/>
              <a:ext cx="1258298" cy="55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Host</a:t>
              </a:r>
              <a:endParaRPr lang="en-US" sz="2200" b="0" dirty="0">
                <a:latin typeface="Segoe UI" pitchFamily="34" charset="0"/>
                <a:ea typeface="Segoe UI" pitchFamily="34" charset="0"/>
                <a:cs typeface="Segoe UI" pitchFamily="34" charset="0"/>
              </a:endParaRPr>
            </a:p>
          </p:txBody>
        </p:sp>
        <p:sp>
          <p:nvSpPr>
            <p:cNvPr id="16" name="Rectangle 15"/>
            <p:cNvSpPr>
              <a:spLocks noChangeArrowheads="1"/>
            </p:cNvSpPr>
            <p:nvPr/>
          </p:nvSpPr>
          <p:spPr bwMode="auto">
            <a:xfrm>
              <a:off x="4721180" y="2503666"/>
              <a:ext cx="1427624" cy="55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Router</a:t>
              </a:r>
              <a:endParaRPr lang="en-US" sz="2200" b="0" dirty="0">
                <a:latin typeface="Segoe UI" pitchFamily="34" charset="0"/>
                <a:ea typeface="Segoe UI" pitchFamily="34" charset="0"/>
                <a:cs typeface="Segoe UI" pitchFamily="34" charset="0"/>
              </a:endParaRPr>
            </a:p>
          </p:txBody>
        </p:sp>
        <p:pic>
          <p:nvPicPr>
            <p:cNvPr id="17" name="Picture 16"/>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267744" y="1473041"/>
              <a:ext cx="785813" cy="903466"/>
            </a:xfrm>
            <a:prstGeom prst="rect">
              <a:avLst/>
            </a:prstGeom>
            <a:noFill/>
            <a:extLst>
              <a:ext uri="{909E8E84-426E-40DD-AFC4-6F175D3DCCD1}">
                <a14:hiddenFill xmlns:a14="http://schemas.microsoft.com/office/drawing/2010/main">
                  <a:solidFill>
                    <a:srgbClr val="FFFFFF"/>
                  </a:solidFill>
                </a14:hiddenFill>
              </a:ext>
            </a:extLst>
          </p:spPr>
        </p:pic>
        <p:sp>
          <p:nvSpPr>
            <p:cNvPr id="18" name="IPv4 in the cloud"/>
            <p:cNvSpPr>
              <a:spLocks noChangeArrowheads="1"/>
            </p:cNvSpPr>
            <p:nvPr/>
          </p:nvSpPr>
          <p:spPr bwMode="auto">
            <a:xfrm>
              <a:off x="2245200" y="2986225"/>
              <a:ext cx="1836593" cy="63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dirty="0" smtClean="0">
                  <a:solidFill>
                    <a:srgbClr val="5F5F5F"/>
                  </a:solidFill>
                  <a:latin typeface="Segoe UI" pitchFamily="34" charset="0"/>
                  <a:ea typeface="Segoe UI" pitchFamily="34" charset="0"/>
                  <a:cs typeface="Segoe UI" pitchFamily="34" charset="0"/>
                </a:rPr>
                <a:t>IPv4-only</a:t>
              </a:r>
              <a:r>
                <a:rPr lang="en-US" sz="2200" dirty="0">
                  <a:solidFill>
                    <a:srgbClr val="5F5F5F"/>
                  </a:solidFill>
                  <a:latin typeface="Segoe UI" pitchFamily="34" charset="0"/>
                  <a:ea typeface="Segoe UI" pitchFamily="34" charset="0"/>
                  <a:cs typeface="Segoe UI" pitchFamily="34" charset="0"/>
                </a:rPr>
                <a:t/>
              </a:r>
              <a:br>
                <a:rPr lang="en-US" sz="2200" dirty="0">
                  <a:solidFill>
                    <a:srgbClr val="5F5F5F"/>
                  </a:solidFill>
                  <a:latin typeface="Segoe UI" pitchFamily="34" charset="0"/>
                  <a:ea typeface="Segoe UI" pitchFamily="34" charset="0"/>
                  <a:cs typeface="Segoe UI" pitchFamily="34" charset="0"/>
                </a:rPr>
              </a:br>
              <a:r>
                <a:rPr lang="en-US" sz="2200" dirty="0" smtClean="0">
                  <a:solidFill>
                    <a:srgbClr val="5F5F5F"/>
                  </a:solidFill>
                  <a:latin typeface="Segoe UI" pitchFamily="34" charset="0"/>
                  <a:ea typeface="Segoe UI" pitchFamily="34" charset="0"/>
                  <a:cs typeface="Segoe UI" pitchFamily="34" charset="0"/>
                </a:rPr>
                <a:t>Intranet</a:t>
              </a:r>
              <a:endParaRPr lang="en-US" sz="2200" dirty="0">
                <a:solidFill>
                  <a:srgbClr val="5F5F5F"/>
                </a:solidFill>
                <a:latin typeface="Segoe UI" pitchFamily="34" charset="0"/>
                <a:ea typeface="Segoe UI" pitchFamily="34" charset="0"/>
                <a:cs typeface="Segoe UI" pitchFamily="34" charset="0"/>
              </a:endParaRPr>
            </a:p>
          </p:txBody>
        </p:sp>
        <p:pic>
          <p:nvPicPr>
            <p:cNvPr id="19" name="Picture 1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02078" y="2605798"/>
              <a:ext cx="785813" cy="903466"/>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30"/>
          <p:cNvSpPr txBox="1"/>
          <p:nvPr/>
        </p:nvSpPr>
        <p:spPr>
          <a:xfrm>
            <a:off x="460476" y="744813"/>
            <a:ext cx="8504012" cy="2908489"/>
          </a:xfrm>
          <a:prstGeom prst="rect">
            <a:avLst/>
          </a:prstGeom>
          <a:noFill/>
        </p:spPr>
        <p:txBody>
          <a:bodyPr wrap="square" lIns="0" r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ISATAP a été défini pour fournir une connectivité IPv6 à des équipements terminaux au sein de réseaux IPv4 et pour ainsi permettre un premier déploiement d’applications IPV6</a:t>
            </a: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ISATAP utilise un format d’identificateur de machine qui inclut l’adresse IPv4 :</a:t>
            </a:r>
            <a:endParaRPr lang="fr-FR" sz="2400" b="0" dirty="0" smtClean="0">
              <a:latin typeface="Segoe UI" pitchFamily="34" charset="0"/>
              <a:ea typeface="Segoe UI" pitchFamily="34" charset="0"/>
              <a:cs typeface="Segoe UI" pitchFamily="34" charset="0"/>
            </a:endParaRPr>
          </a:p>
          <a:p>
            <a:pPr marL="457200" lvl="2">
              <a:spcBef>
                <a:spcPts val="600"/>
              </a:spcBef>
              <a:buClr>
                <a:srgbClr val="0070C0"/>
              </a:buClr>
              <a:buSzPct val="90000"/>
            </a:pPr>
            <a:r>
              <a:rPr lang="fr-FR" sz="2400" b="0" dirty="0" smtClean="0">
                <a:latin typeface="Segoe UI" pitchFamily="34" charset="0"/>
                <a:ea typeface="Segoe UI" pitchFamily="34" charset="0"/>
                <a:cs typeface="Segoe UI" pitchFamily="34" charset="0"/>
              </a:rPr>
              <a:t>Adresse Privée</a:t>
            </a:r>
            <a:r>
              <a:rPr lang="fr-FR" sz="2400" b="0" dirty="0" smtClean="0">
                <a:latin typeface="Segoe UI" pitchFamily="34" charset="0"/>
                <a:ea typeface="Segoe UI" pitchFamily="34" charset="0"/>
                <a:cs typeface="Segoe UI" pitchFamily="34" charset="0"/>
              </a:rPr>
              <a:t>: FD00::0:</a:t>
            </a:r>
            <a:r>
              <a:rPr lang="fr-FR" sz="2400" dirty="0" smtClean="0">
                <a:latin typeface="Segoe UI" pitchFamily="34" charset="0"/>
                <a:ea typeface="Segoe UI" pitchFamily="34" charset="0"/>
                <a:cs typeface="Segoe UI" pitchFamily="34" charset="0"/>
              </a:rPr>
              <a:t>5EFE</a:t>
            </a:r>
            <a:r>
              <a:rPr lang="fr-FR" sz="2400" b="0" dirty="0" smtClean="0">
                <a:latin typeface="Segoe UI" pitchFamily="34" charset="0"/>
                <a:ea typeface="Segoe UI" pitchFamily="34" charset="0"/>
                <a:cs typeface="Segoe UI" pitchFamily="34" charset="0"/>
              </a:rPr>
              <a:t>:192.168.137.133</a:t>
            </a:r>
          </a:p>
          <a:p>
            <a:pPr marL="457200" lvl="2">
              <a:spcBef>
                <a:spcPts val="600"/>
              </a:spcBef>
              <a:buClr>
                <a:srgbClr val="0070C0"/>
              </a:buClr>
              <a:buSzPct val="90000"/>
            </a:pPr>
            <a:r>
              <a:rPr lang="fr-FR" sz="2400" b="0" dirty="0" smtClean="0">
                <a:latin typeface="Segoe UI" pitchFamily="34" charset="0"/>
                <a:ea typeface="Segoe UI" pitchFamily="34" charset="0"/>
                <a:cs typeface="Segoe UI" pitchFamily="34" charset="0"/>
              </a:rPr>
              <a:t>Adresse Publique</a:t>
            </a:r>
            <a:r>
              <a:rPr lang="fr-FR" sz="2400" b="0" dirty="0" smtClean="0">
                <a:latin typeface="Segoe UI" pitchFamily="34" charset="0"/>
                <a:ea typeface="Segoe UI" pitchFamily="34" charset="0"/>
                <a:cs typeface="Segoe UI" pitchFamily="34" charset="0"/>
              </a:rPr>
              <a:t>: 2001:db8::200:</a:t>
            </a:r>
            <a:r>
              <a:rPr lang="fr-FR" sz="2400" dirty="0" smtClean="0">
                <a:latin typeface="Segoe UI" pitchFamily="34" charset="0"/>
                <a:ea typeface="Segoe UI" pitchFamily="34" charset="0"/>
                <a:cs typeface="Segoe UI" pitchFamily="34" charset="0"/>
              </a:rPr>
              <a:t>5EFE</a:t>
            </a:r>
            <a:r>
              <a:rPr lang="fr-FR" sz="2400" b="0" dirty="0" smtClean="0">
                <a:latin typeface="Segoe UI" pitchFamily="34" charset="0"/>
                <a:ea typeface="Segoe UI" pitchFamily="34" charset="0"/>
                <a:cs typeface="Segoe UI" pitchFamily="34" charset="0"/>
              </a:rPr>
              <a:t>:131.107.137.133</a:t>
            </a:r>
            <a:endParaRPr lang="fr-FR"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9808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51aee9d0-3988-4c64-8d76-80040d1fd82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6to4</a:t>
            </a:r>
            <a:endParaRPr lang="en-CA" dirty="0"/>
          </a:p>
        </p:txBody>
      </p:sp>
      <p:sp>
        <p:nvSpPr>
          <p:cNvPr id="4" name="Rectangle 3"/>
          <p:cNvSpPr>
            <a:spLocks noChangeArrowheads="1"/>
          </p:cNvSpPr>
          <p:nvPr/>
        </p:nvSpPr>
        <p:spPr bwMode="auto">
          <a:xfrm>
            <a:off x="0" y="854075"/>
            <a:ext cx="9050337" cy="5718175"/>
          </a:xfrm>
          <a:prstGeom prst="rect">
            <a:avLst/>
          </a:prstGeom>
          <a:no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latin typeface="Segoe UI" pitchFamily="34" charset="0"/>
              <a:ea typeface="Segoe UI" pitchFamily="34" charset="0"/>
              <a:cs typeface="Segoe UI" pitchFamily="34" charset="0"/>
            </a:endParaRPr>
          </a:p>
        </p:txBody>
      </p:sp>
      <p:sp>
        <p:nvSpPr>
          <p:cNvPr id="5" name="TextBox 33"/>
          <p:cNvSpPr txBox="1"/>
          <p:nvPr/>
        </p:nvSpPr>
        <p:spPr>
          <a:xfrm>
            <a:off x="494349" y="780554"/>
            <a:ext cx="7538637" cy="2083647"/>
          </a:xfrm>
          <a:prstGeom prst="rect">
            <a:avLst/>
          </a:prstGeom>
          <a:noFill/>
        </p:spPr>
        <p:txBody>
          <a:bodyPr wrap="square" lIns="0" tIns="0" r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La méthode 6to4 est utilisée pour relier des réseaux IPv6 à travers des réseaux IPv4</a:t>
            </a:r>
            <a:endParaRPr lang="fr-FR" sz="2400" b="0" dirty="0" smtClean="0">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Non compatible avec le NAT</a:t>
            </a: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Le préfixe est construit à partir de l’adresse IPv4 </a:t>
            </a:r>
            <a:r>
              <a:rPr lang="fr-FR" sz="2400" b="0" dirty="0" smtClean="0">
                <a:latin typeface="Segoe UI" pitchFamily="34" charset="0"/>
                <a:ea typeface="Segoe UI" pitchFamily="34" charset="0"/>
                <a:cs typeface="Segoe UI" pitchFamily="34" charset="0"/>
              </a:rPr>
              <a:t>:</a:t>
            </a:r>
          </a:p>
          <a:p>
            <a:pPr lvl="1">
              <a:lnSpc>
                <a:spcPct val="110000"/>
              </a:lnSpc>
            </a:pPr>
            <a:r>
              <a:rPr lang="fr-FR" sz="2400" b="0" dirty="0" smtClean="0">
                <a:latin typeface="Segoe UI" pitchFamily="34" charset="0"/>
                <a:ea typeface="Segoe UI" pitchFamily="34" charset="0"/>
                <a:cs typeface="Segoe UI" pitchFamily="34" charset="0"/>
              </a:rPr>
              <a:t>2002:@IPv4:Subnet_ID::/64 </a:t>
            </a:r>
            <a:endParaRPr lang="fr-FR" sz="2400" b="0" dirty="0">
              <a:latin typeface="Segoe UI" pitchFamily="34" charset="0"/>
              <a:ea typeface="Segoe UI" pitchFamily="34" charset="0"/>
              <a:cs typeface="Segoe UI" pitchFamily="34" charset="0"/>
            </a:endParaRPr>
          </a:p>
        </p:txBody>
      </p:sp>
      <p:sp>
        <p:nvSpPr>
          <p:cNvPr id="6" name="TextBox 34"/>
          <p:cNvSpPr txBox="1"/>
          <p:nvPr/>
        </p:nvSpPr>
        <p:spPr>
          <a:xfrm>
            <a:off x="251520" y="3212976"/>
            <a:ext cx="3861409" cy="290848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2400" b="0" dirty="0" smtClean="0">
                <a:latin typeface="Segoe UI" pitchFamily="34" charset="0"/>
                <a:ea typeface="Segoe UI" pitchFamily="34" charset="0"/>
                <a:cs typeface="Segoe UI" pitchFamily="34" charset="0"/>
              </a:rPr>
              <a:t>Pour active la fonctionnalité  6to4 :</a:t>
            </a: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Activer l’</a:t>
            </a:r>
            <a:r>
              <a:rPr lang="fr-FR" sz="2400" b="0" dirty="0">
                <a:latin typeface="Segoe UI" pitchFamily="34" charset="0"/>
                <a:ea typeface="Segoe UI" pitchFamily="34" charset="0"/>
                <a:cs typeface="Segoe UI" pitchFamily="34" charset="0"/>
              </a:rPr>
              <a:t>ICS (Internet Connection </a:t>
            </a:r>
            <a:r>
              <a:rPr lang="fr-FR" sz="2400" b="0" dirty="0" smtClean="0">
                <a:latin typeface="Segoe UI" pitchFamily="34" charset="0"/>
                <a:ea typeface="Segoe UI" pitchFamily="34" charset="0"/>
                <a:cs typeface="Segoe UI" pitchFamily="34" charset="0"/>
              </a:rPr>
              <a:t>Sharing)</a:t>
            </a:r>
            <a:endParaRPr lang="fr-FR" sz="2400" b="0" dirty="0" smtClean="0">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Utiliser Windows PowerShell :</a:t>
            </a:r>
          </a:p>
          <a:p>
            <a:pPr>
              <a:spcBef>
                <a:spcPts val="600"/>
              </a:spcBef>
              <a:buClr>
                <a:srgbClr val="0070C0"/>
              </a:buClr>
              <a:buSzPct val="90000"/>
            </a:pPr>
            <a:r>
              <a:rPr lang="fr-FR" sz="2400" b="0" dirty="0" smtClean="0">
                <a:latin typeface="Segoe UI" pitchFamily="34" charset="0"/>
                <a:ea typeface="Segoe UI" pitchFamily="34" charset="0"/>
                <a:cs typeface="Segoe UI" pitchFamily="34" charset="0"/>
              </a:rPr>
              <a:t>  </a:t>
            </a:r>
            <a:r>
              <a:rPr lang="fr-FR" dirty="0" smtClean="0">
                <a:latin typeface="Courier New" panose="02070309020205020404" pitchFamily="49" charset="0"/>
                <a:ea typeface="Segoe UI" pitchFamily="34" charset="0"/>
                <a:cs typeface="Courier New" panose="02070309020205020404" pitchFamily="49" charset="0"/>
              </a:rPr>
              <a:t>Set-Net6to4Configuration</a:t>
            </a:r>
            <a:endParaRPr lang="fr-FR" dirty="0">
              <a:latin typeface="Courier New" panose="02070309020205020404" pitchFamily="49" charset="0"/>
              <a:ea typeface="Segoe UI" pitchFamily="34" charset="0"/>
              <a:cs typeface="Courier New" panose="02070309020205020404" pitchFamily="49" charset="0"/>
            </a:endParaRPr>
          </a:p>
        </p:txBody>
      </p:sp>
      <p:grpSp>
        <p:nvGrpSpPr>
          <p:cNvPr id="7" name="alt-text here, Group 4" descr="Graphic that depicts two networks that are connected to the Internet. Each router is connected to the Internet by a 6to4 router, and clients on each network are able to use both IPv6 and IPv4."/>
          <p:cNvGrpSpPr/>
          <p:nvPr/>
        </p:nvGrpSpPr>
        <p:grpSpPr>
          <a:xfrm>
            <a:off x="3911130" y="3140968"/>
            <a:ext cx="5125366" cy="3491347"/>
            <a:chOff x="3434520" y="2827149"/>
            <a:chExt cx="5125366" cy="3491347"/>
          </a:xfrm>
        </p:grpSpPr>
        <p:sp>
          <p:nvSpPr>
            <p:cNvPr id="8" name="Rectangle 7" descr="&quot;&quot;"/>
            <p:cNvSpPr>
              <a:spLocks noChangeArrowheads="1"/>
            </p:cNvSpPr>
            <p:nvPr/>
          </p:nvSpPr>
          <p:spPr bwMode="auto">
            <a:xfrm>
              <a:off x="5279471" y="2954440"/>
              <a:ext cx="1717906" cy="66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400" dirty="0">
                  <a:latin typeface="Segoe UI" pitchFamily="34" charset="0"/>
                  <a:ea typeface="Segoe UI" pitchFamily="34" charset="0"/>
                  <a:cs typeface="Segoe UI" pitchFamily="34" charset="0"/>
                </a:rPr>
                <a:t>6to4 </a:t>
              </a:r>
              <a:r>
                <a:rPr lang="en-US" sz="2400" dirty="0" smtClean="0">
                  <a:latin typeface="Segoe UI" pitchFamily="34" charset="0"/>
                  <a:ea typeface="Segoe UI" pitchFamily="34" charset="0"/>
                  <a:cs typeface="Segoe UI" pitchFamily="34" charset="0"/>
                </a:rPr>
                <a:t>Router</a:t>
              </a:r>
              <a:endParaRPr lang="en-US" sz="2400" dirty="0">
                <a:latin typeface="Segoe UI" pitchFamily="34" charset="0"/>
                <a:ea typeface="Segoe UI" pitchFamily="34" charset="0"/>
                <a:cs typeface="Segoe UI" pitchFamily="34" charset="0"/>
              </a:endParaRPr>
            </a:p>
            <a:p>
              <a:pPr algn="ctr">
                <a:lnSpc>
                  <a:spcPct val="90000"/>
                </a:lnSpc>
              </a:pPr>
              <a:r>
                <a:rPr lang="en-US" sz="2400" b="0" dirty="0">
                  <a:latin typeface="Segoe UI" pitchFamily="34" charset="0"/>
                  <a:ea typeface="Segoe UI" pitchFamily="34" charset="0"/>
                  <a:cs typeface="Segoe UI" pitchFamily="34" charset="0"/>
                </a:rPr>
                <a:t>IPv6/IPv4</a:t>
              </a:r>
              <a:endParaRPr lang="en-US" sz="2800" b="0" dirty="0">
                <a:latin typeface="Segoe UI" pitchFamily="34" charset="0"/>
                <a:ea typeface="Segoe UI" pitchFamily="34" charset="0"/>
                <a:cs typeface="Segoe UI" pitchFamily="34" charset="0"/>
              </a:endParaRPr>
            </a:p>
          </p:txBody>
        </p:sp>
        <p:sp>
          <p:nvSpPr>
            <p:cNvPr id="9" name="Rectangle 8" descr="&quot;&quot;"/>
            <p:cNvSpPr>
              <a:spLocks noChangeArrowheads="1"/>
            </p:cNvSpPr>
            <p:nvPr/>
          </p:nvSpPr>
          <p:spPr bwMode="auto">
            <a:xfrm>
              <a:off x="4847423" y="4627349"/>
              <a:ext cx="1717906" cy="66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dirty="0">
                  <a:latin typeface="Segoe UI" pitchFamily="34" charset="0"/>
                  <a:ea typeface="Segoe UI" pitchFamily="34" charset="0"/>
                  <a:cs typeface="Segoe UI" pitchFamily="34" charset="0"/>
                </a:rPr>
                <a:t>6to4 </a:t>
              </a:r>
              <a:r>
                <a:rPr lang="en-US" sz="2400" dirty="0" smtClean="0">
                  <a:latin typeface="Segoe UI" pitchFamily="34" charset="0"/>
                  <a:ea typeface="Segoe UI" pitchFamily="34" charset="0"/>
                  <a:cs typeface="Segoe UI" pitchFamily="34" charset="0"/>
                </a:rPr>
                <a:t>Router</a:t>
              </a:r>
              <a:endParaRPr lang="en-US" sz="2400" dirty="0">
                <a:latin typeface="Segoe UI" pitchFamily="34" charset="0"/>
                <a:ea typeface="Segoe UI" pitchFamily="34" charset="0"/>
                <a:cs typeface="Segoe UI" pitchFamily="34" charset="0"/>
              </a:endParaRPr>
            </a:p>
            <a:p>
              <a:pPr>
                <a:lnSpc>
                  <a:spcPct val="90000"/>
                </a:lnSpc>
              </a:pPr>
              <a:r>
                <a:rPr lang="en-US" sz="2400" b="0" dirty="0">
                  <a:latin typeface="Segoe UI" pitchFamily="34" charset="0"/>
                  <a:ea typeface="Segoe UI" pitchFamily="34" charset="0"/>
                  <a:cs typeface="Segoe UI" pitchFamily="34" charset="0"/>
                </a:rPr>
                <a:t>IPv6/IPv4</a:t>
              </a:r>
            </a:p>
          </p:txBody>
        </p:sp>
        <p:sp>
          <p:nvSpPr>
            <p:cNvPr id="10" name="Rectangle 9" descr="&quot;&quot;"/>
            <p:cNvSpPr>
              <a:spLocks noChangeArrowheads="1"/>
            </p:cNvSpPr>
            <p:nvPr/>
          </p:nvSpPr>
          <p:spPr bwMode="auto">
            <a:xfrm>
              <a:off x="7301528" y="3859409"/>
              <a:ext cx="12583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IPv6/IPv4</a:t>
              </a:r>
              <a:endParaRPr lang="en-US" sz="2400" b="0" dirty="0">
                <a:latin typeface="Segoe UI" pitchFamily="34" charset="0"/>
                <a:ea typeface="Segoe UI" pitchFamily="34" charset="0"/>
                <a:cs typeface="Segoe UI" pitchFamily="34" charset="0"/>
              </a:endParaRPr>
            </a:p>
          </p:txBody>
        </p:sp>
        <p:sp>
          <p:nvSpPr>
            <p:cNvPr id="11" name="Rectangle 10" descr="&quot;&quot;"/>
            <p:cNvSpPr>
              <a:spLocks noChangeArrowheads="1"/>
            </p:cNvSpPr>
            <p:nvPr/>
          </p:nvSpPr>
          <p:spPr bwMode="auto">
            <a:xfrm>
              <a:off x="7185039" y="5429754"/>
              <a:ext cx="12583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IPv6/IPv4</a:t>
              </a:r>
              <a:endParaRPr lang="en-US" sz="2400" b="0" dirty="0">
                <a:latin typeface="Segoe UI" pitchFamily="34" charset="0"/>
                <a:ea typeface="Segoe UI" pitchFamily="34" charset="0"/>
                <a:cs typeface="Segoe UI" pitchFamily="34" charset="0"/>
              </a:endParaRPr>
            </a:p>
          </p:txBody>
        </p:sp>
        <p:grpSp>
          <p:nvGrpSpPr>
            <p:cNvPr id="12" name="Group 11"/>
            <p:cNvGrpSpPr/>
            <p:nvPr/>
          </p:nvGrpSpPr>
          <p:grpSpPr>
            <a:xfrm>
              <a:off x="3434520" y="4044075"/>
              <a:ext cx="3927261" cy="2274421"/>
              <a:chOff x="3434520" y="4206303"/>
              <a:chExt cx="3927261" cy="2274421"/>
            </a:xfrm>
          </p:grpSpPr>
          <p:sp>
            <p:nvSpPr>
              <p:cNvPr id="21" name="Line 45" descr="&quot;&quot;"/>
              <p:cNvSpPr>
                <a:spLocks noChangeShapeType="1"/>
              </p:cNvSpPr>
              <p:nvPr/>
            </p:nvSpPr>
            <p:spPr bwMode="auto">
              <a:xfrm rot="5400000" flipH="1">
                <a:off x="3825457" y="4857980"/>
                <a:ext cx="1303353"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2" name="Picture 2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434520" y="4752532"/>
                <a:ext cx="1415072" cy="737967"/>
              </a:xfrm>
              <a:prstGeom prst="rect">
                <a:avLst/>
              </a:prstGeom>
              <a:noFill/>
              <a:extLst>
                <a:ext uri="{909E8E84-426E-40DD-AFC4-6F175D3DCCD1}">
                  <a14:hiddenFill xmlns:a14="http://schemas.microsoft.com/office/drawing/2010/main">
                    <a:solidFill>
                      <a:srgbClr val="FFFFFF"/>
                    </a:solidFill>
                  </a14:hiddenFill>
                </a:ext>
              </a:extLst>
            </p:spPr>
          </p:pic>
          <p:sp>
            <p:nvSpPr>
              <p:cNvPr id="23" name="Line 49" descr="&quot;&quot;"/>
              <p:cNvSpPr>
                <a:spLocks noChangeShapeType="1"/>
              </p:cNvSpPr>
              <p:nvPr/>
            </p:nvSpPr>
            <p:spPr bwMode="auto">
              <a:xfrm flipH="1">
                <a:off x="4071938" y="5509657"/>
                <a:ext cx="3289843"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24" name="Line 50" descr="&quot;&quot;"/>
              <p:cNvSpPr>
                <a:spLocks noChangeShapeType="1"/>
              </p:cNvSpPr>
              <p:nvPr/>
            </p:nvSpPr>
            <p:spPr bwMode="auto">
              <a:xfrm rot="5400000" flipH="1">
                <a:off x="6510638" y="5754175"/>
                <a:ext cx="514834" cy="9525"/>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5" name="Picture 2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43600" y="5551986"/>
                <a:ext cx="822671" cy="9287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p:nvPr/>
          </p:nvGrpSpPr>
          <p:grpSpPr>
            <a:xfrm>
              <a:off x="4775415" y="3039363"/>
              <a:ext cx="3608789" cy="1555059"/>
              <a:chOff x="4775415" y="3201591"/>
              <a:chExt cx="3608789" cy="1555059"/>
            </a:xfrm>
          </p:grpSpPr>
          <p:pic>
            <p:nvPicPr>
              <p:cNvPr id="16" name="Picture 15"/>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638736" y="3201591"/>
                <a:ext cx="745468" cy="841581"/>
              </a:xfrm>
              <a:prstGeom prst="rect">
                <a:avLst/>
              </a:prstGeom>
              <a:noFill/>
              <a:extLst>
                <a:ext uri="{909E8E84-426E-40DD-AFC4-6F175D3DCCD1}">
                  <a14:hiddenFill xmlns:a14="http://schemas.microsoft.com/office/drawing/2010/main">
                    <a:solidFill>
                      <a:srgbClr val="FFFFFF"/>
                    </a:solidFill>
                  </a14:hiddenFill>
                </a:ext>
              </a:extLst>
            </p:spPr>
          </p:pic>
          <p:sp>
            <p:nvSpPr>
              <p:cNvPr id="17" name="Line 52" descr="&quot;&quot;"/>
              <p:cNvSpPr>
                <a:spLocks noChangeShapeType="1"/>
              </p:cNvSpPr>
              <p:nvPr/>
            </p:nvSpPr>
            <p:spPr bwMode="auto">
              <a:xfrm flipH="1">
                <a:off x="4775415" y="3981334"/>
                <a:ext cx="243721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8" name="Line 53" descr="&quot;&quot;"/>
              <p:cNvSpPr>
                <a:spLocks noChangeShapeType="1"/>
              </p:cNvSpPr>
              <p:nvPr/>
            </p:nvSpPr>
            <p:spPr bwMode="auto">
              <a:xfrm flipH="1">
                <a:off x="7215803" y="3612062"/>
                <a:ext cx="468313" cy="158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9" name="Line 54" descr="&quot;&quot;"/>
              <p:cNvSpPr>
                <a:spLocks noChangeShapeType="1"/>
              </p:cNvSpPr>
              <p:nvPr/>
            </p:nvSpPr>
            <p:spPr bwMode="auto">
              <a:xfrm rot="5400000" flipH="1">
                <a:off x="6555403" y="4088312"/>
                <a:ext cx="1325563" cy="111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0" name="Picture 19"/>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438236" y="3742258"/>
                <a:ext cx="1319196" cy="687279"/>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1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833688" y="2827149"/>
              <a:ext cx="1313879" cy="1354138"/>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59" descr="&quot;&quot;"/>
            <p:cNvSpPr>
              <a:spLocks noChangeArrowheads="1"/>
            </p:cNvSpPr>
            <p:nvPr/>
          </p:nvSpPr>
          <p:spPr bwMode="auto">
            <a:xfrm>
              <a:off x="3623287" y="4267309"/>
              <a:ext cx="1880002" cy="320004"/>
            </a:xfrm>
            <a:prstGeom prst="roundRect">
              <a:avLst>
                <a:gd name="adj" fmla="val 4167"/>
              </a:avLst>
            </a:prstGeom>
            <a:solidFill>
              <a:schemeClr val="bg1"/>
            </a:solidFill>
            <a:ln w="9525" algn="ctr">
              <a:noFill/>
              <a:round/>
              <a:headEnd/>
              <a:tailEnd/>
            </a:ln>
            <a:effectLst/>
          </p:spPr>
          <p:txBody>
            <a:bodyPr wrap="non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a:latin typeface="Segoe UI" pitchFamily="34" charset="0"/>
                  <a:ea typeface="Segoe UI" pitchFamily="34" charset="0"/>
                  <a:cs typeface="Segoe UI" pitchFamily="34" charset="0"/>
                </a:rPr>
                <a:t>IPv4 Internet</a:t>
              </a:r>
            </a:p>
          </p:txBody>
        </p:sp>
      </p:grpSp>
    </p:spTree>
    <p:extLst>
      <p:ext uri="{BB962C8B-B14F-4D97-AF65-F5344CB8AC3E}">
        <p14:creationId xmlns:p14="http://schemas.microsoft.com/office/powerpoint/2010/main" val="2199305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9be4bf2f-a31b-4b74-8e24-843fadaf0c6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Teredo</a:t>
            </a:r>
            <a:endParaRPr lang="en-CA" dirty="0"/>
          </a:p>
        </p:txBody>
      </p:sp>
      <p:grpSp>
        <p:nvGrpSpPr>
          <p:cNvPr id="4" name="alt-text here  diagram" descr="Graphic that depicts two networks which are connected to the IPv4 Internet. The routers connecting each network to the Internet are performing NAT. The clients on the network are Teredo clients. A Teredo server also is connected to the IPv4 Internet."/>
          <p:cNvGrpSpPr/>
          <p:nvPr/>
        </p:nvGrpSpPr>
        <p:grpSpPr>
          <a:xfrm>
            <a:off x="5289211" y="945708"/>
            <a:ext cx="3755475" cy="5334299"/>
            <a:chOff x="4716016" y="945708"/>
            <a:chExt cx="3755475" cy="5334299"/>
          </a:xfrm>
        </p:grpSpPr>
        <p:grpSp>
          <p:nvGrpSpPr>
            <p:cNvPr id="5" name="Group 4" descr="&quot;&quot;"/>
            <p:cNvGrpSpPr/>
            <p:nvPr/>
          </p:nvGrpSpPr>
          <p:grpSpPr>
            <a:xfrm>
              <a:off x="7076381" y="3388208"/>
              <a:ext cx="1395110" cy="2142796"/>
              <a:chOff x="7042273" y="3388208"/>
              <a:chExt cx="1395110" cy="2142796"/>
            </a:xfrm>
          </p:grpSpPr>
          <p:sp>
            <p:nvSpPr>
              <p:cNvPr id="22" name="Line 104" descr="&quot;&quot;"/>
              <p:cNvSpPr>
                <a:spLocks noChangeShapeType="1"/>
              </p:cNvSpPr>
              <p:nvPr/>
            </p:nvSpPr>
            <p:spPr bwMode="auto">
              <a:xfrm rot="16200000">
                <a:off x="7030836" y="4190757"/>
                <a:ext cx="1617331" cy="1223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Line 105" descr="&quot;&quot;"/>
              <p:cNvSpPr>
                <a:spLocks noChangeShapeType="1"/>
              </p:cNvSpPr>
              <p:nvPr/>
            </p:nvSpPr>
            <p:spPr bwMode="auto">
              <a:xfrm>
                <a:off x="7042273" y="5005540"/>
                <a:ext cx="1395110" cy="12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Line 106" descr="&quot;&quot;"/>
              <p:cNvSpPr>
                <a:spLocks noChangeShapeType="1"/>
              </p:cNvSpPr>
              <p:nvPr/>
            </p:nvSpPr>
            <p:spPr bwMode="auto">
              <a:xfrm rot="16200000">
                <a:off x="7282896" y="5264591"/>
                <a:ext cx="525463" cy="736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6" name="Group 5" descr="&quot;&quot;"/>
            <p:cNvGrpSpPr/>
            <p:nvPr/>
          </p:nvGrpSpPr>
          <p:grpSpPr>
            <a:xfrm>
              <a:off x="6032312" y="5280899"/>
              <a:ext cx="2118206" cy="999108"/>
              <a:chOff x="6489512" y="5252324"/>
              <a:chExt cx="2118206" cy="999108"/>
            </a:xfrm>
          </p:grpSpPr>
          <p:sp>
            <p:nvSpPr>
              <p:cNvPr id="20" name="Rectangle 19" descr="&quot;&quot;"/>
              <p:cNvSpPr>
                <a:spLocks noChangeArrowheads="1"/>
              </p:cNvSpPr>
              <p:nvPr/>
            </p:nvSpPr>
            <p:spPr bwMode="auto">
              <a:xfrm flipH="1">
                <a:off x="6489512" y="5252324"/>
                <a:ext cx="1272377"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400" b="0" dirty="0">
                    <a:latin typeface="Segoe UI" pitchFamily="34" charset="0"/>
                    <a:ea typeface="Segoe UI" pitchFamily="34" charset="0"/>
                    <a:cs typeface="Segoe UI" pitchFamily="34" charset="0"/>
                  </a:rPr>
                  <a:t>Teredo </a:t>
                </a:r>
                <a:r>
                  <a:rPr lang="en-US" sz="2400" b="0" dirty="0" smtClean="0">
                    <a:latin typeface="Segoe UI" pitchFamily="34" charset="0"/>
                    <a:ea typeface="Segoe UI" pitchFamily="34" charset="0"/>
                    <a:cs typeface="Segoe UI" pitchFamily="34" charset="0"/>
                  </a:rPr>
                  <a:t>Client</a:t>
                </a:r>
                <a:endParaRPr lang="en-US" sz="2400" b="0" dirty="0">
                  <a:latin typeface="Segoe UI" pitchFamily="34" charset="0"/>
                  <a:ea typeface="Segoe UI" pitchFamily="34" charset="0"/>
                  <a:cs typeface="Segoe UI" pitchFamily="34" charset="0"/>
                </a:endParaRPr>
              </a:p>
            </p:txBody>
          </p:sp>
          <p:pic>
            <p:nvPicPr>
              <p:cNvPr id="21" name="Picture 2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722713" y="5252324"/>
                <a:ext cx="885005" cy="9991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p:cNvGrpSpPr/>
            <p:nvPr/>
          </p:nvGrpSpPr>
          <p:grpSpPr>
            <a:xfrm>
              <a:off x="4716016" y="2132856"/>
              <a:ext cx="3057920" cy="1497237"/>
              <a:chOff x="4716016" y="2485281"/>
              <a:chExt cx="3057920" cy="1497237"/>
            </a:xfrm>
          </p:grpSpPr>
          <p:sp>
            <p:nvSpPr>
              <p:cNvPr id="13" name="Rectangle 12" descr="&quot;&quot;"/>
              <p:cNvSpPr>
                <a:spLocks noChangeArrowheads="1"/>
              </p:cNvSpPr>
              <p:nvPr/>
            </p:nvSpPr>
            <p:spPr bwMode="auto">
              <a:xfrm flipH="1">
                <a:off x="6026905" y="3399675"/>
                <a:ext cx="5693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itchFamily="34" charset="0"/>
                    <a:ea typeface="Segoe UI" pitchFamily="34" charset="0"/>
                    <a:cs typeface="Segoe UI" pitchFamily="34" charset="0"/>
                  </a:rPr>
                  <a:t>NAT</a:t>
                </a:r>
              </a:p>
            </p:txBody>
          </p:sp>
          <p:grpSp>
            <p:nvGrpSpPr>
              <p:cNvPr id="14" name="Group 13"/>
              <p:cNvGrpSpPr/>
              <p:nvPr/>
            </p:nvGrpSpPr>
            <p:grpSpPr>
              <a:xfrm>
                <a:off x="5327482" y="2788718"/>
                <a:ext cx="2446454" cy="1193800"/>
                <a:chOff x="5616070" y="2788718"/>
                <a:chExt cx="2446454" cy="1193800"/>
              </a:xfrm>
            </p:grpSpPr>
            <p:sp>
              <p:nvSpPr>
                <p:cNvPr id="17" name="Line 108" descr="&quot;&quot;"/>
                <p:cNvSpPr>
                  <a:spLocks noChangeShapeType="1"/>
                </p:cNvSpPr>
                <p:nvPr/>
              </p:nvSpPr>
              <p:spPr bwMode="auto">
                <a:xfrm>
                  <a:off x="6014429" y="3157018"/>
                  <a:ext cx="2048095"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8" name="Line 109" descr="&quot;&quot;"/>
                <p:cNvSpPr>
                  <a:spLocks noChangeShapeType="1"/>
                </p:cNvSpPr>
                <p:nvPr/>
              </p:nvSpPr>
              <p:spPr bwMode="auto">
                <a:xfrm>
                  <a:off x="5616070" y="3021335"/>
                  <a:ext cx="391739" cy="158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9" name="Line 110" descr="&quot;&quot;"/>
                <p:cNvSpPr>
                  <a:spLocks noChangeShapeType="1"/>
                </p:cNvSpPr>
                <p:nvPr/>
              </p:nvSpPr>
              <p:spPr bwMode="auto">
                <a:xfrm rot="16200000">
                  <a:off x="5413111" y="3381200"/>
                  <a:ext cx="1193800" cy="88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pic>
            <p:nvPicPr>
              <p:cNvPr id="15" name="Picture 1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716016" y="2485281"/>
                <a:ext cx="788946" cy="8906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5908967" y="2863086"/>
                <a:ext cx="1039297" cy="54199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descr="&quot;&quot;"/>
            <p:cNvSpPr>
              <a:spLocks noChangeArrowheads="1"/>
            </p:cNvSpPr>
            <p:nvPr/>
          </p:nvSpPr>
          <p:spPr bwMode="auto">
            <a:xfrm flipH="1">
              <a:off x="6732240" y="4221088"/>
              <a:ext cx="5693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itchFamily="34" charset="0"/>
                  <a:ea typeface="Segoe UI" pitchFamily="34" charset="0"/>
                  <a:cs typeface="Segoe UI" pitchFamily="34" charset="0"/>
                </a:rPr>
                <a:t>NAT</a:t>
              </a:r>
            </a:p>
          </p:txBody>
        </p:sp>
        <p:sp>
          <p:nvSpPr>
            <p:cNvPr id="9" name="Rectangle 8" descr="&quot;&quot;"/>
            <p:cNvSpPr>
              <a:spLocks noChangeArrowheads="1"/>
            </p:cNvSpPr>
            <p:nvPr/>
          </p:nvSpPr>
          <p:spPr bwMode="auto">
            <a:xfrm flipH="1">
              <a:off x="6215184" y="1163821"/>
              <a:ext cx="1142748" cy="62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400" b="0" dirty="0">
                  <a:latin typeface="Segoe UI" pitchFamily="34" charset="0"/>
                  <a:ea typeface="Segoe UI" pitchFamily="34" charset="0"/>
                  <a:cs typeface="Segoe UI" pitchFamily="34" charset="0"/>
                </a:rPr>
                <a:t>Teredo </a:t>
              </a:r>
              <a:r>
                <a:rPr lang="en-US" sz="2400" b="0" dirty="0" smtClean="0">
                  <a:latin typeface="Segoe UI" pitchFamily="34" charset="0"/>
                  <a:ea typeface="Segoe UI" pitchFamily="34" charset="0"/>
                  <a:cs typeface="Segoe UI" pitchFamily="34" charset="0"/>
                </a:rPr>
                <a:t>Server</a:t>
              </a:r>
              <a:endParaRPr lang="en-US" sz="2400" b="0" dirty="0">
                <a:latin typeface="Segoe UI" pitchFamily="34" charset="0"/>
                <a:ea typeface="Segoe UI" pitchFamily="34" charset="0"/>
                <a:cs typeface="Segoe UI" pitchFamily="34" charset="0"/>
              </a:endParaRPr>
            </a:p>
          </p:txBody>
        </p:sp>
        <p:sp>
          <p:nvSpPr>
            <p:cNvPr id="10" name="Line 110" descr="&quot;&quot;"/>
            <p:cNvSpPr>
              <a:spLocks noChangeShapeType="1"/>
            </p:cNvSpPr>
            <p:nvPr/>
          </p:nvSpPr>
          <p:spPr bwMode="auto">
            <a:xfrm rot="16200000">
              <a:off x="7048666" y="2226920"/>
              <a:ext cx="1193800" cy="88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pic>
          <p:nvPicPr>
            <p:cNvPr id="1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169155" y="2210812"/>
              <a:ext cx="1132509" cy="1167210"/>
            </a:xfrm>
            <a:prstGeom prst="rect">
              <a:avLst/>
            </a:prstGeom>
            <a:noFill/>
            <a:extLst>
              <a:ext uri="{909E8E84-426E-40DD-AFC4-6F175D3DCCD1}">
                <a14:hiddenFill xmlns:a14="http://schemas.microsoft.com/office/drawing/2010/main">
                  <a:solidFill>
                    <a:srgbClr val="FFFFFF"/>
                  </a:solidFill>
                </a14:hiddenFill>
              </a:ext>
            </a:extLst>
          </p:spPr>
        </p:pic>
        <p:pic>
          <p:nvPicPr>
            <p:cNvPr id="12" name="serve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7362209" y="945708"/>
              <a:ext cx="512041" cy="908053"/>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AutoShape 123" descr="&quot;&quot;"/>
          <p:cNvSpPr>
            <a:spLocks noChangeArrowheads="1"/>
          </p:cNvSpPr>
          <p:nvPr/>
        </p:nvSpPr>
        <p:spPr bwMode="auto">
          <a:xfrm flipH="1">
            <a:off x="7244486" y="3418210"/>
            <a:ext cx="1864018" cy="431168"/>
          </a:xfrm>
          <a:prstGeom prst="roundRect">
            <a:avLst>
              <a:gd name="adj" fmla="val 4167"/>
            </a:avLst>
          </a:prstGeom>
          <a:solidFill>
            <a:schemeClr val="bg1"/>
          </a:solidFill>
          <a:ln w="9525" algn="ctr">
            <a:noFill/>
            <a:round/>
            <a:headEnd/>
            <a:tailEnd/>
          </a:ln>
          <a:effectLst/>
        </p:spPr>
        <p:txBody>
          <a:bodyPr wrap="none" lIns="72000" tIns="72000" rIns="72000" bIns="3600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IPv4 Internet</a:t>
            </a:r>
          </a:p>
        </p:txBody>
      </p:sp>
      <p:sp>
        <p:nvSpPr>
          <p:cNvPr id="26" name="TextBox 97"/>
          <p:cNvSpPr txBox="1"/>
          <p:nvPr/>
        </p:nvSpPr>
        <p:spPr>
          <a:xfrm>
            <a:off x="361039" y="815468"/>
            <a:ext cx="4531001" cy="301621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fr-BE" sz="2000" b="0" dirty="0">
                <a:latin typeface="Segoe UI" pitchFamily="34" charset="0"/>
                <a:ea typeface="Segoe UI" pitchFamily="34" charset="0"/>
                <a:cs typeface="Segoe UI" pitchFamily="34" charset="0"/>
              </a:rPr>
              <a:t>La méthode </a:t>
            </a:r>
            <a:r>
              <a:rPr lang="fr-BE" sz="2000" b="0" dirty="0" err="1" smtClean="0">
                <a:latin typeface="Segoe UI" pitchFamily="34" charset="0"/>
                <a:ea typeface="Segoe UI" pitchFamily="34" charset="0"/>
                <a:cs typeface="Segoe UI" pitchFamily="34" charset="0"/>
              </a:rPr>
              <a:t>Teredo</a:t>
            </a:r>
            <a:r>
              <a:rPr lang="fr-BE" sz="2000" b="0" dirty="0" smtClean="0">
                <a:latin typeface="Segoe UI" pitchFamily="34" charset="0"/>
                <a:ea typeface="Segoe UI" pitchFamily="34" charset="0"/>
                <a:cs typeface="Segoe UI" pitchFamily="34" charset="0"/>
              </a:rPr>
              <a:t> </a:t>
            </a:r>
            <a:r>
              <a:rPr lang="fr-BE" sz="2000" b="0" dirty="0">
                <a:latin typeface="Segoe UI" pitchFamily="34" charset="0"/>
                <a:ea typeface="Segoe UI" pitchFamily="34" charset="0"/>
                <a:cs typeface="Segoe UI" pitchFamily="34" charset="0"/>
              </a:rPr>
              <a:t>est utilisée pour relier des réseaux IPv6 à travers des réseaux </a:t>
            </a:r>
            <a:r>
              <a:rPr lang="fr-BE" sz="2000" b="0" dirty="0" smtClean="0">
                <a:latin typeface="Segoe UI" pitchFamily="34" charset="0"/>
                <a:ea typeface="Segoe UI" pitchFamily="34" charset="0"/>
                <a:cs typeface="Segoe UI" pitchFamily="34" charset="0"/>
              </a:rPr>
              <a:t>IPv4 lorsqu’un NAT se trouve dans la chaîne de communication</a:t>
            </a:r>
            <a:endParaRPr lang="fr-FR" sz="2000" b="0" dirty="0" smtClean="0">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fr-FR" sz="2000" b="0" dirty="0" smtClean="0">
                <a:latin typeface="Segoe UI" pitchFamily="34" charset="0"/>
                <a:ea typeface="Segoe UI" pitchFamily="34" charset="0"/>
                <a:cs typeface="Segoe UI" pitchFamily="34" charset="0"/>
              </a:rPr>
              <a:t>Le protocole </a:t>
            </a:r>
            <a:r>
              <a:rPr lang="fr-FR" sz="2000" b="0" dirty="0" err="1" smtClean="0">
                <a:latin typeface="Segoe UI" pitchFamily="34" charset="0"/>
                <a:ea typeface="Segoe UI" pitchFamily="34" charset="0"/>
                <a:cs typeface="Segoe UI" pitchFamily="34" charset="0"/>
              </a:rPr>
              <a:t>teredo</a:t>
            </a:r>
            <a:r>
              <a:rPr lang="fr-FR" sz="2000" b="0" dirty="0" smtClean="0">
                <a:latin typeface="Segoe UI" pitchFamily="34" charset="0"/>
                <a:ea typeface="Segoe UI" pitchFamily="34" charset="0"/>
                <a:cs typeface="Segoe UI" pitchFamily="34" charset="0"/>
              </a:rPr>
              <a:t> requiert un serveur pour initialiser la communication</a:t>
            </a:r>
          </a:p>
          <a:p>
            <a:pPr marL="174625" indent="-174625">
              <a:spcBef>
                <a:spcPts val="600"/>
              </a:spcBef>
              <a:buClr>
                <a:srgbClr val="0070C0"/>
              </a:buClr>
              <a:buSzPct val="90000"/>
              <a:buFont typeface="Arial" pitchFamily="34" charset="0"/>
              <a:buChar char="•"/>
            </a:pPr>
            <a:r>
              <a:rPr lang="fr-FR" sz="2000" b="0" dirty="0" smtClean="0">
                <a:latin typeface="Segoe UI" pitchFamily="34" charset="0"/>
                <a:ea typeface="Segoe UI" pitchFamily="34" charset="0"/>
                <a:cs typeface="Segoe UI" pitchFamily="34" charset="0"/>
              </a:rPr>
              <a:t> Windows Power Shell</a:t>
            </a:r>
            <a:br>
              <a:rPr lang="fr-FR" sz="2000" b="0" dirty="0" smtClean="0">
                <a:latin typeface="Segoe UI" pitchFamily="34" charset="0"/>
                <a:ea typeface="Segoe UI" pitchFamily="34" charset="0"/>
                <a:cs typeface="Segoe UI" pitchFamily="34" charset="0"/>
              </a:rPr>
            </a:br>
            <a:r>
              <a:rPr lang="fr-FR" sz="2000" b="0" dirty="0" smtClean="0">
                <a:latin typeface="Segoe UI" pitchFamily="34" charset="0"/>
                <a:ea typeface="Segoe UI" pitchFamily="34" charset="0"/>
                <a:cs typeface="Segoe UI" pitchFamily="34" charset="0"/>
              </a:rPr>
              <a:t>  </a:t>
            </a:r>
            <a:r>
              <a:rPr lang="fr-FR" dirty="0" smtClean="0">
                <a:latin typeface="Courier New" panose="02070309020205020404" pitchFamily="49" charset="0"/>
                <a:ea typeface="Segoe UI" pitchFamily="34" charset="0"/>
                <a:cs typeface="Courier New" panose="02070309020205020404" pitchFamily="49" charset="0"/>
              </a:rPr>
              <a:t>Set-</a:t>
            </a:r>
            <a:r>
              <a:rPr lang="fr-FR" dirty="0" err="1" smtClean="0">
                <a:latin typeface="Courier New" panose="02070309020205020404" pitchFamily="49" charset="0"/>
                <a:ea typeface="Segoe UI" pitchFamily="34" charset="0"/>
                <a:cs typeface="Courier New" panose="02070309020205020404" pitchFamily="49" charset="0"/>
              </a:rPr>
              <a:t>NetTeredoConfiguration</a:t>
            </a:r>
            <a:endParaRPr lang="fr-FR" dirty="0">
              <a:latin typeface="Courier New" panose="02070309020205020404" pitchFamily="49" charset="0"/>
              <a:ea typeface="Segoe UI" pitchFamily="34" charset="0"/>
              <a:cs typeface="Courier New" panose="02070309020205020404" pitchFamily="49" charset="0"/>
            </a:endParaRPr>
          </a:p>
        </p:txBody>
      </p:sp>
      <p:sp>
        <p:nvSpPr>
          <p:cNvPr id="27" name="TextBox 98"/>
          <p:cNvSpPr txBox="1"/>
          <p:nvPr/>
        </p:nvSpPr>
        <p:spPr>
          <a:xfrm>
            <a:off x="351894" y="4271317"/>
            <a:ext cx="4685443" cy="146193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2400" b="0" dirty="0" smtClean="0">
                <a:latin typeface="Segoe UI" pitchFamily="34" charset="0"/>
                <a:ea typeface="Segoe UI" pitchFamily="34" charset="0"/>
                <a:cs typeface="Segoe UI" pitchFamily="34" charset="0"/>
              </a:rPr>
              <a:t>Windows Server 2012:</a:t>
            </a:r>
          </a:p>
          <a:p>
            <a:pPr marL="174625" indent="-174625">
              <a:spcBef>
                <a:spcPts val="600"/>
              </a:spcBef>
              <a:buClr>
                <a:srgbClr val="0070C0"/>
              </a:buClr>
              <a:buSzPct val="90000"/>
              <a:buFont typeface="Arial" pitchFamily="34" charset="0"/>
              <a:buChar char="•"/>
            </a:pPr>
            <a:r>
              <a:rPr lang="fr-FR" sz="2000" b="0" dirty="0" smtClean="0">
                <a:latin typeface="Segoe UI" pitchFamily="34" charset="0"/>
                <a:ea typeface="Segoe UI" pitchFamily="34" charset="0"/>
                <a:cs typeface="Segoe UI" pitchFamily="34" charset="0"/>
              </a:rPr>
              <a:t>Peut-être</a:t>
            </a:r>
            <a:r>
              <a:rPr lang="fr-FR" sz="2000" b="0" dirty="0" smtClean="0">
                <a:latin typeface="Segoe UI" pitchFamily="34" charset="0"/>
                <a:ea typeface="Segoe UI" pitchFamily="34" charset="0"/>
                <a:cs typeface="Segoe UI" pitchFamily="34" charset="0"/>
              </a:rPr>
              <a:t> configuré comme étant un client (par défaut), un serveur ou un relais</a:t>
            </a:r>
          </a:p>
        </p:txBody>
      </p:sp>
      <p:pic>
        <p:nvPicPr>
          <p:cNvPr id="28" name="Picture 27"/>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335060" y="4149080"/>
            <a:ext cx="1039297" cy="54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693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ba377ec-4ecf-4eea-8280-5be89e0ddcb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PortProxy</a:t>
            </a:r>
            <a:r>
              <a:rPr lang="en-CA" dirty="0" smtClean="0"/>
              <a:t> (</a:t>
            </a:r>
            <a:r>
              <a:rPr lang="en-CA" dirty="0" err="1" smtClean="0"/>
              <a:t>traduction</a:t>
            </a:r>
            <a:r>
              <a:rPr lang="en-CA" dirty="0" smtClean="0"/>
              <a:t>)</a:t>
            </a:r>
            <a:endParaRPr lang="en-CA" dirty="0"/>
          </a:p>
        </p:txBody>
      </p:sp>
      <p:sp>
        <p:nvSpPr>
          <p:cNvPr id="4" name="AutoShape 4"/>
          <p:cNvSpPr>
            <a:spLocks noChangeArrowheads="1"/>
          </p:cNvSpPr>
          <p:nvPr/>
        </p:nvSpPr>
        <p:spPr bwMode="auto">
          <a:xfrm>
            <a:off x="285037" y="827458"/>
            <a:ext cx="8535435" cy="591391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110000"/>
              </a:lnSpc>
              <a:spcBef>
                <a:spcPts val="600"/>
              </a:spcBef>
            </a:pPr>
            <a:r>
              <a:rPr lang="fr-FR" sz="2800" b="0" dirty="0" smtClean="0">
                <a:latin typeface="Segoe UI" pitchFamily="34" charset="0"/>
                <a:ea typeface="Segoe UI" pitchFamily="34" charset="0"/>
                <a:cs typeface="Segoe UI" pitchFamily="34" charset="0"/>
              </a:rPr>
              <a:t>Utiliser</a:t>
            </a:r>
            <a:r>
              <a:rPr lang="fr-FR" sz="2800" b="0" dirty="0" smtClean="0">
                <a:latin typeface="Segoe UI" pitchFamily="34" charset="0"/>
                <a:ea typeface="Segoe UI" pitchFamily="34" charset="0"/>
                <a:cs typeface="Segoe UI" pitchFamily="34" charset="0"/>
              </a:rPr>
              <a:t> </a:t>
            </a:r>
            <a:r>
              <a:rPr lang="fr-FR" sz="2800" b="0" dirty="0" err="1" smtClean="0">
                <a:latin typeface="Segoe UI" pitchFamily="34" charset="0"/>
                <a:ea typeface="Segoe UI" pitchFamily="34" charset="0"/>
                <a:cs typeface="Segoe UI" pitchFamily="34" charset="0"/>
              </a:rPr>
              <a:t>PortProxy</a:t>
            </a:r>
            <a:r>
              <a:rPr lang="fr-FR" sz="2800" b="0" dirty="0" smtClean="0">
                <a:latin typeface="Segoe UI" pitchFamily="34" charset="0"/>
                <a:ea typeface="Segoe UI" pitchFamily="34" charset="0"/>
                <a:cs typeface="Segoe UI" pitchFamily="34" charset="0"/>
              </a:rPr>
              <a:t> </a:t>
            </a:r>
            <a:r>
              <a:rPr lang="fr-FR" sz="2800" b="0" dirty="0" smtClean="0">
                <a:latin typeface="Segoe UI" pitchFamily="34" charset="0"/>
                <a:ea typeface="Segoe UI" pitchFamily="34" charset="0"/>
                <a:cs typeface="Segoe UI" pitchFamily="34" charset="0"/>
              </a:rPr>
              <a:t>:</a:t>
            </a:r>
          </a:p>
          <a:p>
            <a:pPr marL="228600" indent="-228600">
              <a:lnSpc>
                <a:spcPct val="110000"/>
              </a:lnSpc>
              <a:spcBef>
                <a:spcPts val="600"/>
              </a:spcBef>
              <a:buClr>
                <a:srgbClr val="006699"/>
              </a:buClr>
              <a:buFontTx/>
              <a:buChar char="•"/>
            </a:pPr>
            <a:r>
              <a:rPr lang="fr-FR" sz="2800" b="0" dirty="0" smtClean="0">
                <a:latin typeface="Segoe UI" pitchFamily="34" charset="0"/>
                <a:ea typeface="Segoe UI" pitchFamily="34" charset="0"/>
                <a:cs typeface="Segoe UI" pitchFamily="34" charset="0"/>
              </a:rPr>
              <a:t>Pour fournir</a:t>
            </a:r>
            <a:r>
              <a:rPr lang="fr-FR" sz="2800" b="0" dirty="0" smtClean="0">
                <a:latin typeface="Segoe UI" pitchFamily="34" charset="0"/>
                <a:ea typeface="Segoe UI" pitchFamily="34" charset="0"/>
                <a:cs typeface="Segoe UI" pitchFamily="34" charset="0"/>
              </a:rPr>
              <a:t> à des machines utilisant l’IPv6 uniquement l’accès aux applications développées pour tourner avec de l’IPv4 uniquement.</a:t>
            </a:r>
          </a:p>
          <a:p>
            <a:pPr marL="228600" indent="-228600">
              <a:lnSpc>
                <a:spcPct val="110000"/>
              </a:lnSpc>
              <a:spcBef>
                <a:spcPts val="600"/>
              </a:spcBef>
              <a:buClr>
                <a:srgbClr val="006699"/>
              </a:buClr>
              <a:buFontTx/>
              <a:buChar char="•"/>
            </a:pPr>
            <a:r>
              <a:rPr lang="fr-FR" sz="2800" b="0" dirty="0" smtClean="0">
                <a:latin typeface="Segoe UI" pitchFamily="34" charset="0"/>
                <a:ea typeface="Segoe UI" pitchFamily="34" charset="0"/>
                <a:cs typeface="Segoe UI" pitchFamily="34" charset="0"/>
              </a:rPr>
              <a:t>Comme</a:t>
            </a:r>
            <a:r>
              <a:rPr lang="fr-BE" sz="2800" b="0" dirty="0" smtClean="0">
                <a:latin typeface="Segoe UI" pitchFamily="34" charset="0"/>
                <a:ea typeface="Segoe UI" pitchFamily="34" charset="0"/>
                <a:cs typeface="Segoe UI" pitchFamily="34" charset="0"/>
              </a:rPr>
              <a:t> </a:t>
            </a:r>
            <a:r>
              <a:rPr lang="fr-BE" sz="2800" b="0" dirty="0">
                <a:latin typeface="Segoe UI" pitchFamily="34" charset="0"/>
                <a:ea typeface="Segoe UI" pitchFamily="34" charset="0"/>
                <a:cs typeface="Segoe UI" pitchFamily="34" charset="0"/>
              </a:rPr>
              <a:t>proxy entre les hôtes IPv4 uniquement et IPv6 </a:t>
            </a:r>
            <a:r>
              <a:rPr lang="fr-BE" sz="2800" b="0" dirty="0" smtClean="0">
                <a:latin typeface="Segoe UI" pitchFamily="34" charset="0"/>
                <a:ea typeface="Segoe UI" pitchFamily="34" charset="0"/>
                <a:cs typeface="Segoe UI" pitchFamily="34" charset="0"/>
              </a:rPr>
              <a:t>uniquement</a:t>
            </a:r>
            <a:br>
              <a:rPr lang="fr-BE" sz="2800" b="0" dirty="0" smtClean="0">
                <a:latin typeface="Segoe UI" pitchFamily="34" charset="0"/>
                <a:ea typeface="Segoe UI" pitchFamily="34" charset="0"/>
                <a:cs typeface="Segoe UI" pitchFamily="34" charset="0"/>
              </a:rPr>
            </a:br>
            <a:endParaRPr lang="fr-FR" sz="2800" b="0" dirty="0" smtClean="0">
              <a:latin typeface="Segoe UI" pitchFamily="34" charset="0"/>
              <a:ea typeface="Segoe UI" pitchFamily="34" charset="0"/>
              <a:cs typeface="Segoe UI" pitchFamily="34" charset="0"/>
            </a:endParaRPr>
          </a:p>
          <a:p>
            <a:pPr>
              <a:lnSpc>
                <a:spcPct val="110000"/>
              </a:lnSpc>
              <a:spcBef>
                <a:spcPts val="600"/>
              </a:spcBef>
              <a:buClr>
                <a:srgbClr val="006699"/>
              </a:buClr>
            </a:pPr>
            <a:r>
              <a:rPr lang="fr-FR" sz="2800" b="0" dirty="0" smtClean="0">
                <a:latin typeface="Segoe UI" pitchFamily="34" charset="0"/>
                <a:ea typeface="Segoe UI" pitchFamily="34" charset="0"/>
                <a:cs typeface="Segoe UI" pitchFamily="34" charset="0"/>
              </a:rPr>
              <a:t>Limitations :</a:t>
            </a:r>
          </a:p>
          <a:p>
            <a:pPr marL="228600" indent="-228600">
              <a:lnSpc>
                <a:spcPct val="110000"/>
              </a:lnSpc>
              <a:spcBef>
                <a:spcPts val="600"/>
              </a:spcBef>
              <a:buClr>
                <a:srgbClr val="006699"/>
              </a:buClr>
              <a:buFontTx/>
              <a:buChar char="•"/>
            </a:pPr>
            <a:r>
              <a:rPr lang="fr-FR" sz="2800" b="0" dirty="0" smtClean="0">
                <a:latin typeface="Segoe UI" pitchFamily="34" charset="0"/>
                <a:ea typeface="Segoe UI" pitchFamily="34" charset="0"/>
                <a:cs typeface="Segoe UI" pitchFamily="34" charset="0"/>
              </a:rPr>
              <a:t>Limité aux applications </a:t>
            </a:r>
            <a:r>
              <a:rPr lang="fr-FR" sz="2800" b="0" dirty="0">
                <a:latin typeface="Segoe UI" pitchFamily="34" charset="0"/>
                <a:ea typeface="Segoe UI" pitchFamily="34" charset="0"/>
                <a:cs typeface="Segoe UI" pitchFamily="34" charset="0"/>
              </a:rPr>
              <a:t>TCP</a:t>
            </a:r>
            <a:endParaRPr lang="fr-FR" sz="2800" b="0" dirty="0" smtClean="0">
              <a:latin typeface="Segoe UI" pitchFamily="34" charset="0"/>
              <a:ea typeface="Segoe UI" pitchFamily="34" charset="0"/>
              <a:cs typeface="Segoe UI" pitchFamily="34" charset="0"/>
            </a:endParaRPr>
          </a:p>
          <a:p>
            <a:pPr marL="228600" indent="-228600">
              <a:lnSpc>
                <a:spcPct val="110000"/>
              </a:lnSpc>
              <a:spcBef>
                <a:spcPts val="600"/>
              </a:spcBef>
              <a:buClr>
                <a:srgbClr val="006699"/>
              </a:buClr>
              <a:buFontTx/>
              <a:buChar char="•"/>
            </a:pPr>
            <a:r>
              <a:rPr lang="fr-FR" sz="2800" b="0" dirty="0" smtClean="0">
                <a:latin typeface="Segoe UI" pitchFamily="34" charset="0"/>
                <a:ea typeface="Segoe UI" pitchFamily="34" charset="0"/>
                <a:cs typeface="Segoe UI" pitchFamily="34" charset="0"/>
              </a:rPr>
              <a:t>Les informations d’adresse intégrées dans un paquet ne peuvent pas être modifiées</a:t>
            </a:r>
            <a:endParaRPr lang="fr-FR"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82715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1c5a94bb-5a69-4f77-8e3f-64f6749ffc5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Process for Transitioning to IPv6</a:t>
            </a:r>
            <a:endParaRPr lang="en-CA" dirty="0"/>
          </a:p>
        </p:txBody>
      </p:sp>
      <p:sp>
        <p:nvSpPr>
          <p:cNvPr id="4" name="Content Placeholder 2"/>
          <p:cNvSpPr>
            <a:spLocks noGrp="1"/>
          </p:cNvSpPr>
          <p:nvPr/>
        </p:nvSpPr>
        <p:spPr bwMode="auto">
          <a:xfrm>
            <a:off x="450686" y="1021215"/>
            <a:ext cx="7103158"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600" dirty="0" smtClean="0"/>
              <a:t>To transition from IPv4 to IPv6 you must:</a:t>
            </a:r>
          </a:p>
          <a:p>
            <a:pPr>
              <a:spcBef>
                <a:spcPts val="1200"/>
              </a:spcBef>
            </a:pPr>
            <a:r>
              <a:rPr lang="en-US" sz="2600" dirty="0" smtClean="0"/>
              <a:t>Update applications to support IPv6</a:t>
            </a:r>
          </a:p>
          <a:p>
            <a:pPr>
              <a:spcBef>
                <a:spcPts val="1200"/>
              </a:spcBef>
            </a:pPr>
            <a:r>
              <a:rPr lang="en-US" sz="2600" dirty="0" smtClean="0"/>
              <a:t>Update routing infrastructure to support IPv6</a:t>
            </a:r>
          </a:p>
          <a:p>
            <a:pPr>
              <a:spcBef>
                <a:spcPts val="1200"/>
              </a:spcBef>
            </a:pPr>
            <a:r>
              <a:rPr lang="en-US" sz="2600" dirty="0" smtClean="0"/>
              <a:t>Update devices to support IPv6</a:t>
            </a:r>
          </a:p>
          <a:p>
            <a:pPr>
              <a:spcBef>
                <a:spcPts val="1200"/>
              </a:spcBef>
            </a:pPr>
            <a:r>
              <a:rPr lang="en-US" sz="2600" dirty="0" smtClean="0"/>
              <a:t>Update DNS with records for IPv6</a:t>
            </a:r>
          </a:p>
          <a:p>
            <a:pPr>
              <a:spcBef>
                <a:spcPts val="1200"/>
              </a:spcBef>
            </a:pPr>
            <a:r>
              <a:rPr lang="en-US" sz="2600" dirty="0" smtClean="0"/>
              <a:t>Upgrade hosts to IPv4/IPv6 nodes</a:t>
            </a:r>
          </a:p>
        </p:txBody>
      </p:sp>
    </p:spTree>
    <p:extLst>
      <p:ext uri="{BB962C8B-B14F-4D97-AF65-F5344CB8AC3E}">
        <p14:creationId xmlns:p14="http://schemas.microsoft.com/office/powerpoint/2010/main" val="342178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b043aabf-6241-416e-9157-25ca219d334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IPv6</a:t>
            </a:r>
            <a:endParaRPr lang="en-CA" dirty="0"/>
          </a:p>
        </p:txBody>
      </p:sp>
      <p:sp>
        <p:nvSpPr>
          <p:cNvPr id="3" name="Text Placeholder 2"/>
          <p:cNvSpPr>
            <a:spLocks noGrp="1"/>
          </p:cNvSpPr>
          <p:nvPr>
            <p:ph type="body" idx="1"/>
          </p:nvPr>
        </p:nvSpPr>
        <p:spPr>
          <a:xfrm>
            <a:off x="458788" y="1021215"/>
            <a:ext cx="8119156" cy="1111641"/>
          </a:xfrm>
        </p:spPr>
        <p:txBody>
          <a:bodyPr/>
          <a:lstStyle/>
          <a:p>
            <a:r>
              <a:rPr lang="en-CA" dirty="0" smtClean="0"/>
              <a:t>Exercise 1: Configuring an IPv6 Network
Exercise 2: Configuring an ISATAP Router</a:t>
            </a:r>
            <a:endParaRPr lang="en-CA" dirty="0"/>
          </a:p>
        </p:txBody>
      </p:sp>
      <p:sp>
        <p:nvSpPr>
          <p:cNvPr id="4" name="TextBox 3"/>
          <p:cNvSpPr txBox="1"/>
          <p:nvPr/>
        </p:nvSpPr>
        <p:spPr>
          <a:xfrm>
            <a:off x="458788" y="4119463"/>
            <a:ext cx="2920287" cy="461665"/>
          </a:xfrm>
          <a:prstGeom prst="rect">
            <a:avLst/>
          </a:prstGeom>
          <a:noFill/>
        </p:spPr>
        <p:txBody>
          <a:bodyPr vert="horz" wrap="none" rtlCol="0">
            <a:spAutoFit/>
          </a:bodyPr>
          <a:lstStyle/>
          <a:p>
            <a:r>
              <a:rPr lang="en-CA" sz="2400" b="1" dirty="0" smtClean="0">
                <a:latin typeface="Segoe UI"/>
              </a:rPr>
              <a:t>Logon Information</a:t>
            </a:r>
            <a:endParaRPr lang="en-CA" sz="2400" b="1" dirty="0">
              <a:latin typeface="Segoe UI"/>
            </a:endParaRPr>
          </a:p>
        </p:txBody>
      </p:sp>
      <p:sp>
        <p:nvSpPr>
          <p:cNvPr id="5" name="TextBox 4"/>
          <p:cNvSpPr txBox="1"/>
          <p:nvPr/>
        </p:nvSpPr>
        <p:spPr>
          <a:xfrm>
            <a:off x="458788" y="4534088"/>
            <a:ext cx="6057428" cy="1631216"/>
          </a:xfrm>
          <a:prstGeom prst="rect">
            <a:avLst/>
          </a:prstGeom>
          <a:noFill/>
        </p:spPr>
        <p:txBody>
          <a:bodyPr vert="horz" wrap="square" rtlCol="0">
            <a:spAutoFit/>
          </a:bodyPr>
          <a:lstStyle/>
          <a:p>
            <a:pPr defTabSz="648000"/>
            <a:r>
              <a:rPr lang="en-US" sz="2000" b="0" i="0" u="none" strike="noStrike" baseline="0" dirty="0" smtClean="0">
                <a:latin typeface="Segoe UI"/>
              </a:rPr>
              <a:t>Virtual machines		</a:t>
            </a:r>
            <a:r>
              <a:rPr lang="fr-CA" sz="2000" b="1" i="0" u="none" strike="noStrike" baseline="0" dirty="0" smtClean="0">
                <a:latin typeface="Segoe UI"/>
              </a:rPr>
              <a:t>20410D‑LON‑DC1</a:t>
            </a:r>
          </a:p>
          <a:p>
            <a:pPr defTabSz="648000"/>
            <a:r>
              <a:rPr lang="fr-CA" sz="2000" b="0" i="0" u="none" strike="noStrike" baseline="0" dirty="0" smtClean="0">
                <a:latin typeface="Segoe UI"/>
              </a:rPr>
              <a:t>				</a:t>
            </a:r>
            <a:r>
              <a:rPr lang="fr-CA" sz="2000" b="1" i="0" u="none" strike="noStrike" baseline="0" dirty="0" smtClean="0">
                <a:latin typeface="Segoe UI"/>
              </a:rPr>
              <a:t>20410D‑LON‑RTR</a:t>
            </a:r>
          </a:p>
          <a:p>
            <a:pPr defTabSz="648000"/>
            <a:r>
              <a:rPr lang="en-US" sz="2000" b="0" i="0" u="none" strike="noStrike" baseline="0" dirty="0" smtClean="0">
                <a:latin typeface="Segoe UI"/>
              </a:rPr>
              <a:t>				</a:t>
            </a:r>
            <a:r>
              <a:rPr lang="en-US" sz="2000" b="1" i="0" u="none" strike="noStrike" baseline="0" dirty="0" smtClean="0">
                <a:latin typeface="Segoe UI"/>
              </a:rPr>
              <a:t>20410D‑LON‑SVR2</a:t>
            </a:r>
            <a:r>
              <a:rPr lang="en-US" sz="2000" b="0" i="0" u="none" strike="noStrike" baseline="0" dirty="0" smtClean="0">
                <a:latin typeface="Segoe UI"/>
              </a:rPr>
              <a:t>	</a:t>
            </a:r>
          </a:p>
          <a:p>
            <a:pPr defTabSz="648000"/>
            <a:r>
              <a:rPr lang="en-US" sz="2000" b="0" i="0" u="none" strike="noStrike" baseline="0" dirty="0" smtClean="0">
                <a:latin typeface="Segoe UI"/>
              </a:rPr>
              <a:t>User name			</a:t>
            </a:r>
            <a:r>
              <a:rPr lang="en-US" sz="2000" b="1" i="0" u="none" strike="noStrike" baseline="0" dirty="0" err="1" smtClean="0">
                <a:latin typeface="Segoe UI"/>
              </a:rPr>
              <a:t>Adatum</a:t>
            </a:r>
            <a:r>
              <a:rPr lang="en-US" sz="2000" b="1" i="0" u="none" strike="noStrike" baseline="0" dirty="0" smtClean="0">
                <a:latin typeface="Segoe UI"/>
              </a:rPr>
              <a:t>\Administrator	</a:t>
            </a:r>
            <a:endParaRPr lang="en-US" sz="2000" b="0" i="0" u="none" strike="noStrike" baseline="0" dirty="0" smtClean="0">
              <a:latin typeface="Segoe UI"/>
            </a:endParaRPr>
          </a:p>
          <a:p>
            <a:pPr defTabSz="648000"/>
            <a:r>
              <a:rPr lang="en-US" sz="2000" b="0" i="0" u="none" strike="noStrike" baseline="0" dirty="0" smtClean="0">
                <a:latin typeface="Segoe UI"/>
              </a:rPr>
              <a:t>Password			</a:t>
            </a:r>
            <a:r>
              <a:rPr lang="en-US" sz="2000" b="1" i="0" u="none" strike="noStrike" baseline="0" dirty="0" smtClean="0">
                <a:latin typeface="Segoe UI"/>
              </a:rPr>
              <a:t>Pa$$w0rd</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a:rPr>
              <a:t>Estimated Time: 45 minutes</a:t>
            </a:r>
            <a:endParaRPr lang="en-CA" sz="2000" b="1" dirty="0">
              <a:latin typeface="Segoe UI"/>
            </a:endParaRPr>
          </a:p>
        </p:txBody>
      </p:sp>
    </p:spTree>
    <p:extLst>
      <p:ext uri="{BB962C8B-B14F-4D97-AF65-F5344CB8AC3E}">
        <p14:creationId xmlns:p14="http://schemas.microsoft.com/office/powerpoint/2010/main" val="1836820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5"/>
            <a:ext cx="8119156" cy="4401205"/>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a:ea typeface="SimSun"/>
                <a:cs typeface="Times New Roman"/>
              </a:rPr>
              <a:t>The IT manager at A. Datum Corporation has been briefed by several program and application vendors about newly added support for IPv6 in their products. A. Datum Corporation does not have IPv6 support currently. However, the IT manager wants you to configure a test lab that uses IPv6. As part of the test lab configuration, you also need to configure ISATAP to allow communication between an IPv4 network and an IPv6 network.</a:t>
            </a:r>
            <a:endParaRPr lang="en-CA" sz="2800" dirty="0">
              <a:effectLst/>
              <a:latin typeface="Segoe UI"/>
              <a:ea typeface="SimSun"/>
              <a:cs typeface="Times New Roman"/>
            </a:endParaRPr>
          </a:p>
        </p:txBody>
      </p:sp>
    </p:spTree>
    <p:extLst>
      <p:ext uri="{BB962C8B-B14F-4D97-AF65-F5344CB8AC3E}">
        <p14:creationId xmlns:p14="http://schemas.microsoft.com/office/powerpoint/2010/main" val="3967719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Lab Scenario860707277_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3" name="Text Placeholder 2"/>
          <p:cNvSpPr>
            <a:spLocks noGrp="1"/>
          </p:cNvSpPr>
          <p:nvPr>
            <p:ph type="body" idx="1"/>
          </p:nvPr>
        </p:nvSpPr>
        <p:spPr>
          <a:xfrm>
            <a:off x="458788" y="1021215"/>
            <a:ext cx="8119156" cy="1039633"/>
          </a:xfrm>
        </p:spPr>
        <p:txBody>
          <a:bodyPr/>
          <a:lstStyle/>
          <a:p>
            <a:pPr marL="0" lvl="0" indent="0" fontAlgn="auto">
              <a:spcAft>
                <a:spcPts val="0"/>
              </a:spcAft>
              <a:buClrTx/>
              <a:buSzTx/>
              <a:buNone/>
            </a:pPr>
            <a:r>
              <a:rPr lang="en-US" dirty="0"/>
              <a:t>This is the layout of the completed test </a:t>
            </a:r>
            <a:r>
              <a:rPr lang="en-US" dirty="0" smtClean="0"/>
              <a:t>environment</a:t>
            </a:r>
            <a:endParaRPr lang="en-CA" kern="1200" dirty="0">
              <a:solidFill>
                <a:srgbClr val="000000"/>
              </a:solidFill>
              <a:latin typeface="Segoe UI"/>
              <a:ea typeface="SimSun"/>
              <a:cs typeface="Times New Roman"/>
            </a:endParaRPr>
          </a:p>
        </p:txBody>
      </p:sp>
      <p:pic>
        <p:nvPicPr>
          <p:cNvPr id="4" name="Picture 3" descr="Graphic that depicts the end state of the computers that are configured in this lab. LON-DC1, on the left, is configured as an ISATAP host, which is connected to an IPv4 only network. LON-SVR2, on the right, is configured as an IPv6 only host, and is connected to an IPv6 network. LON-RTR, in the middle, is configured as an ISATAP Router that is connected to both the IPv4 network and the IPv6 network."/>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502" y="2208382"/>
            <a:ext cx="8803638" cy="3363441"/>
          </a:xfrm>
          <a:prstGeom prst="rect">
            <a:avLst/>
          </a:prstGeom>
        </p:spPr>
      </p:pic>
    </p:spTree>
    <p:extLst>
      <p:ext uri="{BB962C8B-B14F-4D97-AF65-F5344CB8AC3E}">
        <p14:creationId xmlns:p14="http://schemas.microsoft.com/office/powerpoint/2010/main" val="3086998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7548c948-aae6-478c-b0fb-026cdbc2046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Did you configure IPv6 statically or dynamically in this lab?
Why did you not need to configure LON-DC1 with the IPv4 address of the ISATAP router?</a:t>
            </a:r>
            <a:endParaRPr lang="en-CA" dirty="0"/>
          </a:p>
        </p:txBody>
      </p:sp>
    </p:spTree>
    <p:extLst>
      <p:ext uri="{BB962C8B-B14F-4D97-AF65-F5344CB8AC3E}">
        <p14:creationId xmlns:p14="http://schemas.microsoft.com/office/powerpoint/2010/main" val="2719849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Best Practices</a:t>
            </a:r>
            <a:endParaRPr lang="en-CA" dirty="0"/>
          </a:p>
        </p:txBody>
      </p:sp>
    </p:spTree>
    <p:extLst>
      <p:ext uri="{BB962C8B-B14F-4D97-AF65-F5344CB8AC3E}">
        <p14:creationId xmlns:p14="http://schemas.microsoft.com/office/powerpoint/2010/main" val="4035460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26304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188</TotalTime>
  <Words>4346</Words>
  <Application>Microsoft Office PowerPoint</Application>
  <PresentationFormat>Affichage à l'écran (4:3)</PresentationFormat>
  <Paragraphs>639</Paragraphs>
  <Slides>37</Slides>
  <Notes>37</Notes>
  <HiddenSlides>2</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37</vt:i4>
      </vt:variant>
    </vt:vector>
  </HeadingPairs>
  <TitlesOfParts>
    <vt:vector size="51" baseType="lpstr">
      <vt:lpstr>Symbol</vt:lpstr>
      <vt:lpstr>Segoe UI Light</vt:lpstr>
      <vt:lpstr>Segoe UI</vt:lpstr>
      <vt:lpstr>Arial</vt:lpstr>
      <vt:lpstr>Verdana</vt:lpstr>
      <vt:lpstr>Calibri</vt:lpstr>
      <vt:lpstr>Times New Roman</vt:lpstr>
      <vt:lpstr>Wingdings</vt:lpstr>
      <vt:lpstr>SimSun</vt:lpstr>
      <vt:lpstr>Courier New</vt:lpstr>
      <vt:lpstr>Arial Narrow</vt:lpstr>
      <vt:lpstr>Gulim</vt:lpstr>
      <vt:lpstr>Segoe Light</vt:lpstr>
      <vt:lpstr>Presentation1</vt:lpstr>
      <vt:lpstr>Module 8</vt:lpstr>
      <vt:lpstr>Module Overview</vt:lpstr>
      <vt:lpstr>Lesson 1: Overview of IPv6</vt:lpstr>
      <vt:lpstr>Benefits of IPv6</vt:lpstr>
      <vt:lpstr>Differences Between IPv4 and IPv6</vt:lpstr>
      <vt:lpstr>IPv6 Address Format</vt:lpstr>
      <vt:lpstr>IPv6 Address Format</vt:lpstr>
      <vt:lpstr>IPv6 Address Format</vt:lpstr>
      <vt:lpstr>IPv6 Address Format</vt:lpstr>
      <vt:lpstr>IPv6 Address Format</vt:lpstr>
      <vt:lpstr>Lesson 2: IPv6 Addressing</vt:lpstr>
      <vt:lpstr>IPv6 Address Structure</vt:lpstr>
      <vt:lpstr>Global Unicast Addresses</vt:lpstr>
      <vt:lpstr>Unique Local Unicast Addresses</vt:lpstr>
      <vt:lpstr>Link-Local Unicast Addresses</vt:lpstr>
      <vt:lpstr>Autoconfiguring IPv6 Addresses</vt:lpstr>
      <vt:lpstr>Autoconfiguring IPv6 Addresses </vt:lpstr>
      <vt:lpstr>Autoconfiguring IPv6 Addresses</vt:lpstr>
      <vt:lpstr>Demonstration: Configuring IPv6 Client Settings</vt:lpstr>
      <vt:lpstr>Présentation PowerPoint</vt:lpstr>
      <vt:lpstr>Lesson 3: Coexistence with IPv4</vt:lpstr>
      <vt:lpstr>What Are Node Types?</vt:lpstr>
      <vt:lpstr>Coexistence entre IPv4 et IPv6</vt:lpstr>
      <vt:lpstr>Demonstration: Configuring DNS to Support IPv6</vt:lpstr>
      <vt:lpstr>Coexistence IPv4-IPV6 : Tunneling</vt:lpstr>
      <vt:lpstr>Lesson 4: IPv6 Transition Technologies</vt:lpstr>
      <vt:lpstr>ISATAP (Intra-Site Automatic Tunnel Address Protocol)</vt:lpstr>
      <vt:lpstr>6to4</vt:lpstr>
      <vt:lpstr>Teredo</vt:lpstr>
      <vt:lpstr>PortProxy (traduction)</vt:lpstr>
      <vt:lpstr>Process for Transitioning to IPv6</vt:lpstr>
      <vt:lpstr>Lab: Implementing IPv6</vt:lpstr>
      <vt:lpstr>Lab Scenario</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dc:title>
  <dc:creator>Colleen Walsh</dc:creator>
  <cp:lastModifiedBy>Sergio Rodrigues</cp:lastModifiedBy>
  <cp:revision>24</cp:revision>
  <dcterms:created xsi:type="dcterms:W3CDTF">2014-03-06T03:46:08Z</dcterms:created>
  <dcterms:modified xsi:type="dcterms:W3CDTF">2017-06-19T14:41:38Z</dcterms:modified>
</cp:coreProperties>
</file>